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0B63E56-60E3-4C0E-B560-49BC200F2D0D}" type="datetimeFigureOut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4601AA1-FE3D-4718-8C1C-5760FABCD42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2686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EKITI </a:t>
            </a:r>
            <a:r>
              <a:rPr lang="en-US" dirty="0"/>
              <a:t>STATE </a:t>
            </a:r>
            <a:r>
              <a:rPr lang="en-US" dirty="0" smtClean="0"/>
              <a:t>UNIVERSITY </a:t>
            </a:r>
            <a:r>
              <a:rPr lang="en-US" dirty="0"/>
              <a:t>ADO - EKITI</a:t>
            </a:r>
            <a:br>
              <a:rPr lang="en-US" dirty="0"/>
            </a:br>
            <a:r>
              <a:rPr lang="en-US" b="1" dirty="0"/>
              <a:t>     </a:t>
            </a:r>
            <a:r>
              <a:rPr lang="en-US" b="1" dirty="0">
                <a:solidFill>
                  <a:schemeClr val="accent2"/>
                </a:solidFill>
              </a:rPr>
              <a:t>Centre for Counselling and Human Development</a:t>
            </a:r>
            <a:r>
              <a:rPr lang="en-US" dirty="0">
                <a:solidFill>
                  <a:schemeClr val="accent2"/>
                </a:solidFill>
              </a:rPr>
              <a:t/>
            </a:r>
            <a:br>
              <a:rPr lang="en-US" dirty="0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7772400" cy="2057400"/>
          </a:xfrm>
        </p:spPr>
        <p:txBody>
          <a:bodyPr>
            <a:normAutofit fontScale="70000" lnSpcReduction="20000"/>
          </a:bodyPr>
          <a:lstStyle/>
          <a:p>
            <a:r>
              <a:rPr lang="en-US" sz="3500" b="1" dirty="0">
                <a:solidFill>
                  <a:schemeClr val="tx1"/>
                </a:solidFill>
              </a:rPr>
              <a:t>The State of the Centre for </a:t>
            </a:r>
            <a:r>
              <a:rPr lang="en-US" sz="3500" b="1" dirty="0" smtClean="0">
                <a:solidFill>
                  <a:schemeClr val="tx1"/>
                </a:solidFill>
              </a:rPr>
              <a:t>Counselling and </a:t>
            </a:r>
            <a:r>
              <a:rPr lang="en-US" sz="3500" b="1" dirty="0">
                <a:solidFill>
                  <a:schemeClr val="tx1"/>
                </a:solidFill>
              </a:rPr>
              <a:t>Human </a:t>
            </a:r>
            <a:r>
              <a:rPr lang="en-US" sz="3500" b="1" dirty="0" smtClean="0">
                <a:solidFill>
                  <a:schemeClr val="tx1"/>
                </a:solidFill>
              </a:rPr>
              <a:t>Development </a:t>
            </a:r>
            <a:r>
              <a:rPr lang="en-US" sz="3500" b="1" dirty="0" smtClean="0">
                <a:solidFill>
                  <a:schemeClr val="tx1"/>
                </a:solidFill>
              </a:rPr>
              <a:t>and IGR </a:t>
            </a:r>
            <a:r>
              <a:rPr lang="en-US" sz="3500" b="1" dirty="0" smtClean="0">
                <a:solidFill>
                  <a:schemeClr val="tx1"/>
                </a:solidFill>
              </a:rPr>
              <a:t>Generation in </a:t>
            </a:r>
            <a:r>
              <a:rPr lang="en-US" sz="3500" b="1" dirty="0" smtClean="0">
                <a:solidFill>
                  <a:schemeClr val="tx1"/>
                </a:solidFill>
              </a:rPr>
              <a:t>EKSU</a:t>
            </a:r>
          </a:p>
          <a:p>
            <a:endParaRPr lang="en-US" sz="3500" b="1" dirty="0" smtClean="0">
              <a:solidFill>
                <a:schemeClr val="tx1"/>
              </a:solidFill>
            </a:endParaRPr>
          </a:p>
          <a:p>
            <a:r>
              <a:rPr lang="en-US" sz="3500" b="1" dirty="0" smtClean="0">
                <a:solidFill>
                  <a:schemeClr val="tx1"/>
                </a:solidFill>
              </a:rPr>
              <a:t>Presented by </a:t>
            </a:r>
          </a:p>
          <a:p>
            <a:r>
              <a:rPr lang="en-US" sz="3500" b="1" dirty="0" smtClean="0">
                <a:solidFill>
                  <a:schemeClr val="tx1"/>
                </a:solidFill>
              </a:rPr>
              <a:t>Prof. T.T. </a:t>
            </a:r>
            <a:r>
              <a:rPr lang="en-US" sz="3500" b="1" dirty="0" err="1" smtClean="0">
                <a:solidFill>
                  <a:schemeClr val="tx1"/>
                </a:solidFill>
              </a:rPr>
              <a:t>Olofintoye</a:t>
            </a:r>
            <a:endParaRPr lang="en-US" sz="35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EKSU LOGO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82709" b="57248"/>
          <a:stretch>
            <a:fillRect/>
          </a:stretch>
        </p:blipFill>
        <p:spPr bwMode="auto">
          <a:xfrm>
            <a:off x="550985" y="304800"/>
            <a:ext cx="896815" cy="114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94454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The Centre for Counselling and Human Development </a:t>
            </a:r>
            <a:r>
              <a:rPr lang="en-US" dirty="0"/>
              <a:t>was established </a:t>
            </a:r>
            <a:r>
              <a:rPr lang="en-US" dirty="0" smtClean="0"/>
              <a:t>by the 212</a:t>
            </a:r>
            <a:r>
              <a:rPr lang="en-US" baseline="30000" dirty="0" smtClean="0"/>
              <a:t>th</a:t>
            </a:r>
            <a:r>
              <a:rPr lang="en-US" dirty="0" smtClean="0"/>
              <a:t> senate in </a:t>
            </a:r>
            <a:r>
              <a:rPr lang="en-US" dirty="0"/>
              <a:t>February, </a:t>
            </a:r>
            <a:r>
              <a:rPr lang="en-US" dirty="0" smtClean="0"/>
              <a:t>2014.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centre is requested by NUC to </a:t>
            </a:r>
            <a:r>
              <a:rPr lang="en-US" dirty="0"/>
              <a:t>ensure </a:t>
            </a:r>
            <a:r>
              <a:rPr lang="en-US" dirty="0" smtClean="0"/>
              <a:t>effective university wide Guidance &amp; Counselling </a:t>
            </a:r>
            <a:r>
              <a:rPr lang="en-US" dirty="0"/>
              <a:t>services.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Counselling </a:t>
            </a:r>
            <a:r>
              <a:rPr lang="en-US" dirty="0"/>
              <a:t>is an academic support programme in the University. 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services are to be rendered by professional counsellors and clinical psychologists</a:t>
            </a:r>
            <a:endParaRPr lang="en-US" dirty="0"/>
          </a:p>
          <a:p>
            <a:pPr marL="109728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Introduction 1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10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services are rendered for students </a:t>
            </a:r>
            <a:r>
              <a:rPr lang="en-US" dirty="0" smtClean="0"/>
              <a:t>to understand:</a:t>
            </a:r>
          </a:p>
          <a:p>
            <a:r>
              <a:rPr lang="en-US" dirty="0"/>
              <a:t>t</a:t>
            </a:r>
            <a:r>
              <a:rPr lang="en-US" dirty="0" smtClean="0"/>
              <a:t>hemselves </a:t>
            </a:r>
          </a:p>
          <a:p>
            <a:r>
              <a:rPr lang="en-US" dirty="0"/>
              <a:t>t</a:t>
            </a:r>
            <a:r>
              <a:rPr lang="en-US" dirty="0" smtClean="0"/>
              <a:t>he  </a:t>
            </a:r>
            <a:r>
              <a:rPr lang="en-US" dirty="0"/>
              <a:t>nature of the school environment, </a:t>
            </a:r>
            <a:endParaRPr lang="en-US" dirty="0" smtClean="0"/>
          </a:p>
          <a:p>
            <a:r>
              <a:rPr lang="en-US" dirty="0" smtClean="0"/>
              <a:t>how </a:t>
            </a:r>
            <a:r>
              <a:rPr lang="en-US" dirty="0"/>
              <a:t>to cope with some challenges </a:t>
            </a:r>
            <a:r>
              <a:rPr lang="en-US" dirty="0" smtClean="0"/>
              <a:t>in </a:t>
            </a:r>
            <a:r>
              <a:rPr lang="en-US" dirty="0"/>
              <a:t>the course of their </a:t>
            </a:r>
            <a:r>
              <a:rPr lang="en-US" dirty="0" smtClean="0"/>
              <a:t>studies</a:t>
            </a:r>
          </a:p>
          <a:p>
            <a:r>
              <a:rPr lang="en-US" dirty="0"/>
              <a:t>h</a:t>
            </a:r>
            <a:r>
              <a:rPr lang="en-US" dirty="0" smtClean="0"/>
              <a:t>ow to interact </a:t>
            </a:r>
            <a:r>
              <a:rPr lang="en-US" dirty="0"/>
              <a:t>with their lecturers, administrative staff members, fellow students and the University Community at large.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Introduction 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652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A. Educational/Academic Counselling</a:t>
            </a:r>
          </a:p>
          <a:p>
            <a:endParaRPr lang="en-US" dirty="0" smtClean="0"/>
          </a:p>
          <a:p>
            <a:r>
              <a:rPr lang="en-US" dirty="0" smtClean="0"/>
              <a:t>B. Career Guidance/Counselling</a:t>
            </a:r>
          </a:p>
          <a:p>
            <a:endParaRPr lang="en-US" dirty="0" smtClean="0"/>
          </a:p>
          <a:p>
            <a:r>
              <a:rPr lang="en-US" dirty="0" smtClean="0"/>
              <a:t>C. Personal-social Counselling</a:t>
            </a:r>
          </a:p>
          <a:p>
            <a:pPr marL="109728" indent="0">
              <a:buNone/>
            </a:pPr>
            <a:endParaRPr lang="en-US" dirty="0" smtClean="0"/>
          </a:p>
          <a:p>
            <a:r>
              <a:rPr lang="en-US" dirty="0" smtClean="0"/>
              <a:t>D. Marriage and Family Counselling</a:t>
            </a:r>
          </a:p>
          <a:p>
            <a:endParaRPr lang="en-US" dirty="0" smtClean="0"/>
          </a:p>
          <a:p>
            <a:r>
              <a:rPr lang="en-US" dirty="0" smtClean="0"/>
              <a:t>E. Financial Counselling</a:t>
            </a:r>
          </a:p>
          <a:p>
            <a:endParaRPr lang="en-US" dirty="0" smtClean="0"/>
          </a:p>
          <a:p>
            <a:r>
              <a:rPr lang="en-US" dirty="0" smtClean="0"/>
              <a:t>F. Health Counselling</a:t>
            </a:r>
          </a:p>
          <a:p>
            <a:endParaRPr lang="en-US" dirty="0" smtClean="0"/>
          </a:p>
          <a:p>
            <a:r>
              <a:rPr lang="en-US" dirty="0" smtClean="0"/>
              <a:t>G. Research and </a:t>
            </a:r>
            <a:r>
              <a:rPr lang="en-US" dirty="0"/>
              <a:t>o</a:t>
            </a:r>
            <a:r>
              <a:rPr lang="en-US" dirty="0" smtClean="0"/>
              <a:t>ther Counselling related Activities.</a:t>
            </a:r>
            <a:r>
              <a:rPr lang="en-US" b="1" dirty="0" smtClean="0"/>
              <a:t>	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169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Staff Members:</a:t>
            </a:r>
            <a:endParaRPr lang="en-US" dirty="0"/>
          </a:p>
          <a:p>
            <a:r>
              <a:rPr lang="en-US" dirty="0"/>
              <a:t>a. </a:t>
            </a:r>
            <a:r>
              <a:rPr lang="en-US" dirty="0" smtClean="0"/>
              <a:t> Director </a:t>
            </a:r>
            <a:r>
              <a:rPr lang="en-US" dirty="0"/>
              <a:t>	</a:t>
            </a:r>
          </a:p>
          <a:p>
            <a:r>
              <a:rPr lang="en-US" dirty="0"/>
              <a:t>b. </a:t>
            </a:r>
            <a:r>
              <a:rPr lang="en-US" dirty="0" smtClean="0"/>
              <a:t> One </a:t>
            </a:r>
            <a:r>
              <a:rPr lang="en-US" dirty="0"/>
              <a:t>Administrative Officer1</a:t>
            </a:r>
          </a:p>
          <a:p>
            <a:r>
              <a:rPr lang="en-US" dirty="0"/>
              <a:t>c</a:t>
            </a:r>
            <a:r>
              <a:rPr lang="en-US" dirty="0" smtClean="0"/>
              <a:t>.  One </a:t>
            </a:r>
            <a:r>
              <a:rPr lang="en-US" dirty="0"/>
              <a:t>Data Processing Officer</a:t>
            </a:r>
          </a:p>
          <a:p>
            <a:r>
              <a:rPr lang="en-US" dirty="0"/>
              <a:t>d</a:t>
            </a:r>
            <a:r>
              <a:rPr lang="en-US" dirty="0" smtClean="0"/>
              <a:t>.  One </a:t>
            </a:r>
            <a:r>
              <a:rPr lang="en-US" dirty="0"/>
              <a:t>Senior Office </a:t>
            </a:r>
            <a:r>
              <a:rPr lang="en-US" dirty="0" smtClean="0"/>
              <a:t>Assistant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Strengths - 1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791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b="1" dirty="0"/>
              <a:t>2. Activities </a:t>
            </a:r>
            <a:endParaRPr lang="en-US" dirty="0"/>
          </a:p>
          <a:p>
            <a:r>
              <a:rPr lang="en-US" dirty="0"/>
              <a:t>Hospitality </a:t>
            </a:r>
            <a:r>
              <a:rPr lang="en-US" dirty="0" smtClean="0"/>
              <a:t>Services – caring for students and aiding indigent students to pay school charges (IGR)</a:t>
            </a:r>
            <a:endParaRPr lang="en-US" dirty="0"/>
          </a:p>
          <a:p>
            <a:r>
              <a:rPr lang="en-US" dirty="0"/>
              <a:t>Formation of the Guidance Team</a:t>
            </a:r>
          </a:p>
          <a:p>
            <a:r>
              <a:rPr lang="en-US" dirty="0"/>
              <a:t>Individual Counselling – about 150 </a:t>
            </a:r>
            <a:r>
              <a:rPr lang="en-US" dirty="0" smtClean="0"/>
              <a:t>students issues</a:t>
            </a:r>
            <a:endParaRPr lang="en-US" dirty="0"/>
          </a:p>
          <a:p>
            <a:r>
              <a:rPr lang="en-US" dirty="0"/>
              <a:t>Group Guidance – about 10 incidences</a:t>
            </a:r>
          </a:p>
          <a:p>
            <a:r>
              <a:rPr lang="en-US" dirty="0"/>
              <a:t>Family Counselling- 15 cases</a:t>
            </a:r>
          </a:p>
          <a:p>
            <a:r>
              <a:rPr lang="en-US" dirty="0"/>
              <a:t>Students/Parents Relations – 12 encounters</a:t>
            </a:r>
          </a:p>
          <a:p>
            <a:r>
              <a:rPr lang="en-US" dirty="0"/>
              <a:t>Personal/Social Counselling – 25 incidences</a:t>
            </a:r>
          </a:p>
          <a:p>
            <a:r>
              <a:rPr lang="en-US" dirty="0"/>
              <a:t>Distribution of Services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dirty="0" smtClean="0"/>
              <a:t>Strengths - 2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455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Full-time Counsellors</a:t>
            </a:r>
            <a:endParaRPr lang="en-US" dirty="0"/>
          </a:p>
          <a:p>
            <a:r>
              <a:rPr lang="en-US" dirty="0"/>
              <a:t>No Awareness </a:t>
            </a:r>
            <a:r>
              <a:rPr lang="en-US" dirty="0" smtClean="0"/>
              <a:t>Campaign</a:t>
            </a:r>
            <a:endParaRPr lang="en-US" dirty="0"/>
          </a:p>
          <a:p>
            <a:r>
              <a:rPr lang="en-US" dirty="0"/>
              <a:t>Poor Condition of Counselling </a:t>
            </a:r>
            <a:r>
              <a:rPr lang="en-US" dirty="0" smtClean="0"/>
              <a:t>Rooms</a:t>
            </a:r>
          </a:p>
          <a:p>
            <a:r>
              <a:rPr lang="en-US" dirty="0"/>
              <a:t>No Phones </a:t>
            </a:r>
            <a:r>
              <a:rPr lang="en-US" dirty="0" smtClean="0"/>
              <a:t>&amp; Lap </a:t>
            </a:r>
            <a:r>
              <a:rPr lang="en-US" dirty="0"/>
              <a:t>Tops for e-counselling</a:t>
            </a:r>
          </a:p>
          <a:p>
            <a:r>
              <a:rPr lang="en-US" dirty="0"/>
              <a:t>No </a:t>
            </a:r>
            <a:r>
              <a:rPr lang="en-US" dirty="0" smtClean="0"/>
              <a:t>Fliers </a:t>
            </a:r>
            <a:r>
              <a:rPr lang="en-US" dirty="0"/>
              <a:t>for </a:t>
            </a:r>
            <a:r>
              <a:rPr lang="en-US" dirty="0" smtClean="0"/>
              <a:t>Publicity</a:t>
            </a:r>
          </a:p>
          <a:p>
            <a:r>
              <a:rPr lang="en-US" dirty="0" smtClean="0"/>
              <a:t>No </a:t>
            </a:r>
            <a:r>
              <a:rPr lang="en-US" dirty="0"/>
              <a:t>Therapeutic </a:t>
            </a:r>
            <a:r>
              <a:rPr lang="en-US" dirty="0" smtClean="0"/>
              <a:t>Materials</a:t>
            </a:r>
          </a:p>
          <a:p>
            <a:r>
              <a:rPr lang="en-US" dirty="0" smtClean="0"/>
              <a:t>Poor condition of Counselling Centre Rooms</a:t>
            </a:r>
          </a:p>
          <a:p>
            <a:r>
              <a:rPr lang="en-US" dirty="0" smtClean="0"/>
              <a:t>No Conference Room for Group Counselling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Weaknesses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635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making </a:t>
            </a:r>
            <a:r>
              <a:rPr lang="en-US" dirty="0"/>
              <a:t>students contribute an approved amount for guidance and counselling services.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sum of N500. 00 is suggested for new </a:t>
            </a:r>
            <a:r>
              <a:rPr lang="en-US" dirty="0" smtClean="0"/>
              <a:t>students as part of school charges, just like other service charges</a:t>
            </a:r>
          </a:p>
          <a:p>
            <a:pPr marL="109728" indent="0">
              <a:buNone/>
            </a:pPr>
            <a:endParaRPr lang="en-US" b="1" dirty="0" smtClean="0"/>
          </a:p>
          <a:p>
            <a:pPr marL="109728" indent="0">
              <a:buNone/>
            </a:pPr>
            <a:r>
              <a:rPr lang="en-US" dirty="0"/>
              <a:t> 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ffectLst/>
              </a:rPr>
              <a:t>The CCHD </a:t>
            </a:r>
            <a:r>
              <a:rPr lang="en-US" sz="2800" dirty="0" smtClean="0">
                <a:effectLst/>
              </a:rPr>
              <a:t>&amp; </a:t>
            </a:r>
            <a:r>
              <a:rPr lang="en-US" sz="2800" dirty="0">
                <a:effectLst/>
              </a:rPr>
              <a:t>Wealth </a:t>
            </a:r>
            <a:r>
              <a:rPr lang="en-US" sz="2800" dirty="0" smtClean="0">
                <a:effectLst/>
              </a:rPr>
              <a:t>Generation </a:t>
            </a:r>
            <a:r>
              <a:rPr lang="en-US" sz="2800" dirty="0">
                <a:effectLst/>
              </a:rPr>
              <a:t>in the </a:t>
            </a:r>
            <a:r>
              <a:rPr lang="en-US" sz="2800" dirty="0" smtClean="0">
                <a:effectLst/>
              </a:rPr>
              <a:t>University - 1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2506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production and sales of psychological tests and inventories for counsellors use </a:t>
            </a:r>
          </a:p>
          <a:p>
            <a:r>
              <a:rPr lang="en-US" sz="2400" dirty="0"/>
              <a:t>production and sales of ethical and guidance related souvenirs and posters</a:t>
            </a:r>
          </a:p>
          <a:p>
            <a:r>
              <a:rPr lang="en-US" sz="2400" dirty="0"/>
              <a:t>the provision of consultancy services</a:t>
            </a:r>
          </a:p>
          <a:p>
            <a:r>
              <a:rPr lang="en-US" sz="2400" dirty="0"/>
              <a:t>the organization of endowment funds</a:t>
            </a:r>
          </a:p>
          <a:p>
            <a:r>
              <a:rPr lang="en-US" sz="2400" dirty="0"/>
              <a:t>searching for donor agencies</a:t>
            </a:r>
            <a:r>
              <a:rPr lang="en-US" sz="2400" b="1" dirty="0"/>
              <a:t> </a:t>
            </a:r>
            <a:endParaRPr lang="en-US" sz="2400" b="1" dirty="0" smtClean="0"/>
          </a:p>
          <a:p>
            <a:pPr marL="109728" indent="0">
              <a:buNone/>
            </a:pPr>
            <a:r>
              <a:rPr lang="en-US" b="1" dirty="0"/>
              <a:t>Prof. T. T. Olofintoye   </a:t>
            </a:r>
            <a:endParaRPr lang="en-US" dirty="0"/>
          </a:p>
          <a:p>
            <a:pPr marL="109728" indent="0">
              <a:buNone/>
            </a:pPr>
            <a:r>
              <a:rPr lang="en-US" dirty="0"/>
              <a:t>Director, C.C.H.D.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</a:rPr>
              <a:t>The CCHD &amp; Wealth Generation in the University </a:t>
            </a:r>
            <a:r>
              <a:rPr lang="en-US" sz="2400" dirty="0" smtClean="0">
                <a:effectLst/>
              </a:rPr>
              <a:t>- 2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56092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154</TotalTime>
  <Words>368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Concourse</vt:lpstr>
      <vt:lpstr>  EKITI STATE UNIVERSITY ADO - EKITI      Centre for Counselling and Human Development </vt:lpstr>
      <vt:lpstr>Introduction 1 </vt:lpstr>
      <vt:lpstr>Introduction 2</vt:lpstr>
      <vt:lpstr>Our Services</vt:lpstr>
      <vt:lpstr>Our Strengths - 1 </vt:lpstr>
      <vt:lpstr>Our Strengths - 2</vt:lpstr>
      <vt:lpstr>Our Weaknesses </vt:lpstr>
      <vt:lpstr>The CCHD &amp; Wealth Generation in the University - 1</vt:lpstr>
      <vt:lpstr>The CCHD &amp; Wealth Generation in the University - 2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 STATE UNIVERSITY ADO - EKITI      Centre for Counselling and Human Development</dc:title>
  <dc:creator>TT</dc:creator>
  <cp:lastModifiedBy>Ogundipe Folake</cp:lastModifiedBy>
  <cp:revision>17</cp:revision>
  <dcterms:created xsi:type="dcterms:W3CDTF">2016-01-26T19:43:55Z</dcterms:created>
  <dcterms:modified xsi:type="dcterms:W3CDTF">2016-01-27T11:45:21Z</dcterms:modified>
</cp:coreProperties>
</file>