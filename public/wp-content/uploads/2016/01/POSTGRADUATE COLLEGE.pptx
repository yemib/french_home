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63" r:id="rId2"/>
    <p:sldId id="256" r:id="rId3"/>
    <p:sldId id="257" r:id="rId4"/>
    <p:sldId id="258" r:id="rId5"/>
    <p:sldId id="259" r:id="rId6"/>
    <p:sldId id="260" r:id="rId7"/>
    <p:sldId id="261" r:id="rId8"/>
    <p:sldId id="26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67A08F-029B-4F15-A1EB-BE9073FF1AFC}" type="datetimeFigureOut">
              <a:rPr lang="en-US" smtClean="0"/>
              <a:t>1/25/2016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F2DE1D-46CB-4850-931D-F1985D8026A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356D6188-F1B5-4A47-934C-ADC074FFAF68}" type="datetimeFigureOut">
              <a:rPr lang="en-US" smtClean="0"/>
              <a:t>1/25/2016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E53E1C37-41AA-4400-8685-8EE30DA95F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56D6188-F1B5-4A47-934C-ADC074FFAF68}" type="datetimeFigureOut">
              <a:rPr lang="en-US" smtClean="0"/>
              <a:t>1/25/2016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E53E1C37-41AA-4400-8685-8EE30DA95FBF}"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56D6188-F1B5-4A47-934C-ADC074FFAF68}" type="datetimeFigureOut">
              <a:rPr lang="en-US" smtClean="0"/>
              <a:t>1/25/2016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E53E1C37-41AA-4400-8685-8EE30DA95FBF}"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56D6188-F1B5-4A47-934C-ADC074FFAF68}" type="datetimeFigureOut">
              <a:rPr lang="en-US" smtClean="0"/>
              <a:t>1/25/2016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E53E1C37-41AA-4400-8685-8EE30DA95FBF}"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56D6188-F1B5-4A47-934C-ADC074FFAF68}" type="datetimeFigureOut">
              <a:rPr lang="en-US" smtClean="0"/>
              <a:t>1/25/2016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E53E1C37-41AA-4400-8685-8EE30DA95FB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356D6188-F1B5-4A47-934C-ADC074FFAF68}" type="datetimeFigureOut">
              <a:rPr lang="en-US" smtClean="0"/>
              <a:t>1/25/2016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E53E1C37-41AA-4400-8685-8EE30DA95FBF}"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356D6188-F1B5-4A47-934C-ADC074FFAF68}" type="datetimeFigureOut">
              <a:rPr lang="en-US" smtClean="0"/>
              <a:t>1/25/2016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E53E1C37-41AA-4400-8685-8EE30DA95F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356D6188-F1B5-4A47-934C-ADC074FFAF68}" type="datetimeFigureOut">
              <a:rPr lang="en-US" smtClean="0"/>
              <a:t>1/25/2016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E53E1C37-41AA-4400-8685-8EE30DA95FB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356D6188-F1B5-4A47-934C-ADC074FFAF68}" type="datetimeFigureOut">
              <a:rPr lang="en-US" smtClean="0"/>
              <a:t>1/25/2016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E53E1C37-41AA-4400-8685-8EE30DA95FBF}"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56D6188-F1B5-4A47-934C-ADC074FFAF68}" type="datetimeFigureOut">
              <a:rPr lang="en-US" smtClean="0"/>
              <a:t>1/25/2016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E53E1C37-41AA-4400-8685-8EE30DA95F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56D6188-F1B5-4A47-934C-ADC074FFAF68}" type="datetimeFigureOut">
              <a:rPr lang="en-US" smtClean="0"/>
              <a:t>1/25/2016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E53E1C37-41AA-4400-8685-8EE30DA95F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356D6188-F1B5-4A47-934C-ADC074FFAF68}" type="datetimeFigureOut">
              <a:rPr lang="en-US" smtClean="0"/>
              <a:t>1/25/2016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E53E1C37-41AA-4400-8685-8EE30DA95F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a:bodyPr>
          <a:lstStyle/>
          <a:p>
            <a:pPr>
              <a:buNone/>
            </a:pPr>
            <a:r>
              <a:rPr lang="en-US" sz="3500" b="1" dirty="0" smtClean="0"/>
              <a:t>EKITI STATE UNIVERSITY, ADO-EKITI</a:t>
            </a:r>
            <a:endParaRPr lang="en-US" sz="3500" dirty="0" smtClean="0"/>
          </a:p>
          <a:p>
            <a:pPr>
              <a:buNone/>
            </a:pPr>
            <a:r>
              <a:rPr lang="en-US" b="1" dirty="0" smtClean="0"/>
              <a:t>  </a:t>
            </a:r>
            <a:endParaRPr lang="en-US" dirty="0" smtClean="0"/>
          </a:p>
          <a:p>
            <a:pPr algn="ctr">
              <a:buNone/>
            </a:pPr>
            <a:r>
              <a:rPr lang="en-US" b="1" dirty="0" smtClean="0"/>
              <a:t>MEMORANDUM PRESENTED TO THE </a:t>
            </a:r>
            <a:r>
              <a:rPr lang="en-US" b="1" dirty="0" smtClean="0"/>
              <a:t>UNIVERSITY INTERNALLY </a:t>
            </a:r>
            <a:r>
              <a:rPr lang="en-US" b="1" dirty="0" smtClean="0"/>
              <a:t>GENERATED REVENUE </a:t>
            </a:r>
            <a:r>
              <a:rPr lang="en-US" b="1" dirty="0" smtClean="0"/>
              <a:t>SUMMIT </a:t>
            </a:r>
          </a:p>
          <a:p>
            <a:pPr algn="ctr">
              <a:buNone/>
            </a:pPr>
            <a:r>
              <a:rPr lang="en-US" b="1" dirty="0" smtClean="0"/>
              <a:t>BY THE PROVOST</a:t>
            </a:r>
            <a:r>
              <a:rPr lang="en-US" b="1" dirty="0" smtClean="0"/>
              <a:t>, </a:t>
            </a:r>
            <a:endParaRPr lang="en-US" dirty="0" smtClean="0"/>
          </a:p>
          <a:p>
            <a:pPr algn="ctr">
              <a:buNone/>
            </a:pPr>
            <a:r>
              <a:rPr lang="en-US" b="1" dirty="0" smtClean="0"/>
              <a:t>COLLEGE OF POSTGRADUATE STUDIES</a:t>
            </a:r>
            <a:endParaRPr lang="en-US" dirty="0" smtClean="0"/>
          </a:p>
          <a:p>
            <a:pPr algn="ctr">
              <a:buNone/>
            </a:pPr>
            <a:r>
              <a:rPr lang="en-US" b="1" dirty="0" smtClean="0"/>
              <a:t> </a:t>
            </a:r>
            <a:endParaRPr lang="en-US" dirty="0" smtClean="0"/>
          </a:p>
          <a:p>
            <a:pPr>
              <a:buNone/>
            </a:pPr>
            <a:r>
              <a:rPr lang="en-US" b="1" dirty="0" smtClean="0"/>
              <a:t> </a:t>
            </a:r>
            <a:endParaRPr lang="en-US" dirty="0" smtClean="0"/>
          </a:p>
          <a:p>
            <a:pPr>
              <a:buNone/>
            </a:pPr>
            <a:r>
              <a:rPr lang="en-US" b="1" i="1" dirty="0" smtClean="0"/>
              <a:t>                                       PROF</a:t>
            </a:r>
            <a:r>
              <a:rPr lang="en-US" b="1" i="1" dirty="0" smtClean="0"/>
              <a:t>. E.O. OGUNLEYE</a:t>
            </a:r>
            <a:endParaRPr lang="en-US" dirty="0" smtClean="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0"/>
            <a:ext cx="7772400" cy="6019800"/>
          </a:xfrm>
        </p:spPr>
        <p:txBody>
          <a:bodyPr>
            <a:noAutofit/>
          </a:bodyPr>
          <a:lstStyle/>
          <a:p>
            <a:pPr algn="just"/>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200" dirty="0" smtClean="0"/>
              <a:t/>
            </a:r>
            <a:br>
              <a:rPr lang="en-US" sz="2200" dirty="0" smtClean="0"/>
            </a:br>
            <a:r>
              <a:rPr lang="en-US" sz="2100" dirty="0" smtClean="0"/>
              <a:t>INTRODUCTION</a:t>
            </a:r>
            <a:br>
              <a:rPr lang="en-US" sz="2100" dirty="0" smtClean="0"/>
            </a:br>
            <a:r>
              <a:rPr lang="en-US" sz="2100" b="0" dirty="0" smtClean="0">
                <a:effectLst/>
              </a:rPr>
              <a:t>The University started its first Postgraduate </a:t>
            </a:r>
            <a:r>
              <a:rPr lang="en-US" sz="2100" b="0" dirty="0" err="1" smtClean="0">
                <a:effectLst/>
              </a:rPr>
              <a:t>Programme</a:t>
            </a:r>
            <a:r>
              <a:rPr lang="en-US" sz="2100" b="0" dirty="0" smtClean="0">
                <a:effectLst/>
              </a:rPr>
              <a:t> in 1986 with the introduction of Postgraduate Diploma in Education (PGDE) and Master of Education (M.ED) in Guidance and Counselling programmes, both in the Faculty of Education. Today, all Faculties except those in College of Medicine run Postgraduate Studies. </a:t>
            </a:r>
            <a:br>
              <a:rPr lang="en-US" sz="2100" b="0" dirty="0" smtClean="0">
                <a:effectLst/>
              </a:rPr>
            </a:br>
            <a:r>
              <a:rPr lang="en-US" sz="2100" b="0" dirty="0" smtClean="0">
                <a:effectLst/>
              </a:rPr>
              <a:t> </a:t>
            </a:r>
            <a:br>
              <a:rPr lang="en-US" sz="2100" b="0" dirty="0" smtClean="0">
                <a:effectLst/>
              </a:rPr>
            </a:br>
            <a:r>
              <a:rPr lang="en-US" sz="2100" b="0" dirty="0" smtClean="0">
                <a:effectLst/>
              </a:rPr>
              <a:t>Senate at its 80</a:t>
            </a:r>
            <a:r>
              <a:rPr lang="en-US" sz="2100" b="0" baseline="30000" dirty="0" smtClean="0">
                <a:effectLst/>
              </a:rPr>
              <a:t>th</a:t>
            </a:r>
            <a:r>
              <a:rPr lang="en-US" sz="2100" b="0" dirty="0" smtClean="0">
                <a:effectLst/>
              </a:rPr>
              <a:t> regular meeting approved the setting up of a Board of Postgraduate Studies. The Board was inaugurated on 6</a:t>
            </a:r>
            <a:r>
              <a:rPr lang="en-US" sz="2100" b="0" baseline="30000" dirty="0" smtClean="0">
                <a:effectLst/>
              </a:rPr>
              <a:t>th</a:t>
            </a:r>
            <a:r>
              <a:rPr lang="en-US" sz="2100" b="0" dirty="0" smtClean="0">
                <a:effectLst/>
              </a:rPr>
              <a:t> December, 1996. This was later converted to a School of Postgraduate Studies on 1</a:t>
            </a:r>
            <a:r>
              <a:rPr lang="en-US" sz="2100" b="0" baseline="30000" dirty="0" smtClean="0">
                <a:effectLst/>
              </a:rPr>
              <a:t>st</a:t>
            </a:r>
            <a:r>
              <a:rPr lang="en-US" sz="2100" b="0" dirty="0" smtClean="0">
                <a:effectLst/>
              </a:rPr>
              <a:t> January, 1999. The School was headed by a Dean.</a:t>
            </a:r>
            <a:r>
              <a:rPr lang="en-US" sz="2200" b="0" dirty="0" smtClean="0">
                <a:effectLst/>
              </a:rPr>
              <a:t/>
            </a:r>
            <a:br>
              <a:rPr lang="en-US" sz="2200" b="0" dirty="0" smtClean="0">
                <a:effectLst/>
              </a:rPr>
            </a:br>
            <a:r>
              <a:rPr lang="en-US" sz="2200" b="0" dirty="0" smtClean="0">
                <a:effectLst/>
              </a:rPr>
              <a:t/>
            </a:r>
            <a:br>
              <a:rPr lang="en-US" sz="2200" b="0" dirty="0" smtClean="0">
                <a:effectLst/>
              </a:rPr>
            </a:br>
            <a:r>
              <a:rPr lang="en-US" sz="2200" b="0" dirty="0" smtClean="0">
                <a:effectLst/>
              </a:rPr>
              <a:t/>
            </a:r>
            <a:br>
              <a:rPr lang="en-US" sz="2200" b="0" dirty="0" smtClean="0">
                <a:effectLst/>
              </a:rPr>
            </a:br>
            <a:endParaRPr lang="en-US" sz="2200" b="0" dirty="0">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04800"/>
            <a:ext cx="8229600" cy="5702491"/>
          </a:xfrm>
        </p:spPr>
        <p:txBody>
          <a:bodyPr>
            <a:normAutofit fontScale="92500" lnSpcReduction="20000"/>
          </a:bodyPr>
          <a:lstStyle/>
          <a:p>
            <a:pPr marL="971550" indent="-862013" algn="just">
              <a:buNone/>
            </a:pPr>
            <a:r>
              <a:rPr lang="en-US" b="1" dirty="0" smtClean="0"/>
              <a:t>2.0	Current Status of IGR at the College of </a:t>
            </a:r>
            <a:r>
              <a:rPr lang="en-US" b="1" dirty="0" smtClean="0"/>
              <a:t> Postgraduate Studies</a:t>
            </a:r>
          </a:p>
          <a:p>
            <a:endParaRPr lang="en-US" dirty="0" smtClean="0"/>
          </a:p>
          <a:p>
            <a:pPr lvl="1" algn="just">
              <a:buNone/>
            </a:pPr>
            <a:r>
              <a:rPr lang="en-US" dirty="0" err="1" smtClean="0"/>
              <a:t>i</a:t>
            </a:r>
            <a:r>
              <a:rPr lang="en-US" dirty="0" smtClean="0"/>
              <a:t>.	</a:t>
            </a:r>
            <a:r>
              <a:rPr lang="en-US" dirty="0" smtClean="0"/>
              <a:t>	All </a:t>
            </a:r>
            <a:r>
              <a:rPr lang="en-US" dirty="0" smtClean="0"/>
              <a:t>newly admitted Postgraduate students are made to </a:t>
            </a:r>
            <a:r>
              <a:rPr lang="en-US" dirty="0" smtClean="0"/>
              <a:t>	pay </a:t>
            </a:r>
            <a:r>
              <a:rPr lang="en-US" dirty="0" smtClean="0"/>
              <a:t>a total sum of five thousand, two hundred naira </a:t>
            </a:r>
            <a:r>
              <a:rPr lang="en-US" dirty="0" smtClean="0"/>
              <a:t>	(</a:t>
            </a:r>
            <a:r>
              <a:rPr lang="en-US" strike="dblStrike" dirty="0" smtClean="0"/>
              <a:t>N</a:t>
            </a:r>
            <a:r>
              <a:rPr lang="en-US" dirty="0" smtClean="0"/>
              <a:t>5, 200.00) each, for Abstract, Prospectus and </a:t>
            </a:r>
            <a:r>
              <a:rPr lang="en-US" dirty="0" smtClean="0"/>
              <a:t>	Guideline</a:t>
            </a:r>
            <a:r>
              <a:rPr lang="en-US" dirty="0" smtClean="0"/>
              <a:t>.</a:t>
            </a:r>
          </a:p>
          <a:p>
            <a:pPr>
              <a:buNone/>
            </a:pPr>
            <a:r>
              <a:rPr lang="en-US" dirty="0" smtClean="0"/>
              <a:t> </a:t>
            </a:r>
          </a:p>
          <a:p>
            <a:pPr lvl="1" algn="just">
              <a:buNone/>
            </a:pPr>
            <a:r>
              <a:rPr lang="en-US" dirty="0" smtClean="0"/>
              <a:t>ii. </a:t>
            </a:r>
            <a:r>
              <a:rPr lang="en-US" dirty="0" smtClean="0"/>
              <a:t>	The </a:t>
            </a:r>
            <a:r>
              <a:rPr lang="en-US" dirty="0" smtClean="0"/>
              <a:t>College of Postgraduate Studies just introduced a </a:t>
            </a:r>
            <a:r>
              <a:rPr lang="en-US" dirty="0" smtClean="0"/>
              <a:t> 	compulsory </a:t>
            </a:r>
            <a:r>
              <a:rPr lang="en-US" dirty="0" smtClean="0"/>
              <a:t>annual due of ten thousand naira (</a:t>
            </a:r>
            <a:r>
              <a:rPr lang="en-US" strike="dblStrike" dirty="0" smtClean="0"/>
              <a:t>N</a:t>
            </a:r>
            <a:r>
              <a:rPr lang="en-US" dirty="0" smtClean="0"/>
              <a:t>10, </a:t>
            </a:r>
            <a:r>
              <a:rPr lang="en-US" dirty="0" smtClean="0"/>
              <a:t>	000.00</a:t>
            </a:r>
            <a:r>
              <a:rPr lang="en-US" dirty="0" smtClean="0"/>
              <a:t>) only, payable by all Postgraduate students for </a:t>
            </a:r>
            <a:r>
              <a:rPr lang="en-US" dirty="0" smtClean="0"/>
              <a:t>	the </a:t>
            </a:r>
            <a:r>
              <a:rPr lang="en-US" dirty="0" smtClean="0"/>
              <a:t>running of the College.</a:t>
            </a:r>
          </a:p>
          <a:p>
            <a:pPr>
              <a:buNone/>
            </a:pPr>
            <a:endParaRPr lang="en-US" dirty="0" smtClean="0"/>
          </a:p>
          <a:p>
            <a:pPr lvl="1" algn="just">
              <a:buNone/>
            </a:pPr>
            <a:r>
              <a:rPr lang="en-US" dirty="0" smtClean="0"/>
              <a:t>iii.	The proposed five percent (5%) of the revenue </a:t>
            </a:r>
            <a:r>
              <a:rPr lang="en-US" dirty="0" smtClean="0"/>
              <a:t>	generated </a:t>
            </a:r>
            <a:r>
              <a:rPr lang="en-US" dirty="0" smtClean="0"/>
              <a:t>through school fees paid by Postgraduate </a:t>
            </a:r>
            <a:r>
              <a:rPr lang="en-US" dirty="0" smtClean="0"/>
              <a:t>	Students </a:t>
            </a:r>
            <a:r>
              <a:rPr lang="en-US" dirty="0" smtClean="0"/>
              <a:t>which is to be remitted to the College as </a:t>
            </a:r>
            <a:r>
              <a:rPr lang="en-US" dirty="0" smtClean="0"/>
              <a:t>	approved </a:t>
            </a:r>
            <a:r>
              <a:rPr lang="en-US" dirty="0" smtClean="0"/>
              <a:t>by Senate along with the restructuring has </a:t>
            </a:r>
            <a:r>
              <a:rPr lang="en-US" dirty="0" smtClean="0"/>
              <a:t>	not </a:t>
            </a:r>
            <a:r>
              <a:rPr lang="en-US" dirty="0" smtClean="0"/>
              <a:t>been forthcoming to the College</a:t>
            </a:r>
            <a:r>
              <a:rPr lang="en-US" dirty="0" smtClean="0"/>
              <a:t>.</a:t>
            </a:r>
          </a:p>
          <a:p>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buNone/>
            </a:pPr>
            <a:r>
              <a:rPr lang="en-US" b="1" dirty="0" smtClean="0"/>
              <a:t>3.0	Evaluation of the Activities in Terms of </a:t>
            </a:r>
            <a:r>
              <a:rPr lang="en-US" b="1" dirty="0" smtClean="0"/>
              <a:t> 	Revenue </a:t>
            </a:r>
            <a:r>
              <a:rPr lang="en-US" b="1" dirty="0" smtClean="0"/>
              <a:t>Generation in the </a:t>
            </a:r>
            <a:r>
              <a:rPr lang="en-US" b="1" dirty="0" smtClean="0"/>
              <a:t>College</a:t>
            </a:r>
          </a:p>
          <a:p>
            <a:pPr>
              <a:buNone/>
            </a:pPr>
            <a:endParaRPr lang="en-US" dirty="0" smtClean="0"/>
          </a:p>
          <a:p>
            <a:pPr lvl="1" algn="just"/>
            <a:r>
              <a:rPr lang="en-US" dirty="0" smtClean="0"/>
              <a:t>Efforts are being intensified by the College of Postgraduate Studies to ensure compliance on the part of the students in respect of the payment of the </a:t>
            </a:r>
            <a:r>
              <a:rPr lang="en-US" strike="dblStrike" dirty="0" smtClean="0"/>
              <a:t>N</a:t>
            </a:r>
            <a:r>
              <a:rPr lang="en-US" dirty="0" smtClean="0"/>
              <a:t>10, 000.00 Postgraduate due.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245291"/>
          </a:xfrm>
        </p:spPr>
        <p:txBody>
          <a:bodyPr>
            <a:normAutofit lnSpcReduction="10000"/>
          </a:bodyPr>
          <a:lstStyle/>
          <a:p>
            <a:pPr algn="just">
              <a:buNone/>
            </a:pPr>
            <a:r>
              <a:rPr lang="en-US" b="1" dirty="0" smtClean="0"/>
              <a:t>4.0	Challenges in Meeting the Expected </a:t>
            </a:r>
            <a:r>
              <a:rPr lang="en-US" b="1" dirty="0" smtClean="0"/>
              <a:t> 	Results</a:t>
            </a:r>
            <a:endParaRPr lang="en-US" dirty="0" smtClean="0"/>
          </a:p>
          <a:p>
            <a:pPr lvl="1" algn="just">
              <a:buNone/>
            </a:pPr>
            <a:r>
              <a:rPr lang="en-US" dirty="0" err="1" smtClean="0"/>
              <a:t>i</a:t>
            </a:r>
            <a:r>
              <a:rPr lang="en-US" dirty="0" smtClean="0"/>
              <a:t>.		The </a:t>
            </a:r>
            <a:r>
              <a:rPr lang="en-US" dirty="0" smtClean="0"/>
              <a:t>non-remittance of the 5% of the revenue </a:t>
            </a:r>
            <a:r>
              <a:rPr lang="en-US" dirty="0" smtClean="0"/>
              <a:t>	generated </a:t>
            </a:r>
            <a:r>
              <a:rPr lang="en-US" dirty="0" smtClean="0"/>
              <a:t>through school fees paid by students </a:t>
            </a:r>
            <a:r>
              <a:rPr lang="en-US" dirty="0" smtClean="0"/>
              <a:t>	has </a:t>
            </a:r>
            <a:r>
              <a:rPr lang="en-US" dirty="0" smtClean="0"/>
              <a:t>created a lot of set-back to the activities of </a:t>
            </a:r>
            <a:r>
              <a:rPr lang="en-US" dirty="0" smtClean="0"/>
              <a:t>	the </a:t>
            </a:r>
            <a:r>
              <a:rPr lang="en-US" dirty="0" smtClean="0"/>
              <a:t>College.</a:t>
            </a:r>
          </a:p>
          <a:p>
            <a:pPr>
              <a:buNone/>
            </a:pPr>
            <a:endParaRPr lang="en-US" dirty="0" smtClean="0"/>
          </a:p>
          <a:p>
            <a:pPr lvl="0" algn="just">
              <a:buNone/>
            </a:pPr>
            <a:r>
              <a:rPr lang="en-US" dirty="0" smtClean="0"/>
              <a:t>	ii.	Inadequate </a:t>
            </a:r>
            <a:r>
              <a:rPr lang="en-US" dirty="0" smtClean="0"/>
              <a:t>human resources in the </a:t>
            </a:r>
            <a:r>
              <a:rPr lang="en-US" dirty="0" smtClean="0"/>
              <a:t>	College</a:t>
            </a:r>
            <a:r>
              <a:rPr lang="en-US" dirty="0" smtClean="0"/>
              <a:t>.</a:t>
            </a:r>
          </a:p>
          <a:p>
            <a:pPr>
              <a:buNone/>
            </a:pPr>
            <a:r>
              <a:rPr lang="en-US" dirty="0" smtClean="0"/>
              <a:t> </a:t>
            </a:r>
          </a:p>
          <a:p>
            <a:pPr lvl="1" algn="just">
              <a:buNone/>
            </a:pPr>
            <a:r>
              <a:rPr lang="en-US" dirty="0" smtClean="0"/>
              <a:t>iii.	The </a:t>
            </a:r>
            <a:r>
              <a:rPr lang="en-US" dirty="0" smtClean="0"/>
              <a:t>IGR of the College has also been affected by </a:t>
            </a:r>
            <a:r>
              <a:rPr lang="en-US" dirty="0" smtClean="0"/>
              <a:t>	the poor </a:t>
            </a:r>
            <a:r>
              <a:rPr lang="en-US" dirty="0" smtClean="0"/>
              <a:t>level of the internet facilities in the </a:t>
            </a:r>
            <a:r>
              <a:rPr lang="en-US" dirty="0" smtClean="0"/>
              <a:t>	University</a:t>
            </a:r>
            <a:r>
              <a:rPr lang="en-US" dirty="0" smtClean="0"/>
              <a:t>, </a:t>
            </a:r>
            <a:r>
              <a:rPr lang="en-US" dirty="0" smtClean="0"/>
              <a:t>	coupled </a:t>
            </a:r>
            <a:r>
              <a:rPr lang="en-US" dirty="0" smtClean="0"/>
              <a:t>with irregular academic </a:t>
            </a:r>
            <a:r>
              <a:rPr lang="en-US" dirty="0" smtClean="0"/>
              <a:t>	calendar.</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5867400"/>
          </a:xfrm>
        </p:spPr>
        <p:txBody>
          <a:bodyPr>
            <a:normAutofit fontScale="77500" lnSpcReduction="20000"/>
          </a:bodyPr>
          <a:lstStyle/>
          <a:p>
            <a:pPr algn="just">
              <a:buNone/>
            </a:pPr>
            <a:r>
              <a:rPr lang="en-US" sz="2400" b="1" dirty="0" smtClean="0"/>
              <a:t>5.0	Suggestions on Ways by which the IGR Base of the </a:t>
            </a:r>
            <a:r>
              <a:rPr lang="en-US" sz="2400" b="1" dirty="0" smtClean="0"/>
              <a:t>	College </a:t>
            </a:r>
            <a:r>
              <a:rPr lang="en-US" sz="2400" b="1" dirty="0" smtClean="0"/>
              <a:t>can be </a:t>
            </a:r>
            <a:r>
              <a:rPr lang="en-US" sz="2400" b="1" dirty="0" smtClean="0"/>
              <a:t>improved</a:t>
            </a:r>
          </a:p>
          <a:p>
            <a:endParaRPr lang="en-US" sz="2400" dirty="0" smtClean="0"/>
          </a:p>
          <a:p>
            <a:pPr lvl="0" algn="just">
              <a:buNone/>
            </a:pPr>
            <a:r>
              <a:rPr lang="en-US" sz="2400" dirty="0" smtClean="0"/>
              <a:t>	</a:t>
            </a:r>
            <a:r>
              <a:rPr lang="en-US" sz="2400" dirty="0" err="1" smtClean="0"/>
              <a:t>i</a:t>
            </a:r>
            <a:r>
              <a:rPr lang="en-US" sz="2400" dirty="0" smtClean="0"/>
              <a:t>.	Postgraduate </a:t>
            </a:r>
            <a:r>
              <a:rPr lang="en-US" sz="2400" dirty="0" smtClean="0"/>
              <a:t>programmes should be introduced in all the </a:t>
            </a:r>
            <a:r>
              <a:rPr lang="en-US" sz="2400" dirty="0" smtClean="0"/>
              <a:t>	Departments </a:t>
            </a:r>
            <a:r>
              <a:rPr lang="en-US" sz="2400" dirty="0" smtClean="0"/>
              <a:t>of </a:t>
            </a:r>
            <a:r>
              <a:rPr lang="en-US" sz="2400" dirty="0" smtClean="0"/>
              <a:t>	the </a:t>
            </a:r>
            <a:r>
              <a:rPr lang="en-US" sz="2400" dirty="0" smtClean="0"/>
              <a:t>University especially </a:t>
            </a:r>
            <a:r>
              <a:rPr lang="en-US" sz="2400" dirty="0" smtClean="0"/>
              <a:t>	Postgraduate </a:t>
            </a:r>
            <a:r>
              <a:rPr lang="en-US" sz="2400" dirty="0" smtClean="0"/>
              <a:t>Diploma Programmes. Postgraduate </a:t>
            </a:r>
            <a:r>
              <a:rPr lang="en-US" sz="2400" dirty="0" smtClean="0"/>
              <a:t>	Diploma </a:t>
            </a:r>
            <a:r>
              <a:rPr lang="en-US" sz="2400" dirty="0" err="1" smtClean="0"/>
              <a:t>programme</a:t>
            </a:r>
            <a:r>
              <a:rPr lang="en-US" sz="2400" dirty="0" smtClean="0"/>
              <a:t> is recommended to be introduced in </a:t>
            </a:r>
            <a:r>
              <a:rPr lang="en-US" sz="2400" dirty="0" smtClean="0"/>
              <a:t>	Auditing </a:t>
            </a:r>
            <a:r>
              <a:rPr lang="en-US" sz="2400" dirty="0" smtClean="0"/>
              <a:t>and </a:t>
            </a:r>
            <a:r>
              <a:rPr lang="en-US" sz="2400" dirty="0" smtClean="0"/>
              <a:t>	Taxation </a:t>
            </a:r>
            <a:r>
              <a:rPr lang="en-US" sz="2400" dirty="0" smtClean="0"/>
              <a:t>in the Department of Accounting. </a:t>
            </a:r>
            <a:r>
              <a:rPr lang="en-US" sz="2400" dirty="0" smtClean="0"/>
              <a:t>	This </a:t>
            </a:r>
            <a:r>
              <a:rPr lang="en-US" sz="2400" dirty="0" smtClean="0"/>
              <a:t>is yet to be run in any </a:t>
            </a:r>
            <a:r>
              <a:rPr lang="en-US" sz="2400" dirty="0" smtClean="0"/>
              <a:t>	Southwest </a:t>
            </a:r>
            <a:r>
              <a:rPr lang="en-US" sz="2400" dirty="0" smtClean="0"/>
              <a:t>University. This </a:t>
            </a:r>
            <a:r>
              <a:rPr lang="en-US" sz="2400" dirty="0" smtClean="0"/>
              <a:t>	will </a:t>
            </a:r>
            <a:r>
              <a:rPr lang="en-US" sz="2400" dirty="0" smtClean="0"/>
              <a:t>be an opportunity for those in the ministries </a:t>
            </a:r>
            <a:r>
              <a:rPr lang="en-US" sz="2400" dirty="0" smtClean="0"/>
              <a:t>	handling </a:t>
            </a:r>
            <a:r>
              <a:rPr lang="en-US" sz="2400" dirty="0" smtClean="0"/>
              <a:t>specialized Accounting functions to develop </a:t>
            </a:r>
            <a:r>
              <a:rPr lang="en-US" sz="2400" dirty="0" smtClean="0"/>
              <a:t>	themselves</a:t>
            </a:r>
            <a:r>
              <a:rPr lang="en-US" sz="2400" dirty="0" smtClean="0"/>
              <a:t>.</a:t>
            </a:r>
          </a:p>
          <a:p>
            <a:pPr>
              <a:buNone/>
            </a:pPr>
            <a:r>
              <a:rPr lang="en-US" sz="2400" dirty="0" smtClean="0"/>
              <a:t> </a:t>
            </a:r>
          </a:p>
          <a:p>
            <a:pPr lvl="0" algn="just">
              <a:buNone/>
            </a:pPr>
            <a:r>
              <a:rPr lang="en-US" sz="2400" dirty="0" smtClean="0"/>
              <a:t>	ii.	The </a:t>
            </a:r>
            <a:r>
              <a:rPr lang="en-US" sz="2400" dirty="0" smtClean="0"/>
              <a:t>professional Masters’ programmes (MBA, MPA, MILR, </a:t>
            </a:r>
            <a:r>
              <a:rPr lang="en-US" sz="2400" dirty="0" smtClean="0"/>
              <a:t>	MEM </a:t>
            </a:r>
            <a:r>
              <a:rPr lang="en-US" sz="2400" dirty="0" smtClean="0"/>
              <a:t>and MIT) </a:t>
            </a:r>
            <a:r>
              <a:rPr lang="en-US" sz="2400" dirty="0" smtClean="0"/>
              <a:t>	should </a:t>
            </a:r>
            <a:r>
              <a:rPr lang="en-US" sz="2400" dirty="0" smtClean="0"/>
              <a:t>be made more viable to attract more </a:t>
            </a:r>
            <a:r>
              <a:rPr lang="en-US" sz="2400" dirty="0" smtClean="0"/>
              <a:t>	applicants</a:t>
            </a:r>
            <a:r>
              <a:rPr lang="en-US" sz="2400" dirty="0" smtClean="0"/>
              <a:t>, which will in turn </a:t>
            </a:r>
            <a:r>
              <a:rPr lang="en-US" sz="2400" dirty="0" smtClean="0"/>
              <a:t>	improve </a:t>
            </a:r>
            <a:r>
              <a:rPr lang="en-US" sz="2400" dirty="0" smtClean="0"/>
              <a:t>the IGR of the </a:t>
            </a:r>
            <a:r>
              <a:rPr lang="en-US" sz="2400" dirty="0" smtClean="0"/>
              <a:t>	College</a:t>
            </a:r>
            <a:r>
              <a:rPr lang="en-US" sz="2400" dirty="0" smtClean="0"/>
              <a:t>. </a:t>
            </a:r>
          </a:p>
          <a:p>
            <a:pPr algn="just">
              <a:buNone/>
            </a:pPr>
            <a:r>
              <a:rPr lang="en-US" sz="2400" dirty="0" smtClean="0"/>
              <a:t> </a:t>
            </a:r>
          </a:p>
          <a:p>
            <a:pPr marL="858838" lvl="2" algn="just">
              <a:buNone/>
            </a:pPr>
            <a:r>
              <a:rPr lang="en-US" sz="2400" dirty="0" smtClean="0"/>
              <a:t>	a.    Timely </a:t>
            </a:r>
            <a:r>
              <a:rPr lang="en-US" sz="2400" dirty="0" smtClean="0"/>
              <a:t>release of scores by lecturers and computation of </a:t>
            </a:r>
            <a:r>
              <a:rPr lang="en-US" sz="2400" dirty="0" smtClean="0"/>
              <a:t>	       results </a:t>
            </a:r>
            <a:r>
              <a:rPr lang="en-US" sz="2400" dirty="0" smtClean="0"/>
              <a:t>for approval </a:t>
            </a:r>
            <a:r>
              <a:rPr lang="en-US" sz="2400" dirty="0" smtClean="0"/>
              <a:t>	by </a:t>
            </a:r>
            <a:r>
              <a:rPr lang="en-US" sz="2400" dirty="0" smtClean="0"/>
              <a:t>the </a:t>
            </a:r>
            <a:r>
              <a:rPr lang="en-US" sz="2400" dirty="0" smtClean="0"/>
              <a:t>	      officers </a:t>
            </a:r>
            <a:r>
              <a:rPr lang="en-US" sz="2400" dirty="0" smtClean="0"/>
              <a:t>involved.</a:t>
            </a:r>
          </a:p>
          <a:p>
            <a:pPr lvl="1" algn="just">
              <a:buNone/>
            </a:pPr>
            <a:r>
              <a:rPr lang="en-US" sz="2400" dirty="0" smtClean="0"/>
              <a:t>	    b.  A </a:t>
            </a:r>
            <a:r>
              <a:rPr lang="en-US" sz="2400" dirty="0" smtClean="0"/>
              <a:t>review of admission requirements in line with what </a:t>
            </a:r>
            <a:r>
              <a:rPr lang="en-US" sz="2400" dirty="0" smtClean="0"/>
              <a:t>      	       obtain </a:t>
            </a:r>
            <a:r>
              <a:rPr lang="en-US" sz="2400" dirty="0" smtClean="0"/>
              <a:t>in sister universities.</a:t>
            </a:r>
          </a:p>
          <a:p>
            <a:pPr algn="just"/>
            <a:r>
              <a:rPr lang="en-US" sz="2000" dirty="0" smtClean="0"/>
              <a:t> </a:t>
            </a:r>
          </a:p>
          <a:p>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a:bodyPr>
          <a:lstStyle/>
          <a:p>
            <a:pPr lvl="0" algn="just">
              <a:buNone/>
            </a:pPr>
            <a:r>
              <a:rPr lang="en-US" sz="2200" dirty="0" smtClean="0"/>
              <a:t>iii.</a:t>
            </a:r>
            <a:r>
              <a:rPr lang="en-US" dirty="0" smtClean="0"/>
              <a:t>	</a:t>
            </a:r>
            <a:r>
              <a:rPr lang="en-US" sz="2200" dirty="0" smtClean="0"/>
              <a:t>Advanced </a:t>
            </a:r>
            <a:r>
              <a:rPr lang="en-US" sz="2200" dirty="0" smtClean="0"/>
              <a:t>Diploma programmes should be </a:t>
            </a:r>
            <a:r>
              <a:rPr lang="en-US" sz="2200" dirty="0" smtClean="0"/>
              <a:t>	introduced </a:t>
            </a:r>
            <a:r>
              <a:rPr lang="en-US" sz="2200" dirty="0" smtClean="0"/>
              <a:t>in the areas like, Health services, </a:t>
            </a:r>
            <a:r>
              <a:rPr lang="en-US" sz="2200" dirty="0" smtClean="0"/>
              <a:t>	Local 	Government </a:t>
            </a:r>
            <a:r>
              <a:rPr lang="en-US" sz="2200" dirty="0" smtClean="0"/>
              <a:t>administration, Accounting </a:t>
            </a:r>
            <a:r>
              <a:rPr lang="en-US" sz="2200" dirty="0" smtClean="0"/>
              <a:t>and 	Banking </a:t>
            </a:r>
            <a:r>
              <a:rPr lang="en-US" sz="2200" dirty="0" smtClean="0"/>
              <a:t>and Finance which will be </a:t>
            </a:r>
            <a:r>
              <a:rPr lang="en-US" sz="2200" dirty="0" smtClean="0"/>
              <a:t>targeted 	mainly </a:t>
            </a:r>
            <a:r>
              <a:rPr lang="en-US" sz="2200" dirty="0" smtClean="0"/>
              <a:t>at the personnel in those </a:t>
            </a:r>
            <a:r>
              <a:rPr lang="en-US" sz="2200" dirty="0" smtClean="0"/>
              <a:t>	areas</a:t>
            </a:r>
            <a:r>
              <a:rPr lang="en-US" sz="2200" dirty="0" smtClean="0"/>
              <a:t>. </a:t>
            </a:r>
          </a:p>
          <a:p>
            <a:pPr>
              <a:buNone/>
            </a:pPr>
            <a:r>
              <a:rPr lang="en-US" sz="2200" dirty="0" smtClean="0"/>
              <a:t> </a:t>
            </a:r>
          </a:p>
          <a:p>
            <a:pPr lvl="0" algn="just">
              <a:buNone/>
            </a:pPr>
            <a:r>
              <a:rPr lang="en-US" sz="2200" dirty="0" smtClean="0"/>
              <a:t>	iv.	Postgraduate </a:t>
            </a:r>
            <a:r>
              <a:rPr lang="en-US" sz="2200" dirty="0" smtClean="0"/>
              <a:t>College should get involved in </a:t>
            </a:r>
            <a:r>
              <a:rPr lang="en-US" sz="2200" dirty="0" smtClean="0"/>
              <a:t>	researches </a:t>
            </a:r>
            <a:r>
              <a:rPr lang="en-US" sz="2200" dirty="0" smtClean="0"/>
              <a:t>and consultancy programmes to </a:t>
            </a:r>
            <a:r>
              <a:rPr lang="en-US" sz="2200" dirty="0" smtClean="0"/>
              <a:t>	both 	Governmental and Non-Governmental 	Organizations</a:t>
            </a:r>
            <a:r>
              <a:rPr lang="en-US" sz="2200" dirty="0" smtClean="0"/>
              <a:t>.</a:t>
            </a:r>
          </a:p>
          <a:p>
            <a:pPr>
              <a:buNone/>
            </a:pPr>
            <a:r>
              <a:rPr lang="en-US" sz="2200" dirty="0" smtClean="0"/>
              <a:t> </a:t>
            </a:r>
          </a:p>
          <a:p>
            <a:pPr algn="just">
              <a:buNone/>
            </a:pPr>
            <a:r>
              <a:rPr lang="en-US" sz="2200" dirty="0" smtClean="0"/>
              <a:t>	v.	The </a:t>
            </a:r>
            <a:r>
              <a:rPr lang="en-US" sz="2200" dirty="0" smtClean="0"/>
              <a:t>College should organize periodic </a:t>
            </a:r>
            <a:r>
              <a:rPr lang="en-US" sz="2200" dirty="0" smtClean="0"/>
              <a:t>	seminars/workshops </a:t>
            </a:r>
            <a:r>
              <a:rPr lang="en-US" sz="2200" dirty="0" smtClean="0"/>
              <a:t>which will in-turn fetch </a:t>
            </a:r>
            <a:r>
              <a:rPr lang="en-US" sz="2200" dirty="0" smtClean="0"/>
              <a:t>	money </a:t>
            </a:r>
            <a:r>
              <a:rPr lang="en-US" sz="2200" dirty="0" smtClean="0"/>
              <a:t>for the College.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550091"/>
          </a:xfrm>
        </p:spPr>
        <p:txBody>
          <a:bodyPr>
            <a:normAutofit/>
          </a:bodyPr>
          <a:lstStyle/>
          <a:p>
            <a:pPr lvl="0" algn="just">
              <a:buNone/>
            </a:pPr>
            <a:r>
              <a:rPr lang="en-US" sz="2000" dirty="0" smtClean="0"/>
              <a:t>vi.	The </a:t>
            </a:r>
            <a:r>
              <a:rPr lang="en-US" sz="2000" dirty="0" smtClean="0"/>
              <a:t>College of Postgraduate Studies should </a:t>
            </a:r>
            <a:r>
              <a:rPr lang="en-US" sz="2000" dirty="0" smtClean="0"/>
              <a:t>	have 	its 	own </a:t>
            </a:r>
            <a:r>
              <a:rPr lang="en-US" sz="2000" dirty="0" smtClean="0"/>
              <a:t>portal for easy accessibility by </a:t>
            </a:r>
            <a:r>
              <a:rPr lang="en-US" sz="2000" dirty="0" smtClean="0"/>
              <a:t>	prospective 	candidates</a:t>
            </a:r>
            <a:r>
              <a:rPr lang="en-US" sz="2000" dirty="0" smtClean="0"/>
              <a:t>. Competent </a:t>
            </a:r>
            <a:r>
              <a:rPr lang="en-US" sz="2000" dirty="0" smtClean="0"/>
              <a:t>hands should </a:t>
            </a:r>
            <a:r>
              <a:rPr lang="en-US" sz="2000" dirty="0" smtClean="0"/>
              <a:t>also be </a:t>
            </a:r>
            <a:r>
              <a:rPr lang="en-US" sz="2000" dirty="0" smtClean="0"/>
              <a:t>	engaged </a:t>
            </a:r>
            <a:r>
              <a:rPr lang="en-US" sz="2000" dirty="0" smtClean="0"/>
              <a:t>to manage the portal.</a:t>
            </a:r>
          </a:p>
          <a:p>
            <a:pPr>
              <a:buNone/>
            </a:pPr>
            <a:endParaRPr lang="en-US" sz="2000" dirty="0" smtClean="0"/>
          </a:p>
          <a:p>
            <a:pPr marL="624078" indent="-514350" algn="just">
              <a:buNone/>
            </a:pPr>
            <a:r>
              <a:rPr lang="en-US" sz="2000" dirty="0" smtClean="0"/>
              <a:t>vii.		Laboratory </a:t>
            </a:r>
            <a:r>
              <a:rPr lang="en-US" sz="2000" dirty="0" smtClean="0"/>
              <a:t>facilities should be made available </a:t>
            </a:r>
            <a:r>
              <a:rPr lang="en-US" sz="2000" dirty="0" smtClean="0"/>
              <a:t>at </a:t>
            </a:r>
            <a:r>
              <a:rPr lang="en-US" sz="2000" dirty="0" smtClean="0"/>
              <a:t>all </a:t>
            </a:r>
            <a:r>
              <a:rPr lang="en-US" sz="2000" dirty="0" smtClean="0"/>
              <a:t>	the 	Departments </a:t>
            </a:r>
            <a:r>
              <a:rPr lang="en-US" sz="2000" dirty="0" smtClean="0"/>
              <a:t>running Postgraduate </a:t>
            </a:r>
            <a:r>
              <a:rPr lang="en-US" sz="2000" dirty="0" smtClean="0"/>
              <a:t>programmes 	especially </a:t>
            </a:r>
            <a:r>
              <a:rPr lang="en-US" sz="2000" dirty="0" smtClean="0"/>
              <a:t>those in Agricultural </a:t>
            </a:r>
            <a:r>
              <a:rPr lang="en-US" sz="2000" dirty="0" smtClean="0"/>
              <a:t>Sciences</a:t>
            </a:r>
            <a:r>
              <a:rPr lang="en-US" sz="2000" dirty="0" smtClean="0"/>
              <a:t>, Arts, </a:t>
            </a:r>
            <a:r>
              <a:rPr lang="en-US" sz="2000" dirty="0" smtClean="0"/>
              <a:t>	Engineering</a:t>
            </a:r>
            <a:r>
              <a:rPr lang="en-US" sz="2000" dirty="0" smtClean="0"/>
              <a:t>, Sciences and </a:t>
            </a:r>
            <a:r>
              <a:rPr lang="en-US" sz="2000" dirty="0" smtClean="0"/>
              <a:t>	Social </a:t>
            </a:r>
            <a:r>
              <a:rPr lang="en-US" sz="2000" dirty="0" smtClean="0"/>
              <a:t>Sciences. It has been </a:t>
            </a:r>
            <a:r>
              <a:rPr lang="en-US" sz="2000" dirty="0" smtClean="0"/>
              <a:t>	observed </a:t>
            </a:r>
            <a:r>
              <a:rPr lang="en-US" sz="2000" dirty="0" smtClean="0"/>
              <a:t>that </a:t>
            </a:r>
            <a:r>
              <a:rPr lang="en-US" sz="2000" dirty="0" smtClean="0"/>
              <a:t>Postgraduate </a:t>
            </a:r>
            <a:r>
              <a:rPr lang="en-US" sz="2000" dirty="0" smtClean="0"/>
              <a:t>students travel far to </a:t>
            </a:r>
            <a:r>
              <a:rPr lang="en-US" sz="2000" dirty="0" smtClean="0"/>
              <a:t>	neighboring </a:t>
            </a:r>
            <a:r>
              <a:rPr lang="en-US" sz="2000" dirty="0" smtClean="0"/>
              <a:t>universities only to spend much </a:t>
            </a:r>
            <a:r>
              <a:rPr lang="en-US" sz="2000" dirty="0" smtClean="0"/>
              <a:t>on 	their 	researches</a:t>
            </a:r>
            <a:r>
              <a:rPr lang="en-US" sz="2000" dirty="0" smtClean="0"/>
              <a:t>, since such facilities are </a:t>
            </a:r>
            <a:r>
              <a:rPr lang="en-US" sz="2000" dirty="0" smtClean="0"/>
              <a:t>not available </a:t>
            </a:r>
            <a:r>
              <a:rPr lang="en-US" sz="2000" dirty="0" smtClean="0"/>
              <a:t>here in </a:t>
            </a:r>
            <a:r>
              <a:rPr lang="en-US" sz="2000" dirty="0" smtClean="0"/>
              <a:t>	Ekiti </a:t>
            </a:r>
            <a:r>
              <a:rPr lang="en-US" sz="2000" dirty="0" smtClean="0"/>
              <a:t>State University</a:t>
            </a:r>
            <a:r>
              <a:rPr lang="en-US" sz="2000" dirty="0" smtClean="0"/>
              <a:t>.</a:t>
            </a:r>
          </a:p>
          <a:p>
            <a:pPr marL="624078" indent="-514350" algn="just">
              <a:buAutoNum type="romanLcPeriod" startAt="7"/>
            </a:pPr>
            <a:endParaRPr lang="en-US" sz="2000" dirty="0" smtClean="0"/>
          </a:p>
          <a:p>
            <a:pPr>
              <a:buNone/>
            </a:pPr>
            <a:r>
              <a:rPr lang="en-US" sz="2000" dirty="0" smtClean="0"/>
              <a:t> 	------------------</a:t>
            </a:r>
            <a:r>
              <a:rPr lang="en-US" sz="2000" dirty="0" smtClean="0"/>
              <a:t>	</a:t>
            </a:r>
            <a:r>
              <a:rPr lang="en-US" sz="2000" dirty="0" smtClean="0"/>
              <a:t>		</a:t>
            </a:r>
            <a:r>
              <a:rPr lang="en-US" sz="1600" b="1" dirty="0" smtClean="0"/>
              <a:t>25</a:t>
            </a:r>
            <a:r>
              <a:rPr lang="en-US" sz="1600" b="1" baseline="30000" dirty="0" smtClean="0"/>
              <a:t>th</a:t>
            </a:r>
            <a:r>
              <a:rPr lang="en-US" sz="1600" b="1" dirty="0" smtClean="0"/>
              <a:t> January, 2016</a:t>
            </a:r>
            <a:endParaRPr lang="en-US" sz="1600" b="1" dirty="0" smtClean="0"/>
          </a:p>
          <a:p>
            <a:pPr>
              <a:buNone/>
            </a:pPr>
            <a:r>
              <a:rPr lang="en-US" sz="1600" b="1" dirty="0" smtClean="0"/>
              <a:t>	SIGNED</a:t>
            </a:r>
            <a:r>
              <a:rPr lang="en-US" sz="1600" b="1" dirty="0" smtClean="0"/>
              <a:t>: Prof. E. O. </a:t>
            </a:r>
            <a:r>
              <a:rPr lang="en-US" sz="1600" b="1" dirty="0" err="1" smtClean="0"/>
              <a:t>Ogunleye</a:t>
            </a:r>
            <a:r>
              <a:rPr lang="en-US" sz="1600" b="1" dirty="0" smtClean="0"/>
              <a:t>		 </a:t>
            </a:r>
            <a:r>
              <a:rPr lang="en-US" sz="1600" b="1" dirty="0" smtClean="0"/>
              <a:t>         		 Date</a:t>
            </a:r>
            <a:r>
              <a:rPr lang="en-US" sz="2000" b="1" dirty="0" smtClean="0"/>
              <a:t> </a:t>
            </a:r>
            <a:r>
              <a:rPr lang="en-US" sz="2000" b="1" dirty="0" smtClean="0"/>
              <a:t>				</a:t>
            </a:r>
            <a:endParaRPr lang="en-US" sz="2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TotalTime>
  <Words>13</Words>
  <Application>Microsoft Office PowerPoint</Application>
  <PresentationFormat>On-screen Show (4:3)</PresentationFormat>
  <Paragraphs>45</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Concourse</vt:lpstr>
      <vt:lpstr>Slide 1</vt:lpstr>
      <vt:lpstr>                                              INTRODUCTION The University started its first Postgraduate Programme in 1986 with the introduction of Postgraduate Diploma in Education (PGDE) and Master of Education (M.ED) in Guidance and Counselling programmes, both in the Faculty of Education. Today, all Faculties except those in College of Medicine run Postgraduate Studies.    Senate at its 80th regular meeting approved the setting up of a Board of Postgraduate Studies. The Board was inaugurated on 6th December, 1996. This was later converted to a School of Postgraduate Studies on 1st January, 1999. The School was headed by a Dean.   </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SPGS-EKSU</dc:creator>
  <cp:lastModifiedBy>SPGS-EKSU</cp:lastModifiedBy>
  <cp:revision>17</cp:revision>
  <dcterms:created xsi:type="dcterms:W3CDTF">2016-01-25T19:20:17Z</dcterms:created>
  <dcterms:modified xsi:type="dcterms:W3CDTF">2016-01-25T20:32:11Z</dcterms:modified>
</cp:coreProperties>
</file>