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9144000" cy="6858000" type="screen4x3"/>
  <p:notesSz cx="7053263" cy="93091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588" autoAdjust="0"/>
    <p:restoredTop sz="94671" autoAdjust="0"/>
  </p:normalViewPr>
  <p:slideViewPr>
    <p:cSldViewPr>
      <p:cViewPr varScale="1">
        <p:scale>
          <a:sx n="47" d="100"/>
          <a:sy n="47" d="100"/>
        </p:scale>
        <p:origin x="-600"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56414" cy="465455"/>
          </a:xfrm>
          <a:prstGeom prst="rect">
            <a:avLst/>
          </a:prstGeom>
        </p:spPr>
        <p:txBody>
          <a:bodyPr vert="horz" lIns="93497" tIns="46749" rIns="93497" bIns="46749" rtlCol="0"/>
          <a:lstStyle>
            <a:lvl1pPr algn="l">
              <a:defRPr sz="1200"/>
            </a:lvl1pPr>
          </a:lstStyle>
          <a:p>
            <a:endParaRPr lang="en-US"/>
          </a:p>
        </p:txBody>
      </p:sp>
      <p:sp>
        <p:nvSpPr>
          <p:cNvPr id="3" name="Date Placeholder 2"/>
          <p:cNvSpPr>
            <a:spLocks noGrp="1"/>
          </p:cNvSpPr>
          <p:nvPr>
            <p:ph type="dt" idx="1"/>
          </p:nvPr>
        </p:nvSpPr>
        <p:spPr>
          <a:xfrm>
            <a:off x="3995217" y="0"/>
            <a:ext cx="3056414" cy="465455"/>
          </a:xfrm>
          <a:prstGeom prst="rect">
            <a:avLst/>
          </a:prstGeom>
        </p:spPr>
        <p:txBody>
          <a:bodyPr vert="horz" lIns="93497" tIns="46749" rIns="93497" bIns="46749" rtlCol="0"/>
          <a:lstStyle>
            <a:lvl1pPr algn="r">
              <a:defRPr sz="1200"/>
            </a:lvl1pPr>
          </a:lstStyle>
          <a:p>
            <a:fld id="{FA7E609B-4AAC-4B18-80F8-E1707FC30C48}" type="datetimeFigureOut">
              <a:rPr lang="en-US" smtClean="0"/>
              <a:pPr/>
              <a:t>1/27/2016</a:t>
            </a:fld>
            <a:endParaRPr lang="en-US"/>
          </a:p>
        </p:txBody>
      </p:sp>
      <p:sp>
        <p:nvSpPr>
          <p:cNvPr id="4" name="Slide Image Placeholder 3"/>
          <p:cNvSpPr>
            <a:spLocks noGrp="1" noRot="1" noChangeAspect="1"/>
          </p:cNvSpPr>
          <p:nvPr>
            <p:ph type="sldImg" idx="2"/>
          </p:nvPr>
        </p:nvSpPr>
        <p:spPr>
          <a:xfrm>
            <a:off x="1200150" y="698500"/>
            <a:ext cx="4654550" cy="3490913"/>
          </a:xfrm>
          <a:prstGeom prst="rect">
            <a:avLst/>
          </a:prstGeom>
          <a:noFill/>
          <a:ln w="12700">
            <a:solidFill>
              <a:prstClr val="black"/>
            </a:solidFill>
          </a:ln>
        </p:spPr>
        <p:txBody>
          <a:bodyPr vert="horz" lIns="93497" tIns="46749" rIns="93497" bIns="46749" rtlCol="0" anchor="ctr"/>
          <a:lstStyle/>
          <a:p>
            <a:endParaRPr lang="en-US"/>
          </a:p>
        </p:txBody>
      </p:sp>
      <p:sp>
        <p:nvSpPr>
          <p:cNvPr id="5" name="Notes Placeholder 4"/>
          <p:cNvSpPr>
            <a:spLocks noGrp="1"/>
          </p:cNvSpPr>
          <p:nvPr>
            <p:ph type="body" sz="quarter" idx="3"/>
          </p:nvPr>
        </p:nvSpPr>
        <p:spPr>
          <a:xfrm>
            <a:off x="705327" y="4421823"/>
            <a:ext cx="5642610" cy="4189095"/>
          </a:xfrm>
          <a:prstGeom prst="rect">
            <a:avLst/>
          </a:prstGeom>
        </p:spPr>
        <p:txBody>
          <a:bodyPr vert="horz" lIns="93497" tIns="46749" rIns="93497" bIns="46749"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842029"/>
            <a:ext cx="3056414" cy="465455"/>
          </a:xfrm>
          <a:prstGeom prst="rect">
            <a:avLst/>
          </a:prstGeom>
        </p:spPr>
        <p:txBody>
          <a:bodyPr vert="horz" lIns="93497" tIns="46749" rIns="93497" bIns="46749" rtlCol="0" anchor="b"/>
          <a:lstStyle>
            <a:lvl1pPr algn="l">
              <a:defRPr sz="1200"/>
            </a:lvl1pPr>
          </a:lstStyle>
          <a:p>
            <a:endParaRPr lang="en-US"/>
          </a:p>
        </p:txBody>
      </p:sp>
      <p:sp>
        <p:nvSpPr>
          <p:cNvPr id="7" name="Slide Number Placeholder 6"/>
          <p:cNvSpPr>
            <a:spLocks noGrp="1"/>
          </p:cNvSpPr>
          <p:nvPr>
            <p:ph type="sldNum" sz="quarter" idx="5"/>
          </p:nvPr>
        </p:nvSpPr>
        <p:spPr>
          <a:xfrm>
            <a:off x="3995217" y="8842029"/>
            <a:ext cx="3056414" cy="465455"/>
          </a:xfrm>
          <a:prstGeom prst="rect">
            <a:avLst/>
          </a:prstGeom>
        </p:spPr>
        <p:txBody>
          <a:bodyPr vert="horz" lIns="93497" tIns="46749" rIns="93497" bIns="46749" rtlCol="0" anchor="b"/>
          <a:lstStyle>
            <a:lvl1pPr algn="r">
              <a:defRPr sz="1200"/>
            </a:lvl1pPr>
          </a:lstStyle>
          <a:p>
            <a:fld id="{A733FD62-3F1D-4635-A2F8-FB7E8EF5E753}" type="slidenum">
              <a:rPr lang="en-US" smtClean="0"/>
              <a:pPr/>
              <a:t>‹#›</a:t>
            </a:fld>
            <a:endParaRPr lang="en-US"/>
          </a:p>
        </p:txBody>
      </p:sp>
    </p:spTree>
    <p:extLst>
      <p:ext uri="{BB962C8B-B14F-4D97-AF65-F5344CB8AC3E}">
        <p14:creationId xmlns:p14="http://schemas.microsoft.com/office/powerpoint/2010/main" xmlns="" val="7982429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PRESENTED</a:t>
            </a:r>
            <a:r>
              <a:rPr lang="en-US" baseline="0" dirty="0" smtClean="0"/>
              <a:t> BY: PROF WALE OLAJIDE</a:t>
            </a:r>
          </a:p>
          <a:p>
            <a:endParaRPr lang="en-US" dirty="0"/>
          </a:p>
        </p:txBody>
      </p:sp>
      <p:sp>
        <p:nvSpPr>
          <p:cNvPr id="4" name="Slide Number Placeholder 3"/>
          <p:cNvSpPr>
            <a:spLocks noGrp="1"/>
          </p:cNvSpPr>
          <p:nvPr>
            <p:ph type="sldNum" sz="quarter" idx="10"/>
          </p:nvPr>
        </p:nvSpPr>
        <p:spPr/>
        <p:txBody>
          <a:bodyPr/>
          <a:lstStyle/>
          <a:p>
            <a:fld id="{A733FD62-3F1D-4635-A2F8-FB7E8EF5E753}" type="slidenum">
              <a:rPr lang="en-US" smtClean="0"/>
              <a:pPr/>
              <a:t>1</a:t>
            </a:fld>
            <a:endParaRPr lang="en-US"/>
          </a:p>
        </p:txBody>
      </p:sp>
    </p:spTree>
    <p:extLst>
      <p:ext uri="{BB962C8B-B14F-4D97-AF65-F5344CB8AC3E}">
        <p14:creationId xmlns:p14="http://schemas.microsoft.com/office/powerpoint/2010/main" xmlns="" val="31665300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ight Triangle 9"/>
          <p:cNvSpPr/>
          <p:nvPr/>
        </p:nvSpPr>
        <p:spPr>
          <a:xfrm>
            <a:off x="-2" y="4664147"/>
            <a:ext cx="9151089"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9" name="Title 8"/>
          <p:cNvSpPr>
            <a:spLocks noGrp="1"/>
          </p:cNvSpPr>
          <p:nvPr>
            <p:ph type="ctrTitle"/>
          </p:nvPr>
        </p:nvSpPr>
        <p:spPr>
          <a:xfrm>
            <a:off x="685800" y="1752601"/>
            <a:ext cx="7772400" cy="1829761"/>
          </a:xfrm>
        </p:spPr>
        <p:txBody>
          <a:bodyPr vert="horz" anchor="b">
            <a:normAutofit/>
            <a:scene3d>
              <a:camera prst="orthographicFront"/>
              <a:lightRig rig="soft" dir="t"/>
            </a:scene3d>
            <a:sp3d prstMaterial="softEdge">
              <a:bevelT w="25400" h="25400"/>
            </a:sp3d>
          </a:bodyPr>
          <a:lstStyle>
            <a:lvl1pPr algn="r">
              <a:defRPr sz="4800" b="1">
                <a:solidFill>
                  <a:schemeClr val="tx2"/>
                </a:solidFill>
                <a:effectLst>
                  <a:outerShdw blurRad="31750" dist="25400" dir="5400000" algn="tl" rotWithShape="0">
                    <a:srgbClr val="000000">
                      <a:alpha val="25000"/>
                    </a:srgbClr>
                  </a:outerShdw>
                </a:effectLst>
              </a:defRPr>
            </a:lvl1pPr>
            <a:extLst/>
          </a:lstStyle>
          <a:p>
            <a:r>
              <a:rPr kumimoji="0" lang="en-US" smtClean="0"/>
              <a:t>Click to edit Master title style</a:t>
            </a:r>
            <a:endParaRPr kumimoji="0" lang="en-US"/>
          </a:p>
        </p:txBody>
      </p:sp>
      <p:sp>
        <p:nvSpPr>
          <p:cNvPr id="17" name="Subtitle 16"/>
          <p:cNvSpPr>
            <a:spLocks noGrp="1"/>
          </p:cNvSpPr>
          <p:nvPr>
            <p:ph type="subTitle" idx="1"/>
          </p:nvPr>
        </p:nvSpPr>
        <p:spPr>
          <a:xfrm>
            <a:off x="685800" y="3611607"/>
            <a:ext cx="77724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grpSp>
        <p:nvGrpSpPr>
          <p:cNvPr id="2" name="Group 1"/>
          <p:cNvGrpSpPr/>
          <p:nvPr/>
        </p:nvGrpSpPr>
        <p:grpSpPr>
          <a:xfrm>
            <a:off x="-3765" y="4953000"/>
            <a:ext cx="9147765" cy="1912088"/>
            <a:chOff x="-3765" y="4832896"/>
            <a:chExt cx="9147765" cy="2032192"/>
          </a:xfrm>
        </p:grpSpPr>
        <p:sp>
          <p:nvSpPr>
            <p:cNvPr id="7" name="Freeform 6"/>
            <p:cNvSpPr>
              <a:spLocks/>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8" name="Freeform 7"/>
            <p:cNvSpPr>
              <a:spLocks/>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1" name="Freeform 10"/>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2" name="Straight Connector 11"/>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30" name="Date Placeholder 29"/>
          <p:cNvSpPr>
            <a:spLocks noGrp="1"/>
          </p:cNvSpPr>
          <p:nvPr>
            <p:ph type="dt" sz="half" idx="10"/>
          </p:nvPr>
        </p:nvSpPr>
        <p:spPr/>
        <p:txBody>
          <a:bodyPr/>
          <a:lstStyle>
            <a:lvl1pPr>
              <a:defRPr>
                <a:solidFill>
                  <a:srgbClr val="FFFFFF"/>
                </a:solidFill>
              </a:defRPr>
            </a:lvl1pPr>
            <a:extLst/>
          </a:lstStyle>
          <a:p>
            <a:fld id="{1D8BD707-D9CF-40AE-B4C6-C98DA3205C09}" type="datetimeFigureOut">
              <a:rPr lang="en-US" smtClean="0"/>
              <a:pPr/>
              <a:t>1/27/2016</a:t>
            </a:fld>
            <a:endParaRPr lang="en-US"/>
          </a:p>
        </p:txBody>
      </p:sp>
      <p:sp>
        <p:nvSpPr>
          <p:cNvPr id="19" name="Footer Placeholder 18"/>
          <p:cNvSpPr>
            <a:spLocks noGrp="1"/>
          </p:cNvSpPr>
          <p:nvPr>
            <p:ph type="ftr" sz="quarter" idx="11"/>
          </p:nvPr>
        </p:nvSpPr>
        <p:spPr/>
        <p:txBody>
          <a:bodyPr/>
          <a:lstStyle>
            <a:lvl1pPr>
              <a:defRPr>
                <a:solidFill>
                  <a:schemeClr val="accent1">
                    <a:tint val="20000"/>
                  </a:schemeClr>
                </a:solidFill>
              </a:defRPr>
            </a:lvl1pPr>
            <a:extLst/>
          </a:lstStyle>
          <a:p>
            <a:endParaRPr lang="en-US"/>
          </a:p>
        </p:txBody>
      </p:sp>
      <p:sp>
        <p:nvSpPr>
          <p:cNvPr id="27" name="Slide Number Placeholder 26"/>
          <p:cNvSpPr>
            <a:spLocks noGrp="1"/>
          </p:cNvSpPr>
          <p:nvPr>
            <p:ph type="sldNum" sz="quarter" idx="12"/>
          </p:nvPr>
        </p:nvSpPr>
        <p:spPr/>
        <p:txBody>
          <a:bodyPr/>
          <a:lstStyle>
            <a:lvl1pPr>
              <a:defRPr>
                <a:solidFill>
                  <a:srgbClr val="FFFFFF"/>
                </a:solidFill>
              </a:defRPr>
            </a:lvl1pPr>
            <a:extLst/>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1D8BD707-D9CF-40AE-B4C6-C98DA3205C09}" type="datetimeFigureOut">
              <a:rPr lang="en-US" smtClean="0"/>
              <a:pPr/>
              <a:t>1/27/2016</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B6F15528-21DE-4FAA-801E-634DDDAF4B2B}" type="slidenum">
              <a:rPr lang="en-US" smtClean="0"/>
              <a:pPr/>
              <a:t>‹#›</a:t>
            </a:fld>
            <a:endParaRPr lang="en-US"/>
          </a:p>
        </p:txBody>
      </p:sp>
      <p:sp>
        <p:nvSpPr>
          <p:cNvPr id="7" name="Title 6"/>
          <p:cNvSpPr>
            <a:spLocks noGrp="1"/>
          </p:cNvSpPr>
          <p:nvPr>
            <p:ph type="title"/>
          </p:nvPr>
        </p:nvSpPr>
        <p:spPr/>
        <p:txBody>
          <a:bodyPr rtlCol="0"/>
          <a:lstStyle>
            <a:extLst/>
          </a:lstStyle>
          <a:p>
            <a:r>
              <a:rPr kumimoji="0" lang="en-US" smtClean="0"/>
              <a:t>Click to edit Master title style</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76" y="1059712"/>
            <a:ext cx="7772400" cy="1828800"/>
          </a:xfrm>
        </p:spPr>
        <p:txBody>
          <a:bodyPr vert="horz" anchor="b">
            <a:normAutofit/>
            <a:scene3d>
              <a:camera prst="orthographicFront"/>
              <a:lightRig rig="soft" dir="t"/>
            </a:scene3d>
            <a:sp3d prstMaterial="softEdge">
              <a:bevelT w="25400" h="25400"/>
            </a:sp3d>
          </a:bodyPr>
          <a:lstStyle>
            <a:lvl1pPr algn="r">
              <a:buNone/>
              <a:defRPr sz="4800" b="1" cap="none" baseline="0">
                <a:effectLst>
                  <a:outerShdw blurRad="31750" dist="25400" dir="5400000" algn="tl" rotWithShape="0">
                    <a:srgbClr val="000000">
                      <a:alpha val="25000"/>
                    </a:srgbClr>
                  </a:outerShdw>
                </a:effectLst>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3922713" y="2931712"/>
            <a:ext cx="4572000" cy="1454888"/>
          </a:xfrm>
        </p:spPr>
        <p:txBody>
          <a:bodyPr lIns="91440" rIns="91440" anchor="t"/>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extLst/>
          </a:lstStyle>
          <a:p>
            <a:fld id="{1D8BD707-D9CF-40AE-B4C6-C98DA3205C09}" type="datetimeFigureOut">
              <a:rPr lang="en-US" smtClean="0"/>
              <a:pPr/>
              <a:t>1/27/2016</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B6F15528-21DE-4FAA-801E-634DDDAF4B2B}" type="slidenum">
              <a:rPr lang="en-US" smtClean="0"/>
              <a:pPr/>
              <a:t>‹#›</a:t>
            </a:fld>
            <a:endParaRPr lang="en-US"/>
          </a:p>
        </p:txBody>
      </p:sp>
      <p:sp>
        <p:nvSpPr>
          <p:cNvPr id="7" name="Chevron 6"/>
          <p:cNvSpPr/>
          <p:nvPr/>
        </p:nvSpPr>
        <p:spPr>
          <a:xfrm>
            <a:off x="3636680"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
        <p:nvSpPr>
          <p:cNvPr id="8" name="Chevron 7"/>
          <p:cNvSpPr/>
          <p:nvPr/>
        </p:nvSpPr>
        <p:spPr>
          <a:xfrm>
            <a:off x="3450264"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Ref idx="1002">
        <a:schemeClr val="bg1"/>
      </p:bgRef>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1D8BD707-D9CF-40AE-B4C6-C98DA3205C09}" type="datetimeFigureOut">
              <a:rPr lang="en-US" smtClean="0"/>
              <a:pPr/>
              <a:t>1/27/2016</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B6F15528-21DE-4FAA-801E-634DDDAF4B2B}" type="slidenum">
              <a:rPr lang="en-US" smtClean="0"/>
              <a:pPr/>
              <a:t>‹#›</a:t>
            </a:fld>
            <a:endParaRPr lang="en-US"/>
          </a:p>
        </p:txBody>
      </p:sp>
      <p:sp>
        <p:nvSpPr>
          <p:cNvPr id="8" name="Title 7"/>
          <p:cNvSpPr>
            <a:spLocks noGrp="1"/>
          </p:cNvSpPr>
          <p:nvPr>
            <p:ph type="title"/>
          </p:nvPr>
        </p:nvSpPr>
        <p:spPr/>
        <p:txBody>
          <a:bodyPr rtlCol="0"/>
          <a:lstStyle>
            <a:extLst/>
          </a:lstStyle>
          <a:p>
            <a:r>
              <a:rPr kumimoji="0" lang="en-US" smtClean="0"/>
              <a:t>Click to edit Master title style</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extLst/>
          </a:lstStyle>
          <a:p>
            <a:fld id="{1D8BD707-D9CF-40AE-B4C6-C98DA3205C09}" type="datetimeFigureOut">
              <a:rPr lang="en-US" smtClean="0"/>
              <a:pPr/>
              <a:t>1/27/2016</a:t>
            </a:fld>
            <a:endParaRPr lang="en-US"/>
          </a:p>
        </p:txBody>
      </p:sp>
      <p:sp>
        <p:nvSpPr>
          <p:cNvPr id="8" name="Footer Placeholder 7"/>
          <p:cNvSpPr>
            <a:spLocks noGrp="1"/>
          </p:cNvSpPr>
          <p:nvPr>
            <p:ph type="ftr" sz="quarter" idx="11"/>
          </p:nvPr>
        </p:nvSpPr>
        <p:spPr/>
        <p:txBody>
          <a:bodyPr/>
          <a:lstStyle>
            <a:extLst/>
          </a:lstStyle>
          <a:p>
            <a:endParaRPr lang="en-US"/>
          </a:p>
        </p:txBody>
      </p:sp>
      <p:sp>
        <p:nvSpPr>
          <p:cNvPr id="9" name="Slide Number Placeholder 8"/>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Ref idx="1002">
        <a:schemeClr val="bg1"/>
      </p:bgRef>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extLst/>
          </a:lstStyle>
          <a:p>
            <a:fld id="{1D8BD707-D9CF-40AE-B4C6-C98DA3205C09}" type="datetimeFigureOut">
              <a:rPr lang="en-US" smtClean="0"/>
              <a:pPr/>
              <a:t>1/27/2016</a:t>
            </a:fld>
            <a:endParaRPr lang="en-US"/>
          </a:p>
        </p:txBody>
      </p:sp>
      <p:sp>
        <p:nvSpPr>
          <p:cNvPr id="4" name="Footer Placeholder 3"/>
          <p:cNvSpPr>
            <a:spLocks noGrp="1"/>
          </p:cNvSpPr>
          <p:nvPr>
            <p:ph type="ftr" sz="quarter" idx="11"/>
          </p:nvPr>
        </p:nvSpPr>
        <p:spPr/>
        <p:txBody>
          <a:bodyPr/>
          <a:lstStyle>
            <a:extLst/>
          </a:lstStyle>
          <a:p>
            <a:endParaRPr lang="en-US"/>
          </a:p>
        </p:txBody>
      </p:sp>
      <p:sp>
        <p:nvSpPr>
          <p:cNvPr id="5" name="Slide Number Placeholder 4"/>
          <p:cNvSpPr>
            <a:spLocks noGrp="1"/>
          </p:cNvSpPr>
          <p:nvPr>
            <p:ph type="sldNum" sz="quarter" idx="12"/>
          </p:nvPr>
        </p:nvSpPr>
        <p:spPr/>
        <p:txBody>
          <a:bodyPr/>
          <a:lstStyle>
            <a:extLst/>
          </a:lstStyle>
          <a:p>
            <a:fld id="{B6F15528-21DE-4FAA-801E-634DDDAF4B2B}" type="slidenum">
              <a:rPr lang="en-US" smtClean="0"/>
              <a:pPr/>
              <a:t>‹#›</a:t>
            </a:fld>
            <a:endParaRPr lang="en-US"/>
          </a:p>
        </p:txBody>
      </p:sp>
      <p:sp>
        <p:nvSpPr>
          <p:cNvPr id="6" name="Title 5"/>
          <p:cNvSpPr>
            <a:spLocks noGrp="1"/>
          </p:cNvSpPr>
          <p:nvPr>
            <p:ph type="title"/>
          </p:nvPr>
        </p:nvSpPr>
        <p:spPr/>
        <p:txBody>
          <a:bodyPr rtlCol="0"/>
          <a:lstStyle>
            <a:extLst/>
          </a:lstStyle>
          <a:p>
            <a:r>
              <a:rPr kumimoji="0" lang="en-US" smtClean="0"/>
              <a:t>Click to edit Master title style</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extLst/>
          </a:lstStyle>
          <a:p>
            <a:fld id="{1D8BD707-D9CF-40AE-B4C6-C98DA3205C09}" type="datetimeFigureOut">
              <a:rPr lang="en-US" smtClean="0"/>
              <a:pPr/>
              <a:t>1/27/2016</a:t>
            </a:fld>
            <a:endParaRPr lang="en-US"/>
          </a:p>
        </p:txBody>
      </p:sp>
      <p:sp>
        <p:nvSpPr>
          <p:cNvPr id="3" name="Footer Placeholder 2"/>
          <p:cNvSpPr>
            <a:spLocks noGrp="1"/>
          </p:cNvSpPr>
          <p:nvPr>
            <p:ph type="ftr" sz="quarter" idx="11"/>
          </p:nvPr>
        </p:nvSpPr>
        <p:spPr/>
        <p:txBody>
          <a:bodyPr/>
          <a:lstStyle>
            <a:extLst/>
          </a:lstStyle>
          <a:p>
            <a:endParaRPr lang="en-US"/>
          </a:p>
        </p:txBody>
      </p:sp>
      <p:sp>
        <p:nvSpPr>
          <p:cNvPr id="4" name="Slide Number Placeholder 3"/>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914400" y="4876800"/>
            <a:ext cx="7481776" cy="457200"/>
          </a:xfrm>
        </p:spPr>
        <p:txBody>
          <a:bodyPr vert="horz" anchor="t">
            <a:noAutofit/>
            <a:sp3d prstMaterial="softEdge">
              <a:bevelT w="0" h="0"/>
            </a:sp3d>
          </a:bodyPr>
          <a:lstStyle>
            <a:lvl1pPr algn="r">
              <a:buNone/>
              <a:defRPr sz="2500" b="0">
                <a:solidFill>
                  <a:schemeClr val="accent1"/>
                </a:solidFill>
                <a:effectLst/>
              </a:defRPr>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a:xfrm>
            <a:off x="6727032" y="6407944"/>
            <a:ext cx="1920240" cy="365760"/>
          </a:xfrm>
        </p:spPr>
        <p:txBody>
          <a:bodyPr/>
          <a:lstStyle>
            <a:extLst/>
          </a:lstStyle>
          <a:p>
            <a:fld id="{1D8BD707-D9CF-40AE-B4C6-C98DA3205C09}" type="datetimeFigureOut">
              <a:rPr lang="en-US" smtClean="0"/>
              <a:pPr/>
              <a:t>1/27/2016</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1"/>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141232" y="5443402"/>
            <a:ext cx="7162800" cy="648232"/>
          </a:xfrm>
          <a:noFill/>
        </p:spPr>
        <p:txBody>
          <a:bodyPr lIns="91440" tIns="0" rIns="91440" anchor="t"/>
          <a:lstStyle>
            <a:lvl1pPr marL="0" marR="18288" indent="0" algn="r">
              <a:buNone/>
              <a:defRPr sz="1400"/>
            </a:lvl1pPr>
            <a:lvl2pPr>
              <a:defRPr sz="1200"/>
            </a:lvl2pPr>
            <a:lvl3pPr>
              <a:defRPr sz="1000"/>
            </a:lvl3pPr>
            <a:lvl4pPr>
              <a:defRPr sz="900"/>
            </a:lvl4pPr>
            <a:lvl5pPr>
              <a:defRPr sz="900"/>
            </a:lvl5pPr>
            <a:extLst/>
          </a:lstStyle>
          <a:p>
            <a:pPr lvl="0" eaLnBrk="1" latinLnBrk="0" hangingPunct="1"/>
            <a:r>
              <a:rPr kumimoji="0" lang="en-US" smtClean="0"/>
              <a:t>Click to edit Master text styles</a:t>
            </a:r>
          </a:p>
        </p:txBody>
      </p:sp>
      <p:sp>
        <p:nvSpPr>
          <p:cNvPr id="3" name="Picture Placeholder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lstStyle>
            <a:lvl1pPr marL="0" indent="0">
              <a:buNone/>
              <a:defRPr sz="3200"/>
            </a:lvl1pPr>
            <a:extLst/>
          </a:lstStyle>
          <a:p>
            <a:r>
              <a:rPr kumimoji="0" lang="en-US" smtClean="0"/>
              <a:t>Click icon to add picture</a:t>
            </a:r>
            <a:endParaRPr kumimoji="0" lang="en-US" dirty="0"/>
          </a:p>
        </p:txBody>
      </p:sp>
      <p:sp>
        <p:nvSpPr>
          <p:cNvPr id="5" name="Date Placeholder 4"/>
          <p:cNvSpPr>
            <a:spLocks noGrp="1"/>
          </p:cNvSpPr>
          <p:nvPr>
            <p:ph type="dt" sz="half" idx="10"/>
          </p:nvPr>
        </p:nvSpPr>
        <p:spPr/>
        <p:txBody>
          <a:bodyPr/>
          <a:lstStyle>
            <a:lvl1pPr>
              <a:defRPr>
                <a:solidFill>
                  <a:schemeClr val="tx1"/>
                </a:solidFill>
              </a:defRPr>
            </a:lvl1pPr>
            <a:extLst/>
          </a:lstStyle>
          <a:p>
            <a:fld id="{1D8BD707-D9CF-40AE-B4C6-C98DA3205C09}" type="datetimeFigureOut">
              <a:rPr lang="en-US" smtClean="0"/>
              <a:pPr/>
              <a:t>1/27/2016</a:t>
            </a:fld>
            <a:endParaRPr lang="en-US"/>
          </a:p>
        </p:txBody>
      </p:sp>
      <p:sp>
        <p:nvSpPr>
          <p:cNvPr id="6" name="Footer Placeholder 5"/>
          <p:cNvSpPr>
            <a:spLocks noGrp="1"/>
          </p:cNvSpPr>
          <p:nvPr>
            <p:ph type="ftr" sz="quarter" idx="11"/>
          </p:nvPr>
        </p:nvSpPr>
        <p:spPr>
          <a:xfrm>
            <a:off x="4380072" y="6407944"/>
            <a:ext cx="2350681" cy="365125"/>
          </a:xfrm>
        </p:spPr>
        <p:txBody>
          <a:bodyPr/>
          <a:lstStyle>
            <a:lvl1pPr>
              <a:defRPr>
                <a:solidFill>
                  <a:schemeClr val="tx1"/>
                </a:solidFill>
              </a:defRPr>
            </a:lvl1pPr>
            <a:extLst/>
          </a:lstStyle>
          <a:p>
            <a:endParaRPr lang="en-US"/>
          </a:p>
        </p:txBody>
      </p:sp>
      <p:sp>
        <p:nvSpPr>
          <p:cNvPr id="7" name="Slide Number Placeholder 6"/>
          <p:cNvSpPr>
            <a:spLocks noGrp="1"/>
          </p:cNvSpPr>
          <p:nvPr>
            <p:ph type="sldNum" sz="quarter" idx="12"/>
          </p:nvPr>
        </p:nvSpPr>
        <p:spPr/>
        <p:txBody>
          <a:bodyPr/>
          <a:lstStyle>
            <a:lvl1pPr>
              <a:defRPr>
                <a:solidFill>
                  <a:schemeClr val="tx1"/>
                </a:solidFill>
              </a:defRPr>
            </a:lvl1pPr>
            <a:extLst/>
          </a:lstStyle>
          <a:p>
            <a:fld id="{B6F15528-21DE-4FAA-801E-634DDDAF4B2B}" type="slidenum">
              <a:rPr lang="en-US" smtClean="0"/>
              <a:pPr/>
              <a:t>‹#›</a:t>
            </a:fld>
            <a:endParaRPr lang="en-US"/>
          </a:p>
        </p:txBody>
      </p:sp>
      <p:sp>
        <p:nvSpPr>
          <p:cNvPr id="2" name="Title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kumimoji="0" lang="en-US" smtClean="0"/>
              <a:t>Click to edit Master title style</a:t>
            </a:r>
            <a:endParaRPr kumimoji="0" lang="en-US"/>
          </a:p>
        </p:txBody>
      </p:sp>
      <p:sp>
        <p:nvSpPr>
          <p:cNvPr id="8" name="Freeform 7"/>
          <p:cNvSpPr>
            <a:spLocks/>
          </p:cNvSpPr>
          <p:nvPr/>
        </p:nvSpPr>
        <p:spPr bwMode="auto">
          <a:xfrm>
            <a:off x="499273" y="5944936"/>
            <a:ext cx="4940624"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9" name="Freeform 8"/>
          <p:cNvSpPr>
            <a:spLocks/>
          </p:cNvSpPr>
          <p:nvPr/>
        </p:nvSpPr>
        <p:spPr bwMode="auto">
          <a:xfrm>
            <a:off x="485717" y="5939011"/>
            <a:ext cx="369045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0" name="Right Triangle 9"/>
          <p:cNvSpPr>
            <a:spLocks/>
          </p:cNvSpPr>
          <p:nvPr/>
        </p:nvSpPr>
        <p:spPr bwMode="auto">
          <a:xfrm>
            <a:off x="-6042" y="5791253"/>
            <a:ext cx="3402314" cy="1080868"/>
          </a:xfrm>
          <a:prstGeom prst="rtTriangle">
            <a:avLst/>
          </a:pr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1" name="Straight Connector 10"/>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2" name="Chevron 11"/>
          <p:cNvSpPr/>
          <p:nvPr/>
        </p:nvSpPr>
        <p:spPr>
          <a:xfrm>
            <a:off x="8664112"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
        <p:nvSpPr>
          <p:cNvPr id="13" name="Chevron 12"/>
          <p:cNvSpPr/>
          <p:nvPr/>
        </p:nvSpPr>
        <p:spPr>
          <a:xfrm>
            <a:off x="8477696"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1481329"/>
            <a:ext cx="8229600" cy="4386071"/>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1D8BD707-D9CF-40AE-B4C6-C98DA3205C09}" type="datetimeFigureOut">
              <a:rPr lang="en-US" smtClean="0"/>
              <a:pPr/>
              <a:t>1/27/2016</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44013" y="274640"/>
            <a:ext cx="1777470" cy="5592761"/>
          </a:xfrm>
        </p:spPr>
        <p:txBody>
          <a:bodyPr vert="eaVert"/>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41"/>
            <a:ext cx="6324600" cy="5592760"/>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1D8BD707-D9CF-40AE-B4C6-C98DA3205C09}" type="datetimeFigureOut">
              <a:rPr lang="en-US" smtClean="0"/>
              <a:pPr/>
              <a:t>1/27/2016</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Freeform 12"/>
          <p:cNvSpPr>
            <a:spLocks/>
          </p:cNvSpPr>
          <p:nvPr/>
        </p:nvSpPr>
        <p:spPr bwMode="auto">
          <a:xfrm>
            <a:off x="499273" y="5944936"/>
            <a:ext cx="4940624"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2" name="Freeform 11"/>
          <p:cNvSpPr>
            <a:spLocks/>
          </p:cNvSpPr>
          <p:nvPr/>
        </p:nvSpPr>
        <p:spPr bwMode="auto">
          <a:xfrm>
            <a:off x="485717" y="5939011"/>
            <a:ext cx="369045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4" name="Right Triangle 13"/>
          <p:cNvSpPr>
            <a:spLocks/>
          </p:cNvSpPr>
          <p:nvPr/>
        </p:nvSpPr>
        <p:spPr bwMode="auto">
          <a:xfrm>
            <a:off x="-6042" y="5791253"/>
            <a:ext cx="3402314" cy="1080868"/>
          </a:xfrm>
          <a:prstGeom prst="rtTriangle">
            <a:avLst/>
          </a:prstGeom>
          <a:blipFill>
            <a:blip r:embed="rId13">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5" name="Straight Connector 14"/>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extLst/>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481328"/>
            <a:ext cx="8229600" cy="4525963"/>
          </a:xfrm>
          <a:prstGeom prst="rect">
            <a:avLst/>
          </a:prstGeom>
        </p:spPr>
        <p:txBody>
          <a:bodyPr vert="horz">
            <a:normAutofit/>
          </a:bodyPr>
          <a:lstStyle>
            <a:extLst/>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6727032" y="6407944"/>
            <a:ext cx="1920240" cy="365760"/>
          </a:xfrm>
          <a:prstGeom prst="rect">
            <a:avLst/>
          </a:prstGeom>
        </p:spPr>
        <p:txBody>
          <a:bodyPr vert="horz" anchor="b"/>
          <a:lstStyle>
            <a:lvl1pPr algn="l" eaLnBrk="1" latinLnBrk="0" hangingPunct="1">
              <a:defRPr kumimoji="0" sz="1000">
                <a:solidFill>
                  <a:schemeClr val="tx1"/>
                </a:solidFill>
              </a:defRPr>
            </a:lvl1pPr>
            <a:extLst/>
          </a:lstStyle>
          <a:p>
            <a:fld id="{1D8BD707-D9CF-40AE-B4C6-C98DA3205C09}" type="datetimeFigureOut">
              <a:rPr lang="en-US" smtClean="0"/>
              <a:pPr/>
              <a:t>1/27/2016</a:t>
            </a:fld>
            <a:endParaRPr lang="en-US"/>
          </a:p>
        </p:txBody>
      </p:sp>
      <p:sp>
        <p:nvSpPr>
          <p:cNvPr id="22" name="Footer Placeholder 21"/>
          <p:cNvSpPr>
            <a:spLocks noGrp="1"/>
          </p:cNvSpPr>
          <p:nvPr>
            <p:ph type="ftr" sz="quarter" idx="3"/>
          </p:nvPr>
        </p:nvSpPr>
        <p:spPr>
          <a:xfrm>
            <a:off x="4380072" y="6407944"/>
            <a:ext cx="2350681" cy="365125"/>
          </a:xfrm>
          <a:prstGeom prst="rect">
            <a:avLst/>
          </a:prstGeom>
        </p:spPr>
        <p:txBody>
          <a:bodyPr vert="horz" anchor="b"/>
          <a:lstStyle>
            <a:lvl1pPr algn="r" eaLnBrk="1" latinLnBrk="0" hangingPunct="1">
              <a:defRPr kumimoji="0" sz="1000">
                <a:solidFill>
                  <a:schemeClr val="tx1"/>
                </a:solidFill>
              </a:defRPr>
            </a:lvl1pPr>
            <a:extLst/>
          </a:lstStyle>
          <a:p>
            <a:endParaRPr lang="en-US"/>
          </a:p>
        </p:txBody>
      </p:sp>
      <p:sp>
        <p:nvSpPr>
          <p:cNvPr id="18" name="Slide Number Placeholder 17"/>
          <p:cNvSpPr>
            <a:spLocks noGrp="1"/>
          </p:cNvSpPr>
          <p:nvPr>
            <p:ph type="sldNum" sz="quarter" idx="4"/>
          </p:nvPr>
        </p:nvSpPr>
        <p:spPr>
          <a:xfrm>
            <a:off x="8647272" y="6407944"/>
            <a:ext cx="365760" cy="365125"/>
          </a:xfrm>
          <a:prstGeom prst="rect">
            <a:avLst/>
          </a:prstGeom>
        </p:spPr>
        <p:txBody>
          <a:bodyPr vert="horz" anchor="b"/>
          <a:lstStyle>
            <a:lvl1pPr algn="r" eaLnBrk="1" latinLnBrk="0" hangingPunct="1">
              <a:defRPr kumimoji="0" sz="1000" b="0">
                <a:solidFill>
                  <a:schemeClr val="tx1"/>
                </a:solidFill>
              </a:defRPr>
            </a:lvl1pPr>
            <a:extLst/>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p:titleStyle>
    <p:body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idx="4294967295"/>
          </p:nvPr>
        </p:nvSpPr>
        <p:spPr>
          <a:xfrm>
            <a:off x="0" y="2133600"/>
            <a:ext cx="8915400" cy="1466850"/>
          </a:xfrm>
        </p:spPr>
        <p:txBody>
          <a:bodyPr/>
          <a:lstStyle/>
          <a:p>
            <a:r>
              <a:rPr lang="en-US" dirty="0"/>
              <a:t> </a:t>
            </a:r>
            <a:r>
              <a:rPr lang="en-US" dirty="0" smtClean="0"/>
              <a:t>      DIRECTORATE OF GENERAL   			    STUDIES</a:t>
            </a:r>
            <a:endParaRPr lang="en-US" dirty="0"/>
          </a:p>
        </p:txBody>
      </p:sp>
      <p:sp>
        <p:nvSpPr>
          <p:cNvPr id="3" name="Subtitle 2"/>
          <p:cNvSpPr>
            <a:spLocks noGrp="1"/>
          </p:cNvSpPr>
          <p:nvPr>
            <p:ph type="subTitle" idx="4294967295"/>
          </p:nvPr>
        </p:nvSpPr>
        <p:spPr>
          <a:xfrm>
            <a:off x="0" y="3886200"/>
            <a:ext cx="7848600" cy="685800"/>
          </a:xfrm>
        </p:spPr>
        <p:txBody>
          <a:bodyPr>
            <a:normAutofit/>
          </a:bodyPr>
          <a:lstStyle/>
          <a:p>
            <a:pPr marL="0" indent="0">
              <a:buNone/>
            </a:pPr>
            <a:r>
              <a:rPr lang="en-US" b="1" dirty="0" smtClean="0"/>
              <a:t>			      IGR INITIATIVES</a:t>
            </a:r>
            <a:endParaRPr lang="en-US" b="1" dirty="0"/>
          </a:p>
        </p:txBody>
      </p:sp>
      <p:pic>
        <p:nvPicPr>
          <p:cNvPr id="4" name="Picture 3" descr="EKSU LOGO"/>
          <p:cNvPicPr/>
          <p:nvPr/>
        </p:nvPicPr>
        <p:blipFill>
          <a:blip r:embed="rId3" cstate="print">
            <a:extLst>
              <a:ext uri="{28A0092B-C50C-407E-A947-70E740481C1C}">
                <a14:useLocalDpi xmlns:a14="http://schemas.microsoft.com/office/drawing/2010/main" xmlns="" val="0"/>
              </a:ext>
            </a:extLst>
          </a:blip>
          <a:srcRect r="82709" b="57248"/>
          <a:stretch>
            <a:fillRect/>
          </a:stretch>
        </p:blipFill>
        <p:spPr bwMode="auto">
          <a:xfrm>
            <a:off x="550985" y="304800"/>
            <a:ext cx="896815" cy="1143000"/>
          </a:xfrm>
          <a:prstGeom prst="rect">
            <a:avLst/>
          </a:prstGeom>
          <a:noFill/>
          <a:ln>
            <a:noFill/>
          </a:ln>
        </p:spPr>
      </p:pic>
    </p:spTree>
    <p:extLst>
      <p:ext uri="{BB962C8B-B14F-4D97-AF65-F5344CB8AC3E}">
        <p14:creationId xmlns:p14="http://schemas.microsoft.com/office/powerpoint/2010/main" xmlns="" val="19923321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EKSU LOGO"/>
          <p:cNvPicPr/>
          <p:nvPr/>
        </p:nvPicPr>
        <p:blipFill>
          <a:blip r:embed="rId2" cstate="print">
            <a:extLst>
              <a:ext uri="{28A0092B-C50C-407E-A947-70E740481C1C}">
                <a14:useLocalDpi xmlns:a14="http://schemas.microsoft.com/office/drawing/2010/main" xmlns="" val="0"/>
              </a:ext>
            </a:extLst>
          </a:blip>
          <a:srcRect r="82709" b="57248"/>
          <a:stretch>
            <a:fillRect/>
          </a:stretch>
        </p:blipFill>
        <p:spPr bwMode="auto">
          <a:xfrm>
            <a:off x="550985" y="304800"/>
            <a:ext cx="896815" cy="1143000"/>
          </a:xfrm>
          <a:prstGeom prst="rect">
            <a:avLst/>
          </a:prstGeom>
          <a:noFill/>
          <a:ln>
            <a:noFill/>
          </a:ln>
        </p:spPr>
      </p:pic>
      <p:sp>
        <p:nvSpPr>
          <p:cNvPr id="4" name="Title 3"/>
          <p:cNvSpPr>
            <a:spLocks noGrp="1"/>
          </p:cNvSpPr>
          <p:nvPr>
            <p:ph type="title"/>
          </p:nvPr>
        </p:nvSpPr>
        <p:spPr/>
        <p:txBody>
          <a:bodyPr>
            <a:normAutofit fontScale="90000"/>
          </a:bodyPr>
          <a:lstStyle/>
          <a:p>
            <a:r>
              <a:rPr lang="en-US" dirty="0" smtClean="0">
                <a:ea typeface="Calibri"/>
                <a:cs typeface="Times New Roman"/>
              </a:rPr>
              <a:t>Sources of fund at the Directorate of General Studies</a:t>
            </a:r>
            <a:endParaRPr lang="en-US" dirty="0"/>
          </a:p>
        </p:txBody>
      </p:sp>
      <p:sp>
        <p:nvSpPr>
          <p:cNvPr id="5" name="Content Placeholder 4"/>
          <p:cNvSpPr>
            <a:spLocks noGrp="1"/>
          </p:cNvSpPr>
          <p:nvPr>
            <p:ph idx="1"/>
          </p:nvPr>
        </p:nvSpPr>
        <p:spPr/>
        <p:txBody>
          <a:bodyPr/>
          <a:lstStyle/>
          <a:p>
            <a:pPr>
              <a:lnSpc>
                <a:spcPct val="115000"/>
              </a:lnSpc>
              <a:spcAft>
                <a:spcPts val="1000"/>
              </a:spcAft>
            </a:pPr>
            <a:r>
              <a:rPr lang="en-US" dirty="0" smtClean="0">
                <a:ea typeface="Calibri"/>
                <a:cs typeface="Times New Roman"/>
              </a:rPr>
              <a:t>Sources of fund at the Directorate of General Studies IGR restricted to:</a:t>
            </a:r>
          </a:p>
          <a:p>
            <a:pPr marL="342900" lvl="0" indent="-342900">
              <a:lnSpc>
                <a:spcPct val="115000"/>
              </a:lnSpc>
              <a:spcBef>
                <a:spcPts val="0"/>
              </a:spcBef>
              <a:buFont typeface="+mj-lt"/>
              <a:buAutoNum type="romanLcPeriod"/>
            </a:pPr>
            <a:r>
              <a:rPr lang="en-US" dirty="0" smtClean="0">
                <a:ea typeface="Calibri"/>
                <a:cs typeface="Times New Roman"/>
              </a:rPr>
              <a:t>Registration for GST  Courses</a:t>
            </a:r>
          </a:p>
          <a:p>
            <a:pPr marL="342900" marR="0" lvl="0" indent="-342900">
              <a:lnSpc>
                <a:spcPct val="115000"/>
              </a:lnSpc>
              <a:spcBef>
                <a:spcPts val="0"/>
              </a:spcBef>
              <a:spcAft>
                <a:spcPts val="1000"/>
              </a:spcAft>
              <a:buFont typeface="+mj-lt"/>
              <a:buAutoNum type="romanLcPeriod"/>
            </a:pPr>
            <a:r>
              <a:rPr lang="en-US" dirty="0" smtClean="0">
                <a:ea typeface="Calibri"/>
                <a:cs typeface="Times New Roman"/>
              </a:rPr>
              <a:t>Sales of Text books</a:t>
            </a:r>
          </a:p>
          <a:p>
            <a:pPr>
              <a:lnSpc>
                <a:spcPct val="115000"/>
              </a:lnSpc>
              <a:spcAft>
                <a:spcPts val="1000"/>
              </a:spcAft>
            </a:pPr>
            <a:r>
              <a:rPr lang="en-US" dirty="0" smtClean="0">
                <a:ea typeface="Calibri"/>
                <a:cs typeface="Times New Roman"/>
              </a:rPr>
              <a:t>Whatever accrues therefore depends on the total number of students admitted into 100 level </a:t>
            </a:r>
            <a:r>
              <a:rPr lang="en-US" dirty="0" err="1" smtClean="0">
                <a:ea typeface="Calibri"/>
                <a:cs typeface="Times New Roman"/>
              </a:rPr>
              <a:t>programme</a:t>
            </a:r>
            <a:r>
              <a:rPr lang="en-US" dirty="0" smtClean="0">
                <a:ea typeface="Calibri"/>
                <a:cs typeface="Times New Roman"/>
              </a:rPr>
              <a:t> in the </a:t>
            </a:r>
            <a:r>
              <a:rPr lang="en-US" dirty="0" smtClean="0">
                <a:ea typeface="Calibri"/>
                <a:cs typeface="Times New Roman"/>
              </a:rPr>
              <a:t>University.</a:t>
            </a:r>
          </a:p>
          <a:p>
            <a:pPr>
              <a:buNone/>
            </a:pPr>
            <a:endParaRPr lang="en-US" dirty="0"/>
          </a:p>
        </p:txBody>
      </p:sp>
    </p:spTree>
    <p:extLst>
      <p:ext uri="{BB962C8B-B14F-4D97-AF65-F5344CB8AC3E}">
        <p14:creationId xmlns:p14="http://schemas.microsoft.com/office/powerpoint/2010/main" xmlns="" val="16895269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a:bodyPr>
          <a:lstStyle/>
          <a:p>
            <a:r>
              <a:rPr lang="en-US" dirty="0" smtClean="0"/>
              <a:t>IGR </a:t>
            </a:r>
            <a:r>
              <a:rPr lang="en-US" dirty="0" smtClean="0"/>
              <a:t>INITIATIVE</a:t>
            </a:r>
            <a:endParaRPr lang="en-US" dirty="0"/>
          </a:p>
        </p:txBody>
      </p:sp>
      <p:sp>
        <p:nvSpPr>
          <p:cNvPr id="6" name="Content Placeholder 5"/>
          <p:cNvSpPr>
            <a:spLocks noGrp="1"/>
          </p:cNvSpPr>
          <p:nvPr>
            <p:ph idx="1"/>
          </p:nvPr>
        </p:nvSpPr>
        <p:spPr/>
        <p:txBody>
          <a:bodyPr/>
          <a:lstStyle/>
          <a:p>
            <a:r>
              <a:rPr lang="en-US" dirty="0" smtClean="0"/>
              <a:t>We </a:t>
            </a:r>
            <a:r>
              <a:rPr lang="en-US" dirty="0" smtClean="0"/>
              <a:t>wish to suggest though speculatively, the following for adoption and possible implementation</a:t>
            </a:r>
            <a:r>
              <a:rPr lang="en-US" dirty="0" smtClean="0"/>
              <a:t>.</a:t>
            </a:r>
            <a:endParaRPr lang="en-US" dirty="0" smtClean="0"/>
          </a:p>
        </p:txBody>
      </p:sp>
    </p:spTree>
    <p:extLst>
      <p:ext uri="{BB962C8B-B14F-4D97-AF65-F5344CB8AC3E}">
        <p14:creationId xmlns:p14="http://schemas.microsoft.com/office/powerpoint/2010/main" xmlns="" val="238608466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IGR INITIATIVE</a:t>
            </a:r>
            <a:endParaRPr lang="en-US" dirty="0"/>
          </a:p>
        </p:txBody>
      </p:sp>
      <p:sp>
        <p:nvSpPr>
          <p:cNvPr id="4" name="Content Placeholder 3"/>
          <p:cNvSpPr>
            <a:spLocks noGrp="1"/>
          </p:cNvSpPr>
          <p:nvPr>
            <p:ph idx="1"/>
          </p:nvPr>
        </p:nvSpPr>
        <p:spPr/>
        <p:txBody>
          <a:bodyPr/>
          <a:lstStyle/>
          <a:p>
            <a:r>
              <a:rPr lang="en-US" dirty="0" smtClean="0"/>
              <a:t>Instituting measures that will guarantee that all 100 level students register and obtain the required </a:t>
            </a:r>
            <a:r>
              <a:rPr lang="en-US" dirty="0" smtClean="0"/>
              <a:t>texts</a:t>
            </a:r>
            <a:endParaRPr lang="en-US" dirty="0" smtClean="0"/>
          </a:p>
        </p:txBody>
      </p:sp>
    </p:spTree>
    <p:extLst>
      <p:ext uri="{BB962C8B-B14F-4D97-AF65-F5344CB8AC3E}">
        <p14:creationId xmlns:p14="http://schemas.microsoft.com/office/powerpoint/2010/main" xmlns="" val="59116425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IGR INITIATIVE</a:t>
            </a:r>
            <a:endParaRPr lang="en-US" dirty="0"/>
          </a:p>
        </p:txBody>
      </p:sp>
      <p:sp>
        <p:nvSpPr>
          <p:cNvPr id="4" name="Content Placeholder 3"/>
          <p:cNvSpPr>
            <a:spLocks noGrp="1"/>
          </p:cNvSpPr>
          <p:nvPr>
            <p:ph idx="1"/>
          </p:nvPr>
        </p:nvSpPr>
        <p:spPr/>
        <p:txBody>
          <a:bodyPr/>
          <a:lstStyle/>
          <a:p>
            <a:r>
              <a:rPr lang="en-US" dirty="0" smtClean="0"/>
              <a:t>All students of the University in Affiliate Colleges should be made to register  for GST courses and pay for the GST Textbooks through their respective Colleges for onward remittance to the University</a:t>
            </a:r>
            <a:r>
              <a:rPr lang="en-US" dirty="0" smtClean="0"/>
              <a:t>.</a:t>
            </a:r>
            <a:endParaRPr lang="en-US" dirty="0" smtClean="0"/>
          </a:p>
        </p:txBody>
      </p:sp>
    </p:spTree>
    <p:extLst>
      <p:ext uri="{BB962C8B-B14F-4D97-AF65-F5344CB8AC3E}">
        <p14:creationId xmlns:p14="http://schemas.microsoft.com/office/powerpoint/2010/main" xmlns="" val="44888176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IGR INITIATIVE</a:t>
            </a:r>
            <a:endParaRPr lang="en-US" dirty="0"/>
          </a:p>
        </p:txBody>
      </p:sp>
      <p:sp>
        <p:nvSpPr>
          <p:cNvPr id="4" name="Content Placeholder 3"/>
          <p:cNvSpPr>
            <a:spLocks noGrp="1"/>
          </p:cNvSpPr>
          <p:nvPr>
            <p:ph idx="1"/>
          </p:nvPr>
        </p:nvSpPr>
        <p:spPr/>
        <p:txBody>
          <a:bodyPr/>
          <a:lstStyle/>
          <a:p>
            <a:r>
              <a:rPr lang="en-US" dirty="0" smtClean="0"/>
              <a:t>Students final Clearance form for the Collection of Results should include a Column for the Directorate to enable it sign off and recover all lost funds by </a:t>
            </a:r>
            <a:r>
              <a:rPr lang="en-US" dirty="0" err="1" smtClean="0"/>
              <a:t>doggers</a:t>
            </a:r>
            <a:r>
              <a:rPr lang="en-US" dirty="0" smtClean="0"/>
              <a:t>.</a:t>
            </a:r>
            <a:endParaRPr lang="en-US" dirty="0" smtClean="0"/>
          </a:p>
        </p:txBody>
      </p:sp>
    </p:spTree>
    <p:extLst>
      <p:ext uri="{BB962C8B-B14F-4D97-AF65-F5344CB8AC3E}">
        <p14:creationId xmlns:p14="http://schemas.microsoft.com/office/powerpoint/2010/main" xmlns="" val="169946695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IGR INITIATIVE</a:t>
            </a:r>
            <a:endParaRPr lang="en-US" dirty="0"/>
          </a:p>
        </p:txBody>
      </p:sp>
      <p:sp>
        <p:nvSpPr>
          <p:cNvPr id="4" name="Content Placeholder 3"/>
          <p:cNvSpPr>
            <a:spLocks noGrp="1"/>
          </p:cNvSpPr>
          <p:nvPr>
            <p:ph idx="1"/>
          </p:nvPr>
        </p:nvSpPr>
        <p:spPr/>
        <p:txBody>
          <a:bodyPr/>
          <a:lstStyle/>
          <a:p>
            <a:r>
              <a:rPr lang="en-US" dirty="0" smtClean="0"/>
              <a:t>Prices for sales of GST Books should be increased to reflect the economic reality of the day.  A sum of N1, 000.00 is recommended.  Also registration fees for GST courses for Fresh Students  should be increased to N1, 000.00</a:t>
            </a:r>
            <a:r>
              <a:rPr lang="en-US" dirty="0" smtClean="0"/>
              <a:t>.</a:t>
            </a:r>
            <a:endParaRPr lang="en-US" dirty="0" smtClean="0"/>
          </a:p>
        </p:txBody>
      </p:sp>
    </p:spTree>
    <p:extLst>
      <p:ext uri="{BB962C8B-B14F-4D97-AF65-F5344CB8AC3E}">
        <p14:creationId xmlns:p14="http://schemas.microsoft.com/office/powerpoint/2010/main" xmlns="" val="328489596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IGR INITIATIVE</a:t>
            </a:r>
            <a:endParaRPr lang="en-US" dirty="0"/>
          </a:p>
        </p:txBody>
      </p:sp>
      <p:sp>
        <p:nvSpPr>
          <p:cNvPr id="4" name="Content Placeholder 3"/>
          <p:cNvSpPr>
            <a:spLocks noGrp="1"/>
          </p:cNvSpPr>
          <p:nvPr>
            <p:ph idx="1"/>
          </p:nvPr>
        </p:nvSpPr>
        <p:spPr/>
        <p:txBody>
          <a:bodyPr/>
          <a:lstStyle/>
          <a:p>
            <a:r>
              <a:rPr lang="en-US" dirty="0" smtClean="0"/>
              <a:t>Extending compulsory GST Courses to Institutes in the University and the College of Medicine</a:t>
            </a:r>
            <a:r>
              <a:rPr lang="en-US" dirty="0" smtClean="0"/>
              <a:t>.</a:t>
            </a:r>
            <a:endParaRPr lang="en-US" dirty="0" smtClean="0"/>
          </a:p>
        </p:txBody>
      </p:sp>
    </p:spTree>
    <p:extLst>
      <p:ext uri="{BB962C8B-B14F-4D97-AF65-F5344CB8AC3E}">
        <p14:creationId xmlns:p14="http://schemas.microsoft.com/office/powerpoint/2010/main" xmlns="" val="34790663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IGR INITIATIVE</a:t>
            </a:r>
            <a:endParaRPr lang="en-US" dirty="0"/>
          </a:p>
        </p:txBody>
      </p:sp>
      <p:sp>
        <p:nvSpPr>
          <p:cNvPr id="4" name="Content Placeholder 3"/>
          <p:cNvSpPr>
            <a:spLocks noGrp="1"/>
          </p:cNvSpPr>
          <p:nvPr>
            <p:ph idx="1"/>
          </p:nvPr>
        </p:nvSpPr>
        <p:spPr/>
        <p:txBody>
          <a:bodyPr/>
          <a:lstStyle/>
          <a:p>
            <a:r>
              <a:rPr lang="en-US" dirty="0" smtClean="0"/>
              <a:t>Investing a percentage of Capital reserve in banking products as tenured funds or </a:t>
            </a:r>
            <a:r>
              <a:rPr lang="en-US" dirty="0" smtClean="0"/>
              <a:t>stocks</a:t>
            </a:r>
            <a:endParaRPr lang="en-US" dirty="0" smtClean="0"/>
          </a:p>
        </p:txBody>
      </p:sp>
    </p:spTree>
    <p:extLst>
      <p:ext uri="{BB962C8B-B14F-4D97-AF65-F5344CB8AC3E}">
        <p14:creationId xmlns:p14="http://schemas.microsoft.com/office/powerpoint/2010/main" xmlns="" val="31361105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IGR INITIATIVE</a:t>
            </a:r>
            <a:endParaRPr lang="en-US" dirty="0"/>
          </a:p>
        </p:txBody>
      </p:sp>
      <p:sp>
        <p:nvSpPr>
          <p:cNvPr id="4" name="Content Placeholder 3"/>
          <p:cNvSpPr>
            <a:spLocks noGrp="1"/>
          </p:cNvSpPr>
          <p:nvPr>
            <p:ph idx="1"/>
          </p:nvPr>
        </p:nvSpPr>
        <p:spPr/>
        <p:txBody>
          <a:bodyPr/>
          <a:lstStyle/>
          <a:p>
            <a:r>
              <a:rPr lang="en-US" dirty="0" smtClean="0"/>
              <a:t>However since all monies are held in trust for the University, only the University may direct on matters of such possible investments</a:t>
            </a:r>
            <a:r>
              <a:rPr lang="en-US" dirty="0" smtClean="0"/>
              <a:t>.</a:t>
            </a:r>
            <a:endParaRPr lang="en-US" dirty="0" smtClean="0"/>
          </a:p>
        </p:txBody>
      </p:sp>
    </p:spTree>
    <p:extLst>
      <p:ext uri="{BB962C8B-B14F-4D97-AF65-F5344CB8AC3E}">
        <p14:creationId xmlns:p14="http://schemas.microsoft.com/office/powerpoint/2010/main" xmlns="" val="506467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dirty="0" smtClean="0"/>
              <a:t>Thank  </a:t>
            </a:r>
            <a:r>
              <a:rPr lang="en-US" dirty="0" smtClean="0"/>
              <a:t>you</a:t>
            </a:r>
            <a:endParaRPr lang="en-US" dirty="0"/>
          </a:p>
        </p:txBody>
      </p:sp>
      <p:sp>
        <p:nvSpPr>
          <p:cNvPr id="4" name="Content Placeholder 3"/>
          <p:cNvSpPr>
            <a:spLocks noGrp="1"/>
          </p:cNvSpPr>
          <p:nvPr>
            <p:ph idx="1"/>
          </p:nvPr>
        </p:nvSpPr>
        <p:spPr/>
        <p:txBody>
          <a:bodyPr/>
          <a:lstStyle/>
          <a:p>
            <a:r>
              <a:rPr lang="en-US" dirty="0" smtClean="0"/>
              <a:t>Prof </a:t>
            </a:r>
            <a:r>
              <a:rPr lang="en-US" dirty="0" smtClean="0"/>
              <a:t>Wale </a:t>
            </a:r>
            <a:r>
              <a:rPr lang="en-US" dirty="0" err="1" smtClean="0"/>
              <a:t>Olajide</a:t>
            </a:r>
            <a:endParaRPr lang="en-US" dirty="0" smtClean="0"/>
          </a:p>
          <a:p>
            <a:r>
              <a:rPr lang="en-US" b="1" dirty="0" smtClean="0"/>
              <a:t>DIRECTOR. GST</a:t>
            </a:r>
          </a:p>
          <a:p>
            <a:endParaRPr lang="en-US" dirty="0"/>
          </a:p>
        </p:txBody>
      </p:sp>
    </p:spTree>
    <p:extLst>
      <p:ext uri="{BB962C8B-B14F-4D97-AF65-F5344CB8AC3E}">
        <p14:creationId xmlns:p14="http://schemas.microsoft.com/office/powerpoint/2010/main" xmlns="" val="129480411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oncourse">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font script="Geor" typeface="Sylfaen"/>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font script="Geor" typeface="Sylfaen"/>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65000" b="980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Concourse</Template>
  <TotalTime>50</TotalTime>
  <Words>274</Words>
  <Application>Microsoft Office PowerPoint</Application>
  <PresentationFormat>On-screen Show (4:3)</PresentationFormat>
  <Paragraphs>28</Paragraphs>
  <Slides>11</Slides>
  <Notes>1</Notes>
  <HiddenSlides>0</HiddenSlides>
  <MMClips>0</MMClip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Concourse</vt:lpstr>
      <vt:lpstr>       DIRECTORATE OF GENERAL          STUDIES</vt:lpstr>
      <vt:lpstr>Sources of fund at the Directorate of General Studies</vt:lpstr>
      <vt:lpstr>IGR INITIATIVE</vt:lpstr>
      <vt:lpstr>IGR INITIATIVE</vt:lpstr>
      <vt:lpstr>IGR INITIATIVE</vt:lpstr>
      <vt:lpstr>IGR INITIATIVE</vt:lpstr>
      <vt:lpstr>IGR INITIATIVE</vt:lpstr>
      <vt:lpstr>IGR INITIATIVE</vt:lpstr>
      <vt:lpstr>IGR INITIATIVE</vt:lpstr>
      <vt:lpstr>IGR INITIATIVE</vt:lpstr>
      <vt:lpstr>Thank  you</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DIRECTORATE OF GENERAL STUDIES</dc:title>
  <dc:creator>user</dc:creator>
  <cp:lastModifiedBy>Ogundipe Folake</cp:lastModifiedBy>
  <cp:revision>7</cp:revision>
  <dcterms:created xsi:type="dcterms:W3CDTF">2006-08-16T00:00:00Z</dcterms:created>
  <dcterms:modified xsi:type="dcterms:W3CDTF">2016-01-27T12:08:05Z</dcterms:modified>
</cp:coreProperties>
</file>