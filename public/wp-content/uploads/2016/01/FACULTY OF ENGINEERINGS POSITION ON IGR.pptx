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76"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2" r:id="rId19"/>
    <p:sldId id="277" r:id="rId20"/>
    <p:sldId id="278" r:id="rId21"/>
    <p:sldId id="279" r:id="rId22"/>
    <p:sldId id="280" r:id="rId23"/>
    <p:sldId id="281" r:id="rId24"/>
    <p:sldId id="282" r:id="rId25"/>
    <p:sldId id="283" r:id="rId26"/>
    <p:sldId id="296" r:id="rId27"/>
    <p:sldId id="284" r:id="rId28"/>
    <p:sldId id="297" r:id="rId29"/>
    <p:sldId id="298" r:id="rId30"/>
    <p:sldId id="299" r:id="rId31"/>
    <p:sldId id="30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66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16C71E-01C6-4FD1-AE83-6687E76E26EA}" type="doc">
      <dgm:prSet loTypeId="urn:microsoft.com/office/officeart/2005/8/layout/pyramid2" loCatId="list" qsTypeId="urn:microsoft.com/office/officeart/2005/8/quickstyle/simple1" qsCatId="simple" csTypeId="urn:microsoft.com/office/officeart/2005/8/colors/accent1_2" csCatId="accent1" phldr="1"/>
      <dgm:spPr/>
    </dgm:pt>
    <dgm:pt modelId="{EBF6F852-BEF8-4305-9601-0CC77EDD738F}">
      <dgm:prSet phldrT="[Text]"/>
      <dgm:spPr/>
      <dgm:t>
        <a:bodyPr/>
        <a:lstStyle/>
        <a:p>
          <a:r>
            <a:rPr lang="en-GB" dirty="0" smtClean="0"/>
            <a:t>Review of existing IGR drives: their impact on the University</a:t>
          </a:r>
          <a:endParaRPr lang="en-GB" b="1" dirty="0"/>
        </a:p>
      </dgm:t>
    </dgm:pt>
    <dgm:pt modelId="{E04DC190-3CAF-4B20-AE16-631EDE366123}" type="parTrans" cxnId="{4AAFBC20-6238-481B-A5C3-C3C7E62CA65C}">
      <dgm:prSet/>
      <dgm:spPr/>
      <dgm:t>
        <a:bodyPr/>
        <a:lstStyle/>
        <a:p>
          <a:endParaRPr lang="en-GB"/>
        </a:p>
      </dgm:t>
    </dgm:pt>
    <dgm:pt modelId="{371743A2-2D4A-4EB2-931B-BB70D19162D4}" type="sibTrans" cxnId="{4AAFBC20-6238-481B-A5C3-C3C7E62CA65C}">
      <dgm:prSet/>
      <dgm:spPr/>
      <dgm:t>
        <a:bodyPr/>
        <a:lstStyle/>
        <a:p>
          <a:endParaRPr lang="en-GB"/>
        </a:p>
      </dgm:t>
    </dgm:pt>
    <dgm:pt modelId="{A599F4D6-2916-4594-99A1-55740984A41E}">
      <dgm:prSet phldrT="[Text]"/>
      <dgm:spPr/>
      <dgm:t>
        <a:bodyPr/>
        <a:lstStyle/>
        <a:p>
          <a:r>
            <a:rPr lang="en-GB" dirty="0" smtClean="0"/>
            <a:t>Suggested action plans to propel EKSU IGR initiative (outside of the faculty of Engineering)</a:t>
          </a:r>
          <a:endParaRPr lang="en-GB" dirty="0"/>
        </a:p>
      </dgm:t>
    </dgm:pt>
    <dgm:pt modelId="{F1CBB5F2-3ADB-4637-B05B-6D425BF716E4}" type="parTrans" cxnId="{97E10E27-86A2-483E-8D26-578F54A57628}">
      <dgm:prSet/>
      <dgm:spPr/>
      <dgm:t>
        <a:bodyPr/>
        <a:lstStyle/>
        <a:p>
          <a:endParaRPr lang="en-GB"/>
        </a:p>
      </dgm:t>
    </dgm:pt>
    <dgm:pt modelId="{98F250E5-FADC-4062-AD63-126A8811F1A7}" type="sibTrans" cxnId="{97E10E27-86A2-483E-8D26-578F54A57628}">
      <dgm:prSet/>
      <dgm:spPr/>
      <dgm:t>
        <a:bodyPr/>
        <a:lstStyle/>
        <a:p>
          <a:endParaRPr lang="en-GB"/>
        </a:p>
      </dgm:t>
    </dgm:pt>
    <dgm:pt modelId="{71BA65F8-AAAA-4002-B7F4-E66FACD3C86A}">
      <dgm:prSet phldrT="[Text]"/>
      <dgm:spPr/>
      <dgm:t>
        <a:bodyPr/>
        <a:lstStyle/>
        <a:p>
          <a:r>
            <a:rPr lang="en-GB" dirty="0" smtClean="0"/>
            <a:t>Suggested action plans to propel Faculty of Engineering’s IGR initiative</a:t>
          </a:r>
          <a:endParaRPr lang="en-GB" dirty="0"/>
        </a:p>
      </dgm:t>
    </dgm:pt>
    <dgm:pt modelId="{27866D4D-2F0E-485F-AFF7-02393F51C48B}" type="parTrans" cxnId="{8A9903B8-63E1-42F6-BE99-CEF853B41207}">
      <dgm:prSet/>
      <dgm:spPr/>
      <dgm:t>
        <a:bodyPr/>
        <a:lstStyle/>
        <a:p>
          <a:endParaRPr lang="en-GB"/>
        </a:p>
      </dgm:t>
    </dgm:pt>
    <dgm:pt modelId="{8FB8416A-0B34-41D8-91A6-F9CC738519B6}" type="sibTrans" cxnId="{8A9903B8-63E1-42F6-BE99-CEF853B41207}">
      <dgm:prSet/>
      <dgm:spPr/>
      <dgm:t>
        <a:bodyPr/>
        <a:lstStyle/>
        <a:p>
          <a:endParaRPr lang="en-GB"/>
        </a:p>
      </dgm:t>
    </dgm:pt>
    <dgm:pt modelId="{5C27F720-5221-4ACF-98FC-E9B5C18BD73C}" type="pres">
      <dgm:prSet presAssocID="{1416C71E-01C6-4FD1-AE83-6687E76E26EA}" presName="compositeShape" presStyleCnt="0">
        <dgm:presLayoutVars>
          <dgm:dir/>
          <dgm:resizeHandles/>
        </dgm:presLayoutVars>
      </dgm:prSet>
      <dgm:spPr/>
    </dgm:pt>
    <dgm:pt modelId="{835D9BA7-B5D9-4958-832E-104FAA071E42}" type="pres">
      <dgm:prSet presAssocID="{1416C71E-01C6-4FD1-AE83-6687E76E26EA}" presName="pyramid" presStyleLbl="node1" presStyleIdx="0" presStyleCnt="1" custLinFactNeighborX="-3539"/>
      <dgm:spPr/>
    </dgm:pt>
    <dgm:pt modelId="{46E7ED6D-ABA3-4A79-91D8-BCCF27F33242}" type="pres">
      <dgm:prSet presAssocID="{1416C71E-01C6-4FD1-AE83-6687E76E26EA}" presName="theList" presStyleCnt="0"/>
      <dgm:spPr/>
    </dgm:pt>
    <dgm:pt modelId="{86D6CF8D-B5A1-4E1E-B6CF-F4D581BF0CCA}" type="pres">
      <dgm:prSet presAssocID="{EBF6F852-BEF8-4305-9601-0CC77EDD738F}" presName="aNode" presStyleLbl="fgAcc1" presStyleIdx="0" presStyleCnt="3">
        <dgm:presLayoutVars>
          <dgm:bulletEnabled val="1"/>
        </dgm:presLayoutVars>
      </dgm:prSet>
      <dgm:spPr/>
      <dgm:t>
        <a:bodyPr/>
        <a:lstStyle/>
        <a:p>
          <a:endParaRPr lang="en-GB"/>
        </a:p>
      </dgm:t>
    </dgm:pt>
    <dgm:pt modelId="{FC52D684-45A4-4FB2-9F24-9029FDCAF496}" type="pres">
      <dgm:prSet presAssocID="{EBF6F852-BEF8-4305-9601-0CC77EDD738F}" presName="aSpace" presStyleCnt="0"/>
      <dgm:spPr/>
    </dgm:pt>
    <dgm:pt modelId="{E4CF12C6-3AA5-4AA2-803A-63EB9A96A8D0}" type="pres">
      <dgm:prSet presAssocID="{A599F4D6-2916-4594-99A1-55740984A41E}" presName="aNode" presStyleLbl="fgAcc1" presStyleIdx="1" presStyleCnt="3">
        <dgm:presLayoutVars>
          <dgm:bulletEnabled val="1"/>
        </dgm:presLayoutVars>
      </dgm:prSet>
      <dgm:spPr/>
      <dgm:t>
        <a:bodyPr/>
        <a:lstStyle/>
        <a:p>
          <a:endParaRPr lang="en-GB"/>
        </a:p>
      </dgm:t>
    </dgm:pt>
    <dgm:pt modelId="{A909B8EF-F4CD-41DE-8083-17E2193AFDFB}" type="pres">
      <dgm:prSet presAssocID="{A599F4D6-2916-4594-99A1-55740984A41E}" presName="aSpace" presStyleCnt="0"/>
      <dgm:spPr/>
    </dgm:pt>
    <dgm:pt modelId="{D8D41D76-DCDC-49B7-A5D5-F46F7F5A3F6C}" type="pres">
      <dgm:prSet presAssocID="{71BA65F8-AAAA-4002-B7F4-E66FACD3C86A}" presName="aNode" presStyleLbl="fgAcc1" presStyleIdx="2" presStyleCnt="3">
        <dgm:presLayoutVars>
          <dgm:bulletEnabled val="1"/>
        </dgm:presLayoutVars>
      </dgm:prSet>
      <dgm:spPr/>
      <dgm:t>
        <a:bodyPr/>
        <a:lstStyle/>
        <a:p>
          <a:endParaRPr lang="en-GB"/>
        </a:p>
      </dgm:t>
    </dgm:pt>
    <dgm:pt modelId="{BA575563-1388-4D8F-B9CA-FF16163F2A20}" type="pres">
      <dgm:prSet presAssocID="{71BA65F8-AAAA-4002-B7F4-E66FACD3C86A}" presName="aSpace" presStyleCnt="0"/>
      <dgm:spPr/>
    </dgm:pt>
  </dgm:ptLst>
  <dgm:cxnLst>
    <dgm:cxn modelId="{1921C405-86F2-472D-BAE6-C45098DCF369}" type="presOf" srcId="{71BA65F8-AAAA-4002-B7F4-E66FACD3C86A}" destId="{D8D41D76-DCDC-49B7-A5D5-F46F7F5A3F6C}" srcOrd="0" destOrd="0" presId="urn:microsoft.com/office/officeart/2005/8/layout/pyramid2"/>
    <dgm:cxn modelId="{8A9903B8-63E1-42F6-BE99-CEF853B41207}" srcId="{1416C71E-01C6-4FD1-AE83-6687E76E26EA}" destId="{71BA65F8-AAAA-4002-B7F4-E66FACD3C86A}" srcOrd="2" destOrd="0" parTransId="{27866D4D-2F0E-485F-AFF7-02393F51C48B}" sibTransId="{8FB8416A-0B34-41D8-91A6-F9CC738519B6}"/>
    <dgm:cxn modelId="{4AAFBC20-6238-481B-A5C3-C3C7E62CA65C}" srcId="{1416C71E-01C6-4FD1-AE83-6687E76E26EA}" destId="{EBF6F852-BEF8-4305-9601-0CC77EDD738F}" srcOrd="0" destOrd="0" parTransId="{E04DC190-3CAF-4B20-AE16-631EDE366123}" sibTransId="{371743A2-2D4A-4EB2-931B-BB70D19162D4}"/>
    <dgm:cxn modelId="{4BA0BFE3-19F5-4E6B-9395-4D8A081BB9A2}" type="presOf" srcId="{1416C71E-01C6-4FD1-AE83-6687E76E26EA}" destId="{5C27F720-5221-4ACF-98FC-E9B5C18BD73C}" srcOrd="0" destOrd="0" presId="urn:microsoft.com/office/officeart/2005/8/layout/pyramid2"/>
    <dgm:cxn modelId="{F7930B9E-6D17-48E2-B652-303D3E2745ED}" type="presOf" srcId="{EBF6F852-BEF8-4305-9601-0CC77EDD738F}" destId="{86D6CF8D-B5A1-4E1E-B6CF-F4D581BF0CCA}" srcOrd="0" destOrd="0" presId="urn:microsoft.com/office/officeart/2005/8/layout/pyramid2"/>
    <dgm:cxn modelId="{97E10E27-86A2-483E-8D26-578F54A57628}" srcId="{1416C71E-01C6-4FD1-AE83-6687E76E26EA}" destId="{A599F4D6-2916-4594-99A1-55740984A41E}" srcOrd="1" destOrd="0" parTransId="{F1CBB5F2-3ADB-4637-B05B-6D425BF716E4}" sibTransId="{98F250E5-FADC-4062-AD63-126A8811F1A7}"/>
    <dgm:cxn modelId="{BC0EC996-91D9-4B4F-A2B8-7FAAE16FB968}" type="presOf" srcId="{A599F4D6-2916-4594-99A1-55740984A41E}" destId="{E4CF12C6-3AA5-4AA2-803A-63EB9A96A8D0}" srcOrd="0" destOrd="0" presId="urn:microsoft.com/office/officeart/2005/8/layout/pyramid2"/>
    <dgm:cxn modelId="{7D83901F-0C83-4485-A746-15837C9F1F6B}" type="presParOf" srcId="{5C27F720-5221-4ACF-98FC-E9B5C18BD73C}" destId="{835D9BA7-B5D9-4958-832E-104FAA071E42}" srcOrd="0" destOrd="0" presId="urn:microsoft.com/office/officeart/2005/8/layout/pyramid2"/>
    <dgm:cxn modelId="{0B8C98AA-4143-412A-B7E4-C42A57108883}" type="presParOf" srcId="{5C27F720-5221-4ACF-98FC-E9B5C18BD73C}" destId="{46E7ED6D-ABA3-4A79-91D8-BCCF27F33242}" srcOrd="1" destOrd="0" presId="urn:microsoft.com/office/officeart/2005/8/layout/pyramid2"/>
    <dgm:cxn modelId="{A5F64042-00DC-473A-9156-C9DA9CD0AB80}" type="presParOf" srcId="{46E7ED6D-ABA3-4A79-91D8-BCCF27F33242}" destId="{86D6CF8D-B5A1-4E1E-B6CF-F4D581BF0CCA}" srcOrd="0" destOrd="0" presId="urn:microsoft.com/office/officeart/2005/8/layout/pyramid2"/>
    <dgm:cxn modelId="{2CED55A3-CA98-4698-83CC-8E13D48770B0}" type="presParOf" srcId="{46E7ED6D-ABA3-4A79-91D8-BCCF27F33242}" destId="{FC52D684-45A4-4FB2-9F24-9029FDCAF496}" srcOrd="1" destOrd="0" presId="urn:microsoft.com/office/officeart/2005/8/layout/pyramid2"/>
    <dgm:cxn modelId="{9B7F01F0-FC84-4BFE-9D29-B3C96BC8A3AD}" type="presParOf" srcId="{46E7ED6D-ABA3-4A79-91D8-BCCF27F33242}" destId="{E4CF12C6-3AA5-4AA2-803A-63EB9A96A8D0}" srcOrd="2" destOrd="0" presId="urn:microsoft.com/office/officeart/2005/8/layout/pyramid2"/>
    <dgm:cxn modelId="{2D9FEE4C-98D6-4A8C-A57C-03B07D9FB321}" type="presParOf" srcId="{46E7ED6D-ABA3-4A79-91D8-BCCF27F33242}" destId="{A909B8EF-F4CD-41DE-8083-17E2193AFDFB}" srcOrd="3" destOrd="0" presId="urn:microsoft.com/office/officeart/2005/8/layout/pyramid2"/>
    <dgm:cxn modelId="{43FF3079-5CF9-4831-8A0B-72E38CA13509}" type="presParOf" srcId="{46E7ED6D-ABA3-4A79-91D8-BCCF27F33242}" destId="{D8D41D76-DCDC-49B7-A5D5-F46F7F5A3F6C}" srcOrd="4" destOrd="0" presId="urn:microsoft.com/office/officeart/2005/8/layout/pyramid2"/>
    <dgm:cxn modelId="{EE181CDC-B940-453E-9A5E-8E9D67EC2E12}" type="presParOf" srcId="{46E7ED6D-ABA3-4A79-91D8-BCCF27F33242}" destId="{BA575563-1388-4D8F-B9CA-FF16163F2A20}" srcOrd="5" destOrd="0" presId="urn:microsoft.com/office/officeart/2005/8/layout/pyramid2"/>
  </dgm:cxnLst>
  <dgm:bg/>
  <dgm:whole/>
</dgm:dataModel>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7F58CF-949D-4198-9B7B-4D5F34B0F7D9}" type="datetimeFigureOut">
              <a:rPr lang="en-US" smtClean="0"/>
              <a:pPr/>
              <a:t>1/26/2016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F58CF-949D-4198-9B7B-4D5F34B0F7D9}" type="datetimeFigureOut">
              <a:rPr lang="en-US" smtClean="0"/>
              <a:pPr/>
              <a:t>1/26/2016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7F58CF-949D-4198-9B7B-4D5F34B0F7D9}" type="datetimeFigureOut">
              <a:rPr lang="en-US" smtClean="0"/>
              <a:pPr/>
              <a:t>1/26/2016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7F58CF-949D-4198-9B7B-4D5F34B0F7D9}" type="datetimeFigureOut">
              <a:rPr lang="en-US" smtClean="0"/>
              <a:pPr/>
              <a:t>1/26/2016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7F58CF-949D-4198-9B7B-4D5F34B0F7D9}" type="datetimeFigureOut">
              <a:rPr lang="en-US" smtClean="0"/>
              <a:pPr/>
              <a:t>1/26/2016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7F58CF-949D-4198-9B7B-4D5F34B0F7D9}" type="datetimeFigureOut">
              <a:rPr lang="en-US" smtClean="0"/>
              <a:pPr/>
              <a:t>1/26/2016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7F58CF-949D-4198-9B7B-4D5F34B0F7D9}" type="datetimeFigureOut">
              <a:rPr lang="en-US" smtClean="0"/>
              <a:pPr/>
              <a:t>1/26/2016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7F58CF-949D-4198-9B7B-4D5F34B0F7D9}" type="datetimeFigureOut">
              <a:rPr lang="en-US" smtClean="0"/>
              <a:pPr/>
              <a:t>1/26/2016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7F58CF-949D-4198-9B7B-4D5F34B0F7D9}" type="datetimeFigureOut">
              <a:rPr lang="en-US" smtClean="0"/>
              <a:pPr/>
              <a:t>1/26/2016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F58CF-949D-4198-9B7B-4D5F34B0F7D9}" type="datetimeFigureOut">
              <a:rPr lang="en-US" smtClean="0"/>
              <a:pPr/>
              <a:t>1/26/2016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F58CF-949D-4198-9B7B-4D5F34B0F7D9}" type="datetimeFigureOut">
              <a:rPr lang="en-US" smtClean="0"/>
              <a:pPr/>
              <a:t>1/26/2016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45587D-3718-494F-80AD-DE0A20F745D9}"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7F58CF-949D-4198-9B7B-4D5F34B0F7D9}" type="datetimeFigureOut">
              <a:rPr lang="en-US" smtClean="0"/>
              <a:pPr/>
              <a:t>1/26/2016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45587D-3718-494F-80AD-DE0A20F745D9}"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5"/>
            <a:ext cx="8534400" cy="1470025"/>
          </a:xfrm>
        </p:spPr>
        <p:txBody>
          <a:bodyPr>
            <a:noAutofit/>
          </a:bodyPr>
          <a:lstStyle/>
          <a:p>
            <a:r>
              <a:rPr lang="en-GB" sz="4400" dirty="0" smtClean="0"/>
              <a:t>Ekiti State University, Ado Ekiti IGR Summit</a:t>
            </a:r>
            <a:endParaRPr lang="en-GB" sz="4400" dirty="0"/>
          </a:p>
        </p:txBody>
      </p:sp>
      <p:sp>
        <p:nvSpPr>
          <p:cNvPr id="3" name="Subtitle 2"/>
          <p:cNvSpPr>
            <a:spLocks noGrp="1"/>
          </p:cNvSpPr>
          <p:nvPr>
            <p:ph type="subTitle" idx="1"/>
          </p:nvPr>
        </p:nvSpPr>
        <p:spPr>
          <a:xfrm>
            <a:off x="609600" y="3886200"/>
            <a:ext cx="7772400" cy="1752600"/>
          </a:xfrm>
        </p:spPr>
        <p:txBody>
          <a:bodyPr>
            <a:normAutofit fontScale="77500" lnSpcReduction="20000"/>
          </a:bodyPr>
          <a:lstStyle/>
          <a:p>
            <a:r>
              <a:rPr lang="en-GB" sz="4700" dirty="0" smtClean="0"/>
              <a:t>Faculty of Engineering’s Position</a:t>
            </a:r>
          </a:p>
          <a:p>
            <a:r>
              <a:rPr lang="en-GB" dirty="0" smtClean="0"/>
              <a:t>By</a:t>
            </a:r>
          </a:p>
          <a:p>
            <a:r>
              <a:rPr lang="en-GB" dirty="0" smtClean="0"/>
              <a:t>Prof E A </a:t>
            </a:r>
            <a:r>
              <a:rPr lang="en-GB" dirty="0" err="1" smtClean="0"/>
              <a:t>Okunade</a:t>
            </a:r>
            <a:endParaRPr lang="en-GB" dirty="0" smtClean="0"/>
          </a:p>
          <a:p>
            <a:r>
              <a:rPr lang="en-GB" dirty="0" smtClean="0"/>
              <a:t>Dean, Faculty of Engineering</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533400" y="457200"/>
          <a:ext cx="8077200" cy="586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 Placeholder 2"/>
          <p:cNvSpPr txBox="1">
            <a:spLocks/>
          </p:cNvSpPr>
          <p:nvPr/>
        </p:nvSpPr>
        <p:spPr>
          <a:xfrm rot="16200000">
            <a:off x="1485106" y="3772694"/>
            <a:ext cx="4040188" cy="762000"/>
          </a:xfrm>
          <a:prstGeom prst="rect">
            <a:avLst/>
          </a:prstGeom>
          <a:solidFill>
            <a:schemeClr val="accent1"/>
          </a:solidFill>
        </p:spPr>
        <p:txBody>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GB" sz="2800" b="0" i="0" u="none" strike="noStrike" kern="1200" cap="none" spc="0" normalizeH="0" baseline="0" noProof="0" dirty="0" smtClean="0">
                <a:ln>
                  <a:noFill/>
                </a:ln>
                <a:solidFill>
                  <a:schemeClr val="bg1"/>
                </a:solidFill>
                <a:effectLst/>
                <a:uLnTx/>
                <a:uFillTx/>
                <a:latin typeface="+mn-lt"/>
                <a:ea typeface="+mn-ea"/>
                <a:cs typeface="+mn-cs"/>
              </a:rPr>
              <a:t>Discussion themes</a:t>
            </a:r>
            <a:endParaRPr kumimoji="0" lang="en-GB" sz="2800" b="0"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GB" dirty="0" smtClean="0"/>
              <a:t>A</a:t>
            </a:r>
            <a:endParaRPr lang="en-GB" dirty="0"/>
          </a:p>
        </p:txBody>
      </p:sp>
      <p:sp>
        <p:nvSpPr>
          <p:cNvPr id="2" name="Content Placeholder 1"/>
          <p:cNvSpPr>
            <a:spLocks noGrp="1"/>
          </p:cNvSpPr>
          <p:nvPr>
            <p:ph idx="1"/>
          </p:nvPr>
        </p:nvSpPr>
        <p:spPr/>
        <p:txBody>
          <a:bodyPr/>
          <a:lstStyle/>
          <a:p>
            <a:pPr algn="ctr"/>
            <a:r>
              <a:rPr lang="en-GB" sz="5400" b="1" dirty="0" smtClean="0">
                <a:latin typeface="Agency FB" pitchFamily="34" charset="0"/>
              </a:rPr>
              <a:t>Review of Existing IGR Drives, their impact on the University</a:t>
            </a:r>
            <a:endParaRPr lang="en-GB" sz="5400" dirty="0" smtClean="0">
              <a:latin typeface="Agency FB" pitchFamily="34" charset="0"/>
            </a:endParaRPr>
          </a:p>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Tuition fees paid by undergraduate students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Average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dirty="0"/>
              <a:t>Measures (e.g. e-learning, e-notes, e-assessments, e-administration of programmes, use of smart cards in accessing university facilities i.e. Lecture rooms and the Library, and other platforms through which defaulters are quickly identified and checkmated) should be put in place to encourage prompt payment of tuition fees</a:t>
            </a: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Tuition fees paid by postgraduate students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Very poor, </a:t>
            </a:r>
            <a:r>
              <a:rPr lang="en-GB" dirty="0"/>
              <a:t>due to low PG student population</a:t>
            </a: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To attract more students, PG Programmes should be overhauled in terms of the contents reflecting modern trends in higher education, putting in place measures for timely completion of the programmes</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2</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Hostel </a:t>
            </a:r>
            <a:endParaRPr lang="en-GB" sz="2800" dirty="0" smtClean="0"/>
          </a:p>
          <a:p>
            <a:pPr marL="365760" lvl="0" indent="-256032">
              <a:spcBef>
                <a:spcPts val="400"/>
              </a:spcBef>
              <a:buClr>
                <a:schemeClr val="accent1"/>
              </a:buClr>
              <a:buSzPct val="68000"/>
            </a:pPr>
            <a:r>
              <a:rPr lang="en-GB" sz="2800" dirty="0" smtClean="0"/>
              <a:t>Accommodation </a:t>
            </a:r>
            <a:r>
              <a:rPr lang="en-GB" sz="2800" dirty="0"/>
              <a:t>Charges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Poor, </a:t>
            </a:r>
            <a:r>
              <a:rPr lang="en-GB" sz="1200" dirty="0"/>
              <a:t>in view of low availability of hostel accommodation facilities</a:t>
            </a:r>
            <a:endParaRPr kumimoji="0" lang="en-GB"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indent="-256032">
              <a:spcBef>
                <a:spcPts val="400"/>
              </a:spcBef>
              <a:buClr>
                <a:schemeClr val="accent1"/>
              </a:buClr>
              <a:buSzPct val="68000"/>
              <a:buFont typeface="Wingdings 3"/>
              <a:buChar char=""/>
            </a:pPr>
            <a:r>
              <a:rPr lang="en-GB" dirty="0"/>
              <a:t>More Hostels should be built to accommodate students and measures should be put in place to ensure such are compulsorily occupied by students. Partnership with corporate bodies and individuals should be explored. Existing ones revamped, e.g. </a:t>
            </a:r>
            <a:r>
              <a:rPr lang="en-GB" dirty="0" err="1"/>
              <a:t>Omolayo</a:t>
            </a:r>
            <a:r>
              <a:rPr lang="en-GB" dirty="0"/>
              <a:t> Hostels</a:t>
            </a:r>
            <a:r>
              <a:rPr lang="en-GB" dirty="0" smtClean="0"/>
              <a:t>.</a:t>
            </a:r>
            <a:endParaRPr lang="en-GB" dirty="0"/>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3</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Transportation</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Nil</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The University should look into taking up the intra-campus transportation by tricycles or light vehicles, or collecting levies from operators</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4</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Charges for Issuance of Transcripts, certificates,  etc</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Fair</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The Exams and Records Unit should be made ICT compliant to enhance better and faster performance.</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5</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Guest House, Catering Services, Entertainment Provision</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Poor</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000" dirty="0"/>
              <a:t>The entire system should be revamped and be made functional. The Guest House upgraded to at least 4-star hotel. The University of Ibadan Guest House can be understudied for better service delivery.</a:t>
            </a:r>
            <a:endParaRPr kumimoji="0" lang="en-GB"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6</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Printing Press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Poor</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438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1700" dirty="0"/>
              <a:t>The printing press should be repositioned/updated such that it is able to meet all the printing needs of the University in terms of exam booklet printing, student and staff identity cards, etc. (If ID cards are printed internally, new staff or renewals are more easily served.). It should also be able to provide commercial services to outsiders. ABUAD printing Press can be understudied. This would stop capital flight and also boost the IGR base of the University.</a:t>
            </a:r>
            <a:endParaRPr kumimoji="0" lang="en-GB" sz="1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7</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Health Centre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Nil</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000" dirty="0"/>
              <a:t>The Health Centre should be repositioned such that it is able to also provide health care services, laboratory testing services to people around the University especially from </a:t>
            </a:r>
            <a:r>
              <a:rPr lang="en-GB" sz="2000" dirty="0" err="1"/>
              <a:t>Iworoko</a:t>
            </a:r>
            <a:r>
              <a:rPr lang="en-GB" sz="2000" dirty="0"/>
              <a:t>,  Are-Ekiti and </a:t>
            </a:r>
            <a:r>
              <a:rPr lang="en-GB" sz="2000" dirty="0" err="1"/>
              <a:t>Ifaki</a:t>
            </a:r>
            <a:r>
              <a:rPr lang="en-GB" sz="2000" dirty="0"/>
              <a:t>, the host communities to the University</a:t>
            </a:r>
            <a:endParaRPr kumimoji="0" lang="en-GB"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8</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Commercial Agriculture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Low</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The available land mass should be cultivated for commercial purposes. Crops of different kinds, animal husbandry, timber plantation, etc.</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9</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Fuel Dump (Filling Station) and Auto Service Bay</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Nil</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r>
              <a:rPr lang="en-GB" dirty="0"/>
              <a:t>A new filling station should be constructed outside the main gate, and made open to the public. This does not preclude reservation of fuel there for officials and staff of the University during periods of scarcity. The Filling station should be operated alongside an auto service bay. The Federal Polytechnic, Ado-Ekiti filling station could be understudied for enhancements.</a:t>
            </a: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10</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Bindery Section of the Library</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Nil</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dirty="0"/>
              <a:t>Students’ should be mandated to patronize this section of the library and prices should be competitive to attract good patronage even from outside the University community. To accommodate the load at peak periods, state of the art equipment should be installed, and the University Printing Press taken on as collaborators.</a:t>
            </a: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11</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Cyber Cafe and Internet Services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Low</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Should be repositioned such that it is able to provide very fast services at reasonably low prices</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12</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Block-Making Industry</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Existing IGR Drives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 Placeholder 2"/>
          <p:cNvSpPr txBox="1">
            <a:spLocks/>
          </p:cNvSpPr>
          <p:nvPr/>
        </p:nvSpPr>
        <p:spPr>
          <a:xfrm>
            <a:off x="2590800" y="2971800"/>
            <a:ext cx="62484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smtClean="0"/>
              <a:t>Low</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4114800"/>
            <a:ext cx="6248400" cy="2209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Contractors should be mandated to patronize the unit. Advertisements can also be placed on the radio and TV channels to sensitize the public.</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447800" y="2362200"/>
            <a:ext cx="7467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Impact on the University’s IGR Base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35814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Recommendations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13</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GB" dirty="0" smtClean="0"/>
              <a:t>B</a:t>
            </a:r>
            <a:endParaRPr lang="en-GB" dirty="0"/>
          </a:p>
        </p:txBody>
      </p:sp>
      <p:sp>
        <p:nvSpPr>
          <p:cNvPr id="2" name="Content Placeholder 1"/>
          <p:cNvSpPr>
            <a:spLocks noGrp="1"/>
          </p:cNvSpPr>
          <p:nvPr>
            <p:ph idx="1"/>
          </p:nvPr>
        </p:nvSpPr>
        <p:spPr/>
        <p:txBody>
          <a:bodyPr/>
          <a:lstStyle/>
          <a:p>
            <a:pPr algn="ctr">
              <a:buNone/>
            </a:pPr>
            <a:r>
              <a:rPr lang="en-GB" sz="5400" b="1" dirty="0" smtClean="0">
                <a:latin typeface="Agency FB" pitchFamily="34" charset="0"/>
              </a:rPr>
              <a:t>	Suggested Action Plans to Propel EKSU IGR Initiatives </a:t>
            </a:r>
          </a:p>
          <a:p>
            <a:pPr algn="ctr">
              <a:buNone/>
            </a:pPr>
            <a:r>
              <a:rPr lang="en-GB" sz="5400" dirty="0" smtClean="0"/>
              <a:t>(outside of the Faculty of Engineering)</a:t>
            </a:r>
          </a:p>
          <a:p>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Sachet and Bottled Water</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Fruit Juice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2</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Bakery</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3</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Corn Flakes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4</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EKSU Feed Mill</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5</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Agricultural Health Products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6</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Products such as: Bottled Honey, Herb teas, Aloe </a:t>
            </a:r>
            <a:r>
              <a:rPr lang="en-GB" sz="2400" dirty="0" err="1"/>
              <a:t>vera</a:t>
            </a:r>
            <a:r>
              <a:rPr lang="en-GB" sz="2400" dirty="0"/>
              <a:t> cream, toilet soap, etc, </a:t>
            </a:r>
            <a:r>
              <a:rPr lang="en-GB" sz="2400" dirty="0" err="1"/>
              <a:t>Moringa</a:t>
            </a:r>
            <a:r>
              <a:rPr lang="en-GB" sz="2400" dirty="0"/>
              <a:t> seeds, leaves, ground barks from </a:t>
            </a:r>
            <a:r>
              <a:rPr lang="en-GB" sz="2400" dirty="0" err="1"/>
              <a:t>moringa</a:t>
            </a:r>
            <a:r>
              <a:rPr lang="en-GB" sz="2400" dirty="0"/>
              <a:t>, and other herbs</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Entrepreneurship Study Centre Products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7</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Liquid detergents, body cream, etc., basic tools such as bottle openers, tin and can openers, key holders, etc., basic household and kitchen utensils, etc.</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2590800" y="838200"/>
            <a:ext cx="62484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Paper and other waste Recycling Centre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3048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3622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8</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2590800" y="2971800"/>
            <a:ext cx="6248400" cy="33528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400" dirty="0"/>
              <a:t>For the purpose of turning waste papers generated on campus to wealth, expended water sachets, plastic bottles, glass, etc. Even if the recycling is not done in EKSU, elaborate arrangements can be put in place for collecting these materials, to be sold to recyclers.</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GB" dirty="0" smtClean="0"/>
              <a:t>C</a:t>
            </a:r>
            <a:endParaRPr lang="en-GB" dirty="0"/>
          </a:p>
        </p:txBody>
      </p:sp>
      <p:sp>
        <p:nvSpPr>
          <p:cNvPr id="2" name="Content Placeholder 1"/>
          <p:cNvSpPr>
            <a:spLocks noGrp="1"/>
          </p:cNvSpPr>
          <p:nvPr>
            <p:ph idx="1"/>
          </p:nvPr>
        </p:nvSpPr>
        <p:spPr/>
        <p:txBody>
          <a:bodyPr/>
          <a:lstStyle/>
          <a:p>
            <a:r>
              <a:rPr lang="en-GB" sz="5400" b="1" dirty="0" smtClean="0">
                <a:latin typeface="Agency FB" pitchFamily="34" charset="0"/>
              </a:rPr>
              <a:t>Suggested Action Plans to Propel the Faculty of Engineering’s IGR Initiatives</a:t>
            </a:r>
            <a:endParaRPr lang="en-GB" sz="5400" dirty="0" smtClean="0">
              <a:latin typeface="Agency FB" pitchFamily="34" charset="0"/>
            </a:endParaRPr>
          </a:p>
          <a:p>
            <a:endParaRPr lang="en-GB"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1905000" y="685800"/>
            <a:ext cx="69342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Establishment of Engineering Innovation Centre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228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133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kumimoji="0" lang="en-GB" sz="2700" b="0" i="0" u="none" strike="noStrike" kern="1200" cap="none" spc="0" normalizeH="0" baseline="0" noProof="0" dirty="0" smtClean="0">
                <a:ln>
                  <a:noFill/>
                </a:ln>
                <a:solidFill>
                  <a:schemeClr val="tx1"/>
                </a:solidFill>
                <a:effectLst/>
                <a:uLnTx/>
                <a:uFillTx/>
                <a:latin typeface="+mn-lt"/>
                <a:ea typeface="+mn-ea"/>
                <a:cs typeface="+mn-cs"/>
              </a:rPr>
              <a:t>1</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905000" y="2590800"/>
            <a:ext cx="6934200" cy="3657600"/>
          </a:xfrm>
          <a:prstGeom prst="rect">
            <a:avLst/>
          </a:prstGeom>
          <a:ln>
            <a:solidFill>
              <a:schemeClr val="accent1"/>
            </a:solidFill>
          </a:ln>
        </p:spPr>
        <p:txBody>
          <a:bodyPr/>
          <a:lstStyle/>
          <a:p>
            <a:pPr lvl="0">
              <a:buFont typeface="Wingdings" pitchFamily="2" charset="2"/>
              <a:buChar char="v"/>
            </a:pPr>
            <a:r>
              <a:rPr lang="en-GB" sz="2000" dirty="0"/>
              <a:t>Design and construction of uninterruptible power supply systems (UPS), Inverters, Battery chargers, Security systems, </a:t>
            </a:r>
            <a:r>
              <a:rPr lang="en-GB" sz="2000" dirty="0" smtClean="0"/>
              <a:t>etc.</a:t>
            </a:r>
          </a:p>
          <a:p>
            <a:pPr lvl="0">
              <a:buFont typeface="Wingdings" pitchFamily="2" charset="2"/>
              <a:buChar char="v"/>
            </a:pPr>
            <a:r>
              <a:rPr lang="en-GB" sz="2000" dirty="0" smtClean="0"/>
              <a:t>E-learning </a:t>
            </a:r>
            <a:r>
              <a:rPr lang="en-GB" sz="2000" dirty="0"/>
              <a:t>and other software development; website design and management, </a:t>
            </a:r>
            <a:r>
              <a:rPr lang="en-GB" sz="2000" dirty="0" smtClean="0"/>
              <a:t>etc.</a:t>
            </a:r>
          </a:p>
          <a:p>
            <a:pPr lvl="0">
              <a:buFont typeface="Wingdings" pitchFamily="2" charset="2"/>
              <a:buChar char="v"/>
            </a:pPr>
            <a:r>
              <a:rPr lang="en-GB" sz="2000" dirty="0" smtClean="0"/>
              <a:t>Wood </a:t>
            </a:r>
            <a:r>
              <a:rPr lang="en-GB" sz="2000" dirty="0"/>
              <a:t>Products and Furniture manufacturing (for offices, classrooms, etc.) This is a major avenue for IGR </a:t>
            </a:r>
            <a:r>
              <a:rPr lang="en-GB" sz="2000" dirty="0" smtClean="0"/>
              <a:t>generation.</a:t>
            </a:r>
          </a:p>
          <a:p>
            <a:pPr lvl="0">
              <a:buFont typeface="Wingdings" pitchFamily="2" charset="2"/>
              <a:buChar char="v"/>
            </a:pPr>
            <a:r>
              <a:rPr lang="en-GB" sz="2000" dirty="0" smtClean="0"/>
              <a:t>Welding </a:t>
            </a:r>
            <a:r>
              <a:rPr lang="en-GB" sz="2000" dirty="0"/>
              <a:t>Works Services (production of gates, fences, anti-burglary grills, tools and implements, etc</a:t>
            </a:r>
            <a:r>
              <a:rPr lang="en-GB" sz="2000" dirty="0" smtClean="0"/>
              <a:t>.)</a:t>
            </a:r>
          </a:p>
          <a:p>
            <a:pPr lvl="0">
              <a:buFont typeface="Wingdings" pitchFamily="2" charset="2"/>
              <a:buChar char="v"/>
            </a:pPr>
            <a:r>
              <a:rPr lang="en-GB" sz="2000" dirty="0" smtClean="0"/>
              <a:t>Unit </a:t>
            </a:r>
            <a:r>
              <a:rPr lang="en-GB" sz="2000" dirty="0"/>
              <a:t>for scaling up of viable research products for commercial purposes.</a:t>
            </a:r>
            <a:endParaRPr kumimoji="0" lang="en-GB"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1905000" y="685800"/>
            <a:ext cx="69342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Establishment of Engineering Training Centre</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228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133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2</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905000" y="2590800"/>
            <a:ext cx="6934200" cy="3657600"/>
          </a:xfrm>
          <a:prstGeom prst="rect">
            <a:avLst/>
          </a:prstGeom>
          <a:ln>
            <a:solidFill>
              <a:schemeClr val="accent1"/>
            </a:solidFill>
          </a:ln>
        </p:spPr>
        <p:txBody>
          <a:bodyPr/>
          <a:lstStyle/>
          <a:p>
            <a:pPr lvl="0">
              <a:buFont typeface="Wingdings" pitchFamily="2" charset="2"/>
              <a:buChar char="v"/>
            </a:pPr>
            <a:r>
              <a:rPr lang="en-GB" dirty="0"/>
              <a:t>Certificate Programmes for artisans on electrical wiring, mechanical/</a:t>
            </a:r>
            <a:r>
              <a:rPr lang="en-GB" dirty="0" err="1"/>
              <a:t>autotronic</a:t>
            </a:r>
            <a:r>
              <a:rPr lang="en-GB" dirty="0"/>
              <a:t>/</a:t>
            </a:r>
            <a:r>
              <a:rPr lang="en-GB" dirty="0" err="1"/>
              <a:t>mechatronic</a:t>
            </a:r>
            <a:r>
              <a:rPr lang="en-GB" dirty="0"/>
              <a:t>, renewable energy, building construction, carpentry and joinery, building services, Road Safety and Driving Expertise Management, etc. The University of Ibadan could be understudied for this aspect. (Target- Masons, Auto Mechanics, Electricians etc). Admission to the certificate courses may be based on GCE O/L credit passes in 5 subjects including English (and Maths for the technical courses)</a:t>
            </a:r>
            <a:r>
              <a:rPr lang="en-GB" dirty="0" smtClean="0"/>
              <a:t>.</a:t>
            </a:r>
          </a:p>
          <a:p>
            <a:pPr lvl="0">
              <a:buFont typeface="Wingdings" pitchFamily="2" charset="2"/>
              <a:buChar char="v"/>
            </a:pPr>
            <a:r>
              <a:rPr lang="en-GB" dirty="0"/>
              <a:t>Certifications Centre, i.e. CISCO Certification, Microsoft Certifications, AutoCAD, Orion, MATLAB etc (target audience- Staff, Students and Professionals</a:t>
            </a:r>
            <a:r>
              <a:rPr lang="en-GB" dirty="0" smtClean="0"/>
              <a:t>)</a:t>
            </a:r>
            <a:endParaRPr kumimoji="0" lang="en-GB"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1905000" y="685800"/>
            <a:ext cx="69342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Faculty of Engineering Consultancy Unit</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228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133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3</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905000" y="2590800"/>
            <a:ext cx="6934200" cy="3657600"/>
          </a:xfrm>
          <a:prstGeom prst="rect">
            <a:avLst/>
          </a:prstGeom>
          <a:ln>
            <a:solidFill>
              <a:schemeClr val="accent1"/>
            </a:solidFill>
          </a:ln>
        </p:spPr>
        <p:txBody>
          <a:bodyPr/>
          <a:lstStyle/>
          <a:p>
            <a:pPr lvl="0">
              <a:buFont typeface="Wingdings" pitchFamily="2" charset="2"/>
              <a:buChar char="v"/>
            </a:pPr>
            <a:r>
              <a:rPr lang="en-GB" sz="1600" dirty="0"/>
              <a:t>To provide engineering related services, e.g. structural, geotechnical, electrical, mechanical, highway, etc. The Consultancy Unit has been, and can be further much more elaborately involved in the design, supervision and execution of construction projects on the campus. Lack of adequate supervision has led in the past to the usage of low quality material or inappropriate mix or specification (e.g. in the electrical wiring, plumbing installations, doors, windows, walls, floor and roof finishing, etc.). The personnel are available</a:t>
            </a:r>
            <a:r>
              <a:rPr lang="en-GB" sz="1600" dirty="0" smtClean="0"/>
              <a:t>.</a:t>
            </a:r>
          </a:p>
          <a:p>
            <a:pPr lvl="0">
              <a:buFont typeface="Wingdings" pitchFamily="2" charset="2"/>
              <a:buChar char="v"/>
            </a:pPr>
            <a:r>
              <a:rPr lang="en-GB" sz="1600" dirty="0"/>
              <a:t>Engineering Materials (Civil, Mechanical and Electrical) Testing for Commercial Purposes (target- Contractors and consultants</a:t>
            </a:r>
            <a:r>
              <a:rPr lang="en-GB" sz="1600" dirty="0" smtClean="0"/>
              <a:t>).</a:t>
            </a:r>
          </a:p>
          <a:p>
            <a:pPr lvl="0">
              <a:buFont typeface="Wingdings" pitchFamily="2" charset="2"/>
              <a:buChar char="v"/>
            </a:pPr>
            <a:r>
              <a:rPr lang="en-GB" sz="1600" dirty="0" smtClean="0"/>
              <a:t>Geotechnical </a:t>
            </a:r>
            <a:r>
              <a:rPr lang="en-GB" sz="1600" dirty="0"/>
              <a:t>testing (target- Contractors and consultants)</a:t>
            </a:r>
          </a:p>
          <a:p>
            <a:pPr lvl="0">
              <a:buFont typeface="Wingdings" pitchFamily="2" charset="2"/>
              <a:buChar char="v"/>
            </a:pPr>
            <a:r>
              <a:rPr lang="en-GB" sz="1600"/>
              <a:t>Water Quality Testing (target- Ekiti State residents)</a:t>
            </a:r>
            <a:r>
              <a:rPr lang="en-GB" sz="1600" smtClean="0"/>
              <a:t>.</a:t>
            </a:r>
            <a:endParaRPr kumimoji="0" lang="en-GB"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1905000" y="685800"/>
            <a:ext cx="6934200" cy="12954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800" dirty="0"/>
              <a:t>Development of Small Hydro Power Station on River Elemi</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Placeholder 2"/>
          <p:cNvSpPr txBox="1">
            <a:spLocks/>
          </p:cNvSpPr>
          <p:nvPr/>
        </p:nvSpPr>
        <p:spPr>
          <a:xfrm>
            <a:off x="1447800" y="228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IGR Initiatives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Text Placeholder 2"/>
          <p:cNvSpPr txBox="1">
            <a:spLocks/>
          </p:cNvSpPr>
          <p:nvPr/>
        </p:nvSpPr>
        <p:spPr>
          <a:xfrm>
            <a:off x="1447800" y="2133600"/>
            <a:ext cx="5562600" cy="457200"/>
          </a:xfrm>
          <a:prstGeom prst="rect">
            <a:avLst/>
          </a:prstGeom>
          <a:solidFill>
            <a:schemeClr val="accent1"/>
          </a:solidFill>
        </p:spPr>
        <p:txBody>
          <a:bodyPr/>
          <a:lstStyle/>
          <a:p>
            <a:pPr marL="365760" lvl="0" indent="-256032">
              <a:spcBef>
                <a:spcPts val="400"/>
              </a:spcBef>
              <a:buClr>
                <a:schemeClr val="accent1"/>
              </a:buClr>
              <a:buSzPct val="68000"/>
              <a:buFont typeface="Wingdings 3"/>
              <a:buChar char=""/>
            </a:pPr>
            <a:r>
              <a:rPr lang="en-GB" sz="2800" b="1" dirty="0"/>
              <a:t>Action Plans</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2"/>
          <p:cNvSpPr txBox="1">
            <a:spLocks/>
          </p:cNvSpPr>
          <p:nvPr/>
        </p:nvSpPr>
        <p:spPr>
          <a:xfrm>
            <a:off x="228600" y="1219200"/>
            <a:ext cx="990600" cy="457200"/>
          </a:xfrm>
          <a:prstGeom prst="rect">
            <a:avLst/>
          </a:prstGeom>
          <a:ln>
            <a:solidFill>
              <a:schemeClr val="accent1"/>
            </a:solidFill>
          </a:ln>
        </p:spPr>
        <p:txBody>
          <a:bodyPr/>
          <a:lstStyle/>
          <a:p>
            <a:pPr marL="365760" lvl="0" indent="-256032">
              <a:spcBef>
                <a:spcPts val="400"/>
              </a:spcBef>
              <a:buClr>
                <a:schemeClr val="accent1"/>
              </a:buClr>
              <a:buSzPct val="68000"/>
              <a:buFont typeface="Wingdings 3"/>
              <a:buChar char=""/>
            </a:pPr>
            <a:r>
              <a:rPr lang="en-GB" sz="2700" dirty="0"/>
              <a:t>4</a:t>
            </a:r>
            <a:endParaRPr kumimoji="0" lang="en-GB"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Text Placeholder 2"/>
          <p:cNvSpPr txBox="1">
            <a:spLocks/>
          </p:cNvSpPr>
          <p:nvPr/>
        </p:nvSpPr>
        <p:spPr>
          <a:xfrm>
            <a:off x="1905000" y="2590800"/>
            <a:ext cx="6934200" cy="3657600"/>
          </a:xfrm>
          <a:prstGeom prst="rect">
            <a:avLst/>
          </a:prstGeom>
          <a:ln>
            <a:solidFill>
              <a:schemeClr val="accent1"/>
            </a:solidFill>
          </a:ln>
        </p:spPr>
        <p:txBody>
          <a:bodyPr/>
          <a:lstStyle/>
          <a:p>
            <a:pPr lvl="0">
              <a:buFont typeface="Wingdings" pitchFamily="2" charset="2"/>
              <a:buChar char="v"/>
            </a:pPr>
            <a:r>
              <a:rPr lang="en-GB" sz="2000" dirty="0"/>
              <a:t>Should help in providing constant power supply to the University community and the host communities. Revenue can be generated from the power supplied to the host communities. The Faculty of Engineering has a team which has been active in a collaborative engagement between the University and the UNIDO over this project </a:t>
            </a:r>
            <a:endParaRPr lang="en-GB" sz="20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endParaRPr lang="en-GB" dirty="0" smtClean="0"/>
          </a:p>
          <a:p>
            <a:pPr algn="ctr"/>
            <a:endParaRPr lang="en-GB" dirty="0" smtClean="0"/>
          </a:p>
          <a:p>
            <a:pPr algn="ctr"/>
            <a:endParaRPr lang="en-GB" dirty="0" smtClean="0"/>
          </a:p>
          <a:p>
            <a:pPr algn="ctr"/>
            <a:r>
              <a:rPr lang="en-GB" sz="6000" dirty="0" smtClean="0">
                <a:latin typeface="Agency FB" pitchFamily="34" charset="0"/>
              </a:rPr>
              <a:t>Conclusions</a:t>
            </a:r>
            <a:endParaRPr lang="en-GB" sz="6000" dirty="0">
              <a:latin typeface="Agency FB"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TotalTime>
  <Words>1447</Words>
  <Application>Microsoft Office PowerPoint</Application>
  <PresentationFormat>On-screen Show (4:3)</PresentationFormat>
  <Paragraphs>175</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Ekiti State University, Ado Ekiti IGR Summit</vt:lpstr>
      <vt:lpstr>Slide 2</vt:lpstr>
      <vt:lpstr>A</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B</vt:lpstr>
      <vt:lpstr>Slide 18</vt:lpstr>
      <vt:lpstr>Slide 19</vt:lpstr>
      <vt:lpstr>Slide 20</vt:lpstr>
      <vt:lpstr>Slide 21</vt:lpstr>
      <vt:lpstr>Slide 22</vt:lpstr>
      <vt:lpstr>Slide 23</vt:lpstr>
      <vt:lpstr>Slide 24</vt:lpstr>
      <vt:lpstr>Slide 25</vt:lpstr>
      <vt:lpstr>C</vt:lpstr>
      <vt:lpstr>Slide 27</vt:lpstr>
      <vt:lpstr>Slide 28</vt:lpstr>
      <vt:lpstr>Slide 29</vt:lpstr>
      <vt:lpstr>Slide 30</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Ekiti State University, Ado Ekiti IGR Summit</dc:title>
  <dc:creator>Tofunmi</dc:creator>
  <cp:lastModifiedBy>Ogundipe Folake</cp:lastModifiedBy>
  <cp:revision>26</cp:revision>
  <dcterms:created xsi:type="dcterms:W3CDTF">2016-01-26T12:49:43Z</dcterms:created>
  <dcterms:modified xsi:type="dcterms:W3CDTF">2016-01-26T16:04:56Z</dcterms:modified>
</cp:coreProperties>
</file>