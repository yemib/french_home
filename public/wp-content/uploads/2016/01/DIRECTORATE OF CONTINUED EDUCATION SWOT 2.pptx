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69" r:id="rId6"/>
    <p:sldId id="260" r:id="rId7"/>
    <p:sldId id="271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dissolve/>
    <p:sndAc>
      <p:stSnd>
        <p:snd r:embed="rId1" name="click.wav" builtIn="1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950E9-B397-46E0-8BB9-1F2EE068D51D}" type="datetimeFigureOut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85008-E53D-4517-ACD7-F923E5C25A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dissolve/>
    <p:sndAc>
      <p:stSnd>
        <p:snd r:embed="rId13" name="click.wav" builtIn="1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04800"/>
            <a:ext cx="8382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A SWOT ANALYSIS OF THE DIRECTORATE OF CONTINUING EDUCATION PROGRAMMES (DCEP) AND RECOMMENDATIONS FOR PROPELLING WEALTH CREATION FOR THE UNIVERSITY.</a:t>
            </a:r>
          </a:p>
          <a:p>
            <a:pPr algn="ctr"/>
            <a:endParaRPr lang="en-US" sz="2800" b="1" dirty="0" smtClean="0"/>
          </a:p>
          <a:p>
            <a:pPr algn="ctr"/>
            <a:r>
              <a:rPr lang="en-US" sz="2800" b="1" dirty="0" smtClean="0"/>
              <a:t>BEING A PAPER PRESENTED BY:</a:t>
            </a:r>
            <a:endParaRPr lang="en-US" sz="2800" dirty="0" smtClean="0"/>
          </a:p>
          <a:p>
            <a:pPr algn="ctr"/>
            <a:r>
              <a:rPr lang="en-US" sz="2800" b="1" dirty="0" smtClean="0"/>
              <a:t> </a:t>
            </a:r>
            <a:endParaRPr lang="en-US" sz="2800" dirty="0" smtClean="0"/>
          </a:p>
          <a:p>
            <a:pPr algn="ctr"/>
            <a:r>
              <a:rPr lang="en-US" sz="2800" b="1" dirty="0" smtClean="0"/>
              <a:t>PROF. G. O. OYINLOYE</a:t>
            </a:r>
            <a:endParaRPr lang="en-US" sz="2800" dirty="0" smtClean="0"/>
          </a:p>
          <a:p>
            <a:pPr algn="ctr"/>
            <a:r>
              <a:rPr lang="en-US" sz="2800" b="1" dirty="0" smtClean="0"/>
              <a:t>DIRECTOR </a:t>
            </a:r>
            <a:endParaRPr lang="en-US" sz="2800" dirty="0" smtClean="0"/>
          </a:p>
          <a:p>
            <a:pPr algn="ctr"/>
            <a:r>
              <a:rPr lang="en-US" sz="2800" b="1" dirty="0" smtClean="0"/>
              <a:t> </a:t>
            </a:r>
            <a:endParaRPr lang="en-US" sz="2800" dirty="0" smtClean="0"/>
          </a:p>
          <a:p>
            <a:pPr algn="ctr"/>
            <a:r>
              <a:rPr lang="en-US" sz="2800" b="1" dirty="0" smtClean="0"/>
              <a:t>AT THE SUMMIT HELD AT 3000 SEATER LECTURE THEATRE, EKITI STATE UNIVERSITY, ADO-EKITI,  BETWEEN TUESDAY, 26</a:t>
            </a:r>
            <a:r>
              <a:rPr lang="en-US" sz="2800" b="1" baseline="30000" dirty="0" smtClean="0"/>
              <a:t>TH</a:t>
            </a:r>
            <a:r>
              <a:rPr lang="en-US" sz="2800" b="1" dirty="0" smtClean="0"/>
              <a:t> AND THURSDAY, 28</a:t>
            </a:r>
            <a:r>
              <a:rPr lang="en-US" sz="2800" b="1" baseline="30000" dirty="0" smtClean="0"/>
              <a:t>TH</a:t>
            </a:r>
            <a:r>
              <a:rPr lang="en-US" sz="2800" b="1" dirty="0" smtClean="0"/>
              <a:t> JANUARY, 2016.</a:t>
            </a:r>
            <a:endParaRPr lang="en-US" sz="2800" dirty="0" smtClean="0"/>
          </a:p>
          <a:p>
            <a:endParaRPr lang="en-US" sz="28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-79653"/>
            <a:ext cx="8229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smtClean="0"/>
              <a:t>INTRODUCTION</a:t>
            </a:r>
            <a:endParaRPr lang="en-US" sz="2200" dirty="0" smtClean="0"/>
          </a:p>
          <a:p>
            <a:r>
              <a:rPr lang="en-US" sz="2200" dirty="0" smtClean="0"/>
              <a:t>The Directorate of Continuing Education (DCEP) was carved out from the Directorate of Part Time Programmes in 2012.</a:t>
            </a:r>
          </a:p>
          <a:p>
            <a:r>
              <a:rPr lang="en-US" sz="2200" b="1" dirty="0" smtClean="0"/>
              <a:t> </a:t>
            </a:r>
            <a:r>
              <a:rPr lang="en-US" sz="2200" dirty="0" smtClean="0"/>
              <a:t>The Directorate was set up to train teachers and run courses approved and accredited for the Faculty of Education by the University Senate and National Universities Commission (NUC).</a:t>
            </a:r>
          </a:p>
          <a:p>
            <a:endParaRPr lang="en-US" sz="2200" b="1" dirty="0" smtClean="0"/>
          </a:p>
          <a:p>
            <a:pPr algn="ctr"/>
            <a:r>
              <a:rPr lang="en-US" sz="2200" b="1" dirty="0" smtClean="0"/>
              <a:t>SPECIFIC OBJECTIVES</a:t>
            </a:r>
            <a:endParaRPr lang="en-US" sz="2200" dirty="0" smtClean="0"/>
          </a:p>
          <a:p>
            <a:endParaRPr lang="en-US" sz="2200" dirty="0" smtClean="0"/>
          </a:p>
          <a:p>
            <a:r>
              <a:rPr lang="en-US" sz="2200" dirty="0" smtClean="0"/>
              <a:t>The Objectives are: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 smtClean="0"/>
              <a:t>To produce qualified teachers at graduate and post graduate levels  </a:t>
            </a:r>
          </a:p>
          <a:p>
            <a:pPr lvl="0"/>
            <a:r>
              <a:rPr lang="en-US" sz="2200" dirty="0" smtClean="0"/>
              <a:t>     who will have the mastery of various subjects, combined with a   </a:t>
            </a:r>
          </a:p>
          <a:p>
            <a:pPr lvl="0"/>
            <a:r>
              <a:rPr lang="en-US" sz="2200" dirty="0" smtClean="0"/>
              <a:t>     sound academic and professional training in education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 smtClean="0"/>
              <a:t>To offer on the job training for the serving teachers in order to </a:t>
            </a:r>
          </a:p>
          <a:p>
            <a:pPr lvl="0"/>
            <a:r>
              <a:rPr lang="en-US" sz="2200" dirty="0" smtClean="0"/>
              <a:t>      improve the quality of teaching and learning in primary and   </a:t>
            </a:r>
          </a:p>
          <a:p>
            <a:pPr lvl="0"/>
            <a:r>
              <a:rPr lang="en-US" sz="2200" dirty="0" smtClean="0"/>
              <a:t>      secondary schools.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 smtClean="0"/>
              <a:t>To Contribute to the internally generated revenue of the University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 smtClean="0"/>
              <a:t>Creating employment opportunities for the unemployed</a:t>
            </a:r>
            <a:endParaRPr lang="en-US" sz="22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04800"/>
            <a:ext cx="830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STRUCTURE</a:t>
            </a:r>
          </a:p>
          <a:p>
            <a:pPr algn="ctr"/>
            <a:endParaRPr lang="en-US" sz="2400" dirty="0"/>
          </a:p>
          <a:p>
            <a:r>
              <a:rPr lang="en-US" sz="2400" dirty="0" smtClean="0"/>
              <a:t>There are three units in the Directorate. These are: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Office of the Director)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Office of the Assistant Director (Sandwich) .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 Office of the Assistant Director (Affiliate} which oversees the following  affiliate Colleges.</a:t>
            </a:r>
          </a:p>
          <a:p>
            <a:endParaRPr lang="en-US" sz="2400" dirty="0" smtClean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228600"/>
            <a:ext cx="86868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en-US" sz="2400" dirty="0"/>
              <a:t>Adeniran Ogunsanya College of Education Ijanikin Lagos, </a:t>
            </a:r>
            <a:r>
              <a:rPr lang="en-US" sz="2400" dirty="0" smtClean="0"/>
              <a:t>Lagos   	State.</a:t>
            </a:r>
            <a:endParaRPr lang="en-US" sz="2400" dirty="0"/>
          </a:p>
          <a:p>
            <a:pPr lvl="0">
              <a:buFont typeface="Wingdings" pitchFamily="2" charset="2"/>
              <a:buChar char="§"/>
            </a:pPr>
            <a:r>
              <a:rPr lang="en-US" sz="2400" dirty="0"/>
              <a:t>Emmanuel Alayande College of Education </a:t>
            </a:r>
            <a:r>
              <a:rPr lang="en-US" sz="2400" dirty="0" smtClean="0"/>
              <a:t>Oyo, </a:t>
            </a:r>
            <a:r>
              <a:rPr lang="en-US" sz="2400" dirty="0"/>
              <a:t>Oyo </a:t>
            </a:r>
            <a:r>
              <a:rPr lang="en-US" sz="2400" dirty="0" smtClean="0"/>
              <a:t>State.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* *</a:t>
            </a:r>
            <a:r>
              <a:rPr lang="en-US" sz="2400" dirty="0" smtClean="0"/>
              <a:t>Kwara </a:t>
            </a:r>
            <a:r>
              <a:rPr lang="en-US" sz="2400" dirty="0"/>
              <a:t>State College of </a:t>
            </a:r>
            <a:r>
              <a:rPr lang="en-US" sz="2400" dirty="0" smtClean="0"/>
              <a:t>Education, Oro.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* *Kwara </a:t>
            </a:r>
            <a:r>
              <a:rPr lang="en-US" sz="2400" dirty="0"/>
              <a:t>State College of </a:t>
            </a:r>
            <a:r>
              <a:rPr lang="en-US" sz="2400" dirty="0" smtClean="0"/>
              <a:t>Education, Ilorin.</a:t>
            </a:r>
            <a:endParaRPr lang="en-US" sz="2400" dirty="0"/>
          </a:p>
          <a:p>
            <a:pPr lvl="0">
              <a:buFont typeface="Wingdings" pitchFamily="2" charset="2"/>
              <a:buChar char="§"/>
            </a:pPr>
            <a:r>
              <a:rPr lang="en-US" sz="2400" dirty="0" smtClean="0"/>
              <a:t>  *Michael </a:t>
            </a:r>
            <a:r>
              <a:rPr lang="en-US" sz="2400" dirty="0"/>
              <a:t>Otedola College of Primary Education </a:t>
            </a:r>
            <a:r>
              <a:rPr lang="en-US" sz="2400" dirty="0" smtClean="0"/>
              <a:t>Epe, </a:t>
            </a:r>
            <a:r>
              <a:rPr lang="en-US" sz="2400" dirty="0"/>
              <a:t>Lagos </a:t>
            </a:r>
            <a:r>
              <a:rPr lang="en-US" sz="2400" dirty="0" smtClean="0"/>
              <a:t>State.</a:t>
            </a:r>
            <a:endParaRPr lang="en-US" sz="2400" dirty="0"/>
          </a:p>
          <a:p>
            <a:pPr lvl="0">
              <a:buFont typeface="Wingdings" pitchFamily="2" charset="2"/>
              <a:buChar char="§"/>
            </a:pPr>
            <a:r>
              <a:rPr lang="en-US" sz="2400" dirty="0"/>
              <a:t>Osun State College of Education </a:t>
            </a:r>
            <a:r>
              <a:rPr lang="en-US" sz="2400" dirty="0" smtClean="0"/>
              <a:t>Ila-Orangun, </a:t>
            </a:r>
            <a:r>
              <a:rPr lang="en-US" sz="2400" dirty="0"/>
              <a:t>Osun State.</a:t>
            </a:r>
          </a:p>
          <a:p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 *No </a:t>
            </a:r>
            <a:r>
              <a:rPr lang="en-US" sz="2400" dirty="0"/>
              <a:t>admission for the past two sessions</a:t>
            </a:r>
          </a:p>
          <a:p>
            <a:pPr lvl="0">
              <a:buFont typeface="Wingdings" pitchFamily="2" charset="2"/>
              <a:buChar char="Ø"/>
            </a:pPr>
            <a:r>
              <a:rPr lang="en-US" sz="2400" dirty="0" smtClean="0"/>
              <a:t>  **Programme   </a:t>
            </a:r>
            <a:r>
              <a:rPr lang="en-US" sz="2400" dirty="0"/>
              <a:t>put on hold by the host </a:t>
            </a:r>
            <a:r>
              <a:rPr lang="en-US" sz="2400" dirty="0" smtClean="0"/>
              <a:t>State </a:t>
            </a:r>
            <a:r>
              <a:rPr lang="en-US" sz="2400" dirty="0"/>
              <a:t>government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1" y="434860"/>
          <a:ext cx="6629399" cy="6407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199"/>
                <a:gridCol w="4368801"/>
                <a:gridCol w="1422399"/>
              </a:tblGrid>
              <a:tr h="29403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S/N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Calibri"/>
                          <a:cs typeface="Times New Roman"/>
                        </a:rPr>
                        <a:t>STATUS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imes New Roman"/>
                          <a:ea typeface="Calibri"/>
                          <a:cs typeface="Times New Roman"/>
                        </a:rPr>
                        <a:t>NUMBER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7651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Professor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5898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Reader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414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Senior Lecturer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39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Deputy Registrar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539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Principal Assistant Registrar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452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Administrative Officer 1 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966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Principal  Executive Officer (Admin)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915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Principal Executive Officer (Accounts)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162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Senior Executive Officer (Accounts)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043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Executive Officer (Admin)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8290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 Executive Officer (Accounts)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53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Asst. Chief Personal Secretary 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352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13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Personal Secretary I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866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Senior Data Processing Officer I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5648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Calibri"/>
                          <a:cs typeface="Times New Roman"/>
                        </a:rPr>
                        <a:t>Chief Typists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02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9528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16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Clerical Officers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18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17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Transport Officer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04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02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18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Office Assistant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01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303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Calibri"/>
                          <a:cs typeface="Times New Roman"/>
                        </a:rPr>
                        <a:t>19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Staff-in Waiting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Calibri"/>
                          <a:cs typeface="Times New Roman"/>
                        </a:rPr>
                        <a:t>07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368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Calibri"/>
                          <a:cs typeface="Times New Roman"/>
                        </a:rPr>
                        <a:t>Total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imes New Roman"/>
                          <a:ea typeface="Calibri"/>
                          <a:cs typeface="Times New Roman"/>
                        </a:rPr>
                        <a:t>36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PERSONNEL</a:t>
            </a:r>
            <a:endParaRPr lang="en-US" b="1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228600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 PROGRAMME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  The Directorate runs academic Programmes as approved by Senate for the Faculty of Education based on accreditation by the National Universities Commission.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 smtClean="0"/>
              <a:t>22 Undergraduate Programmes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 smtClean="0"/>
              <a:t>15 Masters Degree </a:t>
            </a:r>
            <a:r>
              <a:rPr lang="en-US" sz="2400" smtClean="0"/>
              <a:t>Programmes</a:t>
            </a:r>
            <a:endParaRPr lang="en-US" sz="2400" dirty="0" smtClean="0"/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 smtClean="0"/>
              <a:t>PGDE</a:t>
            </a:r>
          </a:p>
          <a:p>
            <a:endParaRPr lang="en-US" sz="24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686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Students’ Enrolment as at 2014/2015 Session:</a:t>
            </a:r>
          </a:p>
          <a:p>
            <a:endParaRPr lang="en-US" sz="2200" b="1" dirty="0" smtClean="0"/>
          </a:p>
          <a:p>
            <a:pPr lvl="0"/>
            <a:r>
              <a:rPr lang="en-US" sz="2200" dirty="0" smtClean="0"/>
              <a:t>Sandwich Unit, EKSU CAMPUS, Ado-</a:t>
            </a:r>
            <a:r>
              <a:rPr lang="en-US" sz="2200" dirty="0" err="1" smtClean="0"/>
              <a:t>Ekiti</a:t>
            </a:r>
            <a:r>
              <a:rPr lang="en-US" sz="2200" dirty="0" smtClean="0"/>
              <a:t>			1419</a:t>
            </a:r>
          </a:p>
          <a:p>
            <a:pPr lvl="0"/>
            <a:r>
              <a:rPr lang="en-US" sz="2200" dirty="0" err="1" smtClean="0"/>
              <a:t>Adeniran</a:t>
            </a:r>
            <a:r>
              <a:rPr lang="en-US" sz="2200" dirty="0" smtClean="0"/>
              <a:t> </a:t>
            </a:r>
            <a:r>
              <a:rPr lang="en-US" sz="2200" dirty="0" err="1" smtClean="0"/>
              <a:t>Ogunsanya</a:t>
            </a:r>
            <a:r>
              <a:rPr lang="en-US" sz="2200" dirty="0" smtClean="0"/>
              <a:t> College of Education, </a:t>
            </a:r>
            <a:r>
              <a:rPr lang="en-US" sz="2200" dirty="0" err="1" smtClean="0"/>
              <a:t>Ijanikin</a:t>
            </a:r>
            <a:r>
              <a:rPr lang="en-US" sz="2200" dirty="0" smtClean="0"/>
              <a:t>, Lagos 5340</a:t>
            </a:r>
          </a:p>
          <a:p>
            <a:pPr lvl="0"/>
            <a:r>
              <a:rPr lang="en-US" sz="2200" dirty="0" smtClean="0"/>
              <a:t>Emmanuel </a:t>
            </a:r>
            <a:r>
              <a:rPr lang="en-US" sz="2200" dirty="0" err="1" smtClean="0"/>
              <a:t>Alayande</a:t>
            </a:r>
            <a:r>
              <a:rPr lang="en-US" sz="2200" dirty="0" smtClean="0"/>
              <a:t> College of Education, Oyo		5760</a:t>
            </a:r>
          </a:p>
          <a:p>
            <a:pPr lvl="0"/>
            <a:r>
              <a:rPr lang="en-US" sz="2200" dirty="0" smtClean="0"/>
              <a:t>Michael </a:t>
            </a:r>
            <a:r>
              <a:rPr lang="en-US" sz="2200" dirty="0" err="1" smtClean="0"/>
              <a:t>Otedola</a:t>
            </a:r>
            <a:r>
              <a:rPr lang="en-US" sz="2200" dirty="0" smtClean="0"/>
              <a:t> College of Primary Education, </a:t>
            </a:r>
            <a:r>
              <a:rPr lang="en-US" sz="2200" dirty="0" err="1" smtClean="0"/>
              <a:t>Epe</a:t>
            </a:r>
            <a:r>
              <a:rPr lang="en-US" sz="2200" dirty="0" smtClean="0"/>
              <a:t>	2400</a:t>
            </a:r>
          </a:p>
          <a:p>
            <a:pPr lvl="0"/>
            <a:r>
              <a:rPr lang="en-US" sz="2200" dirty="0" err="1" smtClean="0"/>
              <a:t>Kwara</a:t>
            </a:r>
            <a:r>
              <a:rPr lang="en-US" sz="2200" dirty="0" smtClean="0"/>
              <a:t> State College of Education, Ilorin			2015</a:t>
            </a:r>
          </a:p>
          <a:p>
            <a:pPr lvl="0"/>
            <a:r>
              <a:rPr lang="en-US" sz="2200" dirty="0" err="1" smtClean="0"/>
              <a:t>Kwara</a:t>
            </a:r>
            <a:r>
              <a:rPr lang="en-US" sz="2200" dirty="0" smtClean="0"/>
              <a:t> State College of Education, Oro			1,737</a:t>
            </a:r>
          </a:p>
          <a:p>
            <a:pPr lvl="0"/>
            <a:r>
              <a:rPr lang="en-US" sz="2200" dirty="0" err="1" smtClean="0"/>
              <a:t>Osun</a:t>
            </a:r>
            <a:r>
              <a:rPr lang="en-US" sz="2200" dirty="0" smtClean="0"/>
              <a:t> State College of Education </a:t>
            </a:r>
            <a:r>
              <a:rPr lang="en-US" sz="2200" dirty="0" err="1" smtClean="0"/>
              <a:t>Ila-Oragun</a:t>
            </a:r>
            <a:r>
              <a:rPr lang="en-US" sz="2200" dirty="0" smtClean="0"/>
              <a:t>		  618</a:t>
            </a:r>
          </a:p>
          <a:p>
            <a:r>
              <a:rPr lang="en-US" sz="2200" b="1" dirty="0" smtClean="0"/>
              <a:t>TOTAL							19,289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228600"/>
            <a:ext cx="8686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CONTRIBUTIONS TO IGR OF THE UNIVERSITY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University shares the following percentages from the various fees paid by the students</a:t>
            </a:r>
          </a:p>
          <a:p>
            <a:pPr lvl="0"/>
            <a:r>
              <a:rPr lang="en-US" sz="2400" dirty="0" smtClean="0"/>
              <a:t>School fees (Tuition) 		40%</a:t>
            </a:r>
          </a:p>
          <a:p>
            <a:pPr lvl="0"/>
            <a:r>
              <a:rPr lang="en-US" sz="2400" dirty="0" smtClean="0"/>
              <a:t>Administrative Charges 	90%</a:t>
            </a:r>
          </a:p>
          <a:p>
            <a:pPr lvl="0"/>
            <a:r>
              <a:rPr lang="en-US" sz="2400" dirty="0" smtClean="0"/>
              <a:t>Examination Fees 		20%</a:t>
            </a:r>
          </a:p>
          <a:p>
            <a:pPr lvl="0"/>
            <a:r>
              <a:rPr lang="en-US" sz="2400" dirty="0" smtClean="0"/>
              <a:t>Development levy		30%</a:t>
            </a:r>
          </a:p>
          <a:p>
            <a:pPr lvl="0"/>
            <a:r>
              <a:rPr lang="en-US" sz="2400" dirty="0" smtClean="0"/>
              <a:t>Registration fees		20%</a:t>
            </a:r>
          </a:p>
          <a:p>
            <a:pPr lvl="0"/>
            <a:r>
              <a:rPr lang="en-US" sz="2400" dirty="0" smtClean="0"/>
              <a:t>Sandwich Unit			85%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 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04800"/>
            <a:ext cx="83820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</a:t>
            </a:r>
            <a:r>
              <a:rPr lang="en-US" sz="2400" dirty="0" smtClean="0"/>
              <a:t>The University uses the IGR generated by DCEP to supplement  subvention for payment of salaries and financing some projects.</a:t>
            </a:r>
          </a:p>
          <a:p>
            <a:r>
              <a:rPr lang="en-US" sz="2400" dirty="0" smtClean="0"/>
              <a:t>The DCEP finance the construction of the sandwich village at Irasa.</a:t>
            </a:r>
          </a:p>
          <a:p>
            <a:r>
              <a:rPr lang="en-US" sz="2400" dirty="0" smtClean="0"/>
              <a:t>DCEP jointly finance the provision of welfare  packages to all the members of the University community.</a:t>
            </a:r>
          </a:p>
          <a:p>
            <a:endParaRPr lang="en-US" sz="300" dirty="0"/>
          </a:p>
          <a:p>
            <a:pPr lvl="0"/>
            <a:r>
              <a:rPr lang="en-US" sz="2400" b="1" dirty="0"/>
              <a:t> 	</a:t>
            </a:r>
            <a:endParaRPr lang="en-US" sz="2400" b="1" dirty="0" smtClean="0"/>
          </a:p>
          <a:p>
            <a:pPr lvl="0"/>
            <a:r>
              <a:rPr lang="en-US" sz="2400" b="1" dirty="0" smtClean="0"/>
              <a:t>BENEFITS TO THE SOCIETY</a:t>
            </a:r>
            <a:endParaRPr lang="en-US" sz="2400" dirty="0" smtClean="0"/>
          </a:p>
          <a:p>
            <a:pPr lvl="0"/>
            <a:endParaRPr lang="en-US" sz="1200" dirty="0" smtClean="0"/>
          </a:p>
          <a:p>
            <a:pPr lvl="0"/>
            <a:r>
              <a:rPr lang="en-US" sz="2400" dirty="0" err="1" smtClean="0"/>
              <a:t>i</a:t>
            </a:r>
            <a:r>
              <a:rPr lang="en-US" sz="2400" dirty="0" smtClean="0"/>
              <a:t>.	The Directorate has </a:t>
            </a:r>
            <a:r>
              <a:rPr lang="en-US" sz="2400" dirty="0"/>
              <a:t>contributed to the development of </a:t>
            </a:r>
            <a:r>
              <a:rPr lang="en-US" sz="2400" dirty="0" smtClean="0"/>
              <a:t>     </a:t>
            </a:r>
          </a:p>
          <a:p>
            <a:pPr lvl="0"/>
            <a:r>
              <a:rPr lang="en-US" sz="2400" dirty="0" smtClean="0"/>
              <a:t>              teacher education </a:t>
            </a:r>
            <a:r>
              <a:rPr lang="en-US" sz="2400" dirty="0"/>
              <a:t>in Nigeria.</a:t>
            </a:r>
          </a:p>
          <a:p>
            <a:r>
              <a:rPr lang="en-US" sz="2400" dirty="0"/>
              <a:t>ii. 	Through the programme, many old students are found in </a:t>
            </a:r>
            <a:r>
              <a:rPr lang="en-US" sz="2400" dirty="0" smtClean="0"/>
              <a:t>	almost </a:t>
            </a:r>
            <a:r>
              <a:rPr lang="en-US" sz="2400" dirty="0"/>
              <a:t>all walks of life and are not found wanting in their </a:t>
            </a:r>
            <a:r>
              <a:rPr lang="en-US" sz="2400" dirty="0" smtClean="0"/>
              <a:t>	places </a:t>
            </a:r>
            <a:r>
              <a:rPr lang="en-US" sz="2400" dirty="0"/>
              <a:t>of work.</a:t>
            </a:r>
          </a:p>
          <a:p>
            <a:endParaRPr lang="en-US" sz="24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534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	   WEAKNESSES </a:t>
            </a:r>
            <a:r>
              <a:rPr lang="en-US" sz="2400" b="1" dirty="0"/>
              <a:t>OF THE PROGRAMME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Some </a:t>
            </a:r>
            <a:r>
              <a:rPr lang="en-US" sz="2400" dirty="0"/>
              <a:t>of the weaknesses of the programme can be summarized as </a:t>
            </a:r>
            <a:r>
              <a:rPr lang="en-US" sz="2400" dirty="0" smtClean="0"/>
              <a:t>follows:</a:t>
            </a:r>
            <a:endParaRPr lang="en-US" sz="2400" dirty="0"/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Lateness in releasing students’ results by some Affiliate Colleges.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Dwindling enrolment as a result of lack of employment </a:t>
            </a:r>
            <a:endParaRPr lang="en-US" sz="2400" dirty="0" smtClean="0"/>
          </a:p>
          <a:p>
            <a:pPr lvl="0"/>
            <a:r>
              <a:rPr lang="en-US" sz="2400" dirty="0" smtClean="0"/>
              <a:t>     opportunities .</a:t>
            </a:r>
            <a:endParaRPr lang="en-US" sz="2400" dirty="0"/>
          </a:p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Non-remittance </a:t>
            </a:r>
            <a:r>
              <a:rPr lang="en-US" sz="2400" dirty="0"/>
              <a:t>of all revenue collected by the colleges before </a:t>
            </a:r>
            <a:endParaRPr lang="en-US" sz="2400" dirty="0" smtClean="0"/>
          </a:p>
          <a:p>
            <a:pPr lvl="0"/>
            <a:r>
              <a:rPr lang="en-US" sz="2400" dirty="0" smtClean="0"/>
              <a:t>    the </a:t>
            </a:r>
            <a:r>
              <a:rPr lang="en-US" sz="2400" dirty="0"/>
              <a:t>introduction of </a:t>
            </a:r>
            <a:r>
              <a:rPr lang="en-US" sz="2400" dirty="0" smtClean="0"/>
              <a:t>e-</a:t>
            </a:r>
            <a:r>
              <a:rPr lang="en-US" sz="2400" dirty="0" err="1" smtClean="0"/>
              <a:t>tranzact</a:t>
            </a:r>
            <a:r>
              <a:rPr lang="en-US" sz="2400" dirty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Inadequate </a:t>
            </a:r>
            <a:r>
              <a:rPr lang="en-US" sz="2400" dirty="0" smtClean="0"/>
              <a:t>Staffing: </a:t>
            </a:r>
            <a:r>
              <a:rPr lang="en-US" sz="2400" dirty="0"/>
              <a:t>typists/data entry </a:t>
            </a:r>
            <a:r>
              <a:rPr lang="en-US" sz="2400" dirty="0" smtClean="0"/>
              <a:t>clerk, </a:t>
            </a:r>
            <a:r>
              <a:rPr lang="en-US" sz="2400" dirty="0"/>
              <a:t>office assistance, </a:t>
            </a:r>
            <a:endParaRPr lang="en-US" sz="2400" dirty="0" smtClean="0"/>
          </a:p>
          <a:p>
            <a:pPr lvl="0"/>
            <a:r>
              <a:rPr lang="en-US" sz="2400" dirty="0" smtClean="0"/>
              <a:t>     and </a:t>
            </a:r>
            <a:r>
              <a:rPr lang="en-US" sz="2400" dirty="0"/>
              <a:t>clerks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Non release of percentage of share of revenue due to DCEP by </a:t>
            </a:r>
            <a:endParaRPr lang="en-US" sz="2400" dirty="0" smtClean="0"/>
          </a:p>
          <a:p>
            <a:pPr lvl="0"/>
            <a:r>
              <a:rPr lang="en-US" sz="2400" dirty="0" smtClean="0"/>
              <a:t>    the </a:t>
            </a:r>
            <a:r>
              <a:rPr lang="en-US" sz="2400" dirty="0"/>
              <a:t>University as spelt out in the </a:t>
            </a:r>
            <a:r>
              <a:rPr lang="en-US" sz="2400" dirty="0" smtClean="0"/>
              <a:t>MoU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28600"/>
            <a:ext cx="84582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THREATS TO THE PROGRAMME.</a:t>
            </a:r>
            <a:endParaRPr lang="en-US" sz="2200" dirty="0"/>
          </a:p>
          <a:p>
            <a:pPr lvl="0">
              <a:buFont typeface="Wingdings" pitchFamily="2" charset="2"/>
              <a:buChar char="v"/>
            </a:pPr>
            <a:r>
              <a:rPr lang="en-US" sz="2200" dirty="0"/>
              <a:t>Impact of incessant strikes by the University Unions ASUU, SANU, </a:t>
            </a:r>
            <a:endParaRPr lang="en-US" sz="2200" dirty="0" smtClean="0"/>
          </a:p>
          <a:p>
            <a:pPr lvl="0"/>
            <a:r>
              <a:rPr lang="en-US" sz="2200" dirty="0" smtClean="0"/>
              <a:t>    NASU </a:t>
            </a:r>
            <a:r>
              <a:rPr lang="en-US" sz="2200" dirty="0"/>
              <a:t>and NAAT and also by the staff of the Affiliate Colleges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/>
              <a:t>Regulations issued by the National Universities Commission at times </a:t>
            </a:r>
            <a:endParaRPr lang="en-US" sz="2200" dirty="0" smtClean="0"/>
          </a:p>
          <a:p>
            <a:pPr lvl="0"/>
            <a:r>
              <a:rPr lang="en-US" sz="2200" dirty="0" smtClean="0"/>
              <a:t>    hinder </a:t>
            </a:r>
            <a:r>
              <a:rPr lang="en-US" sz="2200" dirty="0"/>
              <a:t>the enrolment in the programme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 smtClean="0"/>
              <a:t>Provosts’ </a:t>
            </a:r>
            <a:r>
              <a:rPr lang="en-US" sz="2200" dirty="0"/>
              <a:t>inability to pay their </a:t>
            </a:r>
            <a:r>
              <a:rPr lang="en-US" sz="2200" dirty="0" smtClean="0"/>
              <a:t>lecturers </a:t>
            </a:r>
            <a:r>
              <a:rPr lang="en-US" sz="2200" dirty="0"/>
              <a:t>and failure to process </a:t>
            </a:r>
            <a:endParaRPr lang="en-US" sz="2200" dirty="0" smtClean="0"/>
          </a:p>
          <a:p>
            <a:pPr lvl="0"/>
            <a:r>
              <a:rPr lang="en-US" sz="2200" dirty="0" smtClean="0"/>
              <a:t>    examination </a:t>
            </a:r>
            <a:r>
              <a:rPr lang="en-US" sz="2200" dirty="0"/>
              <a:t>results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/>
              <a:t>Inadequate Office </a:t>
            </a:r>
            <a:r>
              <a:rPr lang="en-US" sz="2200" dirty="0" smtClean="0"/>
              <a:t>Spaces</a:t>
            </a:r>
            <a:endParaRPr lang="en-US" sz="2200" dirty="0"/>
          </a:p>
          <a:p>
            <a:pPr lvl="0">
              <a:buFont typeface="Wingdings" pitchFamily="2" charset="2"/>
              <a:buChar char="v"/>
            </a:pPr>
            <a:r>
              <a:rPr lang="en-US" sz="2200" dirty="0"/>
              <a:t>Dwindling enrolment as a result of social-economic problems in the </a:t>
            </a:r>
            <a:endParaRPr lang="en-US" sz="2200" dirty="0" smtClean="0"/>
          </a:p>
          <a:p>
            <a:pPr lvl="0"/>
            <a:r>
              <a:rPr lang="en-US" sz="2200" dirty="0" smtClean="0"/>
              <a:t>    country</a:t>
            </a:r>
            <a:r>
              <a:rPr lang="en-US" sz="2200" dirty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US" sz="2200" dirty="0"/>
              <a:t>Competition with sister Universities that run similar programmes.</a:t>
            </a:r>
          </a:p>
          <a:p>
            <a:endParaRPr lang="en-US" sz="1100" b="1" dirty="0" smtClean="0"/>
          </a:p>
          <a:p>
            <a:r>
              <a:rPr lang="en-US" sz="2200" b="1" dirty="0" smtClean="0"/>
              <a:t>Possible </a:t>
            </a:r>
            <a:r>
              <a:rPr lang="en-US" sz="2200" b="1" dirty="0"/>
              <a:t>Ways of Overcoming some of the Weaknesses and Threats.</a:t>
            </a:r>
            <a:endParaRPr lang="en-US" sz="2200" dirty="0"/>
          </a:p>
          <a:p>
            <a:pPr lvl="0">
              <a:buFont typeface="Wingdings" pitchFamily="2" charset="2"/>
              <a:buChar char="Ø"/>
            </a:pPr>
            <a:r>
              <a:rPr lang="en-US" sz="2200" dirty="0"/>
              <a:t>Encourage the Provosts to release results promptly.</a:t>
            </a:r>
          </a:p>
          <a:p>
            <a:pPr lvl="0">
              <a:buFont typeface="Wingdings" pitchFamily="2" charset="2"/>
              <a:buChar char="Ø"/>
            </a:pPr>
            <a:r>
              <a:rPr lang="en-US" sz="2200" dirty="0"/>
              <a:t>Intensifying the quality assurance mechanism put in place by the University.</a:t>
            </a:r>
          </a:p>
          <a:p>
            <a:pPr lvl="0">
              <a:buFont typeface="Wingdings" pitchFamily="2" charset="2"/>
              <a:buChar char="Ø"/>
            </a:pPr>
            <a:r>
              <a:rPr lang="en-US" sz="2200" dirty="0"/>
              <a:t>Encourage the Provosts to adhere strictly to the </a:t>
            </a:r>
            <a:r>
              <a:rPr lang="en-US" sz="2200" dirty="0" smtClean="0"/>
              <a:t>MoU </a:t>
            </a:r>
            <a:r>
              <a:rPr lang="en-US" sz="2200" dirty="0"/>
              <a:t>signed by them</a:t>
            </a:r>
          </a:p>
          <a:p>
            <a:pPr lvl="0">
              <a:buFont typeface="Wingdings" pitchFamily="2" charset="2"/>
              <a:buChar char="Ø"/>
            </a:pPr>
            <a:r>
              <a:rPr lang="en-US" sz="2200" dirty="0"/>
              <a:t>Prompt release of fund in terms of the agreed sharing formular to the </a:t>
            </a:r>
            <a:endParaRPr lang="en-US" sz="2200" dirty="0" smtClean="0"/>
          </a:p>
          <a:p>
            <a:pPr lvl="0"/>
            <a:r>
              <a:rPr lang="en-US" sz="2200" dirty="0" smtClean="0"/>
              <a:t>   Directorate</a:t>
            </a:r>
            <a:endParaRPr lang="en-US" sz="2200" dirty="0"/>
          </a:p>
          <a:p>
            <a:pPr lvl="0">
              <a:buFont typeface="Wingdings" pitchFamily="2" charset="2"/>
              <a:buChar char="Ø"/>
            </a:pPr>
            <a:r>
              <a:rPr lang="en-US" sz="2200" dirty="0"/>
              <a:t>Provision of facilities</a:t>
            </a:r>
          </a:p>
          <a:p>
            <a:endParaRPr lang="en-US" sz="22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5344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RECOMMENDATIONS FOR FURTHER WEALTH CREATION</a:t>
            </a:r>
          </a:p>
          <a:p>
            <a:r>
              <a:rPr lang="en-US" sz="2400" dirty="0" smtClean="0"/>
              <a:t>The high rate of unemployment in the society is a pointer to the need for introduction of  dynamic programme such as short time skill acquisition programmes.</a:t>
            </a:r>
          </a:p>
          <a:p>
            <a:r>
              <a:rPr lang="en-US" sz="2400" dirty="0" smtClean="0"/>
              <a:t>The Directorate therefore wishes to collaborate with the Department of  Vocational and Technical Education and Faculty of Engineering to float  certificate programmes. </a:t>
            </a:r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dirty="0"/>
              <a:t>short term skill acquisition </a:t>
            </a:r>
            <a:r>
              <a:rPr lang="en-US" sz="2400" dirty="0" smtClean="0"/>
              <a:t>programmes will enable participants to  </a:t>
            </a:r>
            <a:r>
              <a:rPr lang="en-US" sz="2400" dirty="0"/>
              <a:t>obtain </a:t>
            </a:r>
            <a:r>
              <a:rPr lang="en-US" sz="2400" dirty="0" smtClean="0"/>
              <a:t>certificates  and skills that will make them  </a:t>
            </a:r>
            <a:r>
              <a:rPr lang="en-US" sz="2400" dirty="0"/>
              <a:t>become self employed and employer of labour.</a:t>
            </a:r>
          </a:p>
          <a:p>
            <a:r>
              <a:rPr lang="en-US" sz="2400" b="1" dirty="0"/>
              <a:t> </a:t>
            </a:r>
            <a:r>
              <a:rPr lang="en-US" sz="2400" b="1" dirty="0" smtClean="0"/>
              <a:t>CERTIFICATE </a:t>
            </a:r>
            <a:r>
              <a:rPr lang="en-US" sz="2400" b="1" dirty="0"/>
              <a:t>PROGRAMMES</a:t>
            </a:r>
            <a:endParaRPr lang="en-US" sz="2400" dirty="0"/>
          </a:p>
          <a:p>
            <a:r>
              <a:rPr lang="en-US" sz="2200" dirty="0" smtClean="0"/>
              <a:t>The following programmes are therefore suggested.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dirty="0" smtClean="0"/>
              <a:t>Certificate Programmes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dirty="0" smtClean="0"/>
              <a:t>Duration:  12months intensive training in Theory and Practical, </a:t>
            </a:r>
          </a:p>
          <a:p>
            <a:pPr lvl="1"/>
            <a:r>
              <a:rPr lang="en-US" sz="2200" dirty="0" smtClean="0"/>
              <a:t>6 months industrial attachment in reputable organization/firms. </a:t>
            </a:r>
          </a:p>
          <a:p>
            <a:pPr lvl="1"/>
            <a:r>
              <a:rPr lang="en-US" sz="2200" dirty="0" smtClean="0"/>
              <a:t>Total 18 months.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dirty="0" smtClean="0"/>
              <a:t>Entry Qualifications: Minimum of Junior Secondary School Certificate or Literate adults’: literate artisans and Mature Students.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38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sz="2400" b="1" dirty="0"/>
              <a:t>Programmes</a:t>
            </a:r>
            <a:endParaRPr lang="en-US" sz="2400" dirty="0"/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Catering and Hotel Management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Typing , </a:t>
            </a:r>
            <a:r>
              <a:rPr lang="en-US" sz="2400" dirty="0"/>
              <a:t>Secretariat </a:t>
            </a:r>
            <a:r>
              <a:rPr lang="en-US" sz="2400" dirty="0" smtClean="0"/>
              <a:t> and Computer Studies</a:t>
            </a:r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Painting </a:t>
            </a:r>
            <a:r>
              <a:rPr lang="en-US" sz="2400" dirty="0"/>
              <a:t>and Decoration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Auto Mechanical Works</a:t>
            </a:r>
            <a:endParaRPr lang="en-US" sz="2400" dirty="0"/>
          </a:p>
          <a:p>
            <a:pPr marL="514350" indent="-514350">
              <a:buFont typeface="+mj-lt"/>
              <a:buAutoNum type="romanLcPeriod"/>
            </a:pPr>
            <a:r>
              <a:rPr lang="en-US" sz="2400" dirty="0" smtClean="0"/>
              <a:t>Electrical/Electronics</a:t>
            </a:r>
            <a:endParaRPr lang="en-US" sz="2400" dirty="0"/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Bricklaying /Building 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Woodwork/Carpentry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Poultry and Fishery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Horticulture/ Land Scaping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Metal </a:t>
            </a:r>
            <a:r>
              <a:rPr lang="en-US" sz="2400" dirty="0" smtClean="0"/>
              <a:t>Work and </a:t>
            </a:r>
            <a:r>
              <a:rPr lang="en-US" sz="2400" dirty="0"/>
              <a:t>Panel </a:t>
            </a:r>
            <a:r>
              <a:rPr lang="en-US" sz="2400" dirty="0" smtClean="0"/>
              <a:t>Beating </a:t>
            </a:r>
            <a:endParaRPr lang="en-US" sz="2400" dirty="0"/>
          </a:p>
          <a:p>
            <a:pPr marL="514350" lvl="0" indent="-514350">
              <a:buFont typeface="+mj-lt"/>
              <a:buAutoNum type="romanLcPeriod"/>
            </a:pPr>
            <a:r>
              <a:rPr lang="en-US" sz="2400" dirty="0"/>
              <a:t>Wheel </a:t>
            </a:r>
            <a:r>
              <a:rPr lang="en-US" sz="2400" dirty="0" smtClean="0"/>
              <a:t>Alignment, Balancing and </a:t>
            </a:r>
            <a:r>
              <a:rPr lang="en-US" sz="2400" dirty="0"/>
              <a:t>Lubrication</a:t>
            </a:r>
          </a:p>
          <a:p>
            <a:pPr marL="514350" indent="-514350">
              <a:buFont typeface="+mj-lt"/>
              <a:buAutoNum type="romanLcPeriod"/>
            </a:pPr>
            <a:endParaRPr lang="en-US" sz="2400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8600"/>
            <a:ext cx="8229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B.  Coaching </a:t>
            </a:r>
            <a:r>
              <a:rPr lang="en-US" sz="2400" b="1" dirty="0"/>
              <a:t>Classes </a:t>
            </a:r>
            <a:r>
              <a:rPr lang="en-US" sz="2400" b="1" dirty="0" smtClean="0"/>
              <a:t>for:</a:t>
            </a:r>
            <a:endParaRPr lang="en-US" sz="2400" dirty="0"/>
          </a:p>
          <a:p>
            <a:pPr lvl="0"/>
            <a:r>
              <a:rPr lang="en-US" sz="2400" dirty="0" smtClean="0"/>
              <a:t>     </a:t>
            </a:r>
            <a:r>
              <a:rPr lang="en-US" sz="2400" dirty="0" err="1" smtClean="0"/>
              <a:t>i</a:t>
            </a:r>
            <a:r>
              <a:rPr lang="en-US" sz="2400" dirty="0" smtClean="0"/>
              <a:t>. JAMB </a:t>
            </a:r>
            <a:r>
              <a:rPr lang="en-US" sz="2400" dirty="0"/>
              <a:t>preparatory Classes</a:t>
            </a:r>
          </a:p>
          <a:p>
            <a:r>
              <a:rPr lang="en-US" sz="2400" dirty="0" smtClean="0"/>
              <a:t>     ii</a:t>
            </a:r>
            <a:r>
              <a:rPr lang="en-US" sz="2400" dirty="0"/>
              <a:t>. NECO and WAEC NOV/DEC.</a:t>
            </a:r>
          </a:p>
          <a:p>
            <a:r>
              <a:rPr lang="en-US" sz="2400" dirty="0" smtClean="0"/>
              <a:t>    </a:t>
            </a:r>
            <a:endParaRPr lang="en-US" sz="2400" dirty="0"/>
          </a:p>
          <a:p>
            <a:endParaRPr lang="en-US" sz="2400" b="1" dirty="0" smtClean="0"/>
          </a:p>
          <a:p>
            <a:r>
              <a:rPr lang="en-US" sz="2400" b="1" dirty="0" smtClean="0"/>
              <a:t>C</a:t>
            </a:r>
            <a:r>
              <a:rPr lang="en-US" sz="2400" b="1" dirty="0"/>
              <a:t>.	Consulting Services</a:t>
            </a:r>
            <a:endParaRPr lang="en-US" sz="2400" dirty="0"/>
          </a:p>
          <a:p>
            <a:endParaRPr lang="en-US" sz="2400" b="1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Directorate can reach out to ministries and other relevant agencies for consultancy services.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smtClean="0"/>
              <a:t>Financial Benefits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Programme is expected to  contribute immensely to the Internally Generated Revenue of the University as the University  stands to share the following percentages from the money generated.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dirty="0" smtClean="0"/>
              <a:t>School fees (Tuition) 		60%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dirty="0" smtClean="0"/>
              <a:t>Administrative Charges 	90%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dirty="0" smtClean="0"/>
              <a:t>Examination Fees 		20%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dirty="0" smtClean="0"/>
              <a:t>Development levy		30%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dirty="0" smtClean="0"/>
              <a:t>Registration fees		20%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dirty="0" smtClean="0"/>
              <a:t>Industrial Partner 40% from tuition. </a:t>
            </a:r>
          </a:p>
          <a:p>
            <a:pPr marL="514350" lvl="0" indent="-514350">
              <a:buFont typeface="+mj-lt"/>
              <a:buAutoNum type="romanLcPeriod"/>
            </a:pPr>
            <a:endParaRPr lang="en-US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219200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b="1" dirty="0" smtClean="0"/>
          </a:p>
          <a:p>
            <a:pPr algn="ctr"/>
            <a:r>
              <a:rPr lang="en-US" sz="3600" b="1" dirty="0" smtClean="0"/>
              <a:t>THANKS FOR LISTENING</a:t>
            </a:r>
            <a:endParaRPr lang="en-US" sz="3600" b="1" dirty="0"/>
          </a:p>
        </p:txBody>
      </p:sp>
    </p:spTree>
  </p:cSld>
  <p:clrMapOvr>
    <a:masterClrMapping/>
  </p:clrMapOvr>
  <p:transition spd="med">
    <p:dissolve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776</Words>
  <Application>Microsoft Office PowerPoint</Application>
  <PresentationFormat>On-screen Show (4:3)</PresentationFormat>
  <Paragraphs>210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Financial Benefits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DCEP</dc:creator>
  <cp:lastModifiedBy>EB</cp:lastModifiedBy>
  <cp:revision>82</cp:revision>
  <dcterms:created xsi:type="dcterms:W3CDTF">2002-01-01T13:11:06Z</dcterms:created>
  <dcterms:modified xsi:type="dcterms:W3CDTF">2016-01-27T15:51:01Z</dcterms:modified>
</cp:coreProperties>
</file>