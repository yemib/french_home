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8" r:id="rId3"/>
    <p:sldId id="259" r:id="rId4"/>
    <p:sldId id="260" r:id="rId5"/>
    <p:sldId id="261" r:id="rId6"/>
    <p:sldId id="291" r:id="rId7"/>
    <p:sldId id="262" r:id="rId8"/>
    <p:sldId id="263" r:id="rId9"/>
    <p:sldId id="299" r:id="rId10"/>
    <p:sldId id="264" r:id="rId11"/>
    <p:sldId id="265" r:id="rId12"/>
    <p:sldId id="266" r:id="rId13"/>
    <p:sldId id="267" r:id="rId14"/>
    <p:sldId id="300" r:id="rId15"/>
    <p:sldId id="268" r:id="rId16"/>
    <p:sldId id="269" r:id="rId17"/>
    <p:sldId id="270" r:id="rId18"/>
    <p:sldId id="271" r:id="rId19"/>
    <p:sldId id="272" r:id="rId20"/>
    <p:sldId id="274" r:id="rId21"/>
    <p:sldId id="273" r:id="rId22"/>
    <p:sldId id="292" r:id="rId23"/>
    <p:sldId id="275" r:id="rId24"/>
    <p:sldId id="293" r:id="rId25"/>
    <p:sldId id="276" r:id="rId26"/>
    <p:sldId id="297" r:id="rId27"/>
    <p:sldId id="277" r:id="rId28"/>
    <p:sldId id="296" r:id="rId29"/>
    <p:sldId id="278" r:id="rId30"/>
    <p:sldId id="279" r:id="rId31"/>
    <p:sldId id="294" r:id="rId32"/>
    <p:sldId id="280" r:id="rId33"/>
    <p:sldId id="281" r:id="rId34"/>
    <p:sldId id="282" r:id="rId35"/>
    <p:sldId id="283" r:id="rId36"/>
    <p:sldId id="284" r:id="rId37"/>
    <p:sldId id="295" r:id="rId38"/>
    <p:sldId id="285" r:id="rId39"/>
    <p:sldId id="286" r:id="rId40"/>
    <p:sldId id="287" r:id="rId41"/>
    <p:sldId id="288" r:id="rId42"/>
    <p:sldId id="298" r:id="rId43"/>
    <p:sldId id="289" r:id="rId44"/>
    <p:sldId id="290"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72" autoAdjust="0"/>
    <p:restoredTop sz="94565" autoAdjust="0"/>
  </p:normalViewPr>
  <p:slideViewPr>
    <p:cSldViewPr>
      <p:cViewPr varScale="1">
        <p:scale>
          <a:sx n="69" d="100"/>
          <a:sy n="69" d="100"/>
        </p:scale>
        <p:origin x="-141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1/27/2016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1/27/2016</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1/27/2016</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1/27/2016</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1/27/2016</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1/27/2016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8763000" cy="1828800"/>
          </a:xfrm>
          <a:solidFill>
            <a:schemeClr val="accent1">
              <a:lumMod val="40000"/>
              <a:lumOff val="60000"/>
            </a:schemeClr>
          </a:solidFill>
        </p:spPr>
        <p:txBody>
          <a:bodyPr>
            <a:noAutofit/>
          </a:bodyPr>
          <a:lstStyle/>
          <a:p>
            <a:pPr algn="ctr">
              <a:lnSpc>
                <a:spcPct val="150000"/>
              </a:lnSpc>
            </a:pP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SWOT ANALYSIS OF    </a:t>
            </a:r>
            <a:br>
              <a:rPr lang="en-US" sz="3600" b="1" dirty="0" smtClean="0">
                <a:solidFill>
                  <a:schemeClr val="tx1"/>
                </a:solidFill>
              </a:rPr>
            </a:br>
            <a:r>
              <a:rPr lang="en-US" sz="3600" b="1" dirty="0" smtClean="0">
                <a:solidFill>
                  <a:schemeClr val="tx1"/>
                </a:solidFill>
              </a:rPr>
              <a:t>          BURSARY DEPARTMENT</a:t>
            </a:r>
            <a:endParaRPr lang="en-US" sz="3600" b="1" dirty="0">
              <a:solidFill>
                <a:schemeClr val="tx1"/>
              </a:solidFill>
            </a:endParaRPr>
          </a:p>
        </p:txBody>
      </p:sp>
      <p:sp>
        <p:nvSpPr>
          <p:cNvPr id="3" name="Content Placeholder 2"/>
          <p:cNvSpPr>
            <a:spLocks noGrp="1"/>
          </p:cNvSpPr>
          <p:nvPr>
            <p:ph sz="quarter" idx="1"/>
          </p:nvPr>
        </p:nvSpPr>
        <p:spPr>
          <a:xfrm>
            <a:off x="457200" y="1984248"/>
            <a:ext cx="7467600" cy="4873752"/>
          </a:xfrm>
        </p:spPr>
        <p:txBody>
          <a:bodyPr>
            <a:normAutofit fontScale="92500" lnSpcReduction="20000"/>
          </a:bodyPr>
          <a:lstStyle/>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EKITI STATE UNIVERSITY ADO-EKITI</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PRESENTED AT</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THE IGR SUMMIT</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BY</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MR. A. TAIWO</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UNIVERSITY BURSAR </a:t>
            </a:r>
          </a:p>
          <a:p>
            <a:pPr>
              <a:buNone/>
            </a:pPr>
            <a:endParaRPr lang="en-US" dirty="0"/>
          </a:p>
        </p:txBody>
      </p:sp>
      <p:pic>
        <p:nvPicPr>
          <p:cNvPr id="1026" name="Picture 2" descr="C:\Users\AMIRA\Desktop\af.jpg"/>
          <p:cNvPicPr>
            <a:picLocks noChangeAspect="1" noChangeArrowheads="1"/>
          </p:cNvPicPr>
          <p:nvPr/>
        </p:nvPicPr>
        <p:blipFill>
          <a:blip r:embed="rId2"/>
          <a:srcRect/>
          <a:stretch>
            <a:fillRect/>
          </a:stretch>
        </p:blipFill>
        <p:spPr bwMode="auto">
          <a:xfrm>
            <a:off x="304800" y="381000"/>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76400"/>
          </a:xfrm>
          <a:solidFill>
            <a:schemeClr val="bg1"/>
          </a:solidFill>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381000" y="1905000"/>
            <a:ext cx="8229600" cy="4953000"/>
          </a:xfrm>
        </p:spPr>
        <p:txBody>
          <a:bodyPr>
            <a:normAutofit/>
          </a:bodyPr>
          <a:lstStyle/>
          <a:p>
            <a:pPr>
              <a:buNone/>
            </a:pPr>
            <a:endParaRPr lang="en-US" b="1" dirty="0" smtClean="0"/>
          </a:p>
          <a:p>
            <a:pPr>
              <a:buNone/>
            </a:pPr>
            <a:r>
              <a:rPr lang="en-US" b="1" dirty="0" smtClean="0">
                <a:solidFill>
                  <a:srgbClr val="7030A0"/>
                </a:solidFill>
              </a:rPr>
              <a:t>Introduction</a:t>
            </a:r>
            <a:endParaRPr lang="en-US" dirty="0" smtClean="0">
              <a:solidFill>
                <a:srgbClr val="7030A0"/>
              </a:solidFill>
            </a:endParaRPr>
          </a:p>
          <a:p>
            <a:pPr algn="just"/>
            <a:r>
              <a:rPr lang="en-US" sz="2100" dirty="0" smtClean="0">
                <a:latin typeface="Times New Roman" pitchFamily="18" charset="0"/>
                <a:cs typeface="Times New Roman" pitchFamily="18" charset="0"/>
              </a:rPr>
              <a:t>This paper analyses the </a:t>
            </a:r>
            <a:r>
              <a:rPr lang="en-US" sz="2100" b="1" dirty="0" smtClean="0">
                <a:solidFill>
                  <a:schemeClr val="accent4"/>
                </a:solidFill>
                <a:latin typeface="Times New Roman" pitchFamily="18" charset="0"/>
                <a:cs typeface="Times New Roman" pitchFamily="18" charset="0"/>
              </a:rPr>
              <a:t>strategic position</a:t>
            </a:r>
            <a:r>
              <a:rPr lang="en-US" sz="2100" dirty="0" smtClean="0">
                <a:latin typeface="Times New Roman" pitchFamily="18" charset="0"/>
                <a:cs typeface="Times New Roman" pitchFamily="18" charset="0"/>
              </a:rPr>
              <a:t> of the Bursary department using </a:t>
            </a:r>
            <a:r>
              <a:rPr lang="en-US" sz="2100" b="1" dirty="0" smtClean="0">
                <a:solidFill>
                  <a:schemeClr val="accent4"/>
                </a:solidFill>
                <a:latin typeface="Times New Roman" pitchFamily="18" charset="0"/>
                <a:cs typeface="Times New Roman" pitchFamily="18" charset="0"/>
              </a:rPr>
              <a:t>SWOT analysis</a:t>
            </a:r>
            <a:r>
              <a:rPr lang="en-US" sz="2100" dirty="0" smtClean="0">
                <a:latin typeface="Times New Roman" pitchFamily="18" charset="0"/>
                <a:cs typeface="Times New Roman" pitchFamily="18" charset="0"/>
              </a:rPr>
              <a:t> as a strategic model.  It also dealt with the succinct analysis of the micro and macro environment within which the Bursary department operates with the aid of </a:t>
            </a:r>
            <a:r>
              <a:rPr lang="en-US" sz="2100" b="1" dirty="0" smtClean="0">
                <a:solidFill>
                  <a:schemeClr val="accent4"/>
                </a:solidFill>
                <a:latin typeface="Times New Roman" pitchFamily="18" charset="0"/>
                <a:cs typeface="Times New Roman" pitchFamily="18" charset="0"/>
              </a:rPr>
              <a:t>PESTEL</a:t>
            </a:r>
            <a:r>
              <a:rPr lang="en-US" sz="2100" dirty="0" smtClean="0">
                <a:latin typeface="Times New Roman" pitchFamily="18" charset="0"/>
                <a:cs typeface="Times New Roman" pitchFamily="18" charset="0"/>
              </a:rPr>
              <a:t> as a toll for environmental scanning and evaluation.</a:t>
            </a:r>
          </a:p>
          <a:p>
            <a:pPr algn="just">
              <a:buNone/>
            </a:pPr>
            <a:endParaRPr lang="en-US" sz="2100" dirty="0" smtClean="0">
              <a:latin typeface="Times New Roman" pitchFamily="18" charset="0"/>
              <a:cs typeface="Times New Roman" pitchFamily="18" charset="0"/>
            </a:endParaRPr>
          </a:p>
          <a:p>
            <a:pPr algn="just"/>
            <a:r>
              <a:rPr lang="en-US" sz="2100" b="1" dirty="0" smtClean="0">
                <a:latin typeface="Times New Roman" pitchFamily="18" charset="0"/>
                <a:cs typeface="Times New Roman" pitchFamily="18" charset="0"/>
              </a:rPr>
              <a:t>The paper also reviews the existing sources of revenue for the University and offers suggestions on how the current yields from those sources could be improved.</a:t>
            </a:r>
          </a:p>
          <a:p>
            <a:pPr algn="just"/>
            <a:endParaRPr lang="en-US" dirty="0">
              <a:latin typeface="Times New Roman" pitchFamily="18" charset="0"/>
              <a:cs typeface="Times New Roman" pitchFamily="18" charset="0"/>
            </a:endParaRPr>
          </a:p>
        </p:txBody>
      </p:sp>
      <p:pic>
        <p:nvPicPr>
          <p:cNvPr id="2050" name="Picture 2" descr="C:\Users\AMIRA\Desktop\af.jpg"/>
          <p:cNvPicPr>
            <a:picLocks noChangeAspect="1" noChangeArrowheads="1"/>
          </p:cNvPicPr>
          <p:nvPr/>
        </p:nvPicPr>
        <p:blipFill>
          <a:blip r:embed="rId2"/>
          <a:srcRect/>
          <a:stretch>
            <a:fillRect/>
          </a:stretch>
        </p:blipFill>
        <p:spPr bwMode="auto">
          <a:xfrm>
            <a:off x="0" y="0"/>
            <a:ext cx="1400175" cy="1990725"/>
          </a:xfrm>
          <a:prstGeom prst="rect">
            <a:avLst/>
          </a:prstGeom>
          <a:noFill/>
        </p:spPr>
      </p:pic>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a:solidFill>
            <a:schemeClr val="bg1"/>
          </a:solidFill>
          <a:ln>
            <a:solidFill>
              <a:schemeClr val="bg1"/>
            </a:solidFill>
          </a:ln>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p:txBody>
          <a:bodyPr>
            <a:normAutofit/>
          </a:bodyPr>
          <a:lstStyle/>
          <a:p>
            <a:pPr>
              <a:buNone/>
            </a:pPr>
            <a:r>
              <a:rPr lang="en-US" b="1" dirty="0" smtClean="0"/>
              <a:t>	</a:t>
            </a:r>
          </a:p>
          <a:p>
            <a:pPr>
              <a:buNone/>
            </a:pPr>
            <a:endParaRPr lang="en-US" b="1" dirty="0" smtClean="0"/>
          </a:p>
          <a:p>
            <a:pPr>
              <a:buNone/>
            </a:pPr>
            <a:r>
              <a:rPr lang="en-US" b="1" dirty="0" smtClean="0">
                <a:solidFill>
                  <a:schemeClr val="accent5">
                    <a:lumMod val="40000"/>
                    <a:lumOff val="60000"/>
                  </a:schemeClr>
                </a:solidFill>
              </a:rPr>
              <a:t>SWOT analysis</a:t>
            </a:r>
            <a:endParaRPr lang="en-US" dirty="0" smtClean="0">
              <a:solidFill>
                <a:schemeClr val="accent5">
                  <a:lumMod val="40000"/>
                  <a:lumOff val="60000"/>
                </a:schemeClr>
              </a:solidFill>
            </a:endParaRPr>
          </a:p>
          <a:p>
            <a:pPr algn="just">
              <a:buNone/>
            </a:pPr>
            <a:r>
              <a:rPr lang="en-US" dirty="0" smtClean="0"/>
              <a:t>	</a:t>
            </a:r>
            <a:r>
              <a:rPr lang="en-US" sz="2100" dirty="0" smtClean="0">
                <a:latin typeface="Times New Roman" pitchFamily="18" charset="0"/>
                <a:cs typeface="Times New Roman" pitchFamily="18" charset="0"/>
              </a:rPr>
              <a:t>SWOT analysis is a technique or strategic model for identifying the key factors that might affect different levels of strategy of an establishment.  It is a strategic model that enables Management to </a:t>
            </a:r>
            <a:r>
              <a:rPr lang="en-US" sz="2100" dirty="0" err="1" smtClean="0">
                <a:latin typeface="Times New Roman" pitchFamily="18" charset="0"/>
                <a:cs typeface="Times New Roman" pitchFamily="18" charset="0"/>
              </a:rPr>
              <a:t>analyse</a:t>
            </a:r>
            <a:r>
              <a:rPr lang="en-US" sz="2100" dirty="0" smtClean="0">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Strengths</a:t>
            </a:r>
            <a:r>
              <a:rPr lang="en-US" sz="2100" dirty="0" smtClean="0">
                <a:solidFill>
                  <a:schemeClr val="bg2">
                    <a:lumMod val="50000"/>
                  </a:schemeClr>
                </a:solidFill>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Weaknesses</a:t>
            </a:r>
            <a:r>
              <a:rPr lang="en-US" sz="2100" dirty="0" smtClean="0">
                <a:solidFill>
                  <a:schemeClr val="bg2">
                    <a:lumMod val="50000"/>
                  </a:schemeClr>
                </a:solidFill>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Opportunities</a:t>
            </a:r>
            <a:r>
              <a:rPr lang="en-US" sz="2100" dirty="0" smtClean="0">
                <a:solidFill>
                  <a:schemeClr val="bg2">
                    <a:lumMod val="50000"/>
                  </a:schemeClr>
                </a:solidFill>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and</a:t>
            </a:r>
            <a:r>
              <a:rPr lang="en-US" sz="2100" dirty="0" smtClean="0">
                <a:solidFill>
                  <a:schemeClr val="bg2">
                    <a:lumMod val="50000"/>
                  </a:schemeClr>
                </a:solidFill>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Threats</a:t>
            </a:r>
            <a:r>
              <a:rPr lang="en-US" sz="2100" dirty="0" smtClean="0">
                <a:solidFill>
                  <a:schemeClr val="bg2">
                    <a:lumMod val="50000"/>
                  </a:schemeClr>
                </a:solidFill>
                <a:latin typeface="Times New Roman" pitchFamily="18" charset="0"/>
                <a:cs typeface="Times New Roman" pitchFamily="18" charset="0"/>
              </a:rPr>
              <a:t> </a:t>
            </a:r>
            <a:r>
              <a:rPr lang="en-US" sz="2100" b="1" dirty="0" err="1" smtClean="0">
                <a:solidFill>
                  <a:schemeClr val="bg2">
                    <a:lumMod val="50000"/>
                  </a:schemeClr>
                </a:solidFill>
                <a:latin typeface="Times New Roman" pitchFamily="18" charset="0"/>
                <a:cs typeface="Times New Roman" pitchFamily="18" charset="0"/>
              </a:rPr>
              <a:t>viz</a:t>
            </a:r>
            <a:r>
              <a:rPr lang="en-US" sz="2100" b="1" dirty="0" smtClean="0">
                <a:solidFill>
                  <a:schemeClr val="bg2">
                    <a:lumMod val="50000"/>
                  </a:schemeClr>
                </a:solidFill>
                <a:latin typeface="Times New Roman" pitchFamily="18" charset="0"/>
                <a:cs typeface="Times New Roman" pitchFamily="18" charset="0"/>
              </a:rPr>
              <a:t>-a-</a:t>
            </a:r>
            <a:r>
              <a:rPr lang="en-US" sz="2100" b="1" dirty="0" err="1" smtClean="0">
                <a:solidFill>
                  <a:schemeClr val="bg2">
                    <a:lumMod val="50000"/>
                  </a:schemeClr>
                </a:solidFill>
                <a:latin typeface="Times New Roman" pitchFamily="18" charset="0"/>
                <a:cs typeface="Times New Roman" pitchFamily="18" charset="0"/>
              </a:rPr>
              <a:t>viz</a:t>
            </a:r>
            <a:r>
              <a:rPr lang="en-US" sz="2100" dirty="0" smtClean="0">
                <a:solidFill>
                  <a:schemeClr val="bg2">
                    <a:lumMod val="50000"/>
                  </a:schemeClr>
                </a:solidFill>
                <a:latin typeface="Times New Roman" pitchFamily="18" charset="0"/>
                <a:cs typeface="Times New Roman" pitchFamily="18" charset="0"/>
              </a:rPr>
              <a:t> the </a:t>
            </a:r>
            <a:r>
              <a:rPr lang="en-US" sz="2100" b="1" dirty="0" smtClean="0">
                <a:solidFill>
                  <a:schemeClr val="bg2">
                    <a:lumMod val="50000"/>
                  </a:schemeClr>
                </a:solidFill>
                <a:latin typeface="Times New Roman" pitchFamily="18" charset="0"/>
                <a:cs typeface="Times New Roman" pitchFamily="18" charset="0"/>
              </a:rPr>
              <a:t>environment</a:t>
            </a:r>
            <a:r>
              <a:rPr lang="en-US" sz="2100" dirty="0" smtClean="0">
                <a:solidFill>
                  <a:schemeClr val="bg2">
                    <a:lumMod val="50000"/>
                  </a:schemeClr>
                </a:solidFill>
                <a:latin typeface="Times New Roman" pitchFamily="18" charset="0"/>
                <a:cs typeface="Times New Roman" pitchFamily="18" charset="0"/>
              </a:rPr>
              <a:t> </a:t>
            </a:r>
            <a:r>
              <a:rPr lang="en-US" sz="2100" b="1" dirty="0" smtClean="0">
                <a:solidFill>
                  <a:schemeClr val="bg2">
                    <a:lumMod val="50000"/>
                  </a:schemeClr>
                </a:solidFill>
                <a:latin typeface="Times New Roman" pitchFamily="18" charset="0"/>
                <a:cs typeface="Times New Roman" pitchFamily="18" charset="0"/>
              </a:rPr>
              <a:t>within which the entity operates</a:t>
            </a:r>
            <a:r>
              <a:rPr lang="en-US" sz="2100" b="1" dirty="0" smtClean="0">
                <a:latin typeface="Times New Roman" pitchFamily="18" charset="0"/>
                <a:cs typeface="Times New Roman" pitchFamily="18" charset="0"/>
              </a:rPr>
              <a:t>.</a:t>
            </a:r>
          </a:p>
          <a:p>
            <a:endParaRPr lang="en-US" dirty="0"/>
          </a:p>
        </p:txBody>
      </p:sp>
      <p:pic>
        <p:nvPicPr>
          <p:cNvPr id="3074" name="Picture 2" descr="C:\Users\AMIRA\Desktop\af.jpg"/>
          <p:cNvPicPr>
            <a:picLocks noChangeAspect="1" noChangeArrowheads="1"/>
          </p:cNvPicPr>
          <p:nvPr/>
        </p:nvPicPr>
        <p:blipFill>
          <a:blip r:embed="rId2"/>
          <a:srcRect/>
          <a:stretch>
            <a:fillRect/>
          </a:stretch>
        </p:blipFill>
        <p:spPr bwMode="auto">
          <a:xfrm>
            <a:off x="152400" y="152401"/>
            <a:ext cx="1400175" cy="1828800"/>
          </a:xfrm>
          <a:prstGeom prst="rect">
            <a:avLst/>
          </a:prstGeom>
          <a:noFill/>
        </p:spPr>
      </p:pic>
    </p:spTree>
  </p:cSld>
  <p:clrMapOvr>
    <a:masterClrMapping/>
  </p:clrMapOvr>
  <p:transition>
    <p:wipe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81200"/>
            <a:ext cx="8229600" cy="4343400"/>
          </a:xfrm>
        </p:spPr>
        <p:txBody>
          <a:bodyPr>
            <a:normAutofit/>
          </a:bodyPr>
          <a:lstStyle/>
          <a:p>
            <a:pPr>
              <a:buNone/>
            </a:pPr>
            <a:r>
              <a:rPr lang="en-US" b="1" dirty="0" smtClean="0"/>
              <a:t>	</a:t>
            </a:r>
          </a:p>
          <a:p>
            <a:pPr>
              <a:buNone/>
            </a:pPr>
            <a:r>
              <a:rPr lang="en-US" b="1" dirty="0" smtClean="0"/>
              <a:t>	</a:t>
            </a:r>
            <a:r>
              <a:rPr lang="en-US" b="1" dirty="0" smtClean="0">
                <a:solidFill>
                  <a:schemeClr val="accent5">
                    <a:lumMod val="40000"/>
                    <a:lumOff val="60000"/>
                  </a:schemeClr>
                </a:solidFill>
              </a:rPr>
              <a:t>Analysis of the Strengths and Weaknesses of the Bursary Department</a:t>
            </a:r>
          </a:p>
          <a:p>
            <a:pPr>
              <a:buNone/>
            </a:pPr>
            <a:endParaRPr lang="en-US" dirty="0" smtClean="0"/>
          </a:p>
          <a:p>
            <a:pPr algn="just">
              <a:buNone/>
            </a:pPr>
            <a:r>
              <a:rPr lang="en-US" b="1" dirty="0" smtClean="0"/>
              <a:t>	</a:t>
            </a:r>
            <a:r>
              <a:rPr lang="en-US" sz="2300" b="1" dirty="0" smtClean="0">
                <a:solidFill>
                  <a:schemeClr val="accent1">
                    <a:lumMod val="75000"/>
                  </a:schemeClr>
                </a:solidFill>
                <a:latin typeface="Times New Roman" pitchFamily="18" charset="0"/>
                <a:cs typeface="Times New Roman" pitchFamily="18" charset="0"/>
              </a:rPr>
              <a:t>Strengths</a:t>
            </a:r>
            <a:r>
              <a:rPr lang="en-US" sz="2300" dirty="0" smtClean="0">
                <a:latin typeface="Times New Roman" pitchFamily="18" charset="0"/>
                <a:cs typeface="Times New Roman" pitchFamily="18" charset="0"/>
              </a:rPr>
              <a:t> are resources and competencies that the Bursary department possesses and the capabilities it has developed over the years.  Those strengths in resources, competencies and capabilities can be exploited and developed to create sustainable competitive advantage for the overall benefit of the University particularly toward boosting the IGR drive.</a:t>
            </a:r>
          </a:p>
          <a:p>
            <a:endParaRPr lang="en-US" dirty="0"/>
          </a:p>
        </p:txBody>
      </p:sp>
      <p:pic>
        <p:nvPicPr>
          <p:cNvPr id="4099" name="Picture 3" descr="C:\Users\AMIRA\Desktop\af.jpg"/>
          <p:cNvPicPr>
            <a:picLocks noChangeAspect="1" noChangeArrowheads="1"/>
          </p:cNvPicPr>
          <p:nvPr/>
        </p:nvPicPr>
        <p:blipFill>
          <a:blip r:embed="rId2"/>
          <a:srcRect/>
          <a:stretch>
            <a:fillRect/>
          </a:stretch>
        </p:blipFill>
        <p:spPr bwMode="auto">
          <a:xfrm>
            <a:off x="228600" y="228601"/>
            <a:ext cx="1400175" cy="1828800"/>
          </a:xfrm>
          <a:prstGeom prst="rect">
            <a:avLst/>
          </a:prstGeom>
          <a:noFill/>
        </p:spPr>
      </p:pic>
    </p:spTree>
  </p:cSld>
  <p:clrMapOvr>
    <a:masterClrMapping/>
  </p:clrMapOvr>
  <p:transition>
    <p:fade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495800"/>
          </a:xfrm>
        </p:spPr>
        <p:txBody>
          <a:bodyPr>
            <a:normAutofit fontScale="25000" lnSpcReduction="20000"/>
          </a:bodyPr>
          <a:lstStyle/>
          <a:p>
            <a:pPr algn="just">
              <a:buNone/>
            </a:pPr>
            <a:r>
              <a:rPr lang="en-US" sz="3400" b="1" dirty="0" smtClean="0">
                <a:latin typeface="Times New Roman" pitchFamily="18" charset="0"/>
                <a:cs typeface="Times New Roman" pitchFamily="18" charset="0"/>
              </a:rPr>
              <a:t>	</a:t>
            </a:r>
            <a:r>
              <a:rPr lang="en-US" sz="7200" b="1" dirty="0" smtClean="0">
                <a:solidFill>
                  <a:schemeClr val="accent5">
                    <a:lumMod val="60000"/>
                    <a:lumOff val="40000"/>
                  </a:schemeClr>
                </a:solidFill>
                <a:latin typeface="Times New Roman" pitchFamily="18" charset="0"/>
                <a:cs typeface="Times New Roman" pitchFamily="18" charset="0"/>
              </a:rPr>
              <a:t>Weaknesses</a:t>
            </a:r>
            <a:r>
              <a:rPr lang="en-US" sz="7200" dirty="0" smtClean="0">
                <a:latin typeface="Times New Roman" pitchFamily="18" charset="0"/>
                <a:cs typeface="Times New Roman" pitchFamily="18" charset="0"/>
              </a:rPr>
              <a:t> are the resources, competences and capabilities that are deficient or lacking.  These weaknesses are capable of preventing the Bursary department, nay the entire University community, from developing or sustaining competitive advantage.</a:t>
            </a:r>
          </a:p>
          <a:p>
            <a:pPr algn="just">
              <a:buNone/>
            </a:pPr>
            <a:endParaRPr lang="en-US" sz="7200" dirty="0" smtClean="0">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We identify the strengths and weaknesses of the Bursary department under the following sub-headings</a:t>
            </a:r>
          </a:p>
          <a:p>
            <a:pPr lvl="0" algn="just">
              <a:buNone/>
            </a:pPr>
            <a:r>
              <a:rPr lang="en-US" sz="7200" b="1" dirty="0" smtClean="0">
                <a:latin typeface="Times New Roman" pitchFamily="18" charset="0"/>
                <a:cs typeface="Times New Roman" pitchFamily="18" charset="0"/>
              </a:rPr>
              <a:t>	</a:t>
            </a:r>
          </a:p>
          <a:p>
            <a:pPr lvl="0" algn="just">
              <a:buNone/>
            </a:pPr>
            <a:r>
              <a:rPr lang="en-US" sz="7200" b="1" dirty="0" smtClean="0">
                <a:latin typeface="Times New Roman" pitchFamily="18" charset="0"/>
                <a:cs typeface="Times New Roman" pitchFamily="18" charset="0"/>
              </a:rPr>
              <a:t>	</a:t>
            </a:r>
            <a:r>
              <a:rPr lang="en-US" sz="7200" b="1" dirty="0" smtClean="0">
                <a:solidFill>
                  <a:srgbClr val="0070C0"/>
                </a:solidFill>
                <a:latin typeface="Times New Roman" pitchFamily="18" charset="0"/>
                <a:cs typeface="Times New Roman" pitchFamily="18" charset="0"/>
              </a:rPr>
              <a:t>Resources, Competencies and Capabilities</a:t>
            </a:r>
          </a:p>
          <a:p>
            <a:pPr lvl="0" algn="just">
              <a:buNone/>
            </a:pPr>
            <a:endParaRPr lang="en-US" sz="7200" b="1" dirty="0" smtClean="0">
              <a:latin typeface="Times New Roman" pitchFamily="18" charset="0"/>
              <a:cs typeface="Times New Roman" pitchFamily="18" charset="0"/>
            </a:endParaRPr>
          </a:p>
          <a:p>
            <a:pPr lvl="0" algn="just">
              <a:buNone/>
            </a:pPr>
            <a:r>
              <a:rPr lang="en-US" sz="7200" b="1" dirty="0" smtClean="0">
                <a:latin typeface="Times New Roman" pitchFamily="18" charset="0"/>
                <a:cs typeface="Times New Roman" pitchFamily="18" charset="0"/>
              </a:rPr>
              <a:t>	</a:t>
            </a:r>
            <a:r>
              <a:rPr lang="en-US" sz="7200" b="1" dirty="0" smtClean="0">
                <a:solidFill>
                  <a:srgbClr val="0070C0"/>
                </a:solidFill>
                <a:latin typeface="Times New Roman" pitchFamily="18" charset="0"/>
                <a:cs typeface="Times New Roman" pitchFamily="18" charset="0"/>
              </a:rPr>
              <a:t>Size and Composition of the workforce:</a:t>
            </a:r>
          </a:p>
          <a:p>
            <a:pPr lvl="0" algn="just">
              <a:buNone/>
            </a:pPr>
            <a:r>
              <a:rPr lang="en-US" sz="7200" b="1" dirty="0" smtClean="0">
                <a:latin typeface="Times New Roman" pitchFamily="18" charset="0"/>
                <a:cs typeface="Times New Roman" pitchFamily="18" charset="0"/>
              </a:rPr>
              <a:t> </a:t>
            </a:r>
            <a:endParaRPr lang="en-US" sz="7200" dirty="0" smtClean="0">
              <a:latin typeface="Times New Roman" pitchFamily="18" charset="0"/>
              <a:cs typeface="Times New Roman" pitchFamily="18" charset="0"/>
            </a:endParaRPr>
          </a:p>
          <a:p>
            <a:pPr lvl="1" algn="just"/>
            <a:r>
              <a:rPr lang="en-US" sz="9600" dirty="0" smtClean="0">
                <a:latin typeface="Times New Roman" pitchFamily="18" charset="0"/>
                <a:cs typeface="Times New Roman" pitchFamily="18" charset="0"/>
              </a:rPr>
              <a:t>Senior Staff: 124</a:t>
            </a:r>
          </a:p>
          <a:p>
            <a:pPr lvl="1" algn="just"/>
            <a:r>
              <a:rPr lang="en-US" sz="9600" dirty="0" smtClean="0">
                <a:latin typeface="Times New Roman" pitchFamily="18" charset="0"/>
                <a:cs typeface="Times New Roman" pitchFamily="18" charset="0"/>
              </a:rPr>
              <a:t>Junior Staff: 29</a:t>
            </a:r>
          </a:p>
          <a:p>
            <a:pPr algn="just">
              <a:buNone/>
            </a:pPr>
            <a:r>
              <a:rPr lang="en-US" sz="7200" dirty="0" smtClean="0">
                <a:latin typeface="Times New Roman" pitchFamily="18" charset="0"/>
                <a:cs typeface="Times New Roman" pitchFamily="18" charset="0"/>
              </a:rPr>
              <a:t> </a:t>
            </a:r>
          </a:p>
          <a:p>
            <a:endParaRPr lang="en-US" dirty="0"/>
          </a:p>
        </p:txBody>
      </p:sp>
      <p:pic>
        <p:nvPicPr>
          <p:cNvPr id="5122" name="Picture 2" descr="C:\Users\AMIRA\Desktop\af.jpg"/>
          <p:cNvPicPr>
            <a:picLocks noChangeAspect="1" noChangeArrowheads="1"/>
          </p:cNvPicPr>
          <p:nvPr/>
        </p:nvPicPr>
        <p:blipFill>
          <a:blip r:embed="rId2"/>
          <a:srcRect/>
          <a:stretch>
            <a:fillRect/>
          </a:stretch>
        </p:blipFill>
        <p:spPr bwMode="auto">
          <a:xfrm>
            <a:off x="152400" y="1"/>
            <a:ext cx="1400175" cy="1752599"/>
          </a:xfrm>
          <a:prstGeom prst="rect">
            <a:avLst/>
          </a:prstGeom>
          <a:noFill/>
        </p:spPr>
      </p:pic>
    </p:spTree>
  </p:cSld>
  <p:clrMapOvr>
    <a:masterClrMapping/>
  </p:clrMapOvr>
  <p:transition>
    <p:dissolv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4297363"/>
          </a:xfrm>
        </p:spPr>
        <p:txBody>
          <a:bodyPr>
            <a:normAutofit fontScale="32500" lnSpcReduction="20000"/>
          </a:bodyPr>
          <a:lstStyle/>
          <a:p>
            <a:pPr lvl="1" algn="just"/>
            <a:r>
              <a:rPr lang="en-US" sz="7200" b="1" dirty="0" smtClean="0">
                <a:solidFill>
                  <a:schemeClr val="accent5">
                    <a:lumMod val="40000"/>
                    <a:lumOff val="60000"/>
                  </a:schemeClr>
                </a:solidFill>
                <a:latin typeface="Times New Roman" pitchFamily="18" charset="0"/>
                <a:cs typeface="Times New Roman" pitchFamily="18" charset="0"/>
              </a:rPr>
              <a:t>Efficiency of the Workforce:</a:t>
            </a:r>
            <a:endParaRPr lang="en-US" sz="7200" dirty="0" smtClean="0">
              <a:solidFill>
                <a:schemeClr val="accent5">
                  <a:lumMod val="40000"/>
                  <a:lumOff val="60000"/>
                </a:schemeClr>
              </a:solidFill>
              <a:latin typeface="Times New Roman" pitchFamily="18" charset="0"/>
              <a:cs typeface="Times New Roman" pitchFamily="18" charset="0"/>
            </a:endParaRPr>
          </a:p>
          <a:p>
            <a:pPr algn="just">
              <a:buNone/>
            </a:pPr>
            <a:r>
              <a:rPr lang="en-US" sz="7200" dirty="0" smtClean="0">
                <a:latin typeface="Times New Roman" pitchFamily="18" charset="0"/>
                <a:cs typeface="Times New Roman" pitchFamily="18" charset="0"/>
              </a:rPr>
              <a:t>	</a:t>
            </a:r>
            <a:r>
              <a:rPr lang="en-US" sz="7400" dirty="0" smtClean="0">
                <a:latin typeface="Times New Roman" pitchFamily="18" charset="0"/>
                <a:cs typeface="Times New Roman" pitchFamily="18" charset="0"/>
              </a:rPr>
              <a:t>The Bursary department is tremendously endowed with highly </a:t>
            </a:r>
            <a:r>
              <a:rPr lang="en-US" sz="7400" b="1" dirty="0" smtClean="0">
                <a:solidFill>
                  <a:schemeClr val="accent2">
                    <a:lumMod val="60000"/>
                    <a:lumOff val="40000"/>
                  </a:schemeClr>
                </a:solidFill>
                <a:latin typeface="Times New Roman" pitchFamily="18" charset="0"/>
                <a:cs typeface="Times New Roman" pitchFamily="18" charset="0"/>
              </a:rPr>
              <a:t>competent personnel with strong passion for honesty and integrity in the discharge of their respective duties and responsibilities</a:t>
            </a:r>
            <a:r>
              <a:rPr lang="en-US" sz="7400" dirty="0" smtClean="0">
                <a:latin typeface="Times New Roman" pitchFamily="18" charset="0"/>
                <a:cs typeface="Times New Roman" pitchFamily="18" charset="0"/>
              </a:rPr>
              <a:t>. The University has been adjudged the best in the comity of tertiary institutions in Nigeria, in terms of Financial Reporting, as the University had prepared and had its financial statements audited by the Statutory Auditors and certified by the office of the State Auditor-General up to 31</a:t>
            </a:r>
            <a:r>
              <a:rPr lang="en-US" sz="7400" baseline="30000" dirty="0" smtClean="0">
                <a:latin typeface="Times New Roman" pitchFamily="18" charset="0"/>
                <a:cs typeface="Times New Roman" pitchFamily="18" charset="0"/>
              </a:rPr>
              <a:t>st</a:t>
            </a:r>
            <a:r>
              <a:rPr lang="en-US" sz="7400" dirty="0" smtClean="0">
                <a:latin typeface="Times New Roman" pitchFamily="18" charset="0"/>
                <a:cs typeface="Times New Roman" pitchFamily="18" charset="0"/>
              </a:rPr>
              <a:t> December, 2014.  The 2015 Financial Statements are expected to ready for audit purposes before the end of the first quarter of 2016.</a:t>
            </a:r>
          </a:p>
          <a:p>
            <a:endParaRPr lang="en-US" dirty="0"/>
          </a:p>
        </p:txBody>
      </p:sp>
      <p:pic>
        <p:nvPicPr>
          <p:cNvPr id="6146"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05000"/>
            <a:ext cx="8229600" cy="4221163"/>
          </a:xfrm>
        </p:spPr>
        <p:txBody>
          <a:bodyPr>
            <a:normAutofit fontScale="25000" lnSpcReduction="20000"/>
          </a:bodyPr>
          <a:lstStyle/>
          <a:p>
            <a:pPr lvl="1"/>
            <a:r>
              <a:rPr lang="en-US" sz="8400" b="1" dirty="0" smtClean="0">
                <a:solidFill>
                  <a:schemeClr val="accent5">
                    <a:lumMod val="60000"/>
                    <a:lumOff val="40000"/>
                  </a:schemeClr>
                </a:solidFill>
                <a:latin typeface="Times New Roman" pitchFamily="18" charset="0"/>
                <a:cs typeface="Times New Roman" pitchFamily="18" charset="0"/>
              </a:rPr>
              <a:t>Flexibility of the Workforce</a:t>
            </a:r>
            <a:r>
              <a:rPr lang="en-US" sz="8400" b="1" dirty="0" smtClean="0">
                <a:latin typeface="Times New Roman" pitchFamily="18" charset="0"/>
                <a:cs typeface="Times New Roman" pitchFamily="18" charset="0"/>
              </a:rPr>
              <a:t>:</a:t>
            </a:r>
            <a:endParaRPr lang="en-US" sz="8400" dirty="0" smtClean="0">
              <a:latin typeface="Times New Roman" pitchFamily="18" charset="0"/>
              <a:cs typeface="Times New Roman" pitchFamily="18" charset="0"/>
            </a:endParaRPr>
          </a:p>
          <a:p>
            <a:pPr>
              <a:buNone/>
            </a:pPr>
            <a:r>
              <a:rPr lang="en-US" sz="8400" dirty="0" smtClean="0">
                <a:latin typeface="Times New Roman" pitchFamily="18" charset="0"/>
                <a:cs typeface="Times New Roman" pitchFamily="18" charset="0"/>
              </a:rPr>
              <a:t>	The department has in place a policy of periodic job rotation among the entire workforce to expand their scope of experience, skills and knowledge in Bursary operations in the various Faculties, Divisions and Units of the University.</a:t>
            </a:r>
          </a:p>
          <a:p>
            <a:pPr>
              <a:buNone/>
            </a:pPr>
            <a:r>
              <a:rPr lang="en-US" sz="8400" dirty="0" smtClean="0">
                <a:latin typeface="Times New Roman" pitchFamily="18" charset="0"/>
                <a:cs typeface="Times New Roman" pitchFamily="18" charset="0"/>
              </a:rPr>
              <a:t> </a:t>
            </a:r>
          </a:p>
          <a:p>
            <a:pPr lvl="1"/>
            <a:r>
              <a:rPr lang="en-US" sz="8400" b="1" dirty="0" smtClean="0">
                <a:solidFill>
                  <a:schemeClr val="accent5">
                    <a:lumMod val="60000"/>
                    <a:lumOff val="40000"/>
                  </a:schemeClr>
                </a:solidFill>
                <a:latin typeface="Times New Roman" pitchFamily="18" charset="0"/>
                <a:cs typeface="Times New Roman" pitchFamily="18" charset="0"/>
              </a:rPr>
              <a:t>Rate of </a:t>
            </a:r>
            <a:r>
              <a:rPr lang="en-US" sz="8400" b="1" dirty="0" err="1" smtClean="0">
                <a:solidFill>
                  <a:schemeClr val="accent5">
                    <a:lumMod val="60000"/>
                    <a:lumOff val="40000"/>
                  </a:schemeClr>
                </a:solidFill>
                <a:latin typeface="Times New Roman" pitchFamily="18" charset="0"/>
                <a:cs typeface="Times New Roman" pitchFamily="18" charset="0"/>
              </a:rPr>
              <a:t>Labour</a:t>
            </a:r>
            <a:r>
              <a:rPr lang="en-US" sz="8400" b="1" dirty="0" smtClean="0">
                <a:solidFill>
                  <a:schemeClr val="accent5">
                    <a:lumMod val="60000"/>
                    <a:lumOff val="40000"/>
                  </a:schemeClr>
                </a:solidFill>
                <a:latin typeface="Times New Roman" pitchFamily="18" charset="0"/>
                <a:cs typeface="Times New Roman" pitchFamily="18" charset="0"/>
              </a:rPr>
              <a:t> Turnover:</a:t>
            </a:r>
            <a:endParaRPr lang="en-US" sz="8400" dirty="0" smtClean="0">
              <a:solidFill>
                <a:schemeClr val="accent5">
                  <a:lumMod val="60000"/>
                  <a:lumOff val="40000"/>
                </a:schemeClr>
              </a:solidFill>
              <a:latin typeface="Times New Roman" pitchFamily="18" charset="0"/>
              <a:cs typeface="Times New Roman" pitchFamily="18" charset="0"/>
            </a:endParaRPr>
          </a:p>
          <a:p>
            <a:pPr>
              <a:buNone/>
            </a:pPr>
            <a:r>
              <a:rPr lang="en-US" sz="8400" dirty="0" smtClean="0">
                <a:latin typeface="Times New Roman" pitchFamily="18" charset="0"/>
                <a:cs typeface="Times New Roman" pitchFamily="18" charset="0"/>
              </a:rPr>
              <a:t>	Apart from few of the staff on sabbaticals and others that got higher status through external appointments, the rate of </a:t>
            </a:r>
            <a:r>
              <a:rPr lang="en-US" sz="8400" dirty="0" err="1" smtClean="0">
                <a:latin typeface="Times New Roman" pitchFamily="18" charset="0"/>
                <a:cs typeface="Times New Roman" pitchFamily="18" charset="0"/>
              </a:rPr>
              <a:t>labour</a:t>
            </a:r>
            <a:r>
              <a:rPr lang="en-US" sz="8400" dirty="0" smtClean="0">
                <a:latin typeface="Times New Roman" pitchFamily="18" charset="0"/>
                <a:cs typeface="Times New Roman" pitchFamily="18" charset="0"/>
              </a:rPr>
              <a:t> turnover has been relatively low in recent times.</a:t>
            </a:r>
          </a:p>
          <a:p>
            <a:pPr>
              <a:buNone/>
            </a:pPr>
            <a:r>
              <a:rPr lang="en-US" sz="8400" dirty="0" smtClean="0">
                <a:latin typeface="Times New Roman" pitchFamily="18" charset="0"/>
                <a:cs typeface="Times New Roman" pitchFamily="18" charset="0"/>
              </a:rPr>
              <a:t> </a:t>
            </a:r>
          </a:p>
          <a:p>
            <a:pPr lvl="1"/>
            <a:r>
              <a:rPr lang="en-US" sz="8400" b="1" dirty="0" err="1" smtClean="0">
                <a:solidFill>
                  <a:schemeClr val="accent5">
                    <a:lumMod val="60000"/>
                    <a:lumOff val="40000"/>
                  </a:schemeClr>
                </a:solidFill>
                <a:latin typeface="Times New Roman" pitchFamily="18" charset="0"/>
                <a:cs typeface="Times New Roman" pitchFamily="18" charset="0"/>
              </a:rPr>
              <a:t>Labour</a:t>
            </a:r>
            <a:r>
              <a:rPr lang="en-US" sz="8400" b="1" dirty="0" smtClean="0">
                <a:solidFill>
                  <a:schemeClr val="accent5">
                    <a:lumMod val="60000"/>
                    <a:lumOff val="40000"/>
                  </a:schemeClr>
                </a:solidFill>
                <a:latin typeface="Times New Roman" pitchFamily="18" charset="0"/>
                <a:cs typeface="Times New Roman" pitchFamily="18" charset="0"/>
              </a:rPr>
              <a:t> Relations Between Management and Workers:</a:t>
            </a:r>
            <a:endParaRPr lang="en-US" sz="8400" dirty="0" smtClean="0">
              <a:solidFill>
                <a:schemeClr val="accent5">
                  <a:lumMod val="60000"/>
                  <a:lumOff val="40000"/>
                </a:schemeClr>
              </a:solidFill>
              <a:latin typeface="Times New Roman" pitchFamily="18" charset="0"/>
              <a:cs typeface="Times New Roman" pitchFamily="18" charset="0"/>
            </a:endParaRPr>
          </a:p>
          <a:p>
            <a:pPr>
              <a:buNone/>
            </a:pPr>
            <a:r>
              <a:rPr lang="en-US" sz="8400" dirty="0" smtClean="0">
                <a:latin typeface="Times New Roman" pitchFamily="18" charset="0"/>
                <a:cs typeface="Times New Roman" pitchFamily="18" charset="0"/>
              </a:rPr>
              <a:t>	Very cordial relationship exist between the entire workforce and the management.</a:t>
            </a:r>
          </a:p>
          <a:p>
            <a:pPr>
              <a:buNone/>
            </a:pPr>
            <a:r>
              <a:rPr lang="en-US" sz="8400" dirty="0" smtClean="0">
                <a:latin typeface="Times New Roman" pitchFamily="18" charset="0"/>
                <a:cs typeface="Times New Roman" pitchFamily="18" charset="0"/>
              </a:rPr>
              <a:t> </a:t>
            </a:r>
          </a:p>
          <a:p>
            <a:pPr lvl="1">
              <a:buNone/>
            </a:pPr>
            <a:endParaRPr lang="en-US" sz="7200" dirty="0" smtClean="0">
              <a:latin typeface="Times New Roman" pitchFamily="18" charset="0"/>
              <a:cs typeface="Times New Roman" pitchFamily="18" charset="0"/>
            </a:endParaRPr>
          </a:p>
          <a:p>
            <a:endParaRPr lang="en-US" dirty="0"/>
          </a:p>
        </p:txBody>
      </p:sp>
      <p:pic>
        <p:nvPicPr>
          <p:cNvPr id="7170" name="Picture 2" descr="C:\Users\AMIRA\Desktop\af.jpg"/>
          <p:cNvPicPr>
            <a:picLocks noChangeAspect="1" noChangeArrowheads="1"/>
          </p:cNvPicPr>
          <p:nvPr/>
        </p:nvPicPr>
        <p:blipFill>
          <a:blip r:embed="rId2"/>
          <a:srcRect/>
          <a:stretch>
            <a:fillRect/>
          </a:stretch>
        </p:blipFill>
        <p:spPr bwMode="auto">
          <a:xfrm>
            <a:off x="0" y="1"/>
            <a:ext cx="1400175" cy="1828800"/>
          </a:xfrm>
          <a:prstGeom prst="rect">
            <a:avLst/>
          </a:prstGeom>
          <a:noFill/>
        </p:spPr>
      </p:pic>
    </p:spTree>
  </p:cSld>
  <p:clrMapOvr>
    <a:masterClrMapping/>
  </p:clrMapOvr>
  <p:transition>
    <p:dissolv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304800" y="1219200"/>
            <a:ext cx="8229600" cy="4114800"/>
          </a:xfrm>
        </p:spPr>
        <p:txBody>
          <a:bodyPr>
            <a:normAutofit fontScale="25000" lnSpcReduction="20000"/>
          </a:bodyPr>
          <a:lstStyle/>
          <a:p>
            <a:pPr lvl="1">
              <a:buNone/>
            </a:pPr>
            <a:endParaRPr lang="en-US" sz="8000" b="1" dirty="0" smtClean="0">
              <a:latin typeface="Times New Roman" pitchFamily="18" charset="0"/>
              <a:cs typeface="Times New Roman" pitchFamily="18" charset="0"/>
            </a:endParaRPr>
          </a:p>
          <a:p>
            <a:pPr lvl="1">
              <a:buNone/>
            </a:pPr>
            <a:endParaRPr lang="en-US" sz="9600" b="1" dirty="0" smtClean="0">
              <a:latin typeface="Times New Roman" pitchFamily="18" charset="0"/>
              <a:cs typeface="Times New Roman" pitchFamily="18" charset="0"/>
            </a:endParaRPr>
          </a:p>
          <a:p>
            <a:pPr lvl="1">
              <a:buNone/>
            </a:pPr>
            <a:r>
              <a:rPr lang="en-US" sz="9600" b="1" dirty="0" smtClean="0">
                <a:solidFill>
                  <a:schemeClr val="accent5">
                    <a:lumMod val="60000"/>
                    <a:lumOff val="40000"/>
                  </a:schemeClr>
                </a:solidFill>
                <a:latin typeface="Times New Roman" pitchFamily="18" charset="0"/>
                <a:cs typeface="Times New Roman" pitchFamily="18" charset="0"/>
              </a:rPr>
              <a:t>Skills, Experience and Qualifications of the Workforce</a:t>
            </a:r>
            <a:r>
              <a:rPr lang="en-US" sz="9600" b="1" dirty="0" smtClean="0">
                <a:latin typeface="Times New Roman" pitchFamily="18" charset="0"/>
                <a:cs typeface="Times New Roman" pitchFamily="18" charset="0"/>
              </a:rPr>
              <a:t>:</a:t>
            </a:r>
            <a:endParaRPr lang="en-US" sz="9600" dirty="0" smtClean="0">
              <a:latin typeface="Times New Roman" pitchFamily="18" charset="0"/>
              <a:cs typeface="Times New Roman" pitchFamily="18" charset="0"/>
            </a:endParaRPr>
          </a:p>
          <a:p>
            <a:pPr>
              <a:buNone/>
            </a:pPr>
            <a:r>
              <a:rPr lang="en-US" sz="9600" dirty="0" smtClean="0">
                <a:latin typeface="Times New Roman" pitchFamily="18" charset="0"/>
                <a:cs typeface="Times New Roman" pitchFamily="18" charset="0"/>
              </a:rPr>
              <a:t>	</a:t>
            </a:r>
          </a:p>
          <a:p>
            <a:pPr>
              <a:buNone/>
            </a:pPr>
            <a:r>
              <a:rPr lang="en-US" sz="9600" dirty="0" smtClean="0">
                <a:latin typeface="Times New Roman" pitchFamily="18" charset="0"/>
                <a:cs typeface="Times New Roman" pitchFamily="18" charset="0"/>
              </a:rPr>
              <a:t>	The Bursary department has a </a:t>
            </a:r>
            <a:r>
              <a:rPr lang="en-US" sz="9600" b="1" dirty="0" smtClean="0">
                <a:solidFill>
                  <a:srgbClr val="002060"/>
                </a:solidFill>
                <a:latin typeface="Times New Roman" pitchFamily="18" charset="0"/>
                <a:cs typeface="Times New Roman" pitchFamily="18" charset="0"/>
              </a:rPr>
              <a:t>crop of competent and highly motivated staff</a:t>
            </a:r>
            <a:r>
              <a:rPr lang="en-US" sz="9600" dirty="0" smtClean="0">
                <a:latin typeface="Times New Roman" pitchFamily="18" charset="0"/>
                <a:cs typeface="Times New Roman" pitchFamily="18" charset="0"/>
              </a:rPr>
              <a:t> having the following specific qualifications with several years of cognate experience in Bursary operations and expertise in the application of the International Financial Reporting Standards (IFRSs) and the International Public Sectors Accounting Standards (IPSASs)</a:t>
            </a:r>
          </a:p>
          <a:p>
            <a:pPr>
              <a:buNone/>
            </a:pPr>
            <a:r>
              <a:rPr lang="en-US" sz="9600" dirty="0" smtClean="0">
                <a:latin typeface="Times New Roman" pitchFamily="18" charset="0"/>
                <a:cs typeface="Times New Roman" pitchFamily="18" charset="0"/>
              </a:rPr>
              <a:t>	</a:t>
            </a:r>
          </a:p>
          <a:p>
            <a:pPr>
              <a:buNone/>
            </a:pPr>
            <a:r>
              <a:rPr lang="en-US" sz="9600" dirty="0" smtClean="0">
                <a:latin typeface="Times New Roman" pitchFamily="18" charset="0"/>
                <a:cs typeface="Times New Roman" pitchFamily="18" charset="0"/>
              </a:rPr>
              <a:t>	The staff strength of the Bursary department in terms of academic and professional qualifications are as follows:</a:t>
            </a:r>
          </a:p>
          <a:p>
            <a:pPr>
              <a:buNone/>
            </a:pPr>
            <a:r>
              <a:rPr lang="en-US" sz="9600" dirty="0" smtClean="0">
                <a:latin typeface="Times New Roman" pitchFamily="18" charset="0"/>
                <a:cs typeface="Times New Roman" pitchFamily="18" charset="0"/>
              </a:rPr>
              <a:t> </a:t>
            </a:r>
          </a:p>
          <a:p>
            <a:endParaRPr lang="en-US" dirty="0"/>
          </a:p>
        </p:txBody>
      </p:sp>
      <p:pic>
        <p:nvPicPr>
          <p:cNvPr id="8194" name="Picture 2" descr="C:\Users\AMIRA\Desktop\af.jpg"/>
          <p:cNvPicPr>
            <a:picLocks noChangeAspect="1" noChangeArrowheads="1"/>
          </p:cNvPicPr>
          <p:nvPr/>
        </p:nvPicPr>
        <p:blipFill>
          <a:blip r:embed="rId2"/>
          <a:srcRect/>
          <a:stretch>
            <a:fillRect/>
          </a:stretch>
        </p:blipFill>
        <p:spPr bwMode="auto">
          <a:xfrm>
            <a:off x="0" y="1"/>
            <a:ext cx="1400175" cy="1371600"/>
          </a:xfrm>
          <a:prstGeom prst="rect">
            <a:avLst/>
          </a:prstGeom>
          <a:noFill/>
        </p:spPr>
      </p:pic>
    </p:spTree>
  </p:cSld>
  <p:clrMapOvr>
    <a:masterClrMapping/>
  </p:clrMapOvr>
  <p:transition>
    <p:wedg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7467600" cy="1189038"/>
          </a:xfrm>
        </p:spPr>
        <p:txBody>
          <a:bodyPr>
            <a:normAutofit fontScale="90000"/>
          </a:bodyPr>
          <a:lstStyle/>
          <a:p>
            <a:pPr algn="ctr"/>
            <a:r>
              <a:rPr lang="en-US" dirty="0" smtClean="0"/>
              <a:t/>
            </a:r>
            <a:br>
              <a:rPr lang="en-US" dirty="0" smtClean="0"/>
            </a:br>
            <a:r>
              <a:rPr lang="en-US" dirty="0" smtClean="0"/>
              <a:t>        </a:t>
            </a:r>
            <a:r>
              <a:rPr lang="en-US" sz="2700" dirty="0" smtClean="0"/>
              <a:t>EKITI STATE UNIVERSITY ADO-EKITI</a:t>
            </a:r>
            <a:br>
              <a:rPr lang="en-US" sz="2700" dirty="0" smtClean="0"/>
            </a:br>
            <a:r>
              <a:rPr lang="en-US" sz="2700" b="1" dirty="0" smtClean="0"/>
              <a:t>SWOT ANALYSIS OF BURSARY DEPARTMENT</a:t>
            </a:r>
            <a:r>
              <a:rPr lang="en-US" sz="2700" dirty="0" smtClean="0"/>
              <a:t/>
            </a:r>
            <a:br>
              <a:rPr lang="en-US" sz="2700" dirty="0" smtClean="0"/>
            </a:br>
            <a:endParaRPr lang="en-US" dirty="0"/>
          </a:p>
        </p:txBody>
      </p:sp>
      <p:sp>
        <p:nvSpPr>
          <p:cNvPr id="3" name="Content Placeholder 2"/>
          <p:cNvSpPr>
            <a:spLocks noGrp="1"/>
          </p:cNvSpPr>
          <p:nvPr>
            <p:ph sz="quarter" idx="1"/>
          </p:nvPr>
        </p:nvSpPr>
        <p:spPr>
          <a:xfrm>
            <a:off x="533400" y="1295400"/>
            <a:ext cx="7467600" cy="5334000"/>
          </a:xfrm>
        </p:spPr>
        <p:txBody>
          <a:bodyPr>
            <a:normAutofit fontScale="25000" lnSpcReduction="20000"/>
          </a:bodyPr>
          <a:lstStyle/>
          <a:p>
            <a:pPr lvl="2"/>
            <a:endParaRPr lang="en-US" sz="7200" dirty="0" smtClean="0">
              <a:latin typeface="Times New Roman" pitchFamily="18" charset="0"/>
              <a:cs typeface="Times New Roman" pitchFamily="18" charset="0"/>
            </a:endParaRPr>
          </a:p>
          <a:p>
            <a:pPr lvl="2"/>
            <a:r>
              <a:rPr lang="en-US" sz="8000" dirty="0" smtClean="0">
                <a:latin typeface="Times New Roman" pitchFamily="18" charset="0"/>
                <a:cs typeface="Times New Roman" pitchFamily="18" charset="0"/>
              </a:rPr>
              <a:t>Fellow(s) of the Institute of Chartered Accountants of Nigeria: Three (3)</a:t>
            </a:r>
          </a:p>
          <a:p>
            <a:pPr lvl="2"/>
            <a:r>
              <a:rPr lang="en-US" sz="8000" dirty="0" smtClean="0">
                <a:latin typeface="Times New Roman" pitchFamily="18" charset="0"/>
                <a:cs typeface="Times New Roman" pitchFamily="18" charset="0"/>
              </a:rPr>
              <a:t>Fellow(s) of the Association of National Accountants of Nigeria: One (1)</a:t>
            </a:r>
          </a:p>
          <a:p>
            <a:pPr lvl="2"/>
            <a:r>
              <a:rPr lang="en-US" sz="8000" dirty="0" smtClean="0">
                <a:latin typeface="Times New Roman" pitchFamily="18" charset="0"/>
                <a:cs typeface="Times New Roman" pitchFamily="18" charset="0"/>
              </a:rPr>
              <a:t>Associate Member(s) of the Institute of Chartered Accountants of Nigeria: Thirteen (13)</a:t>
            </a:r>
          </a:p>
          <a:p>
            <a:pPr lvl="2"/>
            <a:r>
              <a:rPr lang="en-US" sz="8000" dirty="0" smtClean="0">
                <a:latin typeface="Times New Roman" pitchFamily="18" charset="0"/>
                <a:cs typeface="Times New Roman" pitchFamily="18" charset="0"/>
              </a:rPr>
              <a:t>Associate Member(s) of the Association of National Accountants of Nigeria: Twenty Two (22)</a:t>
            </a:r>
          </a:p>
          <a:p>
            <a:pPr lvl="2"/>
            <a:r>
              <a:rPr lang="en-US" sz="8000" dirty="0" smtClean="0">
                <a:latin typeface="Times New Roman" pitchFamily="18" charset="0"/>
                <a:cs typeface="Times New Roman" pitchFamily="18" charset="0"/>
              </a:rPr>
              <a:t>First degree Holder(s): Sixty Three (63)</a:t>
            </a:r>
          </a:p>
          <a:p>
            <a:pPr lvl="2"/>
            <a:r>
              <a:rPr lang="en-US" sz="8000" dirty="0" smtClean="0">
                <a:latin typeface="Times New Roman" pitchFamily="18" charset="0"/>
                <a:cs typeface="Times New Roman" pitchFamily="18" charset="0"/>
              </a:rPr>
              <a:t>Master degree Holder(s): Thirty (30)</a:t>
            </a:r>
          </a:p>
          <a:p>
            <a:pPr lvl="2"/>
            <a:r>
              <a:rPr lang="en-US" sz="8000" dirty="0" smtClean="0">
                <a:latin typeface="Times New Roman" pitchFamily="18" charset="0"/>
                <a:cs typeface="Times New Roman" pitchFamily="18" charset="0"/>
              </a:rPr>
              <a:t>Doctorate degree Holder(s): One (1)</a:t>
            </a:r>
          </a:p>
          <a:p>
            <a:pPr lvl="2"/>
            <a:r>
              <a:rPr lang="en-US" sz="8000" dirty="0" smtClean="0">
                <a:latin typeface="Times New Roman" pitchFamily="18" charset="0"/>
                <a:cs typeface="Times New Roman" pitchFamily="18" charset="0"/>
              </a:rPr>
              <a:t>Higher National Diploma Holders: Twenty Five (25)</a:t>
            </a:r>
          </a:p>
          <a:p>
            <a:pPr lvl="2"/>
            <a:r>
              <a:rPr lang="en-US" sz="8000" dirty="0" smtClean="0">
                <a:latin typeface="Times New Roman" pitchFamily="18" charset="0"/>
                <a:cs typeface="Times New Roman" pitchFamily="18" charset="0"/>
              </a:rPr>
              <a:t>Ordinary National Diploma Holder(s): Fourteen (14)</a:t>
            </a:r>
            <a:r>
              <a:rPr lang="en-US" sz="7200" b="1" dirty="0" smtClean="0">
                <a:latin typeface="Times New Roman" pitchFamily="18" charset="0"/>
                <a:cs typeface="Times New Roman" pitchFamily="18" charset="0"/>
              </a:rPr>
              <a:t> </a:t>
            </a:r>
          </a:p>
          <a:p>
            <a:pPr lvl="1">
              <a:buNone/>
            </a:pPr>
            <a:endParaRPr lang="en-US" sz="7200" b="1" dirty="0" smtClean="0">
              <a:latin typeface="Times New Roman" pitchFamily="18" charset="0"/>
              <a:cs typeface="Times New Roman" pitchFamily="18" charset="0"/>
            </a:endParaRPr>
          </a:p>
          <a:p>
            <a:pPr lvl="1">
              <a:buNone/>
            </a:pPr>
            <a:r>
              <a:rPr lang="en-US" sz="7200" b="1" dirty="0" smtClean="0">
                <a:latin typeface="Times New Roman" pitchFamily="18" charset="0"/>
                <a:cs typeface="Times New Roman" pitchFamily="18" charset="0"/>
              </a:rPr>
              <a:t>	</a:t>
            </a:r>
            <a:r>
              <a:rPr lang="en-US" sz="8000" b="1" dirty="0" smtClean="0">
                <a:solidFill>
                  <a:schemeClr val="accent5">
                    <a:lumMod val="60000"/>
                    <a:lumOff val="40000"/>
                  </a:schemeClr>
                </a:solidFill>
                <a:latin typeface="Times New Roman" pitchFamily="18" charset="0"/>
                <a:cs typeface="Times New Roman" pitchFamily="18" charset="0"/>
              </a:rPr>
              <a:t>Personnel Costs (Salaries and Personal Emoluments):</a:t>
            </a:r>
            <a:endParaRPr lang="en-US" sz="7200" dirty="0" smtClean="0">
              <a:solidFill>
                <a:schemeClr val="accent5">
                  <a:lumMod val="60000"/>
                  <a:lumOff val="40000"/>
                </a:schemeClr>
              </a:solidFill>
              <a:latin typeface="Times New Roman" pitchFamily="18" charset="0"/>
              <a:cs typeface="Times New Roman" pitchFamily="18" charset="0"/>
            </a:endParaRPr>
          </a:p>
          <a:p>
            <a:pPr lvl="1">
              <a:buNone/>
            </a:pPr>
            <a:r>
              <a:rPr lang="en-US" sz="6900" dirty="0" smtClean="0">
                <a:latin typeface="Times New Roman" pitchFamily="18" charset="0"/>
                <a:cs typeface="Times New Roman" pitchFamily="18" charset="0"/>
              </a:rPr>
              <a:t>	The personnel emolument of the Bursary department stands at an average of </a:t>
            </a:r>
            <a:r>
              <a:rPr lang="en-US" sz="6900" b="1" dirty="0" smtClean="0">
                <a:latin typeface="Times New Roman" pitchFamily="18" charset="0"/>
                <a:cs typeface="Times New Roman" pitchFamily="18" charset="0"/>
              </a:rPr>
              <a:t>N280,811,169</a:t>
            </a:r>
            <a:r>
              <a:rPr lang="en-US" sz="6900" dirty="0" smtClean="0">
                <a:latin typeface="Times New Roman" pitchFamily="18" charset="0"/>
                <a:cs typeface="Times New Roman" pitchFamily="18" charset="0"/>
              </a:rPr>
              <a:t> per annum. (as per 2014 audited accounts).</a:t>
            </a:r>
          </a:p>
          <a:p>
            <a:pPr lvl="2"/>
            <a:endParaRPr lang="en-US" sz="7200" dirty="0" smtClean="0">
              <a:latin typeface="Times New Roman" pitchFamily="18" charset="0"/>
              <a:cs typeface="Times New Roman" pitchFamily="18" charset="0"/>
            </a:endParaRPr>
          </a:p>
          <a:p>
            <a:pPr>
              <a:buNone/>
            </a:pPr>
            <a:endParaRPr lang="en-US" dirty="0"/>
          </a:p>
        </p:txBody>
      </p:sp>
      <p:pic>
        <p:nvPicPr>
          <p:cNvPr id="4" name="Picture 2" descr="C:\Users\AMIRA\Desktop\af.jpg"/>
          <p:cNvPicPr>
            <a:picLocks noChangeAspect="1" noChangeArrowheads="1"/>
          </p:cNvPicPr>
          <p:nvPr/>
        </p:nvPicPr>
        <p:blipFill>
          <a:blip r:embed="rId2"/>
          <a:srcRect/>
          <a:stretch>
            <a:fillRect/>
          </a:stretch>
        </p:blipFill>
        <p:spPr bwMode="auto">
          <a:xfrm>
            <a:off x="123825" y="152400"/>
            <a:ext cx="1400175" cy="1371600"/>
          </a:xfrm>
          <a:prstGeom prst="rect">
            <a:avLst/>
          </a:prstGeom>
          <a:noFill/>
        </p:spPr>
      </p:pic>
    </p:spTree>
  </p:cSld>
  <p:clrMapOvr>
    <a:masterClrMapping/>
  </p:clrMapOvr>
  <p:transition>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381000" y="1219200"/>
            <a:ext cx="8229600" cy="5410200"/>
          </a:xfrm>
        </p:spPr>
        <p:txBody>
          <a:bodyPr>
            <a:normAutofit fontScale="25000" lnSpcReduction="20000"/>
          </a:bodyPr>
          <a:lstStyle/>
          <a:p>
            <a:pPr lvl="0" algn="just">
              <a:buNone/>
            </a:pPr>
            <a:r>
              <a:rPr lang="en-US" sz="6400" b="1" dirty="0" smtClean="0">
                <a:latin typeface="Times New Roman" pitchFamily="18" charset="0"/>
                <a:cs typeface="Times New Roman" pitchFamily="18" charset="0"/>
              </a:rPr>
              <a:t>	</a:t>
            </a:r>
          </a:p>
          <a:p>
            <a:pPr lvl="0" algn="just">
              <a:buNone/>
            </a:pPr>
            <a:r>
              <a:rPr lang="en-US" sz="8000" b="1" dirty="0" smtClean="0">
                <a:latin typeface="Times New Roman" pitchFamily="18" charset="0"/>
                <a:cs typeface="Times New Roman" pitchFamily="18" charset="0"/>
              </a:rPr>
              <a:t>Management:</a:t>
            </a:r>
            <a:endParaRPr lang="en-US" sz="8000" dirty="0" smtClean="0">
              <a:latin typeface="Times New Roman" pitchFamily="18" charset="0"/>
              <a:cs typeface="Times New Roman" pitchFamily="18" charset="0"/>
            </a:endParaRPr>
          </a:p>
          <a:p>
            <a:pPr lvl="1" algn="just"/>
            <a:r>
              <a:rPr lang="en-US" sz="8000" b="1" dirty="0" smtClean="0">
                <a:solidFill>
                  <a:schemeClr val="accent5">
                    <a:lumMod val="40000"/>
                    <a:lumOff val="60000"/>
                  </a:schemeClr>
                </a:solidFill>
                <a:latin typeface="Times New Roman" pitchFamily="18" charset="0"/>
                <a:cs typeface="Times New Roman" pitchFamily="18" charset="0"/>
              </a:rPr>
              <a:t>Size of Management Team, Skills and Responsibilities:</a:t>
            </a:r>
            <a:endParaRPr lang="en-US" sz="8000" dirty="0" smtClean="0">
              <a:solidFill>
                <a:schemeClr val="accent5">
                  <a:lumMod val="40000"/>
                  <a:lumOff val="60000"/>
                </a:schemeClr>
              </a:solidFill>
              <a:latin typeface="Times New Roman" pitchFamily="18" charset="0"/>
              <a:cs typeface="Times New Roman" pitchFamily="18" charset="0"/>
            </a:endParaRPr>
          </a:p>
          <a:p>
            <a:pPr algn="just">
              <a:buNone/>
            </a:pPr>
            <a:r>
              <a:rPr lang="en-US" sz="8000" dirty="0" smtClean="0">
                <a:latin typeface="Times New Roman" pitchFamily="18" charset="0"/>
                <a:cs typeface="Times New Roman" pitchFamily="18" charset="0"/>
              </a:rPr>
              <a:t>	The Bursary department is headed by the Bursar, Mr. A. T. </a:t>
            </a:r>
            <a:r>
              <a:rPr lang="en-US" sz="8000" dirty="0" err="1" smtClean="0">
                <a:latin typeface="Times New Roman" pitchFamily="18" charset="0"/>
                <a:cs typeface="Times New Roman" pitchFamily="18" charset="0"/>
              </a:rPr>
              <a:t>Taiwo</a:t>
            </a:r>
            <a:r>
              <a:rPr lang="en-US" sz="8000" dirty="0" smtClean="0">
                <a:latin typeface="Times New Roman" pitchFamily="18" charset="0"/>
                <a:cs typeface="Times New Roman" pitchFamily="18" charset="0"/>
              </a:rPr>
              <a:t> </a:t>
            </a:r>
            <a:r>
              <a:rPr lang="en-US" sz="8000" i="1" dirty="0" smtClean="0">
                <a:latin typeface="Times New Roman" pitchFamily="18" charset="0"/>
                <a:cs typeface="Times New Roman" pitchFamily="18" charset="0"/>
              </a:rPr>
              <a:t>(FCA)</a:t>
            </a:r>
            <a:r>
              <a:rPr lang="en-US" sz="8000" dirty="0" smtClean="0">
                <a:latin typeface="Times New Roman" pitchFamily="18" charset="0"/>
                <a:cs typeface="Times New Roman" pitchFamily="18" charset="0"/>
              </a:rPr>
              <a:t>. He is ably assisted by the following seven (7) Deputy Bursars with requisite qualifications and cognate experience. They have all made tremendous contributions in the day to day management of the finances of the University and are in charge of the various divisions in the department as follows:</a:t>
            </a:r>
          </a:p>
          <a:p>
            <a:pPr algn="just">
              <a:buNone/>
            </a:pPr>
            <a:endParaRPr lang="en-US" sz="80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D.A. </a:t>
            </a:r>
            <a:r>
              <a:rPr lang="en-US" sz="6400" dirty="0" err="1" smtClean="0">
                <a:latin typeface="Times New Roman" pitchFamily="18" charset="0"/>
                <a:cs typeface="Times New Roman" pitchFamily="18" charset="0"/>
              </a:rPr>
              <a:t>Osesusi</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(FCA): Deputy Bursar &amp; Head of Accounting Services Division</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a:t>
            </a:r>
            <a:r>
              <a:rPr lang="en-US" sz="6400" dirty="0" err="1" smtClean="0">
                <a:latin typeface="Times New Roman" pitchFamily="18" charset="0"/>
                <a:cs typeface="Times New Roman" pitchFamily="18" charset="0"/>
              </a:rPr>
              <a:t>Owolabi-Titiloye</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(FCA): Deputy Bursar &amp;Head of Management Services Division</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B.A. </a:t>
            </a:r>
            <a:r>
              <a:rPr lang="en-US" sz="6400" dirty="0" err="1" smtClean="0">
                <a:latin typeface="Times New Roman" pitchFamily="18" charset="0"/>
                <a:cs typeface="Times New Roman" pitchFamily="18" charset="0"/>
              </a:rPr>
              <a:t>Apata</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(FNA) : Deputy Bursar &amp; Former Head, Self-Accounting </a:t>
            </a:r>
            <a:r>
              <a:rPr lang="en-US" sz="6400" i="1" dirty="0" err="1" smtClean="0">
                <a:latin typeface="Times New Roman" pitchFamily="18" charset="0"/>
                <a:cs typeface="Times New Roman" pitchFamily="18" charset="0"/>
              </a:rPr>
              <a:t>Programmes</a:t>
            </a:r>
            <a:r>
              <a:rPr lang="en-US" sz="6400" i="1" dirty="0" smtClean="0">
                <a:latin typeface="Times New Roman" pitchFamily="18" charset="0"/>
                <a:cs typeface="Times New Roman" pitchFamily="18" charset="0"/>
              </a:rPr>
              <a:t> </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J. A. </a:t>
            </a:r>
            <a:r>
              <a:rPr lang="en-US" sz="6400" dirty="0" err="1" smtClean="0">
                <a:latin typeface="Times New Roman" pitchFamily="18" charset="0"/>
                <a:cs typeface="Times New Roman" pitchFamily="18" charset="0"/>
              </a:rPr>
              <a:t>Olaniyan</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(ACA): Deputy Bursar &amp; Head, Student Services Division</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 </a:t>
            </a:r>
            <a:r>
              <a:rPr lang="en-US" sz="6400" dirty="0" err="1" smtClean="0">
                <a:latin typeface="Times New Roman" pitchFamily="18" charset="0"/>
                <a:cs typeface="Times New Roman" pitchFamily="18" charset="0"/>
              </a:rPr>
              <a:t>Mrs</a:t>
            </a:r>
            <a:r>
              <a:rPr lang="en-US" sz="6400" dirty="0" smtClean="0">
                <a:latin typeface="Times New Roman" pitchFamily="18" charset="0"/>
                <a:cs typeface="Times New Roman" pitchFamily="18" charset="0"/>
              </a:rPr>
              <a:t> F. B. </a:t>
            </a:r>
            <a:r>
              <a:rPr lang="en-US" sz="6400" dirty="0" err="1" smtClean="0">
                <a:latin typeface="Times New Roman" pitchFamily="18" charset="0"/>
                <a:cs typeface="Times New Roman" pitchFamily="18" charset="0"/>
              </a:rPr>
              <a:t>Alonge</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(FCA): Deputy Bursar &amp; Head, Treasury Services Division</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Mrs. J. O. </a:t>
            </a:r>
            <a:r>
              <a:rPr lang="en-US" sz="6400" dirty="0" err="1" smtClean="0">
                <a:latin typeface="Times New Roman" pitchFamily="18" charset="0"/>
                <a:cs typeface="Times New Roman" pitchFamily="18" charset="0"/>
              </a:rPr>
              <a:t>Ojobanikan</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(ACA): Deputy Bursar &amp; Head, Self-Accounting </a:t>
            </a:r>
            <a:r>
              <a:rPr lang="en-US" sz="6400" i="1" dirty="0" err="1" smtClean="0">
                <a:latin typeface="Times New Roman" pitchFamily="18" charset="0"/>
                <a:cs typeface="Times New Roman" pitchFamily="18" charset="0"/>
              </a:rPr>
              <a:t>Programmes</a:t>
            </a:r>
            <a:r>
              <a:rPr lang="en-US" sz="6400" i="1" dirty="0" smtClean="0">
                <a:latin typeface="Times New Roman" pitchFamily="18" charset="0"/>
                <a:cs typeface="Times New Roman" pitchFamily="18" charset="0"/>
              </a:rPr>
              <a:t> </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D. O. Bello (</a:t>
            </a:r>
            <a:r>
              <a:rPr lang="en-US" sz="6400" i="1" dirty="0" smtClean="0">
                <a:latin typeface="Times New Roman" pitchFamily="18" charset="0"/>
                <a:cs typeface="Times New Roman" pitchFamily="18" charset="0"/>
              </a:rPr>
              <a:t>(ANA): Deputy Bursar &amp; Head, Salaries, Pensions and Advances</a:t>
            </a:r>
            <a:endParaRPr lang="en-US" sz="6400" dirty="0" smtClean="0">
              <a:latin typeface="Times New Roman" pitchFamily="18" charset="0"/>
              <a:cs typeface="Times New Roman" pitchFamily="18" charset="0"/>
            </a:endParaRPr>
          </a:p>
          <a:p>
            <a:pPr lvl="2" algn="just"/>
            <a:r>
              <a:rPr lang="en-US" sz="6400" dirty="0" smtClean="0">
                <a:latin typeface="Times New Roman" pitchFamily="18" charset="0"/>
                <a:cs typeface="Times New Roman" pitchFamily="18" charset="0"/>
              </a:rPr>
              <a:t>Mr. Ola </a:t>
            </a:r>
            <a:r>
              <a:rPr lang="en-US" sz="6400" dirty="0" err="1" smtClean="0">
                <a:latin typeface="Times New Roman" pitchFamily="18" charset="0"/>
                <a:cs typeface="Times New Roman" pitchFamily="18" charset="0"/>
              </a:rPr>
              <a:t>Ogunkolade</a:t>
            </a:r>
            <a:r>
              <a:rPr lang="en-US" sz="6400" dirty="0" smtClean="0">
                <a:latin typeface="Times New Roman" pitchFamily="18" charset="0"/>
                <a:cs typeface="Times New Roman" pitchFamily="18" charset="0"/>
              </a:rPr>
              <a:t> </a:t>
            </a:r>
            <a:r>
              <a:rPr lang="en-US" sz="6400" i="1" dirty="0" smtClean="0">
                <a:latin typeface="Times New Roman" pitchFamily="18" charset="0"/>
                <a:cs typeface="Times New Roman" pitchFamily="18" charset="0"/>
              </a:rPr>
              <a:t>Acting Head, Stores &amp; Suppliers</a:t>
            </a:r>
            <a:endParaRPr lang="en-US" sz="6400" dirty="0" smtClean="0">
              <a:latin typeface="Times New Roman" pitchFamily="18" charset="0"/>
              <a:cs typeface="Times New Roman" pitchFamily="18" charset="0"/>
            </a:endParaRPr>
          </a:p>
          <a:p>
            <a:endParaRPr lang="en-US" dirty="0"/>
          </a:p>
        </p:txBody>
      </p:sp>
      <p:pic>
        <p:nvPicPr>
          <p:cNvPr id="9218" name="Picture 2" descr="C:\Users\AMIRA\Desktop\af.jpg"/>
          <p:cNvPicPr>
            <a:picLocks noChangeAspect="1" noChangeArrowheads="1"/>
          </p:cNvPicPr>
          <p:nvPr/>
        </p:nvPicPr>
        <p:blipFill>
          <a:blip r:embed="rId2"/>
          <a:srcRect/>
          <a:stretch>
            <a:fillRect/>
          </a:stretch>
        </p:blipFill>
        <p:spPr bwMode="auto">
          <a:xfrm>
            <a:off x="1" y="1"/>
            <a:ext cx="1371600" cy="1219199"/>
          </a:xfrm>
          <a:prstGeom prst="rect">
            <a:avLst/>
          </a:prstGeom>
          <a:noFill/>
        </p:spPr>
      </p:pic>
    </p:spTree>
  </p:cSld>
  <p:clrMapOvr>
    <a:masterClrMapping/>
  </p:clrMapOvr>
  <p:transition>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648200"/>
          </a:xfrm>
        </p:spPr>
        <p:txBody>
          <a:bodyPr>
            <a:normAutofit fontScale="92500" lnSpcReduction="20000"/>
          </a:bodyPr>
          <a:lstStyle/>
          <a:p>
            <a:pPr lvl="0" algn="just"/>
            <a:r>
              <a:rPr lang="en-US" b="1" dirty="0" smtClean="0">
                <a:solidFill>
                  <a:schemeClr val="accent5">
                    <a:lumMod val="40000"/>
                    <a:lumOff val="60000"/>
                  </a:schemeClr>
                </a:solidFill>
              </a:rPr>
              <a:t>Non-current Assets:</a:t>
            </a:r>
            <a:endParaRPr lang="en-US" dirty="0" smtClean="0">
              <a:solidFill>
                <a:schemeClr val="accent5">
                  <a:lumMod val="40000"/>
                  <a:lumOff val="60000"/>
                </a:schemeClr>
              </a:solidFill>
            </a:endParaRPr>
          </a:p>
          <a:p>
            <a:pPr algn="just">
              <a:buNone/>
            </a:pPr>
            <a:r>
              <a:rPr lang="en-US" dirty="0" smtClean="0"/>
              <a:t>	</a:t>
            </a:r>
            <a:r>
              <a:rPr lang="en-US" dirty="0" smtClean="0">
                <a:latin typeface="Times New Roman" pitchFamily="18" charset="0"/>
                <a:cs typeface="Times New Roman" pitchFamily="18" charset="0"/>
              </a:rPr>
              <a:t>The non-current assets at the disposal of the department comprises of Motor Vehicles, Office Equipment, Furniture and Fittings.  </a:t>
            </a:r>
          </a:p>
          <a:p>
            <a:pPr algn="just">
              <a:buNone/>
            </a:pPr>
            <a:r>
              <a:rPr lang="en-US" dirty="0" smtClean="0">
                <a:latin typeface="Times New Roman" pitchFamily="18" charset="0"/>
                <a:cs typeface="Times New Roman" pitchFamily="18" charset="0"/>
              </a:rPr>
              <a:t>	While each of the offices in the department has functioning desktop computers </a:t>
            </a:r>
            <a:r>
              <a:rPr lang="en-US" b="1" dirty="0" smtClean="0">
                <a:solidFill>
                  <a:srgbClr val="C00000"/>
                </a:solidFill>
                <a:latin typeface="Times New Roman" pitchFamily="18" charset="0"/>
                <a:cs typeface="Times New Roman" pitchFamily="18" charset="0"/>
              </a:rPr>
              <a:t>very few of the officers and staff have state-of-the-art laptop computers</a:t>
            </a:r>
            <a:r>
              <a:rPr lang="en-US" dirty="0" smtClean="0">
                <a:latin typeface="Times New Roman" pitchFamily="18" charset="0"/>
                <a:cs typeface="Times New Roman" pitchFamily="18" charset="0"/>
              </a:rPr>
              <a:t>, which could enhance their productivity on the job. The available furniture and fittings also </a:t>
            </a:r>
            <a:r>
              <a:rPr lang="en-US" b="1" dirty="0" smtClean="0">
                <a:latin typeface="Times New Roman" pitchFamily="18" charset="0"/>
                <a:cs typeface="Times New Roman" pitchFamily="18" charset="0"/>
              </a:rPr>
              <a:t>need considerable </a:t>
            </a:r>
            <a:r>
              <a:rPr lang="en-US" b="1" dirty="0" smtClean="0">
                <a:solidFill>
                  <a:schemeClr val="accent3">
                    <a:lumMod val="75000"/>
                  </a:schemeClr>
                </a:solidFill>
                <a:latin typeface="Times New Roman" pitchFamily="18" charset="0"/>
                <a:cs typeface="Times New Roman" pitchFamily="18" charset="0"/>
              </a:rPr>
              <a:t>measure of improvement in terms of quality and quality</a:t>
            </a:r>
            <a:r>
              <a:rPr lang="en-US" dirty="0" smtClean="0">
                <a:latin typeface="Times New Roman" pitchFamily="18" charset="0"/>
                <a:cs typeface="Times New Roman" pitchFamily="18" charset="0"/>
              </a:rPr>
              <a:t> to facilitate better employee-friendly job environment.</a:t>
            </a:r>
          </a:p>
          <a:p>
            <a:pPr algn="just">
              <a:buNone/>
            </a:pPr>
            <a:r>
              <a:rPr lang="en-US" dirty="0" smtClean="0">
                <a:latin typeface="Times New Roman" pitchFamily="18" charset="0"/>
                <a:cs typeface="Times New Roman" pitchFamily="18" charset="0"/>
              </a:rPr>
              <a:t>	</a:t>
            </a:r>
            <a:r>
              <a:rPr lang="en-US" b="1" dirty="0" smtClean="0">
                <a:solidFill>
                  <a:schemeClr val="bg1">
                    <a:lumMod val="50000"/>
                  </a:schemeClr>
                </a:solidFill>
                <a:latin typeface="Times New Roman" pitchFamily="18" charset="0"/>
                <a:cs typeface="Times New Roman" pitchFamily="18" charset="0"/>
              </a:rPr>
              <a:t>Apart from the Bursar, the Head of Accounting Services Division and the Acting Director of Procurement/Central Stores that have official vehicles, other divisional heads make use of their private vehicles in the conduct of the day to day operations of their divisions.  This does not encourage optimum productivity.  Senior officers require higher measures of motivation and encouragement to further boost their performance standards.</a:t>
            </a:r>
          </a:p>
          <a:p>
            <a:endParaRPr lang="en-US" dirty="0"/>
          </a:p>
        </p:txBody>
      </p:sp>
      <p:pic>
        <p:nvPicPr>
          <p:cNvPr id="10242"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295400"/>
            <a:ext cx="8229600" cy="5562600"/>
          </a:xfrm>
        </p:spPr>
        <p:txBody>
          <a:bodyPr>
            <a:normAutofit fontScale="25000" lnSpcReduction="20000"/>
          </a:bodyPr>
          <a:lstStyle/>
          <a:p>
            <a:pPr lvl="0">
              <a:buNone/>
            </a:pPr>
            <a:endParaRPr lang="en-US" sz="7200" b="1" dirty="0" smtClean="0"/>
          </a:p>
          <a:p>
            <a:pPr lvl="0">
              <a:buNone/>
            </a:pPr>
            <a:r>
              <a:rPr lang="en-US" sz="7200" b="1" dirty="0" smtClean="0">
                <a:solidFill>
                  <a:schemeClr val="accent5">
                    <a:lumMod val="40000"/>
                    <a:lumOff val="60000"/>
                  </a:schemeClr>
                </a:solidFill>
              </a:rPr>
              <a:t>Intangible Resources:</a:t>
            </a:r>
            <a:endParaRPr lang="en-US" sz="7200" dirty="0" smtClean="0">
              <a:solidFill>
                <a:schemeClr val="accent5">
                  <a:lumMod val="40000"/>
                  <a:lumOff val="60000"/>
                </a:schemeClr>
              </a:solidFill>
            </a:endParaRPr>
          </a:p>
          <a:p>
            <a:pPr algn="just">
              <a:buNone/>
            </a:pPr>
            <a:r>
              <a:rPr lang="en-US" sz="7200" dirty="0" smtClean="0"/>
              <a:t>	</a:t>
            </a:r>
            <a:r>
              <a:rPr lang="en-US" sz="8400" dirty="0" smtClean="0">
                <a:latin typeface="Times New Roman" pitchFamily="18" charset="0"/>
                <a:cs typeface="Times New Roman" pitchFamily="18" charset="0"/>
              </a:rPr>
              <a:t>The Bursary operations are partially computerized. The students’ fee payment is through the e-transact system while some </a:t>
            </a:r>
            <a:r>
              <a:rPr lang="en-US" sz="8400" b="1" dirty="0" smtClean="0">
                <a:solidFill>
                  <a:schemeClr val="tx2">
                    <a:lumMod val="75000"/>
                    <a:lumOff val="25000"/>
                  </a:schemeClr>
                </a:solidFill>
                <a:latin typeface="Times New Roman" pitchFamily="18" charset="0"/>
                <a:cs typeface="Times New Roman" pitchFamily="18" charset="0"/>
              </a:rPr>
              <a:t>Accounting and Financial Reporting Packages were developed in-house by staff of the department, specifically, the Payroll and the General Ledger Packages</a:t>
            </a:r>
            <a:r>
              <a:rPr lang="en-US" sz="8400" dirty="0" smtClean="0">
                <a:latin typeface="Times New Roman" pitchFamily="18" charset="0"/>
                <a:cs typeface="Times New Roman" pitchFamily="18" charset="0"/>
              </a:rPr>
              <a:t>.  These had assisted the department tremendously in the drive toward prompt financial analysis and reporting.</a:t>
            </a:r>
          </a:p>
          <a:p>
            <a:pPr algn="just">
              <a:buNone/>
            </a:pPr>
            <a:r>
              <a:rPr lang="en-US" sz="8400" dirty="0" smtClean="0">
                <a:latin typeface="Times New Roman" pitchFamily="18" charset="0"/>
                <a:cs typeface="Times New Roman" pitchFamily="18" charset="0"/>
              </a:rPr>
              <a:t> </a:t>
            </a:r>
          </a:p>
          <a:p>
            <a:pPr lvl="0" algn="just">
              <a:buNone/>
            </a:pPr>
            <a:r>
              <a:rPr lang="en-US" sz="8400" b="1" dirty="0" smtClean="0">
                <a:latin typeface="Times New Roman" pitchFamily="18" charset="0"/>
                <a:cs typeface="Times New Roman" pitchFamily="18" charset="0"/>
              </a:rPr>
              <a:t>	</a:t>
            </a:r>
            <a:r>
              <a:rPr lang="en-US" sz="8400" b="1" dirty="0" smtClean="0">
                <a:solidFill>
                  <a:schemeClr val="accent5">
                    <a:lumMod val="40000"/>
                    <a:lumOff val="60000"/>
                  </a:schemeClr>
                </a:solidFill>
                <a:latin typeface="Times New Roman" pitchFamily="18" charset="0"/>
                <a:cs typeface="Times New Roman" pitchFamily="18" charset="0"/>
              </a:rPr>
              <a:t>Internal Controls and Organization</a:t>
            </a:r>
            <a:r>
              <a:rPr lang="en-US" sz="8400" b="1" dirty="0" smtClean="0">
                <a:latin typeface="Times New Roman" pitchFamily="18" charset="0"/>
                <a:cs typeface="Times New Roman" pitchFamily="18" charset="0"/>
              </a:rPr>
              <a:t>:</a:t>
            </a:r>
            <a:endParaRPr lang="en-US" sz="8400" dirty="0" smtClean="0">
              <a:latin typeface="Times New Roman" pitchFamily="18" charset="0"/>
              <a:cs typeface="Times New Roman" pitchFamily="18" charset="0"/>
            </a:endParaRPr>
          </a:p>
          <a:p>
            <a:pPr algn="just">
              <a:buNone/>
            </a:pPr>
            <a:r>
              <a:rPr lang="en-US" sz="8400" dirty="0" smtClean="0">
                <a:latin typeface="Times New Roman" pitchFamily="18" charset="0"/>
                <a:cs typeface="Times New Roman" pitchFamily="18" charset="0"/>
              </a:rPr>
              <a:t>	The Bursary management had put in place reasonable measures that will guarantee the following:</a:t>
            </a:r>
          </a:p>
          <a:p>
            <a:pPr lvl="1" algn="just"/>
            <a:r>
              <a:rPr lang="en-US" sz="8400" dirty="0" smtClean="0">
                <a:latin typeface="Times New Roman" pitchFamily="18" charset="0"/>
                <a:cs typeface="Times New Roman" pitchFamily="18" charset="0"/>
              </a:rPr>
              <a:t>Adequate control over the use of its human capital and other available resources;</a:t>
            </a:r>
          </a:p>
          <a:p>
            <a:pPr lvl="1" algn="just"/>
            <a:r>
              <a:rPr lang="en-US" sz="8400" dirty="0" smtClean="0">
                <a:latin typeface="Times New Roman" pitchFamily="18" charset="0"/>
                <a:cs typeface="Times New Roman" pitchFamily="18" charset="0"/>
              </a:rPr>
              <a:t>Efficient and effective use of assets;</a:t>
            </a:r>
          </a:p>
          <a:p>
            <a:pPr lvl="1" algn="just"/>
            <a:r>
              <a:rPr lang="en-US" sz="8400" dirty="0" smtClean="0">
                <a:latin typeface="Times New Roman" pitchFamily="18" charset="0"/>
                <a:cs typeface="Times New Roman" pitchFamily="18" charset="0"/>
              </a:rPr>
              <a:t>Effective control over accounting and financial reporting;</a:t>
            </a:r>
          </a:p>
          <a:p>
            <a:pPr lvl="1" algn="just"/>
            <a:r>
              <a:rPr lang="en-US" sz="8400" dirty="0" smtClean="0">
                <a:latin typeface="Times New Roman" pitchFamily="18" charset="0"/>
                <a:cs typeface="Times New Roman" pitchFamily="18" charset="0"/>
              </a:rPr>
              <a:t>Effective control over compliance with financial regulations and international financial reporting standards and best practices;</a:t>
            </a:r>
          </a:p>
          <a:p>
            <a:pPr lvl="1" algn="just"/>
            <a:r>
              <a:rPr lang="en-US" sz="8400" dirty="0" smtClean="0">
                <a:latin typeface="Times New Roman" pitchFamily="18" charset="0"/>
                <a:cs typeface="Times New Roman" pitchFamily="18" charset="0"/>
              </a:rPr>
              <a:t>Effective risk management.</a:t>
            </a:r>
          </a:p>
          <a:p>
            <a:endParaRPr lang="en-US" dirty="0"/>
          </a:p>
        </p:txBody>
      </p:sp>
      <p:pic>
        <p:nvPicPr>
          <p:cNvPr id="11266" name="Picture 2" descr="C:\Users\AMIRA\Desktop\af.jpg"/>
          <p:cNvPicPr>
            <a:picLocks noChangeAspect="1" noChangeArrowheads="1"/>
          </p:cNvPicPr>
          <p:nvPr/>
        </p:nvPicPr>
        <p:blipFill>
          <a:blip r:embed="rId2"/>
          <a:srcRect/>
          <a:stretch>
            <a:fillRect/>
          </a:stretch>
        </p:blipFill>
        <p:spPr bwMode="auto">
          <a:xfrm>
            <a:off x="0" y="1"/>
            <a:ext cx="1400175" cy="1371599"/>
          </a:xfrm>
          <a:prstGeom prst="rect">
            <a:avLst/>
          </a:prstGeom>
          <a:noFill/>
        </p:spPr>
      </p:pic>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2000"/>
                                        <p:tgtEl>
                                          <p:spTgt spid="3">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2000"/>
                                        <p:tgtEl>
                                          <p:spTgt spid="3">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2000"/>
                                        <p:tgtEl>
                                          <p:spTgt spid="3">
                                            <p:txEl>
                                              <p:pRg st="7" end="7"/>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2000"/>
                                        <p:tgtEl>
                                          <p:spTgt spid="3">
                                            <p:txEl>
                                              <p:pRg st="8" end="8"/>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2000"/>
                                        <p:tgtEl>
                                          <p:spTgt spid="3">
                                            <p:txEl>
                                              <p:pRg st="9" end="9"/>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10" end="10"/>
                                            </p:txEl>
                                          </p:spTgt>
                                        </p:tgtEl>
                                        <p:attrNameLst>
                                          <p:attrName>style.visibility</p:attrName>
                                        </p:attrNameLst>
                                      </p:cBhvr>
                                      <p:to>
                                        <p:strVal val="visible"/>
                                      </p:to>
                                    </p:set>
                                    <p:animEffect transition="in" filter="fade">
                                      <p:cBhvr>
                                        <p:cTn id="34"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05000"/>
            <a:ext cx="8229600" cy="4419600"/>
          </a:xfrm>
        </p:spPr>
        <p:txBody>
          <a:bodyPr>
            <a:normAutofit/>
          </a:bodyPr>
          <a:lstStyle/>
          <a:p>
            <a:pPr lvl="0">
              <a:buNone/>
            </a:pPr>
            <a:r>
              <a:rPr lang="en-US" sz="2500" b="1" dirty="0" smtClean="0">
                <a:solidFill>
                  <a:schemeClr val="accent5">
                    <a:lumMod val="40000"/>
                    <a:lumOff val="60000"/>
                  </a:schemeClr>
                </a:solidFill>
                <a:latin typeface="Times New Roman" pitchFamily="18" charset="0"/>
                <a:cs typeface="Times New Roman" pitchFamily="18" charset="0"/>
              </a:rPr>
              <a:t>Financial Resources:</a:t>
            </a:r>
            <a:endParaRPr lang="en-US" sz="2500" dirty="0" smtClean="0">
              <a:solidFill>
                <a:schemeClr val="accent5">
                  <a:lumMod val="40000"/>
                  <a:lumOff val="60000"/>
                </a:schemeClr>
              </a:solidFill>
              <a:latin typeface="Times New Roman" pitchFamily="18" charset="0"/>
              <a:cs typeface="Times New Roman" pitchFamily="18" charset="0"/>
            </a:endParaRPr>
          </a:p>
          <a:p>
            <a:pPr algn="just">
              <a:buNone/>
            </a:pPr>
            <a:r>
              <a:rPr lang="en-US" sz="2500" dirty="0" smtClean="0">
                <a:latin typeface="Times New Roman" pitchFamily="18" charset="0"/>
                <a:cs typeface="Times New Roman" pitchFamily="18" charset="0"/>
              </a:rPr>
              <a:t>	Despite the fact that the department is endowed with enormous human capital with which it could engage in activities that would yield reasonable amount of Internally Generated Revenue, the department still relies to a very large extent on the </a:t>
            </a:r>
            <a:r>
              <a:rPr lang="en-US" sz="2500" dirty="0" err="1" smtClean="0">
                <a:latin typeface="Times New Roman" pitchFamily="18" charset="0"/>
                <a:cs typeface="Times New Roman" pitchFamily="18" charset="0"/>
              </a:rPr>
              <a:t>meagre</a:t>
            </a:r>
            <a:r>
              <a:rPr lang="en-US" sz="2500" dirty="0" smtClean="0">
                <a:latin typeface="Times New Roman" pitchFamily="18" charset="0"/>
                <a:cs typeface="Times New Roman" pitchFamily="18" charset="0"/>
              </a:rPr>
              <a:t> funds made available to it by the University Management for its day to day operations.</a:t>
            </a:r>
          </a:p>
          <a:p>
            <a:pPr algn="just">
              <a:buNone/>
            </a:pPr>
            <a:r>
              <a:rPr lang="en-US" sz="2400" b="1" dirty="0" smtClean="0"/>
              <a:t> </a:t>
            </a:r>
            <a:endParaRPr lang="en-US" sz="2400" dirty="0" smtClean="0"/>
          </a:p>
          <a:p>
            <a:pPr algn="just">
              <a:buNone/>
            </a:pPr>
            <a:endParaRPr lang="en-US" sz="2100" dirty="0" smtClean="0">
              <a:latin typeface="Times New Roman" pitchFamily="18" charset="0"/>
              <a:cs typeface="Times New Roman" pitchFamily="18" charset="0"/>
            </a:endParaRPr>
          </a:p>
          <a:p>
            <a:endParaRPr lang="en-US" dirty="0"/>
          </a:p>
        </p:txBody>
      </p:sp>
      <p:pic>
        <p:nvPicPr>
          <p:cNvPr id="12290" name="Picture 2" descr="C:\Users\AMIRA\Desktop\af.jpg"/>
          <p:cNvPicPr>
            <a:picLocks noChangeAspect="1" noChangeArrowheads="1"/>
          </p:cNvPicPr>
          <p:nvPr/>
        </p:nvPicPr>
        <p:blipFill>
          <a:blip r:embed="rId2"/>
          <a:srcRect/>
          <a:stretch>
            <a:fillRect/>
          </a:stretch>
        </p:blipFill>
        <p:spPr bwMode="auto">
          <a:xfrm>
            <a:off x="0" y="1"/>
            <a:ext cx="1400175" cy="1676400"/>
          </a:xfrm>
          <a:prstGeom prst="rect">
            <a:avLst/>
          </a:prstGeom>
          <a:noFill/>
        </p:spPr>
      </p:pic>
    </p:spTree>
  </p:cSld>
  <p:clrMapOvr>
    <a:masterClrMapping/>
  </p:clrMapOvr>
  <p:transition>
    <p:dissolv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7848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p:txBody>
          <a:bodyPr/>
          <a:lstStyle/>
          <a:p>
            <a:pPr algn="ctr">
              <a:buNone/>
            </a:pPr>
            <a:r>
              <a:rPr lang="en-US" b="1" dirty="0" smtClean="0">
                <a:solidFill>
                  <a:schemeClr val="accent5">
                    <a:lumMod val="40000"/>
                    <a:lumOff val="60000"/>
                  </a:schemeClr>
                </a:solidFill>
                <a:latin typeface="Times New Roman" pitchFamily="18" charset="0"/>
                <a:cs typeface="Times New Roman" pitchFamily="18" charset="0"/>
              </a:rPr>
              <a:t>Analysis of the Opportunities and Threats of the Bursary Department</a:t>
            </a:r>
          </a:p>
          <a:p>
            <a:pPr algn="ctr">
              <a:buNone/>
            </a:pPr>
            <a:endParaRPr lang="en-US" dirty="0" smtClean="0">
              <a:latin typeface="Times New Roman" pitchFamily="18" charset="0"/>
              <a:cs typeface="Times New Roman" pitchFamily="18" charset="0"/>
            </a:endParaRPr>
          </a:p>
          <a:p>
            <a:pPr algn="just"/>
            <a:r>
              <a:rPr lang="en-US" b="1" dirty="0" smtClean="0">
                <a:solidFill>
                  <a:srgbClr val="7030A0"/>
                </a:solidFill>
                <a:latin typeface="Times New Roman" pitchFamily="18" charset="0"/>
                <a:cs typeface="Times New Roman" pitchFamily="18" charset="0"/>
              </a:rPr>
              <a:t>Opportunities</a:t>
            </a:r>
            <a:r>
              <a:rPr lang="en-US" dirty="0" smtClean="0">
                <a:latin typeface="Times New Roman" pitchFamily="18" charset="0"/>
                <a:cs typeface="Times New Roman" pitchFamily="18" charset="0"/>
              </a:rPr>
              <a:t> are factors in the external environment that might be exploited, to the department’s and the University’s strategic advantage.</a:t>
            </a:r>
          </a:p>
          <a:p>
            <a:pPr algn="just"/>
            <a:r>
              <a:rPr lang="en-US" b="1" dirty="0" smtClean="0">
                <a:solidFill>
                  <a:schemeClr val="bg1">
                    <a:lumMod val="75000"/>
                  </a:schemeClr>
                </a:solidFill>
                <a:latin typeface="Times New Roman" pitchFamily="18" charset="0"/>
                <a:cs typeface="Times New Roman" pitchFamily="18" charset="0"/>
              </a:rPr>
              <a:t>Threats</a:t>
            </a:r>
            <a:r>
              <a:rPr lang="en-US" dirty="0" smtClean="0">
                <a:latin typeface="Times New Roman" pitchFamily="18" charset="0"/>
                <a:cs typeface="Times New Roman" pitchFamily="18" charset="0"/>
              </a:rPr>
              <a:t> are factors in the external environment that create an adverse risk for the department’s and the University’s future prospects.</a:t>
            </a:r>
          </a:p>
          <a:p>
            <a:pPr algn="just"/>
            <a:r>
              <a:rPr lang="en-US" dirty="0" smtClean="0">
                <a:latin typeface="Times New Roman" pitchFamily="18" charset="0"/>
                <a:cs typeface="Times New Roman" pitchFamily="18" charset="0"/>
              </a:rPr>
              <a:t>We identify the Opportunities and Threats of the Bursary department under the following sub-headings</a:t>
            </a:r>
          </a:p>
          <a:p>
            <a:endParaRPr lang="en-US" dirty="0"/>
          </a:p>
        </p:txBody>
      </p:sp>
      <p:pic>
        <p:nvPicPr>
          <p:cNvPr id="4" name="Picture 2" descr="C:\Users\AMIRA\Desktop\af.jpg"/>
          <p:cNvPicPr>
            <a:picLocks noChangeAspect="1" noChangeArrowheads="1"/>
          </p:cNvPicPr>
          <p:nvPr/>
        </p:nvPicPr>
        <p:blipFill>
          <a:blip r:embed="rId2"/>
          <a:srcRect/>
          <a:stretch>
            <a:fillRect/>
          </a:stretch>
        </p:blipFill>
        <p:spPr bwMode="auto">
          <a:xfrm>
            <a:off x="0" y="0"/>
            <a:ext cx="1400175" cy="1600201"/>
          </a:xfrm>
          <a:prstGeom prst="rect">
            <a:avLst/>
          </a:prstGeom>
          <a:noFill/>
        </p:spPr>
      </p:pic>
    </p:spTree>
  </p:cSld>
  <p:clrMapOvr>
    <a:masterClrMapping/>
  </p:clrMapOvr>
  <p:transition>
    <p:cut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676400"/>
            <a:ext cx="8229600" cy="4648200"/>
          </a:xfrm>
        </p:spPr>
        <p:txBody>
          <a:bodyPr>
            <a:normAutofit fontScale="77500" lnSpcReduction="20000"/>
          </a:bodyPr>
          <a:lstStyle/>
          <a:p>
            <a:pPr algn="just">
              <a:buNone/>
            </a:pPr>
            <a:r>
              <a:rPr lang="en-US" sz="2500" b="1" dirty="0" smtClean="0"/>
              <a:t>	</a:t>
            </a:r>
            <a:r>
              <a:rPr lang="en-US" sz="2600" b="1" dirty="0" smtClean="0">
                <a:solidFill>
                  <a:schemeClr val="accent5">
                    <a:lumMod val="40000"/>
                    <a:lumOff val="60000"/>
                  </a:schemeClr>
                </a:solidFill>
                <a:latin typeface="Times New Roman" pitchFamily="18" charset="0"/>
                <a:cs typeface="Times New Roman" pitchFamily="18" charset="0"/>
              </a:rPr>
              <a:t>Government Directives on IPSASs Adoption by Public Sector Entities:</a:t>
            </a:r>
            <a:endParaRPr lang="en-US" sz="2600" dirty="0" smtClean="0">
              <a:solidFill>
                <a:schemeClr val="accent5">
                  <a:lumMod val="40000"/>
                  <a:lumOff val="60000"/>
                </a:schemeClr>
              </a:solidFill>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The Federal Government had directed that all Public Sector Entities (PSE} must comply with the International Public Sector Accounting Standards (IPSASs) in their financial reporting framework with effect from 1</a:t>
            </a:r>
            <a:r>
              <a:rPr lang="en-US" sz="2600" baseline="30000" dirty="0" smtClean="0">
                <a:latin typeface="Times New Roman" pitchFamily="18" charset="0"/>
                <a:cs typeface="Times New Roman" pitchFamily="18" charset="0"/>
              </a:rPr>
              <a:t>st</a:t>
            </a:r>
            <a:r>
              <a:rPr lang="en-US" sz="2600" dirty="0" smtClean="0">
                <a:latin typeface="Times New Roman" pitchFamily="18" charset="0"/>
                <a:cs typeface="Times New Roman" pitchFamily="18" charset="0"/>
              </a:rPr>
              <a:t> January, 2016.  This development had created a lot of challenges for </a:t>
            </a:r>
            <a:r>
              <a:rPr lang="en-US" sz="2600" dirty="0" err="1" smtClean="0">
                <a:latin typeface="Times New Roman" pitchFamily="18" charset="0"/>
                <a:cs typeface="Times New Roman" pitchFamily="18" charset="0"/>
              </a:rPr>
              <a:t>organisations</a:t>
            </a:r>
            <a:r>
              <a:rPr lang="en-US" sz="2600" dirty="0" smtClean="0">
                <a:latin typeface="Times New Roman" pitchFamily="18" charset="0"/>
                <a:cs typeface="Times New Roman" pitchFamily="18" charset="0"/>
              </a:rPr>
              <a:t> in this category as a result of paucity of qualified manpower with requisite skills and experience in the implementation of IPSASs.</a:t>
            </a:r>
          </a:p>
          <a:p>
            <a:pPr algn="just"/>
            <a:endParaRPr lang="en-US" sz="2600" dirty="0" smtClean="0">
              <a:latin typeface="Times New Roman" pitchFamily="18" charset="0"/>
              <a:cs typeface="Times New Roman" pitchFamily="18" charset="0"/>
            </a:endParaRPr>
          </a:p>
          <a:p>
            <a:pPr algn="just"/>
            <a:r>
              <a:rPr lang="en-US" sz="2600" dirty="0" smtClean="0">
                <a:latin typeface="Times New Roman" pitchFamily="18" charset="0"/>
                <a:cs typeface="Times New Roman" pitchFamily="18" charset="0"/>
              </a:rPr>
              <a:t>However, this policy has created a good opportunity to be exploited by the Bursary department, given the wealth of experience and professional qualifications of the senior staff and officers of the Bursary department.  Consultancy services in terms of manpower development and systems design and implementation could be organized for such entities, to assist them in their bid to comply with the government directives.  This will definitely serve as source of appreciable revenue to the Bursary department in particular and the University at large.</a:t>
            </a:r>
          </a:p>
          <a:p>
            <a:endParaRPr lang="en-US" dirty="0"/>
          </a:p>
        </p:txBody>
      </p:sp>
      <p:pic>
        <p:nvPicPr>
          <p:cNvPr id="13314" name="Picture 2" descr="C:\Users\AMIRA\Desktop\af.jpg"/>
          <p:cNvPicPr>
            <a:picLocks noChangeAspect="1" noChangeArrowheads="1"/>
          </p:cNvPicPr>
          <p:nvPr/>
        </p:nvPicPr>
        <p:blipFill>
          <a:blip r:embed="rId2"/>
          <a:srcRect/>
          <a:stretch>
            <a:fillRect/>
          </a:stretch>
        </p:blipFill>
        <p:spPr bwMode="auto">
          <a:xfrm>
            <a:off x="0" y="1"/>
            <a:ext cx="1400175" cy="1600200"/>
          </a:xfrm>
          <a:prstGeom prst="rect">
            <a:avLst/>
          </a:prstGeom>
          <a:noFill/>
        </p:spPr>
      </p:pic>
    </p:spTree>
  </p:cSld>
  <p:clrMapOvr>
    <a:masterClrMapping/>
  </p:clrMapOvr>
  <p:transition>
    <p:dissolv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648200"/>
          </a:xfrm>
        </p:spPr>
        <p:txBody>
          <a:bodyPr>
            <a:normAutofit fontScale="25000" lnSpcReduction="20000"/>
          </a:bodyPr>
          <a:lstStyle/>
          <a:p>
            <a:pPr lvl="0" algn="just">
              <a:buNone/>
            </a:pPr>
            <a:r>
              <a:rPr lang="en-US" b="1" dirty="0" smtClean="0"/>
              <a:t>	</a:t>
            </a:r>
            <a:r>
              <a:rPr lang="en-US" sz="7200" b="1" dirty="0" smtClean="0">
                <a:solidFill>
                  <a:schemeClr val="accent5">
                    <a:lumMod val="60000"/>
                    <a:lumOff val="40000"/>
                  </a:schemeClr>
                </a:solidFill>
              </a:rPr>
              <a:t>Government Directives on IFRSs Adoption by Private Sector Entities:</a:t>
            </a:r>
            <a:endParaRPr lang="en-US" sz="7200" dirty="0" smtClean="0">
              <a:solidFill>
                <a:schemeClr val="accent5">
                  <a:lumMod val="60000"/>
                  <a:lumOff val="40000"/>
                </a:schemeClr>
              </a:solidFill>
            </a:endParaRPr>
          </a:p>
          <a:p>
            <a:pPr algn="just"/>
            <a:r>
              <a:rPr lang="en-US" sz="7200" dirty="0" smtClean="0">
                <a:latin typeface="Times New Roman" pitchFamily="18" charset="0"/>
                <a:cs typeface="Times New Roman" pitchFamily="18" charset="0"/>
              </a:rPr>
              <a:t>The Federal Government had designed a roadmap for the adoption of the International Financial Reporting Standards (IFRSs) by all Private Sector Entities, which requires full compliance by these entities not later than December 2014.  IFRSs adoption by the Private Sector Entities is also fraught with enormous challenges which the University could exploit in the IGR drive.  Our staff having exposure in local and international training in this area are readily available to serve as consultants to those Private Sector Entities in their drive towards full compliance with the Federal Government policy on IFRSs adoption. </a:t>
            </a:r>
          </a:p>
          <a:p>
            <a:pPr lvl="0" algn="just">
              <a:buNone/>
            </a:pPr>
            <a:r>
              <a:rPr lang="en-US" sz="7200" b="1" dirty="0" smtClean="0">
                <a:latin typeface="Times New Roman" pitchFamily="18" charset="0"/>
                <a:cs typeface="Times New Roman" pitchFamily="18" charset="0"/>
              </a:rPr>
              <a:t>	</a:t>
            </a:r>
            <a:r>
              <a:rPr lang="en-US" sz="7200" b="1" dirty="0" smtClean="0">
                <a:solidFill>
                  <a:srgbClr val="FF0000"/>
                </a:solidFill>
                <a:latin typeface="Times New Roman" pitchFamily="18" charset="0"/>
                <a:cs typeface="Times New Roman" pitchFamily="18" charset="0"/>
              </a:rPr>
              <a:t>Other Areas of Deficiency in the Public Sector Entities:</a:t>
            </a:r>
            <a:endParaRPr lang="en-US" sz="7200" dirty="0" smtClean="0">
              <a:solidFill>
                <a:srgbClr val="FF0000"/>
              </a:solidFill>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 accounting and financial reporting systems in most Public Sector Entities are in shambles as their financial statements are in arrears for several years.  This is due to paucity of competent and well experienced personnel who could handle the preparation of financial statements in that sector. The inability of these entities to attract and retain skillful personnel in accounting profession had seriously affected the design and effective implementation of sound financial reporting framework in that sector.  The offers a great opportunity for the University through the Bursary department to proffer solutions to the problem by rendering consultancy in systems design, implementation and continuous training of accounting personnel to improve accountability and financial reporting in the Public Sector Entities.</a:t>
            </a:r>
          </a:p>
          <a:p>
            <a:endParaRPr lang="en-US" dirty="0"/>
          </a:p>
        </p:txBody>
      </p:sp>
      <p:pic>
        <p:nvPicPr>
          <p:cNvPr id="14338" name="Picture 2" descr="C:\Users\AMIRA\Desktop\af.jpg"/>
          <p:cNvPicPr>
            <a:picLocks noChangeAspect="1" noChangeArrowheads="1"/>
          </p:cNvPicPr>
          <p:nvPr/>
        </p:nvPicPr>
        <p:blipFill>
          <a:blip r:embed="rId2"/>
          <a:srcRect/>
          <a:stretch>
            <a:fillRect/>
          </a:stretch>
        </p:blipFill>
        <p:spPr bwMode="auto">
          <a:xfrm>
            <a:off x="0" y="1"/>
            <a:ext cx="1400175" cy="1676400"/>
          </a:xfrm>
          <a:prstGeom prst="rect">
            <a:avLst/>
          </a:prstGeom>
          <a:noFill/>
        </p:spPr>
      </p:pic>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72000"/>
          </a:xfrm>
        </p:spPr>
        <p:txBody>
          <a:bodyPr>
            <a:normAutofit fontScale="25000" lnSpcReduction="20000"/>
          </a:bodyPr>
          <a:lstStyle/>
          <a:p>
            <a:pPr lvl="0" algn="just">
              <a:buNone/>
            </a:pPr>
            <a:r>
              <a:rPr lang="en-US" b="1" dirty="0" smtClean="0"/>
              <a:t>	</a:t>
            </a:r>
            <a:r>
              <a:rPr lang="en-US" sz="8000" b="1" dirty="0" smtClean="0">
                <a:solidFill>
                  <a:schemeClr val="accent5">
                    <a:lumMod val="40000"/>
                    <a:lumOff val="60000"/>
                  </a:schemeClr>
                </a:solidFill>
              </a:rPr>
              <a:t>Dearth of Professional Accountancy Tuition </a:t>
            </a:r>
            <a:r>
              <a:rPr lang="en-US" sz="8000" b="1" dirty="0" err="1" smtClean="0">
                <a:solidFill>
                  <a:schemeClr val="accent5">
                    <a:lumMod val="40000"/>
                    <a:lumOff val="60000"/>
                  </a:schemeClr>
                </a:solidFill>
              </a:rPr>
              <a:t>Centres</a:t>
            </a:r>
            <a:r>
              <a:rPr lang="en-US" sz="8000" b="1" dirty="0" smtClean="0">
                <a:solidFill>
                  <a:schemeClr val="accent5">
                    <a:lumMod val="40000"/>
                    <a:lumOff val="60000"/>
                  </a:schemeClr>
                </a:solidFill>
              </a:rPr>
              <a:t> in </a:t>
            </a:r>
            <a:r>
              <a:rPr lang="en-US" sz="8000" b="1" dirty="0" err="1" smtClean="0">
                <a:solidFill>
                  <a:schemeClr val="accent5">
                    <a:lumMod val="40000"/>
                    <a:lumOff val="60000"/>
                  </a:schemeClr>
                </a:solidFill>
              </a:rPr>
              <a:t>Ekiti</a:t>
            </a:r>
            <a:r>
              <a:rPr lang="en-US" sz="8000" b="1" dirty="0" smtClean="0">
                <a:solidFill>
                  <a:schemeClr val="accent5">
                    <a:lumMod val="40000"/>
                    <a:lumOff val="60000"/>
                  </a:schemeClr>
                </a:solidFill>
              </a:rPr>
              <a:t> and Adjourning States</a:t>
            </a:r>
            <a:endParaRPr lang="en-US" sz="8000" dirty="0" smtClean="0">
              <a:solidFill>
                <a:schemeClr val="accent5">
                  <a:lumMod val="40000"/>
                  <a:lumOff val="60000"/>
                </a:schemeClr>
              </a:solidFill>
            </a:endParaRPr>
          </a:p>
          <a:p>
            <a:pPr algn="just"/>
            <a:r>
              <a:rPr lang="en-US" sz="8000" dirty="0" smtClean="0">
                <a:latin typeface="Times New Roman" pitchFamily="18" charset="0"/>
                <a:cs typeface="Times New Roman" pitchFamily="18" charset="0"/>
              </a:rPr>
              <a:t>Most candidates preparing for the Professional Examinations of the Institute of Chartered Accountants of Nigeria, The Chartered Institute of Bankers, The Association of National Accountants of Nigeria and other professional bodies have to travel out of </a:t>
            </a:r>
            <a:r>
              <a:rPr lang="en-US" sz="8000" dirty="0" err="1" smtClean="0">
                <a:latin typeface="Times New Roman" pitchFamily="18" charset="0"/>
                <a:cs typeface="Times New Roman" pitchFamily="18" charset="0"/>
              </a:rPr>
              <a:t>Ekiti</a:t>
            </a:r>
            <a:r>
              <a:rPr lang="en-US" sz="8000" dirty="0" smtClean="0">
                <a:latin typeface="Times New Roman" pitchFamily="18" charset="0"/>
                <a:cs typeface="Times New Roman" pitchFamily="18" charset="0"/>
              </a:rPr>
              <a:t> state, particularly to Lagos or </a:t>
            </a:r>
            <a:r>
              <a:rPr lang="en-US" sz="8000" dirty="0" err="1" smtClean="0">
                <a:latin typeface="Times New Roman" pitchFamily="18" charset="0"/>
                <a:cs typeface="Times New Roman" pitchFamily="18" charset="0"/>
              </a:rPr>
              <a:t>Jos</a:t>
            </a:r>
            <a:r>
              <a:rPr lang="en-US" sz="8000" dirty="0" smtClean="0">
                <a:latin typeface="Times New Roman" pitchFamily="18" charset="0"/>
                <a:cs typeface="Times New Roman" pitchFamily="18" charset="0"/>
              </a:rPr>
              <a:t>, to be able to obtain comprehensive training in well-established Tuition </a:t>
            </a:r>
            <a:r>
              <a:rPr lang="en-US" sz="8000" dirty="0" err="1" smtClean="0">
                <a:latin typeface="Times New Roman" pitchFamily="18" charset="0"/>
                <a:cs typeface="Times New Roman" pitchFamily="18" charset="0"/>
              </a:rPr>
              <a:t>Centres</a:t>
            </a:r>
            <a:r>
              <a:rPr lang="en-US" sz="8000" dirty="0" smtClean="0">
                <a:latin typeface="Times New Roman" pitchFamily="18" charset="0"/>
                <a:cs typeface="Times New Roman" pitchFamily="18" charset="0"/>
              </a:rPr>
              <a:t> in preparation for the examination. </a:t>
            </a:r>
          </a:p>
          <a:p>
            <a:pPr algn="just">
              <a:buNone/>
            </a:pPr>
            <a:r>
              <a:rPr lang="en-US" sz="8000" dirty="0" smtClean="0">
                <a:latin typeface="Times New Roman" pitchFamily="18" charset="0"/>
                <a:cs typeface="Times New Roman" pitchFamily="18" charset="0"/>
              </a:rPr>
              <a:t> </a:t>
            </a:r>
          </a:p>
          <a:p>
            <a:pPr algn="just"/>
            <a:r>
              <a:rPr lang="en-US" sz="8000" dirty="0" smtClean="0">
                <a:latin typeface="Times New Roman" pitchFamily="18" charset="0"/>
                <a:cs typeface="Times New Roman" pitchFamily="18" charset="0"/>
              </a:rPr>
              <a:t>The dearth of standard Professional Tuition </a:t>
            </a:r>
            <a:r>
              <a:rPr lang="en-US" sz="8000" dirty="0" err="1" smtClean="0">
                <a:latin typeface="Times New Roman" pitchFamily="18" charset="0"/>
                <a:cs typeface="Times New Roman" pitchFamily="18" charset="0"/>
              </a:rPr>
              <a:t>Centres</a:t>
            </a:r>
            <a:r>
              <a:rPr lang="en-US" sz="8000" dirty="0" smtClean="0">
                <a:latin typeface="Times New Roman" pitchFamily="18" charset="0"/>
                <a:cs typeface="Times New Roman" pitchFamily="18" charset="0"/>
              </a:rPr>
              <a:t> in the state had contributed in no small measure to the high failure rates being recorded in the professional examinations for which ill-prepared candidates offer themselves.  A lot of resources had been lost by such candidates in that process. </a:t>
            </a:r>
          </a:p>
          <a:p>
            <a:pPr algn="just"/>
            <a:r>
              <a:rPr lang="en-US" sz="8000" dirty="0" smtClean="0">
                <a:latin typeface="Times New Roman" pitchFamily="18" charset="0"/>
                <a:cs typeface="Times New Roman" pitchFamily="18" charset="0"/>
              </a:rPr>
              <a:t>The Bursary department could champion the course of establishing a viable Professional Training Centre in the state, given the enormous facilities available with the University campus.  Most candidates would prefer to register with the University managed Training Centre instead of travelling to far away locations for such training </a:t>
            </a:r>
            <a:r>
              <a:rPr lang="en-US" sz="8000" dirty="0" err="1" smtClean="0">
                <a:latin typeface="Times New Roman" pitchFamily="18" charset="0"/>
                <a:cs typeface="Times New Roman" pitchFamily="18" charset="0"/>
              </a:rPr>
              <a:t>programmes</a:t>
            </a:r>
            <a:r>
              <a:rPr lang="en-US" sz="8000" dirty="0" smtClean="0">
                <a:latin typeface="Times New Roman" pitchFamily="18" charset="0"/>
                <a:cs typeface="Times New Roman" pitchFamily="18" charset="0"/>
              </a:rPr>
              <a:t>.</a:t>
            </a:r>
          </a:p>
          <a:p>
            <a:endParaRPr lang="en-US" dirty="0"/>
          </a:p>
        </p:txBody>
      </p:sp>
      <p:pic>
        <p:nvPicPr>
          <p:cNvPr id="15362"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4724400"/>
          </a:xfrm>
        </p:spPr>
        <p:txBody>
          <a:bodyPr>
            <a:normAutofit fontScale="25000" lnSpcReduction="20000"/>
          </a:bodyPr>
          <a:lstStyle/>
          <a:p>
            <a:pPr lvl="0">
              <a:buNone/>
            </a:pPr>
            <a:r>
              <a:rPr lang="en-US" b="1" dirty="0" smtClean="0"/>
              <a:t>	</a:t>
            </a:r>
            <a:r>
              <a:rPr lang="en-US" sz="7200" b="1" dirty="0" smtClean="0">
                <a:solidFill>
                  <a:schemeClr val="bg1">
                    <a:lumMod val="75000"/>
                  </a:schemeClr>
                </a:solidFill>
                <a:latin typeface="Times New Roman" pitchFamily="18" charset="0"/>
                <a:cs typeface="Times New Roman" pitchFamily="18" charset="0"/>
              </a:rPr>
              <a:t>IGR Generation By State and Local Government</a:t>
            </a:r>
            <a:endParaRPr lang="en-US" sz="7200" dirty="0" smtClean="0">
              <a:solidFill>
                <a:schemeClr val="bg1">
                  <a:lumMod val="75000"/>
                </a:schemeClr>
              </a:solidFill>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In the light of declining oil revenue and subsequent constant reduction in the monthly allocations for states and local governments from the federation account, the University has the opportunity to carry out consultancy services to assist states and local government on strategies to be adopted to boost their Internally Generated Revenue.  This will no doubt assist the University in its resource mobilization for increased IGR.</a:t>
            </a:r>
          </a:p>
          <a:p>
            <a:pPr algn="just">
              <a:buNone/>
            </a:pPr>
            <a:r>
              <a:rPr lang="en-US" sz="7200" dirty="0" smtClean="0">
                <a:latin typeface="Times New Roman" pitchFamily="18" charset="0"/>
                <a:cs typeface="Times New Roman" pitchFamily="18" charset="0"/>
              </a:rPr>
              <a:t> 	</a:t>
            </a:r>
            <a:r>
              <a:rPr lang="en-US" sz="7200" b="1" dirty="0" smtClean="0">
                <a:solidFill>
                  <a:schemeClr val="accent5">
                    <a:lumMod val="60000"/>
                    <a:lumOff val="40000"/>
                  </a:schemeClr>
                </a:solidFill>
                <a:latin typeface="Times New Roman" pitchFamily="18" charset="0"/>
                <a:cs typeface="Times New Roman" pitchFamily="18" charset="0"/>
              </a:rPr>
              <a:t>Other Tertiary Institutions in </a:t>
            </a:r>
            <a:r>
              <a:rPr lang="en-US" sz="7200" b="1" dirty="0" err="1" smtClean="0">
                <a:solidFill>
                  <a:schemeClr val="accent5">
                    <a:lumMod val="60000"/>
                    <a:lumOff val="40000"/>
                  </a:schemeClr>
                </a:solidFill>
                <a:latin typeface="Times New Roman" pitchFamily="18" charset="0"/>
                <a:cs typeface="Times New Roman" pitchFamily="18" charset="0"/>
              </a:rPr>
              <a:t>Ekiti</a:t>
            </a:r>
            <a:r>
              <a:rPr lang="en-US" sz="7200" b="1" dirty="0" smtClean="0">
                <a:solidFill>
                  <a:schemeClr val="accent5">
                    <a:lumMod val="60000"/>
                    <a:lumOff val="40000"/>
                  </a:schemeClr>
                </a:solidFill>
                <a:latin typeface="Times New Roman" pitchFamily="18" charset="0"/>
                <a:cs typeface="Times New Roman" pitchFamily="18" charset="0"/>
              </a:rPr>
              <a:t> and </a:t>
            </a:r>
            <a:r>
              <a:rPr lang="en-US" sz="7200" b="1" dirty="0" err="1" smtClean="0">
                <a:solidFill>
                  <a:schemeClr val="accent5">
                    <a:lumMod val="60000"/>
                    <a:lumOff val="40000"/>
                  </a:schemeClr>
                </a:solidFill>
                <a:latin typeface="Times New Roman" pitchFamily="18" charset="0"/>
                <a:cs typeface="Times New Roman" pitchFamily="18" charset="0"/>
              </a:rPr>
              <a:t>Neighbouring</a:t>
            </a:r>
            <a:r>
              <a:rPr lang="en-US" sz="7200" b="1" dirty="0" smtClean="0">
                <a:solidFill>
                  <a:schemeClr val="accent5">
                    <a:lumMod val="60000"/>
                    <a:lumOff val="40000"/>
                  </a:schemeClr>
                </a:solidFill>
                <a:latin typeface="Times New Roman" pitchFamily="18" charset="0"/>
                <a:cs typeface="Times New Roman" pitchFamily="18" charset="0"/>
              </a:rPr>
              <a:t> States</a:t>
            </a:r>
            <a:endParaRPr lang="en-US" sz="7200" dirty="0" smtClean="0">
              <a:solidFill>
                <a:schemeClr val="accent5">
                  <a:lumMod val="60000"/>
                  <a:lumOff val="40000"/>
                </a:schemeClr>
              </a:solidFill>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 existence of Federal, State and even private Tertiary Institutions in </a:t>
            </a:r>
            <a:r>
              <a:rPr lang="en-US" sz="7200" dirty="0" err="1" smtClean="0">
                <a:latin typeface="Times New Roman" pitchFamily="18" charset="0"/>
                <a:cs typeface="Times New Roman" pitchFamily="18" charset="0"/>
              </a:rPr>
              <a:t>Ekiti</a:t>
            </a:r>
            <a:r>
              <a:rPr lang="en-US" sz="7200" dirty="0" smtClean="0">
                <a:latin typeface="Times New Roman" pitchFamily="18" charset="0"/>
                <a:cs typeface="Times New Roman" pitchFamily="18" charset="0"/>
              </a:rPr>
              <a:t> State and other adjourning states could portend great measure of completion for the University.  Most of these Institutions run similar academic </a:t>
            </a:r>
            <a:r>
              <a:rPr lang="en-US" sz="7200" dirty="0" err="1" smtClean="0">
                <a:latin typeface="Times New Roman" pitchFamily="18" charset="0"/>
                <a:cs typeface="Times New Roman" pitchFamily="18" charset="0"/>
              </a:rPr>
              <a:t>programmes</a:t>
            </a:r>
            <a:r>
              <a:rPr lang="en-US" sz="7200" dirty="0" smtClean="0">
                <a:latin typeface="Times New Roman" pitchFamily="18" charset="0"/>
                <a:cs typeface="Times New Roman" pitchFamily="18" charset="0"/>
              </a:rPr>
              <a:t> with those existing in our University and thus offer alternative options for candidates who would have preferred our University if such other Institutions do not exist. </a:t>
            </a:r>
          </a:p>
          <a:p>
            <a:pPr algn="just"/>
            <a:r>
              <a:rPr lang="en-US" sz="7200" dirty="0" smtClean="0">
                <a:latin typeface="Times New Roman" pitchFamily="18" charset="0"/>
                <a:cs typeface="Times New Roman" pitchFamily="18" charset="0"/>
              </a:rPr>
              <a:t>Furthermore, these other Institutions could offer better condition of service, which could easily attract our well trained and experienced staff to take up appointments with them.  This portends a great challenge to the University and hence the need to put in place adequate measure of strategies for human capital motivation, re-training, and commensurate reward and compensation for diligent performances.  This is very important as most of these competitors have access to better funding and thus able to attract and retain competent and experienced staff from time to time.</a:t>
            </a:r>
          </a:p>
          <a:p>
            <a:endParaRPr lang="en-US" dirty="0"/>
          </a:p>
        </p:txBody>
      </p:sp>
      <p:pic>
        <p:nvPicPr>
          <p:cNvPr id="16386" name="Picture 2" descr="C:\Users\AMIRA\Desktop\af.jpg"/>
          <p:cNvPicPr>
            <a:picLocks noChangeAspect="1" noChangeArrowheads="1"/>
          </p:cNvPicPr>
          <p:nvPr/>
        </p:nvPicPr>
        <p:blipFill>
          <a:blip r:embed="rId2"/>
          <a:srcRect/>
          <a:stretch>
            <a:fillRect/>
          </a:stretch>
        </p:blipFill>
        <p:spPr bwMode="auto">
          <a:xfrm>
            <a:off x="0" y="1"/>
            <a:ext cx="1400175" cy="1828800"/>
          </a:xfrm>
          <a:prstGeom prst="rect">
            <a:avLst/>
          </a:prstGeom>
          <a:noFill/>
        </p:spPr>
      </p:pic>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05000"/>
            <a:ext cx="8229600" cy="4495800"/>
          </a:xfrm>
        </p:spPr>
        <p:txBody>
          <a:bodyPr>
            <a:normAutofit fontScale="25000" lnSpcReduction="20000"/>
          </a:bodyPr>
          <a:lstStyle/>
          <a:p>
            <a:pPr lvl="0" algn="just">
              <a:buNone/>
            </a:pPr>
            <a:r>
              <a:rPr lang="en-US" sz="8000" b="1" dirty="0" smtClean="0">
                <a:solidFill>
                  <a:schemeClr val="accent5">
                    <a:lumMod val="60000"/>
                    <a:lumOff val="40000"/>
                  </a:schemeClr>
                </a:solidFill>
                <a:latin typeface="Times New Roman" pitchFamily="18" charset="0"/>
                <a:cs typeface="Times New Roman" pitchFamily="18" charset="0"/>
              </a:rPr>
              <a:t>Inadequate Manpower and other Facilities</a:t>
            </a:r>
            <a:endParaRPr lang="en-US" sz="8000" dirty="0" smtClean="0">
              <a:solidFill>
                <a:schemeClr val="accent5">
                  <a:lumMod val="60000"/>
                  <a:lumOff val="40000"/>
                </a:schemeClr>
              </a:solidFill>
              <a:latin typeface="Times New Roman" pitchFamily="18" charset="0"/>
              <a:cs typeface="Times New Roman" pitchFamily="18" charset="0"/>
            </a:endParaRPr>
          </a:p>
          <a:p>
            <a:pPr algn="just">
              <a:buNone/>
            </a:pPr>
            <a:r>
              <a:rPr lang="en-US" sz="8000" dirty="0" smtClean="0">
                <a:latin typeface="Times New Roman" pitchFamily="18" charset="0"/>
                <a:cs typeface="Times New Roman" pitchFamily="18" charset="0"/>
              </a:rPr>
              <a:t>	The Bursary Department saddled with the responsibilities of managing the finances of the University and block leakages is hitherto operating with less than50% of the staff required to function effectively. The department also lacks basic infrastructure for effective service delivery.  Specifically, the department is faced with the following deficiencies:</a:t>
            </a:r>
          </a:p>
          <a:p>
            <a:pPr algn="just">
              <a:buNone/>
            </a:pPr>
            <a:r>
              <a:rPr lang="en-US" sz="8000" dirty="0" smtClean="0">
                <a:latin typeface="Times New Roman" pitchFamily="18" charset="0"/>
                <a:cs typeface="Times New Roman" pitchFamily="18" charset="0"/>
              </a:rPr>
              <a:t> </a:t>
            </a:r>
          </a:p>
          <a:p>
            <a:pPr lvl="1" algn="just"/>
            <a:r>
              <a:rPr lang="en-US" sz="8000" dirty="0" smtClean="0">
                <a:latin typeface="Times New Roman" pitchFamily="18" charset="0"/>
                <a:cs typeface="Times New Roman" pitchFamily="18" charset="0"/>
              </a:rPr>
              <a:t>inadequate office spaces</a:t>
            </a:r>
          </a:p>
          <a:p>
            <a:pPr lvl="1" algn="just"/>
            <a:r>
              <a:rPr lang="en-US" sz="8000" dirty="0" smtClean="0">
                <a:latin typeface="Times New Roman" pitchFamily="18" charset="0"/>
                <a:cs typeface="Times New Roman" pitchFamily="18" charset="0"/>
              </a:rPr>
              <a:t>inadequate number of computers, photocopiers and office furniture</a:t>
            </a:r>
          </a:p>
          <a:p>
            <a:pPr lvl="1" algn="just"/>
            <a:r>
              <a:rPr lang="en-US" sz="8000" dirty="0" smtClean="0">
                <a:latin typeface="Times New Roman" pitchFamily="18" charset="0"/>
                <a:cs typeface="Times New Roman" pitchFamily="18" charset="0"/>
              </a:rPr>
              <a:t>inadequate number of air-conditioner installed in their offices</a:t>
            </a:r>
          </a:p>
          <a:p>
            <a:pPr lvl="1" algn="just"/>
            <a:r>
              <a:rPr lang="en-US" sz="8000" dirty="0" smtClean="0">
                <a:latin typeface="Times New Roman" pitchFamily="18" charset="0"/>
                <a:cs typeface="Times New Roman" pitchFamily="18" charset="0"/>
              </a:rPr>
              <a:t>lack of online banking facilities</a:t>
            </a:r>
          </a:p>
          <a:p>
            <a:pPr lvl="1" algn="just"/>
            <a:r>
              <a:rPr lang="en-US" sz="8000" dirty="0" smtClean="0">
                <a:latin typeface="Times New Roman" pitchFamily="18" charset="0"/>
                <a:cs typeface="Times New Roman" pitchFamily="18" charset="0"/>
              </a:rPr>
              <a:t>lack of terminal machines for service delivery</a:t>
            </a:r>
          </a:p>
          <a:p>
            <a:pPr lvl="1" algn="just"/>
            <a:r>
              <a:rPr lang="en-US" sz="8000" dirty="0" smtClean="0">
                <a:latin typeface="Times New Roman" pitchFamily="18" charset="0"/>
                <a:cs typeface="Times New Roman" pitchFamily="18" charset="0"/>
              </a:rPr>
              <a:t>inadequate number of motor vehicles</a:t>
            </a:r>
          </a:p>
          <a:p>
            <a:pPr lvl="1" algn="just"/>
            <a:r>
              <a:rPr lang="en-US" sz="8000" dirty="0" smtClean="0">
                <a:latin typeface="Times New Roman" pitchFamily="18" charset="0"/>
                <a:cs typeface="Times New Roman" pitchFamily="18" charset="0"/>
              </a:rPr>
              <a:t>inadequate toilet facilities; and</a:t>
            </a:r>
          </a:p>
          <a:p>
            <a:pPr lvl="1" algn="just"/>
            <a:r>
              <a:rPr lang="en-US" sz="8000" dirty="0" smtClean="0">
                <a:latin typeface="Times New Roman" pitchFamily="18" charset="0"/>
                <a:cs typeface="Times New Roman" pitchFamily="18" charset="0"/>
              </a:rPr>
              <a:t>lack of access to multimedia facilities</a:t>
            </a:r>
          </a:p>
          <a:p>
            <a:endParaRPr lang="en-US" dirty="0"/>
          </a:p>
        </p:txBody>
      </p:sp>
      <p:pic>
        <p:nvPicPr>
          <p:cNvPr id="17410" name="Picture 2" descr="C:\Users\AMIRA\Desktop\af.jpg"/>
          <p:cNvPicPr>
            <a:picLocks noChangeAspect="1" noChangeArrowheads="1"/>
          </p:cNvPicPr>
          <p:nvPr/>
        </p:nvPicPr>
        <p:blipFill>
          <a:blip r:embed="rId2"/>
          <a:srcRect/>
          <a:stretch>
            <a:fillRect/>
          </a:stretch>
        </p:blipFill>
        <p:spPr bwMode="auto">
          <a:xfrm>
            <a:off x="0" y="1"/>
            <a:ext cx="1400175" cy="1904999"/>
          </a:xfrm>
          <a:prstGeom prst="rect">
            <a:avLst/>
          </a:prstGeom>
          <a:noFill/>
        </p:spPr>
      </p:pic>
    </p:spTree>
  </p:cSld>
  <p:clrMapOvr>
    <a:masterClrMapping/>
  </p:clrMapOvr>
  <p:transition>
    <p:strips dir="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72000"/>
          </a:xfrm>
        </p:spPr>
        <p:txBody>
          <a:bodyPr>
            <a:normAutofit fontScale="25000" lnSpcReduction="20000"/>
          </a:bodyPr>
          <a:lstStyle/>
          <a:p>
            <a:pPr>
              <a:buNone/>
            </a:pPr>
            <a:r>
              <a:rPr lang="en-US" b="1" dirty="0" smtClean="0"/>
              <a:t>	</a:t>
            </a:r>
            <a:r>
              <a:rPr lang="en-US" sz="8000" b="1" dirty="0" smtClean="0">
                <a:solidFill>
                  <a:schemeClr val="accent5">
                    <a:lumMod val="60000"/>
                    <a:lumOff val="40000"/>
                  </a:schemeClr>
                </a:solidFill>
                <a:latin typeface="Times New Roman" pitchFamily="18" charset="0"/>
                <a:cs typeface="Times New Roman" pitchFamily="18" charset="0"/>
              </a:rPr>
              <a:t>Current Funding and Strategies for Improvement</a:t>
            </a:r>
            <a:endParaRPr lang="en-US" sz="8000" dirty="0" smtClean="0">
              <a:solidFill>
                <a:schemeClr val="accent5">
                  <a:lumMod val="60000"/>
                  <a:lumOff val="40000"/>
                </a:schemeClr>
              </a:solidFill>
              <a:latin typeface="Times New Roman" pitchFamily="18" charset="0"/>
              <a:cs typeface="Times New Roman" pitchFamily="18" charset="0"/>
            </a:endParaRPr>
          </a:p>
          <a:p>
            <a:pPr>
              <a:buNone/>
            </a:pPr>
            <a:r>
              <a:rPr lang="en-US" sz="8000" dirty="0" smtClean="0">
                <a:latin typeface="Times New Roman" pitchFamily="18" charset="0"/>
                <a:cs typeface="Times New Roman" pitchFamily="18" charset="0"/>
              </a:rPr>
              <a:t>	The University hitherto derives revenue from the following sources in addition to the monthly recurrent subvention from the </a:t>
            </a:r>
            <a:r>
              <a:rPr lang="en-US" sz="8000" dirty="0" err="1" smtClean="0">
                <a:latin typeface="Times New Roman" pitchFamily="18" charset="0"/>
                <a:cs typeface="Times New Roman" pitchFamily="18" charset="0"/>
              </a:rPr>
              <a:t>Ekiti</a:t>
            </a:r>
            <a:r>
              <a:rPr lang="en-US" sz="8000" dirty="0" smtClean="0">
                <a:latin typeface="Times New Roman" pitchFamily="18" charset="0"/>
                <a:cs typeface="Times New Roman" pitchFamily="18" charset="0"/>
              </a:rPr>
              <a:t> State Government, </a:t>
            </a:r>
          </a:p>
          <a:p>
            <a:pPr lvl="0"/>
            <a:r>
              <a:rPr lang="en-US" sz="8000" dirty="0" smtClean="0">
                <a:latin typeface="Times New Roman" pitchFamily="18" charset="0"/>
                <a:cs typeface="Times New Roman" pitchFamily="18" charset="0"/>
              </a:rPr>
              <a:t>Tertiary Education Trust Fund (Grants and Special Intervention Fund)</a:t>
            </a:r>
          </a:p>
          <a:p>
            <a:pPr lvl="0"/>
            <a:r>
              <a:rPr lang="en-US" sz="8000" dirty="0" smtClean="0">
                <a:latin typeface="Times New Roman" pitchFamily="18" charset="0"/>
                <a:cs typeface="Times New Roman" pitchFamily="18" charset="0"/>
              </a:rPr>
              <a:t>Student Tuition and Other Ancillary Fees</a:t>
            </a:r>
          </a:p>
          <a:p>
            <a:pPr lvl="0"/>
            <a:r>
              <a:rPr lang="en-US" sz="8000" dirty="0" smtClean="0">
                <a:latin typeface="Times New Roman" pitchFamily="18" charset="0"/>
                <a:cs typeface="Times New Roman" pitchFamily="18" charset="0"/>
              </a:rPr>
              <a:t>Student Hostel Fees</a:t>
            </a:r>
          </a:p>
          <a:p>
            <a:pPr lvl="0"/>
            <a:r>
              <a:rPr lang="en-US" sz="8000" dirty="0" smtClean="0">
                <a:latin typeface="Times New Roman" pitchFamily="18" charset="0"/>
                <a:cs typeface="Times New Roman" pitchFamily="18" charset="0"/>
              </a:rPr>
              <a:t>Notification of Results and Transcript Fees</a:t>
            </a:r>
          </a:p>
          <a:p>
            <a:pPr lvl="0"/>
            <a:r>
              <a:rPr lang="en-US" sz="8000" dirty="0" smtClean="0">
                <a:latin typeface="Times New Roman" pitchFamily="18" charset="0"/>
                <a:cs typeface="Times New Roman" pitchFamily="18" charset="0"/>
              </a:rPr>
              <a:t>Income from Bank deposits and Investments</a:t>
            </a:r>
          </a:p>
          <a:p>
            <a:pPr lvl="0"/>
            <a:r>
              <a:rPr lang="en-US" sz="8000" dirty="0" smtClean="0">
                <a:latin typeface="Times New Roman" pitchFamily="18" charset="0"/>
                <a:cs typeface="Times New Roman" pitchFamily="18" charset="0"/>
              </a:rPr>
              <a:t>Rent on University Property</a:t>
            </a:r>
          </a:p>
          <a:p>
            <a:pPr lvl="0"/>
            <a:r>
              <a:rPr lang="en-US" sz="8000" dirty="0" smtClean="0">
                <a:latin typeface="Times New Roman" pitchFamily="18" charset="0"/>
                <a:cs typeface="Times New Roman" pitchFamily="18" charset="0"/>
              </a:rPr>
              <a:t>Hire of Academic Gown/Robes</a:t>
            </a:r>
          </a:p>
          <a:p>
            <a:pPr lvl="0"/>
            <a:r>
              <a:rPr lang="en-US" sz="8000" dirty="0" smtClean="0">
                <a:latin typeface="Times New Roman" pitchFamily="18" charset="0"/>
                <a:cs typeface="Times New Roman" pitchFamily="18" charset="0"/>
              </a:rPr>
              <a:t>Health Services to Staff and Students</a:t>
            </a:r>
          </a:p>
          <a:p>
            <a:pPr lvl="0"/>
            <a:r>
              <a:rPr lang="en-US" sz="8000" dirty="0" smtClean="0">
                <a:latin typeface="Times New Roman" pitchFamily="18" charset="0"/>
                <a:cs typeface="Times New Roman" pitchFamily="18" charset="0"/>
              </a:rPr>
              <a:t>Contractors Registration and Tenders Fees</a:t>
            </a:r>
          </a:p>
          <a:p>
            <a:pPr lvl="0"/>
            <a:r>
              <a:rPr lang="en-US" sz="8000" dirty="0" smtClean="0">
                <a:latin typeface="Times New Roman" pitchFamily="18" charset="0"/>
                <a:cs typeface="Times New Roman" pitchFamily="18" charset="0"/>
              </a:rPr>
              <a:t>University Bus Service</a:t>
            </a:r>
          </a:p>
          <a:p>
            <a:endParaRPr lang="en-US" dirty="0"/>
          </a:p>
        </p:txBody>
      </p:sp>
      <p:pic>
        <p:nvPicPr>
          <p:cNvPr id="19458" name="Picture 2" descr="C:\Users\AMIRA\Desktop\af.jpg"/>
          <p:cNvPicPr>
            <a:picLocks noChangeAspect="1" noChangeArrowheads="1"/>
          </p:cNvPicPr>
          <p:nvPr/>
        </p:nvPicPr>
        <p:blipFill>
          <a:blip r:embed="rId2"/>
          <a:srcRect/>
          <a:stretch>
            <a:fillRect/>
          </a:stretch>
        </p:blipFill>
        <p:spPr bwMode="auto">
          <a:xfrm>
            <a:off x="0" y="0"/>
            <a:ext cx="1400175" cy="1762125"/>
          </a:xfrm>
          <a:prstGeom prst="rect">
            <a:avLst/>
          </a:prstGeom>
          <a:noFill/>
        </p:spPr>
      </p:pic>
    </p:spTree>
  </p:cSld>
  <p:clrMapOvr>
    <a:masterClrMapping/>
  </p:clrMapOvr>
  <p:transition>
    <p:split dir="in"/>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72000"/>
          </a:xfrm>
        </p:spPr>
        <p:txBody>
          <a:bodyPr>
            <a:normAutofit fontScale="85000" lnSpcReduction="20000"/>
          </a:bodyPr>
          <a:lstStyle/>
          <a:p>
            <a:pPr>
              <a:buNone/>
            </a:pPr>
            <a:r>
              <a:rPr lang="en-US" b="1" dirty="0" smtClean="0"/>
              <a:t>	</a:t>
            </a:r>
            <a:r>
              <a:rPr lang="en-US" b="1" dirty="0" smtClean="0">
                <a:solidFill>
                  <a:schemeClr val="accent5">
                    <a:lumMod val="40000"/>
                    <a:lumOff val="60000"/>
                  </a:schemeClr>
                </a:solidFill>
                <a:latin typeface="Times New Roman" pitchFamily="18" charset="0"/>
                <a:cs typeface="Times New Roman" pitchFamily="18" charset="0"/>
              </a:rPr>
              <a:t>General Review of Existing Sources of Revenue and Strategy for Improvement</a:t>
            </a:r>
            <a:endParaRPr lang="en-US" dirty="0" smtClean="0">
              <a:solidFill>
                <a:schemeClr val="accent5">
                  <a:lumMod val="40000"/>
                  <a:lumOff val="60000"/>
                </a:schemeClr>
              </a:solidFill>
              <a:latin typeface="Times New Roman" pitchFamily="18" charset="0"/>
              <a:cs typeface="Times New Roman" pitchFamily="18" charset="0"/>
            </a:endParaRPr>
          </a:p>
          <a:p>
            <a:pPr algn="just">
              <a:buNone/>
            </a:pPr>
            <a:r>
              <a:rPr lang="en-US" dirty="0" smtClean="0">
                <a:latin typeface="Times New Roman" pitchFamily="18" charset="0"/>
                <a:cs typeface="Times New Roman" pitchFamily="18" charset="0"/>
              </a:rPr>
              <a:t>	The inevitability of having sustainable sources of Internally Generated Revenue in Tertiary Institutions in Nigeria has become more prominent in view of the dwindling federal revenue from oil and monumental decline in the periodic revenue allocation accruing to each state government from the federation account.  Most state-owned Tertiary Institutions have found it extremely difficult to perform their statutory roles due to paucity of funds as their expectations in terms of monthly subventions have not been fully satisfied by the state government.</a:t>
            </a:r>
          </a:p>
          <a:p>
            <a:pPr algn="just">
              <a:buNone/>
            </a:pPr>
            <a:r>
              <a:rPr lang="en-US" dirty="0" smtClean="0">
                <a:latin typeface="Times New Roman" pitchFamily="18" charset="0"/>
                <a:cs typeface="Times New Roman" pitchFamily="18" charset="0"/>
              </a:rPr>
              <a:t>	This paper analyzed the various options open to the University in a bid to expand the sources of Internally Generated Revenue, mapping out the relevant strategies the University could adopt to improve the yields from the current sources and harness specific alternative sources of Internally Generated Revenue and maximize its usage to guarantee effective sustainability.</a:t>
            </a:r>
          </a:p>
          <a:p>
            <a:endParaRPr lang="en-US" dirty="0"/>
          </a:p>
        </p:txBody>
      </p:sp>
      <p:pic>
        <p:nvPicPr>
          <p:cNvPr id="18434"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05000"/>
            <a:ext cx="8229600" cy="4221163"/>
          </a:xfrm>
        </p:spPr>
        <p:txBody>
          <a:bodyPr>
            <a:normAutofit/>
          </a:bodyPr>
          <a:lstStyle/>
          <a:p>
            <a:pPr lvl="0"/>
            <a:r>
              <a:rPr lang="en-US" sz="2300" dirty="0" smtClean="0">
                <a:latin typeface="Times New Roman" pitchFamily="18" charset="0"/>
                <a:cs typeface="Times New Roman" pitchFamily="18" charset="0"/>
              </a:rPr>
              <a:t>Income from Investment in Shares</a:t>
            </a:r>
          </a:p>
          <a:p>
            <a:pPr lvl="0"/>
            <a:r>
              <a:rPr lang="en-US" sz="2300" dirty="0" smtClean="0">
                <a:latin typeface="Times New Roman" pitchFamily="18" charset="0"/>
                <a:cs typeface="Times New Roman" pitchFamily="18" charset="0"/>
              </a:rPr>
              <a:t>Use of ICT Facilities</a:t>
            </a:r>
          </a:p>
          <a:p>
            <a:pPr lvl="0"/>
            <a:r>
              <a:rPr lang="en-US" sz="2300" dirty="0" smtClean="0">
                <a:latin typeface="Times New Roman" pitchFamily="18" charset="0"/>
                <a:cs typeface="Times New Roman" pitchFamily="18" charset="0"/>
              </a:rPr>
              <a:t>Consultancy services</a:t>
            </a:r>
          </a:p>
          <a:p>
            <a:pPr lvl="0"/>
            <a:r>
              <a:rPr lang="en-US" sz="2300" dirty="0" smtClean="0">
                <a:latin typeface="Times New Roman" pitchFamily="18" charset="0"/>
                <a:cs typeface="Times New Roman" pitchFamily="18" charset="0"/>
              </a:rPr>
              <a:t>Alumni Fees</a:t>
            </a:r>
          </a:p>
          <a:p>
            <a:pPr lvl="0"/>
            <a:r>
              <a:rPr lang="en-US" sz="2300" dirty="0" smtClean="0">
                <a:latin typeface="Times New Roman" pitchFamily="18" charset="0"/>
                <a:cs typeface="Times New Roman" pitchFamily="18" charset="0"/>
              </a:rPr>
              <a:t>Library Bindery and Photocopying Services</a:t>
            </a:r>
          </a:p>
          <a:p>
            <a:pPr lvl="0"/>
            <a:r>
              <a:rPr lang="en-US" sz="2300" dirty="0" smtClean="0">
                <a:latin typeface="Times New Roman" pitchFamily="18" charset="0"/>
                <a:cs typeface="Times New Roman" pitchFamily="18" charset="0"/>
              </a:rPr>
              <a:t>Club Registration and Renewal Fees</a:t>
            </a:r>
          </a:p>
          <a:p>
            <a:pPr lvl="0"/>
            <a:r>
              <a:rPr lang="en-US" sz="2300" dirty="0" smtClean="0">
                <a:latin typeface="Times New Roman" pitchFamily="18" charset="0"/>
                <a:cs typeface="Times New Roman" pitchFamily="18" charset="0"/>
              </a:rPr>
              <a:t>Donations</a:t>
            </a:r>
          </a:p>
          <a:p>
            <a:pPr lvl="0"/>
            <a:r>
              <a:rPr lang="en-US" sz="2300" dirty="0" smtClean="0">
                <a:latin typeface="Times New Roman" pitchFamily="18" charset="0"/>
                <a:cs typeface="Times New Roman" pitchFamily="18" charset="0"/>
              </a:rPr>
              <a:t>Endowment Fund</a:t>
            </a:r>
          </a:p>
          <a:p>
            <a:endParaRPr lang="en-US" dirty="0"/>
          </a:p>
        </p:txBody>
      </p:sp>
      <p:pic>
        <p:nvPicPr>
          <p:cNvPr id="20482" name="Picture 2" descr="C:\Users\AMIRA\Desktop\af.jpg"/>
          <p:cNvPicPr>
            <a:picLocks noChangeAspect="1" noChangeArrowheads="1"/>
          </p:cNvPicPr>
          <p:nvPr/>
        </p:nvPicPr>
        <p:blipFill>
          <a:blip r:embed="rId2"/>
          <a:srcRect/>
          <a:stretch>
            <a:fillRect/>
          </a:stretch>
        </p:blipFill>
        <p:spPr bwMode="auto">
          <a:xfrm>
            <a:off x="0" y="228601"/>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295400"/>
            <a:ext cx="8229600" cy="4953000"/>
          </a:xfrm>
        </p:spPr>
        <p:txBody>
          <a:bodyPr>
            <a:normAutofit fontScale="25000" lnSpcReduction="20000"/>
          </a:bodyPr>
          <a:lstStyle/>
          <a:p>
            <a:pPr algn="just">
              <a:buNone/>
            </a:pPr>
            <a:r>
              <a:rPr lang="en-US" sz="8000" dirty="0" smtClean="0">
                <a:latin typeface="Times New Roman" pitchFamily="18" charset="0"/>
                <a:cs typeface="Times New Roman" pitchFamily="18" charset="0"/>
              </a:rPr>
              <a:t>	As wide as the scope and sources of the Internally Generated Revenue (IGR) may appear, the extent of funding through these sources still leave much to be desired.</a:t>
            </a:r>
          </a:p>
          <a:p>
            <a:pPr algn="just">
              <a:buNone/>
            </a:pPr>
            <a:r>
              <a:rPr lang="en-US" sz="8000" dirty="0" smtClean="0">
                <a:latin typeface="Times New Roman" pitchFamily="18" charset="0"/>
                <a:cs typeface="Times New Roman" pitchFamily="18" charset="0"/>
              </a:rPr>
              <a:t> </a:t>
            </a:r>
          </a:p>
          <a:p>
            <a:pPr algn="just">
              <a:buNone/>
            </a:pPr>
            <a:r>
              <a:rPr lang="en-US" sz="8000" b="1" dirty="0" smtClean="0">
                <a:latin typeface="Times New Roman" pitchFamily="18" charset="0"/>
                <a:cs typeface="Times New Roman" pitchFamily="18" charset="0"/>
              </a:rPr>
              <a:t>	</a:t>
            </a:r>
            <a:r>
              <a:rPr lang="en-US" sz="8000" b="1" dirty="0" smtClean="0">
                <a:solidFill>
                  <a:schemeClr val="accent5">
                    <a:lumMod val="60000"/>
                    <a:lumOff val="40000"/>
                  </a:schemeClr>
                </a:solidFill>
                <a:latin typeface="Times New Roman" pitchFamily="18" charset="0"/>
                <a:cs typeface="Times New Roman" pitchFamily="18" charset="0"/>
              </a:rPr>
              <a:t>Strategies for Improvement</a:t>
            </a:r>
            <a:endParaRPr lang="en-US" sz="8000" dirty="0" smtClean="0">
              <a:solidFill>
                <a:schemeClr val="accent5">
                  <a:lumMod val="60000"/>
                  <a:lumOff val="40000"/>
                </a:schemeClr>
              </a:solidFill>
              <a:latin typeface="Times New Roman" pitchFamily="18" charset="0"/>
              <a:cs typeface="Times New Roman" pitchFamily="18" charset="0"/>
            </a:endParaRPr>
          </a:p>
          <a:p>
            <a:pPr algn="just"/>
            <a:r>
              <a:rPr lang="en-US" sz="8000" dirty="0" smtClean="0">
                <a:latin typeface="Times New Roman" pitchFamily="18" charset="0"/>
                <a:cs typeface="Times New Roman" pitchFamily="18" charset="0"/>
              </a:rPr>
              <a:t>There is a wide room for improvement in the process and procedures for harnessing revenue from the afore-mentioned sources and the following suggestions could be relevant in respect of each of the sources.</a:t>
            </a:r>
          </a:p>
          <a:p>
            <a:pPr algn="just">
              <a:buNone/>
            </a:pPr>
            <a:r>
              <a:rPr lang="en-US" sz="8000" dirty="0" smtClean="0">
                <a:latin typeface="Times New Roman" pitchFamily="18" charset="0"/>
                <a:cs typeface="Times New Roman" pitchFamily="18" charset="0"/>
              </a:rPr>
              <a:t> </a:t>
            </a:r>
          </a:p>
          <a:p>
            <a:pPr lvl="0" algn="just">
              <a:buNone/>
            </a:pPr>
            <a:r>
              <a:rPr lang="en-US" sz="8000" b="1" dirty="0" smtClean="0">
                <a:latin typeface="Times New Roman" pitchFamily="18" charset="0"/>
                <a:cs typeface="Times New Roman" pitchFamily="18" charset="0"/>
              </a:rPr>
              <a:t>	</a:t>
            </a:r>
            <a:r>
              <a:rPr lang="en-US" sz="8000" b="1" dirty="0" smtClean="0">
                <a:solidFill>
                  <a:schemeClr val="accent5">
                    <a:lumMod val="60000"/>
                    <a:lumOff val="40000"/>
                  </a:schemeClr>
                </a:solidFill>
                <a:latin typeface="Times New Roman" pitchFamily="18" charset="0"/>
                <a:cs typeface="Times New Roman" pitchFamily="18" charset="0"/>
              </a:rPr>
              <a:t>Tertiary Education Trust Fund</a:t>
            </a:r>
            <a:endParaRPr lang="en-US" sz="8000" dirty="0" smtClean="0">
              <a:solidFill>
                <a:schemeClr val="accent5">
                  <a:lumMod val="60000"/>
                  <a:lumOff val="40000"/>
                </a:schemeClr>
              </a:solidFill>
              <a:latin typeface="Times New Roman" pitchFamily="18" charset="0"/>
              <a:cs typeface="Times New Roman" pitchFamily="18" charset="0"/>
            </a:endParaRPr>
          </a:p>
          <a:p>
            <a:pPr algn="just"/>
            <a:r>
              <a:rPr lang="en-US" sz="8000" dirty="0" smtClean="0">
                <a:latin typeface="Times New Roman" pitchFamily="18" charset="0"/>
                <a:cs typeface="Times New Roman" pitchFamily="18" charset="0"/>
              </a:rPr>
              <a:t>The Tertiary Education Trust Fund has been a major means of financing most of the capital projects in the University in recent times To ensure that the University derives maximum benefit from this source, Management should ensure:</a:t>
            </a:r>
          </a:p>
          <a:p>
            <a:pPr lvl="0" algn="just"/>
            <a:r>
              <a:rPr lang="en-US" sz="8000" dirty="0" smtClean="0">
                <a:latin typeface="Times New Roman" pitchFamily="18" charset="0"/>
                <a:cs typeface="Times New Roman" pitchFamily="18" charset="0"/>
              </a:rPr>
              <a:t>Total compliance with the rules and regulations guiding the disbursement and utilization of the fund accruing from this source</a:t>
            </a:r>
          </a:p>
          <a:p>
            <a:pPr lvl="0" algn="just"/>
            <a:r>
              <a:rPr lang="en-US" sz="8000" dirty="0" smtClean="0">
                <a:latin typeface="Times New Roman" pitchFamily="18" charset="0"/>
                <a:cs typeface="Times New Roman" pitchFamily="18" charset="0"/>
              </a:rPr>
              <a:t>Adequate control measures are put in place to ensure that projects funded through this source are executed strictly in accordance with the details specified in the Bill of  Quantities</a:t>
            </a:r>
          </a:p>
          <a:p>
            <a:endParaRPr lang="en-US" dirty="0"/>
          </a:p>
        </p:txBody>
      </p:sp>
      <p:pic>
        <p:nvPicPr>
          <p:cNvPr id="21506" name="Picture 2" descr="C:\Users\AMIRA\Desktop\af.jpg"/>
          <p:cNvPicPr>
            <a:picLocks noChangeAspect="1" noChangeArrowheads="1"/>
          </p:cNvPicPr>
          <p:nvPr/>
        </p:nvPicPr>
        <p:blipFill>
          <a:blip r:embed="rId2"/>
          <a:srcRect/>
          <a:stretch>
            <a:fillRect/>
          </a:stretch>
        </p:blipFill>
        <p:spPr bwMode="auto">
          <a:xfrm>
            <a:off x="0" y="1"/>
            <a:ext cx="1400175" cy="1371599"/>
          </a:xfrm>
          <a:prstGeom prst="rect">
            <a:avLst/>
          </a:prstGeom>
          <a:noFill/>
        </p:spPr>
      </p:pic>
    </p:spTree>
  </p:cSld>
  <p:clrMapOvr>
    <a:masterClrMapping/>
  </p:clrMapOvr>
  <p:transition>
    <p:checker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b="1" dirty="0"/>
          </a:p>
        </p:txBody>
      </p:sp>
      <p:sp>
        <p:nvSpPr>
          <p:cNvPr id="3" name="Content Placeholder 2"/>
          <p:cNvSpPr>
            <a:spLocks noGrp="1"/>
          </p:cNvSpPr>
          <p:nvPr>
            <p:ph sz="quarter" idx="1"/>
          </p:nvPr>
        </p:nvSpPr>
        <p:spPr>
          <a:xfrm>
            <a:off x="457200" y="1828800"/>
            <a:ext cx="8229600" cy="4724400"/>
          </a:xfrm>
        </p:spPr>
        <p:txBody>
          <a:bodyPr>
            <a:normAutofit fontScale="92500" lnSpcReduction="10000"/>
          </a:bodyPr>
          <a:lstStyle/>
          <a:p>
            <a:pPr lvl="0" algn="just"/>
            <a:r>
              <a:rPr lang="en-US" dirty="0" smtClean="0">
                <a:latin typeface="Times New Roman" pitchFamily="18" charset="0"/>
                <a:cs typeface="Times New Roman" pitchFamily="18" charset="0"/>
              </a:rPr>
              <a:t>That all contracts for building construction and supplies are in full compliance with the provisions of the National Procurement Act.</a:t>
            </a:r>
          </a:p>
          <a:p>
            <a:pPr lvl="0" algn="just"/>
            <a:r>
              <a:rPr lang="en-US" dirty="0" smtClean="0">
                <a:latin typeface="Times New Roman" pitchFamily="18" charset="0"/>
                <a:cs typeface="Times New Roman" pitchFamily="18" charset="0"/>
              </a:rPr>
              <a:t>That there is proper cooperation and collaboration between the Procurement Unit, Physical Planning,  Works &amp; Services, Internal Audit and the Bursary department at every stage of project execution to ensure that the University actually derive good value from the amount disbursed for the purpose of the relevant capital projects.</a:t>
            </a:r>
          </a:p>
          <a:p>
            <a:pPr lvl="0" algn="just"/>
            <a:r>
              <a:rPr lang="en-US" dirty="0" smtClean="0">
                <a:latin typeface="Times New Roman" pitchFamily="18" charset="0"/>
                <a:cs typeface="Times New Roman" pitchFamily="18" charset="0"/>
              </a:rPr>
              <a:t>All staff involved in the planning and implementation of projects under the TETFUND </a:t>
            </a:r>
            <a:r>
              <a:rPr lang="en-US" dirty="0" err="1" smtClean="0">
                <a:latin typeface="Times New Roman" pitchFamily="18" charset="0"/>
                <a:cs typeface="Times New Roman" pitchFamily="18" charset="0"/>
              </a:rPr>
              <a:t>programme</a:t>
            </a:r>
            <a:r>
              <a:rPr lang="en-US" dirty="0" smtClean="0">
                <a:latin typeface="Times New Roman" pitchFamily="18" charset="0"/>
                <a:cs typeface="Times New Roman" pitchFamily="18" charset="0"/>
              </a:rPr>
              <a:t> should be properly trained to ensure that they possess the relevant skills that could guarantee optimum performance in the discharge of their respective assignments.</a:t>
            </a:r>
          </a:p>
          <a:p>
            <a:pPr lvl="0" algn="just"/>
            <a:r>
              <a:rPr lang="en-US" dirty="0" smtClean="0">
                <a:latin typeface="Times New Roman" pitchFamily="18" charset="0"/>
                <a:cs typeface="Times New Roman" pitchFamily="18" charset="0"/>
              </a:rPr>
              <a:t>That there is absolute transparency and proper accountability in the management and administration of the Fund </a:t>
            </a:r>
          </a:p>
          <a:p>
            <a:endParaRPr lang="en-US" dirty="0"/>
          </a:p>
        </p:txBody>
      </p:sp>
      <p:pic>
        <p:nvPicPr>
          <p:cNvPr id="22530"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81200"/>
            <a:ext cx="8229600" cy="4343400"/>
          </a:xfrm>
        </p:spPr>
        <p:txBody>
          <a:bodyPr>
            <a:normAutofit fontScale="25000" lnSpcReduction="20000"/>
          </a:bodyPr>
          <a:lstStyle/>
          <a:p>
            <a:pPr lvl="0" algn="just">
              <a:buNone/>
            </a:pPr>
            <a:r>
              <a:rPr lang="en-US" b="1" dirty="0" smtClean="0"/>
              <a:t>	</a:t>
            </a:r>
            <a:r>
              <a:rPr lang="en-US" sz="8000" b="1" dirty="0" smtClean="0">
                <a:solidFill>
                  <a:schemeClr val="accent5">
                    <a:lumMod val="60000"/>
                    <a:lumOff val="40000"/>
                  </a:schemeClr>
                </a:solidFill>
                <a:latin typeface="Times New Roman" pitchFamily="18" charset="0"/>
                <a:cs typeface="Times New Roman" pitchFamily="18" charset="0"/>
              </a:rPr>
              <a:t>Tuition and Other Fees</a:t>
            </a:r>
            <a:endParaRPr lang="en-US" sz="8000" dirty="0" smtClean="0">
              <a:solidFill>
                <a:schemeClr val="accent5">
                  <a:lumMod val="60000"/>
                  <a:lumOff val="40000"/>
                </a:schemeClr>
              </a:solidFill>
              <a:latin typeface="Times New Roman" pitchFamily="18" charset="0"/>
              <a:cs typeface="Times New Roman" pitchFamily="18" charset="0"/>
            </a:endParaRPr>
          </a:p>
          <a:p>
            <a:pPr algn="just"/>
            <a:r>
              <a:rPr lang="en-US" sz="8000" dirty="0" smtClean="0">
                <a:latin typeface="Times New Roman" pitchFamily="18" charset="0"/>
                <a:cs typeface="Times New Roman" pitchFamily="18" charset="0"/>
              </a:rPr>
              <a:t>This is another major source of IGR in the University.  The practice whereby the administration of the e-Payment System is being handled by consultants leaves much to be desired.  Apart from a huge percentage of the University’s revenue accruing to the Consultants as e-transact commission the University stands the risk of incurring substantial loss through fraudulent practices which might not be easily detectable. </a:t>
            </a:r>
          </a:p>
          <a:p>
            <a:pPr algn="just"/>
            <a:r>
              <a:rPr lang="en-US" sz="8000" dirty="0" smtClean="0">
                <a:latin typeface="Times New Roman" pitchFamily="18" charset="0"/>
                <a:cs typeface="Times New Roman" pitchFamily="18" charset="0"/>
              </a:rPr>
              <a:t>To ensure that the University derives maximum benefit from the payment of student tuition and other fees, Management should take the following measures:</a:t>
            </a:r>
          </a:p>
          <a:p>
            <a:pPr lvl="0" algn="just"/>
            <a:r>
              <a:rPr lang="en-US" sz="8000" dirty="0" smtClean="0">
                <a:latin typeface="Times New Roman" pitchFamily="18" charset="0"/>
                <a:cs typeface="Times New Roman" pitchFamily="18" charset="0"/>
              </a:rPr>
              <a:t>The University’s ICT unit should develop an effective e-Payment system to capture the payment of student tuition and other fees to save the cost in terms of commission that is hitherto being paid to the consultants handling the e-transact system.  This will also mitigate against the fraudulent practice that is inherent in the present approach.</a:t>
            </a:r>
          </a:p>
          <a:p>
            <a:pPr lvl="0" algn="just"/>
            <a:r>
              <a:rPr lang="en-US" sz="8000" dirty="0" smtClean="0">
                <a:latin typeface="Times New Roman" pitchFamily="18" charset="0"/>
                <a:cs typeface="Times New Roman" pitchFamily="18" charset="0"/>
              </a:rPr>
              <a:t>The ICT unit should be adequately staffed and equipped to be able to handle the additional responsibilities of managing the new e-Payment System.</a:t>
            </a:r>
          </a:p>
          <a:p>
            <a:endParaRPr lang="en-US" sz="8000" dirty="0"/>
          </a:p>
        </p:txBody>
      </p:sp>
      <p:pic>
        <p:nvPicPr>
          <p:cNvPr id="23554" name="Picture 2" descr="C:\Users\AMIRA\Desktop\af.jpg"/>
          <p:cNvPicPr>
            <a:picLocks noChangeAspect="1" noChangeArrowheads="1"/>
          </p:cNvPicPr>
          <p:nvPr/>
        </p:nvPicPr>
        <p:blipFill>
          <a:blip r:embed="rId2"/>
          <a:srcRect/>
          <a:stretch>
            <a:fillRect/>
          </a:stretch>
        </p:blipFill>
        <p:spPr bwMode="auto">
          <a:xfrm>
            <a:off x="152400" y="0"/>
            <a:ext cx="1400175" cy="1990725"/>
          </a:xfrm>
          <a:prstGeom prst="rect">
            <a:avLst/>
          </a:prstGeom>
          <a:noFill/>
        </p:spPr>
      </p:pic>
    </p:spTree>
  </p:cSld>
  <p:clrMapOvr>
    <a:masterClrMapping/>
  </p:clrMapOvr>
  <p:transition>
    <p:cut thruBlk="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533400" y="1752600"/>
            <a:ext cx="8229600" cy="4525963"/>
          </a:xfrm>
        </p:spPr>
        <p:txBody>
          <a:bodyPr>
            <a:normAutofit fontScale="92500" lnSpcReduction="10000"/>
          </a:bodyPr>
          <a:lstStyle/>
          <a:p>
            <a:pPr lvl="0" algn="just"/>
            <a:r>
              <a:rPr lang="en-US" dirty="0" smtClean="0">
                <a:latin typeface="Times New Roman" pitchFamily="18" charset="0"/>
                <a:cs typeface="Times New Roman" pitchFamily="18" charset="0"/>
              </a:rPr>
              <a:t>Since the state government had fixed the Tuition Fee at N30,000.00 (Thirty Thousand Naira) across board for all students regardless of the course of study, there could still be an upward review of some other components of the student fees such as the </a:t>
            </a:r>
            <a:r>
              <a:rPr lang="en-US" i="1" dirty="0" smtClean="0">
                <a:latin typeface="Times New Roman" pitchFamily="18" charset="0"/>
                <a:cs typeface="Times New Roman" pitchFamily="18" charset="0"/>
              </a:rPr>
              <a:t>Acceptance Fee, ICT, Laboratory, and Result Verification Fees</a:t>
            </a:r>
            <a:r>
              <a:rPr lang="en-US" dirty="0" smtClean="0">
                <a:latin typeface="Times New Roman" pitchFamily="18" charset="0"/>
                <a:cs typeface="Times New Roman" pitchFamily="18" charset="0"/>
              </a:rPr>
              <a:t> payable by newly admitted students.</a:t>
            </a:r>
          </a:p>
          <a:p>
            <a:pPr lvl="0" algn="just"/>
            <a:r>
              <a:rPr lang="en-US" dirty="0" smtClean="0">
                <a:latin typeface="Times New Roman" pitchFamily="18" charset="0"/>
                <a:cs typeface="Times New Roman" pitchFamily="18" charset="0"/>
              </a:rPr>
              <a:t>The </a:t>
            </a:r>
            <a:r>
              <a:rPr lang="en-US" i="1" dirty="0" smtClean="0">
                <a:latin typeface="Times New Roman" pitchFamily="18" charset="0"/>
                <a:cs typeface="Times New Roman" pitchFamily="18" charset="0"/>
              </a:rPr>
              <a:t>Transcript Issuance</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Alumni Fees</a:t>
            </a:r>
            <a:r>
              <a:rPr lang="en-US" dirty="0" smtClean="0">
                <a:latin typeface="Times New Roman" pitchFamily="18" charset="0"/>
                <a:cs typeface="Times New Roman" pitchFamily="18" charset="0"/>
              </a:rPr>
              <a:t> payable by each of the graduating students could also be reviewed upward.</a:t>
            </a:r>
          </a:p>
          <a:p>
            <a:pPr lvl="0" algn="just"/>
            <a:r>
              <a:rPr lang="en-US" dirty="0" smtClean="0">
                <a:latin typeface="Times New Roman" pitchFamily="18" charset="0"/>
                <a:cs typeface="Times New Roman" pitchFamily="18" charset="0"/>
              </a:rPr>
              <a:t>Similarly, the Hostel/Accommodation fee payable by the occupants of the University’s existing Student Hostels could be increased to make it competitive with what obtains in the environment while Management could invest on the construction of more blocks of student hostel through public-private-partnership arrangement to boost the revenue from this source.</a:t>
            </a:r>
          </a:p>
          <a:p>
            <a:endParaRPr lang="en-US" dirty="0"/>
          </a:p>
        </p:txBody>
      </p:sp>
      <p:pic>
        <p:nvPicPr>
          <p:cNvPr id="24578" name="Picture 2" descr="C:\Users\AMIRA\Desktop\af.jpg"/>
          <p:cNvPicPr>
            <a:picLocks noChangeAspect="1" noChangeArrowheads="1"/>
          </p:cNvPicPr>
          <p:nvPr/>
        </p:nvPicPr>
        <p:blipFill>
          <a:blip r:embed="rId2"/>
          <a:srcRect/>
          <a:stretch>
            <a:fillRect/>
          </a:stretch>
        </p:blipFill>
        <p:spPr bwMode="auto">
          <a:xfrm>
            <a:off x="152400" y="1"/>
            <a:ext cx="1400175" cy="1752600"/>
          </a:xfrm>
          <a:prstGeom prst="rect">
            <a:avLst/>
          </a:prstGeom>
          <a:noFill/>
        </p:spPr>
      </p:pic>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5029200"/>
          </a:xfrm>
        </p:spPr>
        <p:txBody>
          <a:bodyPr>
            <a:normAutofit fontScale="25000" lnSpcReduction="20000"/>
          </a:bodyPr>
          <a:lstStyle/>
          <a:p>
            <a:pPr lvl="0" algn="just">
              <a:buNone/>
            </a:pPr>
            <a:r>
              <a:rPr lang="en-US" b="1" dirty="0" smtClean="0"/>
              <a:t>	</a:t>
            </a:r>
            <a:r>
              <a:rPr lang="en-US" sz="8000" b="1" dirty="0" smtClean="0">
                <a:solidFill>
                  <a:schemeClr val="accent5">
                    <a:lumMod val="60000"/>
                    <a:lumOff val="40000"/>
                  </a:schemeClr>
                </a:solidFill>
                <a:latin typeface="Times New Roman" pitchFamily="18" charset="0"/>
                <a:cs typeface="Times New Roman" pitchFamily="18" charset="0"/>
              </a:rPr>
              <a:t>Income from Bank Deposits and Investments</a:t>
            </a:r>
            <a:endParaRPr lang="en-US" sz="8000" dirty="0" smtClean="0">
              <a:solidFill>
                <a:schemeClr val="accent5">
                  <a:lumMod val="60000"/>
                  <a:lumOff val="40000"/>
                </a:schemeClr>
              </a:solidFill>
              <a:latin typeface="Times New Roman" pitchFamily="18" charset="0"/>
              <a:cs typeface="Times New Roman" pitchFamily="18" charset="0"/>
            </a:endParaRPr>
          </a:p>
          <a:p>
            <a:pPr algn="just"/>
            <a:r>
              <a:rPr lang="en-US" sz="8000" dirty="0" smtClean="0">
                <a:latin typeface="Times New Roman" pitchFamily="18" charset="0"/>
                <a:cs typeface="Times New Roman" pitchFamily="18" charset="0"/>
              </a:rPr>
              <a:t>The University could earn substantial revenue through effective and efficient management of short-term investment of surplus funds instead of allowing such surplus funds to remain idle in the University’s current accounts with commercial banks.  Surplus funds could be invested in Fixed Deposits or the Federal Government Bonds with short term maturity to improve the University’s revenue earning capacity with little or no risks. In making decisions on short term investment of surplus funds, Management should consider the following measures:</a:t>
            </a:r>
          </a:p>
          <a:p>
            <a:pPr algn="just"/>
            <a:endParaRPr lang="en-US" sz="8000" dirty="0" smtClean="0">
              <a:latin typeface="Times New Roman" pitchFamily="18" charset="0"/>
              <a:cs typeface="Times New Roman" pitchFamily="18" charset="0"/>
            </a:endParaRPr>
          </a:p>
          <a:p>
            <a:pPr lvl="0" algn="just"/>
            <a:r>
              <a:rPr lang="en-US" sz="8000" dirty="0" smtClean="0">
                <a:latin typeface="Times New Roman" pitchFamily="18" charset="0"/>
                <a:cs typeface="Times New Roman" pitchFamily="18" charset="0"/>
              </a:rPr>
              <a:t>In short term investment of surplus funds, consider the Bank which offers the most </a:t>
            </a:r>
            <a:r>
              <a:rPr lang="en-US" sz="8000" dirty="0" err="1" smtClean="0">
                <a:latin typeface="Times New Roman" pitchFamily="18" charset="0"/>
                <a:cs typeface="Times New Roman" pitchFamily="18" charset="0"/>
              </a:rPr>
              <a:t>favourable</a:t>
            </a:r>
            <a:r>
              <a:rPr lang="en-US" sz="8000" dirty="0" smtClean="0">
                <a:latin typeface="Times New Roman" pitchFamily="18" charset="0"/>
                <a:cs typeface="Times New Roman" pitchFamily="18" charset="0"/>
              </a:rPr>
              <a:t> rates, tax implications, term to maturity, penalties for early withdrawal, availability of bridging finance, time period, alterations in returns for differing time periods and the inflationary risk of future spending.</a:t>
            </a:r>
          </a:p>
          <a:p>
            <a:pPr lvl="0" algn="just">
              <a:buNone/>
            </a:pPr>
            <a:endParaRPr lang="en-US" sz="8000" dirty="0" smtClean="0">
              <a:latin typeface="Times New Roman" pitchFamily="18" charset="0"/>
              <a:cs typeface="Times New Roman" pitchFamily="18" charset="0"/>
            </a:endParaRPr>
          </a:p>
          <a:p>
            <a:pPr lvl="0" algn="just"/>
            <a:r>
              <a:rPr lang="en-US" sz="8000" dirty="0" smtClean="0">
                <a:latin typeface="Times New Roman" pitchFamily="18" charset="0"/>
                <a:cs typeface="Times New Roman" pitchFamily="18" charset="0"/>
              </a:rPr>
              <a:t>Pooling of Bank balances to give clearer view of Cash position for easy monitoring and effective management.</a:t>
            </a:r>
          </a:p>
          <a:p>
            <a:endParaRPr lang="en-US" dirty="0"/>
          </a:p>
        </p:txBody>
      </p:sp>
      <p:pic>
        <p:nvPicPr>
          <p:cNvPr id="25602" name="Picture 2" descr="C:\Users\AMIRA\Desktop\af.jpg"/>
          <p:cNvPicPr>
            <a:picLocks noChangeAspect="1" noChangeArrowheads="1"/>
          </p:cNvPicPr>
          <p:nvPr/>
        </p:nvPicPr>
        <p:blipFill>
          <a:blip r:embed="rId2"/>
          <a:srcRect/>
          <a:stretch>
            <a:fillRect/>
          </a:stretch>
        </p:blipFill>
        <p:spPr bwMode="auto">
          <a:xfrm>
            <a:off x="0" y="1"/>
            <a:ext cx="1400175" cy="1828800"/>
          </a:xfrm>
          <a:prstGeom prst="rect">
            <a:avLst/>
          </a:prstGeom>
          <a:noFill/>
        </p:spPr>
      </p:pic>
    </p:spTree>
  </p:cSld>
  <p:clrMapOvr>
    <a:masterClrMapping/>
  </p:clrMapOvr>
  <p:transition>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4297363"/>
          </a:xfrm>
        </p:spPr>
        <p:txBody>
          <a:bodyPr>
            <a:normAutofit/>
          </a:bodyPr>
          <a:lstStyle/>
          <a:p>
            <a:pPr lvl="0" algn="just"/>
            <a:r>
              <a:rPr lang="en-US" sz="2100" dirty="0" smtClean="0">
                <a:latin typeface="Times New Roman" pitchFamily="18" charset="0"/>
                <a:cs typeface="Times New Roman" pitchFamily="18" charset="0"/>
              </a:rPr>
              <a:t>Adequate records, documentation and monitoring of transactions with respect to all forms of short-term investment of surplus funds.</a:t>
            </a:r>
          </a:p>
          <a:p>
            <a:pPr lvl="0" algn="just"/>
            <a:r>
              <a:rPr lang="en-US" sz="2100" dirty="0" smtClean="0">
                <a:latin typeface="Times New Roman" pitchFamily="18" charset="0"/>
                <a:cs typeface="Times New Roman" pitchFamily="18" charset="0"/>
              </a:rPr>
              <a:t>Establishment of IGR and Investment Division in the Bursary department, with responsibilities for the overall coordination of IGR mobilization efforts and profitable investment of available funds.</a:t>
            </a:r>
          </a:p>
          <a:p>
            <a:pPr lvl="0" algn="just"/>
            <a:r>
              <a:rPr lang="en-US" sz="2100" dirty="0" smtClean="0">
                <a:latin typeface="Times New Roman" pitchFamily="18" charset="0"/>
                <a:cs typeface="Times New Roman" pitchFamily="18" charset="0"/>
              </a:rPr>
              <a:t>Maintenance of dedicated Bank account to capture and aggregate the entire Income from Bank Deposits and Investment</a:t>
            </a:r>
          </a:p>
          <a:p>
            <a:endParaRPr lang="en-US" dirty="0"/>
          </a:p>
        </p:txBody>
      </p:sp>
      <p:pic>
        <p:nvPicPr>
          <p:cNvPr id="26626" name="Picture 2" descr="C:\Users\AMIRA\Desktop\af.jpg"/>
          <p:cNvPicPr>
            <a:picLocks noChangeAspect="1" noChangeArrowheads="1"/>
          </p:cNvPicPr>
          <p:nvPr/>
        </p:nvPicPr>
        <p:blipFill>
          <a:blip r:embed="rId2"/>
          <a:srcRect/>
          <a:stretch>
            <a:fillRect/>
          </a:stretch>
        </p:blipFill>
        <p:spPr bwMode="auto">
          <a:xfrm>
            <a:off x="0" y="152401"/>
            <a:ext cx="1400175" cy="1676400"/>
          </a:xfrm>
          <a:prstGeom prst="rect">
            <a:avLst/>
          </a:prstGeom>
          <a:noFill/>
        </p:spPr>
      </p:pic>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381000" y="1371600"/>
            <a:ext cx="8229600" cy="4800600"/>
          </a:xfrm>
        </p:spPr>
        <p:txBody>
          <a:bodyPr>
            <a:normAutofit fontScale="25000" lnSpcReduction="20000"/>
          </a:bodyPr>
          <a:lstStyle/>
          <a:p>
            <a:pPr lvl="0">
              <a:buNone/>
            </a:pPr>
            <a:r>
              <a:rPr lang="en-US" b="1" dirty="0" smtClean="0"/>
              <a:t>	</a:t>
            </a:r>
          </a:p>
          <a:p>
            <a:pPr lvl="0">
              <a:buNone/>
            </a:pPr>
            <a:r>
              <a:rPr lang="en-US" sz="8000" b="1" dirty="0" smtClean="0">
                <a:solidFill>
                  <a:schemeClr val="accent5">
                    <a:lumMod val="60000"/>
                    <a:lumOff val="40000"/>
                  </a:schemeClr>
                </a:solidFill>
              </a:rPr>
              <a:t>Rent on University Property</a:t>
            </a:r>
            <a:endParaRPr lang="en-US" sz="8000" dirty="0" smtClean="0">
              <a:solidFill>
                <a:schemeClr val="accent5">
                  <a:lumMod val="60000"/>
                  <a:lumOff val="40000"/>
                </a:schemeClr>
              </a:solidFill>
            </a:endParaRPr>
          </a:p>
          <a:p>
            <a:pPr algn="just"/>
            <a:r>
              <a:rPr lang="en-US" sz="8000" dirty="0" smtClean="0">
                <a:latin typeface="Times New Roman" pitchFamily="18" charset="0"/>
                <a:cs typeface="Times New Roman" pitchFamily="18" charset="0"/>
              </a:rPr>
              <a:t>Reasonable amount of revenue could be earned from the various immovable properties of the University to boost the current IGR level.  To achieve this, Management should consider the following measures:</a:t>
            </a:r>
          </a:p>
          <a:p>
            <a:pPr lvl="0" algn="just"/>
            <a:r>
              <a:rPr lang="en-US" sz="8000" dirty="0" smtClean="0">
                <a:latin typeface="Times New Roman" pitchFamily="18" charset="0"/>
                <a:cs typeface="Times New Roman" pitchFamily="18" charset="0"/>
              </a:rPr>
              <a:t>Compile up-to-date record of Inventory of all the immovable property of the University and identify those that could be hired out for revenue generation purposes</a:t>
            </a:r>
          </a:p>
          <a:p>
            <a:pPr lvl="0" algn="just"/>
            <a:r>
              <a:rPr lang="en-US" sz="8000" dirty="0" smtClean="0">
                <a:latin typeface="Times New Roman" pitchFamily="18" charset="0"/>
                <a:cs typeface="Times New Roman" pitchFamily="18" charset="0"/>
              </a:rPr>
              <a:t>Get a database of ruling rates in terms of rent payable on similar property in the immediate environment to ensure that the University’s properties are not hired out at less competitive rate.</a:t>
            </a:r>
          </a:p>
          <a:p>
            <a:pPr lvl="0" algn="just"/>
            <a:r>
              <a:rPr lang="en-US" sz="8000" dirty="0" smtClean="0">
                <a:latin typeface="Times New Roman" pitchFamily="18" charset="0"/>
                <a:cs typeface="Times New Roman" pitchFamily="18" charset="0"/>
              </a:rPr>
              <a:t>Periodic review of Inventory and physical inspection of property to ensure that they are properly maintained and that records are duly updated.</a:t>
            </a:r>
          </a:p>
          <a:p>
            <a:pPr lvl="0" algn="just"/>
            <a:r>
              <a:rPr lang="en-US" sz="8000" dirty="0" smtClean="0">
                <a:latin typeface="Times New Roman" pitchFamily="18" charset="0"/>
                <a:cs typeface="Times New Roman" pitchFamily="18" charset="0"/>
              </a:rPr>
              <a:t>Acquisition of more Investment Property such as Residential Quarters for staff and other interested members of the public</a:t>
            </a:r>
          </a:p>
          <a:p>
            <a:pPr lvl="0" algn="just"/>
            <a:r>
              <a:rPr lang="en-US" sz="8000" dirty="0" smtClean="0">
                <a:latin typeface="Times New Roman" pitchFamily="18" charset="0"/>
                <a:cs typeface="Times New Roman" pitchFamily="18" charset="0"/>
              </a:rPr>
              <a:t>Expansion of the University Guest House, adding more to the physical structures to accommodate more guests and facilitate greater patronage by customers.</a:t>
            </a:r>
          </a:p>
          <a:p>
            <a:pPr lvl="0" algn="just"/>
            <a:r>
              <a:rPr lang="en-US" sz="8000" dirty="0" smtClean="0">
                <a:latin typeface="Times New Roman" pitchFamily="18" charset="0"/>
                <a:cs typeface="Times New Roman" pitchFamily="18" charset="0"/>
              </a:rPr>
              <a:t>Maintenance of dedicated Bank account to capture rental income on property.</a:t>
            </a:r>
          </a:p>
          <a:p>
            <a:endParaRPr lang="en-US" dirty="0"/>
          </a:p>
        </p:txBody>
      </p:sp>
      <p:pic>
        <p:nvPicPr>
          <p:cNvPr id="27650" name="Picture 2" descr="C:\Users\AMIRA\Desktop\af.jpg"/>
          <p:cNvPicPr>
            <a:picLocks noChangeAspect="1" noChangeArrowheads="1"/>
          </p:cNvPicPr>
          <p:nvPr/>
        </p:nvPicPr>
        <p:blipFill>
          <a:blip r:embed="rId2"/>
          <a:srcRect/>
          <a:stretch>
            <a:fillRect/>
          </a:stretch>
        </p:blipFill>
        <p:spPr bwMode="auto">
          <a:xfrm>
            <a:off x="0" y="1"/>
            <a:ext cx="1400175" cy="1447800"/>
          </a:xfrm>
          <a:prstGeom prst="rect">
            <a:avLst/>
          </a:prstGeom>
          <a:noFill/>
        </p:spPr>
      </p:pic>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495800"/>
          </a:xfrm>
        </p:spPr>
        <p:txBody>
          <a:bodyPr>
            <a:normAutofit fontScale="32500" lnSpcReduction="20000"/>
          </a:bodyPr>
          <a:lstStyle/>
          <a:p>
            <a:pPr lvl="0">
              <a:buNone/>
            </a:pPr>
            <a:r>
              <a:rPr lang="en-US" b="1" dirty="0" smtClean="0"/>
              <a:t>	</a:t>
            </a:r>
            <a:r>
              <a:rPr lang="en-US" sz="6400" b="1" dirty="0" smtClean="0">
                <a:solidFill>
                  <a:schemeClr val="accent5">
                    <a:lumMod val="60000"/>
                    <a:lumOff val="40000"/>
                  </a:schemeClr>
                </a:solidFill>
                <a:latin typeface="Times New Roman" pitchFamily="18" charset="0"/>
                <a:cs typeface="Times New Roman" pitchFamily="18" charset="0"/>
              </a:rPr>
              <a:t>Hire of Academic Gown/Robes</a:t>
            </a:r>
            <a:endParaRPr lang="en-US" sz="6400" dirty="0" smtClean="0">
              <a:solidFill>
                <a:schemeClr val="accent5">
                  <a:lumMod val="60000"/>
                  <a:lumOff val="40000"/>
                </a:schemeClr>
              </a:solidFill>
              <a:latin typeface="Times New Roman" pitchFamily="18" charset="0"/>
              <a:cs typeface="Times New Roman" pitchFamily="18" charset="0"/>
            </a:endParaRPr>
          </a:p>
          <a:p>
            <a:pPr algn="just"/>
            <a:r>
              <a:rPr lang="en-US" sz="6400" dirty="0" smtClean="0">
                <a:latin typeface="Times New Roman" pitchFamily="18" charset="0"/>
                <a:cs typeface="Times New Roman" pitchFamily="18" charset="0"/>
              </a:rPr>
              <a:t>Management could also consider an upward review of the fee payable by the graduating students for academic gowns.</a:t>
            </a:r>
          </a:p>
          <a:p>
            <a:pPr algn="just">
              <a:buNone/>
            </a:pPr>
            <a:r>
              <a:rPr lang="en-US" sz="6400" dirty="0" smtClean="0">
                <a:latin typeface="Times New Roman" pitchFamily="18" charset="0"/>
                <a:cs typeface="Times New Roman" pitchFamily="18" charset="0"/>
              </a:rPr>
              <a:t> </a:t>
            </a:r>
          </a:p>
          <a:p>
            <a:pPr lvl="0" algn="just">
              <a:buNone/>
            </a:pPr>
            <a:r>
              <a:rPr lang="en-US" sz="6400" b="1" dirty="0" smtClean="0">
                <a:latin typeface="Times New Roman" pitchFamily="18" charset="0"/>
                <a:cs typeface="Times New Roman" pitchFamily="18" charset="0"/>
              </a:rPr>
              <a:t>	</a:t>
            </a:r>
            <a:r>
              <a:rPr lang="en-US" sz="6400" b="1" dirty="0" smtClean="0">
                <a:solidFill>
                  <a:schemeClr val="accent5">
                    <a:lumMod val="60000"/>
                    <a:lumOff val="40000"/>
                  </a:schemeClr>
                </a:solidFill>
                <a:latin typeface="Times New Roman" pitchFamily="18" charset="0"/>
                <a:cs typeface="Times New Roman" pitchFamily="18" charset="0"/>
              </a:rPr>
              <a:t>Healthcare Services</a:t>
            </a:r>
            <a:endParaRPr lang="en-US" sz="6400" dirty="0" smtClean="0">
              <a:solidFill>
                <a:schemeClr val="accent5">
                  <a:lumMod val="60000"/>
                  <a:lumOff val="40000"/>
                </a:schemeClr>
              </a:solidFill>
              <a:latin typeface="Times New Roman" pitchFamily="18" charset="0"/>
              <a:cs typeface="Times New Roman" pitchFamily="18" charset="0"/>
            </a:endParaRPr>
          </a:p>
          <a:p>
            <a:pPr algn="just"/>
            <a:r>
              <a:rPr lang="en-US" sz="6400" dirty="0" smtClean="0">
                <a:latin typeface="Times New Roman" pitchFamily="18" charset="0"/>
                <a:cs typeface="Times New Roman" pitchFamily="18" charset="0"/>
              </a:rPr>
              <a:t>The Directorate of Health Services hitherto renders healthcare services to the staff and students within the University community.  To boost the level of revenue derivable through the University Health Centre, the following measures should be duly considered by the Management:</a:t>
            </a:r>
          </a:p>
          <a:p>
            <a:pPr lvl="0" algn="just"/>
            <a:r>
              <a:rPr lang="en-US" sz="6400" dirty="0" smtClean="0">
                <a:latin typeface="Times New Roman" pitchFamily="18" charset="0"/>
                <a:cs typeface="Times New Roman" pitchFamily="18" charset="0"/>
              </a:rPr>
              <a:t>Strengthening  the Bursary Unit at the Health Centre to ensure adequate capturing of all financial transactions within the directorate</a:t>
            </a:r>
          </a:p>
          <a:p>
            <a:pPr lvl="0" algn="just"/>
            <a:r>
              <a:rPr lang="en-US" sz="6400" dirty="0" smtClean="0">
                <a:latin typeface="Times New Roman" pitchFamily="18" charset="0"/>
                <a:cs typeface="Times New Roman" pitchFamily="18" charset="0"/>
              </a:rPr>
              <a:t>Computerization of the revenue collection process to ensure that every patient patronizing the Health Centre obtains valid receipts for all payments made.</a:t>
            </a:r>
          </a:p>
          <a:p>
            <a:endParaRPr lang="en-US" dirty="0"/>
          </a:p>
        </p:txBody>
      </p:sp>
      <p:pic>
        <p:nvPicPr>
          <p:cNvPr id="28674"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pull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4495800"/>
          </a:xfrm>
        </p:spPr>
        <p:txBody>
          <a:bodyPr>
            <a:normAutofit fontScale="92500" lnSpcReduction="20000"/>
          </a:bodyPr>
          <a:lstStyle/>
          <a:p>
            <a:pPr lvl="0" algn="just"/>
            <a:r>
              <a:rPr lang="en-US" dirty="0" smtClean="0">
                <a:latin typeface="Times New Roman" pitchFamily="18" charset="0"/>
                <a:cs typeface="Times New Roman" pitchFamily="18" charset="0"/>
              </a:rPr>
              <a:t>Expanding the available facilities and operating capacity including the medical personnel, to enable the Health Centre to extend its services to the general public apart from the staff and students within the University community.</a:t>
            </a:r>
          </a:p>
          <a:p>
            <a:pPr lvl="0" algn="just"/>
            <a:r>
              <a:rPr lang="en-US" dirty="0" smtClean="0">
                <a:latin typeface="Times New Roman" pitchFamily="18" charset="0"/>
                <a:cs typeface="Times New Roman" pitchFamily="18" charset="0"/>
              </a:rPr>
              <a:t>Adequate publicity and sensitization of members of the public, especially within the immediate host community, on the availability of healthcare facilities in the University premises.</a:t>
            </a:r>
          </a:p>
          <a:p>
            <a:pPr lvl="0" algn="just"/>
            <a:r>
              <a:rPr lang="en-US" dirty="0" smtClean="0">
                <a:latin typeface="Times New Roman" pitchFamily="18" charset="0"/>
                <a:cs typeface="Times New Roman" pitchFamily="18" charset="0"/>
              </a:rPr>
              <a:t>Revenue generated should be periodically analyzed under the following headings:</a:t>
            </a:r>
          </a:p>
          <a:p>
            <a:pPr lvl="1" algn="just">
              <a:buNone/>
            </a:pPr>
            <a:r>
              <a:rPr lang="en-US" dirty="0" smtClean="0">
                <a:latin typeface="Times New Roman" pitchFamily="18" charset="0"/>
                <a:cs typeface="Times New Roman" pitchFamily="18" charset="0"/>
              </a:rPr>
              <a:t>	- Student Healthcare Services</a:t>
            </a:r>
          </a:p>
          <a:p>
            <a:pPr lvl="1" algn="just">
              <a:buNone/>
            </a:pPr>
            <a:r>
              <a:rPr lang="en-US" dirty="0" smtClean="0">
                <a:latin typeface="Times New Roman" pitchFamily="18" charset="0"/>
                <a:cs typeface="Times New Roman" pitchFamily="18" charset="0"/>
              </a:rPr>
              <a:t>	- Staff Healthcare Services</a:t>
            </a:r>
          </a:p>
          <a:p>
            <a:pPr lvl="1" algn="just">
              <a:buNone/>
            </a:pPr>
            <a:r>
              <a:rPr lang="en-US" dirty="0" smtClean="0">
                <a:latin typeface="Times New Roman" pitchFamily="18" charset="0"/>
                <a:cs typeface="Times New Roman" pitchFamily="18" charset="0"/>
              </a:rPr>
              <a:t>	- Public Healthcare Services</a:t>
            </a:r>
          </a:p>
          <a:p>
            <a:pPr algn="just">
              <a:buNone/>
            </a:pPr>
            <a:r>
              <a:rPr lang="en-US" dirty="0" smtClean="0">
                <a:latin typeface="Times New Roman" pitchFamily="18" charset="0"/>
                <a:cs typeface="Times New Roman" pitchFamily="18" charset="0"/>
              </a:rPr>
              <a:t>	This will enable the Management to ascertain the performance of each service category and decide on measures that will facilitate improvement and sustainability.</a:t>
            </a:r>
          </a:p>
          <a:p>
            <a:endParaRPr lang="en-US" dirty="0"/>
          </a:p>
        </p:txBody>
      </p:sp>
      <p:pic>
        <p:nvPicPr>
          <p:cNvPr id="29698" name="Picture 2" descr="C:\Users\AMIRA\Desktop\af.jpg"/>
          <p:cNvPicPr>
            <a:picLocks noChangeAspect="1" noChangeArrowheads="1"/>
          </p:cNvPicPr>
          <p:nvPr/>
        </p:nvPicPr>
        <p:blipFill>
          <a:blip r:embed="rId2"/>
          <a:srcRect/>
          <a:stretch>
            <a:fillRect/>
          </a:stretch>
        </p:blipFill>
        <p:spPr bwMode="auto">
          <a:xfrm>
            <a:off x="152400" y="0"/>
            <a:ext cx="1400175" cy="1838325"/>
          </a:xfrm>
          <a:prstGeom prst="rect">
            <a:avLst/>
          </a:prstGeom>
          <a:noFill/>
        </p:spPr>
      </p:pic>
    </p:spTree>
  </p:cSld>
  <p:clrMapOvr>
    <a:masterClrMapping/>
  </p:clrMapOvr>
  <p:transition>
    <p:dissolv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72000"/>
          </a:xfrm>
        </p:spPr>
        <p:txBody>
          <a:bodyPr>
            <a:normAutofit fontScale="85000" lnSpcReduction="20000"/>
          </a:bodyPr>
          <a:lstStyle/>
          <a:p>
            <a:pPr lvl="0">
              <a:buNone/>
            </a:pPr>
            <a:r>
              <a:rPr lang="en-US" b="1" dirty="0" smtClean="0"/>
              <a:t>	</a:t>
            </a:r>
            <a:r>
              <a:rPr lang="en-US" b="1" dirty="0" smtClean="0">
                <a:solidFill>
                  <a:schemeClr val="accent5">
                    <a:lumMod val="60000"/>
                    <a:lumOff val="40000"/>
                  </a:schemeClr>
                </a:solidFill>
              </a:rPr>
              <a:t>Contractors Registration and Tender Fees</a:t>
            </a:r>
            <a:endParaRPr lang="en-US" dirty="0" smtClean="0">
              <a:solidFill>
                <a:schemeClr val="accent5">
                  <a:lumMod val="60000"/>
                  <a:lumOff val="40000"/>
                </a:schemeClr>
              </a:solidFill>
            </a:endParaRPr>
          </a:p>
          <a:p>
            <a:pPr algn="just"/>
            <a:r>
              <a:rPr lang="en-US" dirty="0" smtClean="0">
                <a:latin typeface="Times New Roman" pitchFamily="18" charset="0"/>
                <a:cs typeface="Times New Roman" pitchFamily="18" charset="0"/>
              </a:rPr>
              <a:t>Management could also consider an upward review of the fee payable by the each contractor at the point of registration of their entities with the University for the purpose of executing contracts for supplies and construction projects. To allow the University to derive appreciable revenue from this source, Management should ensure that the following measures are taken:</a:t>
            </a:r>
          </a:p>
          <a:p>
            <a:pPr lvl="0" algn="just"/>
            <a:r>
              <a:rPr lang="en-US" dirty="0" smtClean="0">
                <a:latin typeface="Times New Roman" pitchFamily="18" charset="0"/>
                <a:cs typeface="Times New Roman" pitchFamily="18" charset="0"/>
              </a:rPr>
              <a:t>Adequate and up-to-date database are maintained with respect to all registered contractors</a:t>
            </a:r>
          </a:p>
          <a:p>
            <a:pPr lvl="0" algn="just"/>
            <a:r>
              <a:rPr lang="en-US" dirty="0" smtClean="0">
                <a:latin typeface="Times New Roman" pitchFamily="18" charset="0"/>
                <a:cs typeface="Times New Roman" pitchFamily="18" charset="0"/>
              </a:rPr>
              <a:t>Contracts for supplies and construction projects are only awarded to duly registered contractors</a:t>
            </a:r>
          </a:p>
          <a:p>
            <a:pPr lvl="0" algn="just"/>
            <a:r>
              <a:rPr lang="en-US" dirty="0" smtClean="0">
                <a:latin typeface="Times New Roman" pitchFamily="18" charset="0"/>
                <a:cs typeface="Times New Roman" pitchFamily="18" charset="0"/>
              </a:rPr>
              <a:t>Every contractor should be made to pay a fixed percentage of the contract fee into the University Development Fund in addition to the generally applicable deductions hitherto in place</a:t>
            </a:r>
          </a:p>
          <a:p>
            <a:pPr lvl="0" algn="just"/>
            <a:r>
              <a:rPr lang="en-US" dirty="0" smtClean="0">
                <a:latin typeface="Times New Roman" pitchFamily="18" charset="0"/>
                <a:cs typeface="Times New Roman" pitchFamily="18" charset="0"/>
              </a:rPr>
              <a:t>Aggregate amount deducted from all paid vouchers/bills should be transferred periodically into the dedicated Central IGR Bank Account</a:t>
            </a:r>
          </a:p>
          <a:p>
            <a:endParaRPr lang="en-US" dirty="0"/>
          </a:p>
        </p:txBody>
      </p:sp>
      <p:pic>
        <p:nvPicPr>
          <p:cNvPr id="30722" name="Picture 2" descr="C:\Users\AMIRA\Desktop\af.jpg"/>
          <p:cNvPicPr>
            <a:picLocks noChangeAspect="1" noChangeArrowheads="1"/>
          </p:cNvPicPr>
          <p:nvPr/>
        </p:nvPicPr>
        <p:blipFill>
          <a:blip r:embed="rId2"/>
          <a:srcRect/>
          <a:stretch>
            <a:fillRect/>
          </a:stretch>
        </p:blipFill>
        <p:spPr bwMode="auto">
          <a:xfrm>
            <a:off x="0" y="1"/>
            <a:ext cx="1400175" cy="1676400"/>
          </a:xfrm>
          <a:prstGeom prst="rect">
            <a:avLst/>
          </a:prstGeom>
          <a:noFill/>
        </p:spPr>
      </p:pic>
    </p:spTree>
  </p:cSld>
  <p:clrMapOvr>
    <a:masterClrMapping/>
  </p:clrMapOvr>
  <p:transition>
    <p:blinds/>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724400"/>
          </a:xfrm>
        </p:spPr>
        <p:txBody>
          <a:bodyPr>
            <a:normAutofit fontScale="25000" lnSpcReduction="20000"/>
          </a:bodyPr>
          <a:lstStyle/>
          <a:p>
            <a:pPr lvl="0">
              <a:buNone/>
            </a:pPr>
            <a:r>
              <a:rPr lang="en-US" b="1" dirty="0" smtClean="0"/>
              <a:t>	</a:t>
            </a:r>
            <a:r>
              <a:rPr lang="en-US" sz="8000" b="1" dirty="0" smtClean="0">
                <a:solidFill>
                  <a:schemeClr val="accent5">
                    <a:lumMod val="60000"/>
                    <a:lumOff val="40000"/>
                  </a:schemeClr>
                </a:solidFill>
              </a:rPr>
              <a:t>University Bus Service</a:t>
            </a:r>
            <a:endParaRPr lang="en-US" sz="8000" dirty="0" smtClean="0">
              <a:solidFill>
                <a:schemeClr val="accent5">
                  <a:lumMod val="60000"/>
                  <a:lumOff val="40000"/>
                </a:schemeClr>
              </a:solidFill>
            </a:endParaRPr>
          </a:p>
          <a:p>
            <a:pPr algn="just"/>
            <a:r>
              <a:rPr lang="en-US" sz="8000" dirty="0" smtClean="0">
                <a:latin typeface="Times New Roman" pitchFamily="18" charset="0"/>
                <a:cs typeface="Times New Roman" pitchFamily="18" charset="0"/>
              </a:rPr>
              <a:t>The existing University buses are not being use on a reasonable commercial scale  To make the buses to contribute meaningfully to the IGR pool, Management should adopt the following measures:</a:t>
            </a:r>
          </a:p>
          <a:p>
            <a:pPr lvl="0" algn="just"/>
            <a:r>
              <a:rPr lang="en-US" sz="8000" dirty="0" smtClean="0">
                <a:latin typeface="Times New Roman" pitchFamily="18" charset="0"/>
                <a:cs typeface="Times New Roman" pitchFamily="18" charset="0"/>
              </a:rPr>
              <a:t>Staff and students interested in the Bus Service should be made to pay directly into a designated Bank account and obtain valid University receipt in the Bursary department (Treasury Services Division)</a:t>
            </a:r>
          </a:p>
          <a:p>
            <a:pPr lvl="0" algn="just"/>
            <a:r>
              <a:rPr lang="en-US" sz="8000" dirty="0" smtClean="0">
                <a:latin typeface="Times New Roman" pitchFamily="18" charset="0"/>
                <a:cs typeface="Times New Roman" pitchFamily="18" charset="0"/>
              </a:rPr>
              <a:t>Fees payable should be graduated into Weekly and Monthly rates, depending on the individual’s requirement</a:t>
            </a:r>
          </a:p>
          <a:p>
            <a:pPr lvl="0" algn="just"/>
            <a:r>
              <a:rPr lang="en-US" sz="8000" dirty="0" smtClean="0">
                <a:latin typeface="Times New Roman" pitchFamily="18" charset="0"/>
                <a:cs typeface="Times New Roman" pitchFamily="18" charset="0"/>
              </a:rPr>
              <a:t>Valid Bus Pass should be issued to individuals and dates/period covered dully indicated upon payment of the prescribed fees.</a:t>
            </a:r>
          </a:p>
          <a:p>
            <a:pPr lvl="0" algn="just"/>
            <a:r>
              <a:rPr lang="en-US" sz="8000" dirty="0" smtClean="0">
                <a:latin typeface="Times New Roman" pitchFamily="18" charset="0"/>
                <a:cs typeface="Times New Roman" pitchFamily="18" charset="0"/>
              </a:rPr>
              <a:t>Every Bus user should present a valid Bus Pass together with a copy of the  at every Bus Stop before being allowed to board the Bus</a:t>
            </a:r>
          </a:p>
          <a:p>
            <a:pPr lvl="0" algn="just"/>
            <a:r>
              <a:rPr lang="en-US" sz="8000" dirty="0" smtClean="0">
                <a:latin typeface="Times New Roman" pitchFamily="18" charset="0"/>
                <a:cs typeface="Times New Roman" pitchFamily="18" charset="0"/>
              </a:rPr>
              <a:t>A combined team of the Internal Audit and Bursary staff should carry out routine checks on Bus users to authenticate the validity of their Bus pass.</a:t>
            </a:r>
          </a:p>
          <a:p>
            <a:pPr lvl="0" algn="just"/>
            <a:r>
              <a:rPr lang="en-US" sz="8000" dirty="0" smtClean="0">
                <a:latin typeface="Times New Roman" pitchFamily="18" charset="0"/>
                <a:cs typeface="Times New Roman" pitchFamily="18" charset="0"/>
              </a:rPr>
              <a:t>Fueling of University buses should always be done at the University’s fuel dump or filing station operated within the University campus</a:t>
            </a:r>
          </a:p>
          <a:p>
            <a:endParaRPr lang="en-US" dirty="0"/>
          </a:p>
        </p:txBody>
      </p:sp>
      <p:pic>
        <p:nvPicPr>
          <p:cNvPr id="31746"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dissolv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72000"/>
          </a:xfrm>
        </p:spPr>
        <p:txBody>
          <a:bodyPr>
            <a:normAutofit fontScale="92500" lnSpcReduction="20000"/>
          </a:bodyPr>
          <a:lstStyle/>
          <a:p>
            <a:pPr lvl="0">
              <a:buNone/>
            </a:pPr>
            <a:r>
              <a:rPr lang="en-US" b="1" dirty="0" smtClean="0"/>
              <a:t>	</a:t>
            </a:r>
            <a:r>
              <a:rPr lang="en-US" b="1" dirty="0" smtClean="0">
                <a:solidFill>
                  <a:schemeClr val="accent5">
                    <a:lumMod val="60000"/>
                    <a:lumOff val="40000"/>
                  </a:schemeClr>
                </a:solidFill>
              </a:rPr>
              <a:t>Investment in Shares</a:t>
            </a:r>
            <a:endParaRPr lang="en-US" dirty="0" smtClean="0">
              <a:solidFill>
                <a:schemeClr val="accent5">
                  <a:lumMod val="60000"/>
                  <a:lumOff val="40000"/>
                </a:schemeClr>
              </a:solidFill>
            </a:endParaRPr>
          </a:p>
          <a:p>
            <a:pPr algn="just"/>
            <a:r>
              <a:rPr lang="en-US" dirty="0" smtClean="0">
                <a:latin typeface="Times New Roman" pitchFamily="18" charset="0"/>
                <a:cs typeface="Times New Roman" pitchFamily="18" charset="0"/>
              </a:rPr>
              <a:t>The existing portfolio of investment in securities should be reviewed to ascertain their valuation and continued relevance. To ensure that the University continues to derive reasonable income from Investment in shares, the following measures should be considered:</a:t>
            </a:r>
          </a:p>
          <a:p>
            <a:pPr lvl="0" algn="just"/>
            <a:r>
              <a:rPr lang="en-US" dirty="0" smtClean="0">
                <a:latin typeface="Times New Roman" pitchFamily="18" charset="0"/>
                <a:cs typeface="Times New Roman" pitchFamily="18" charset="0"/>
              </a:rPr>
              <a:t>Carry out a comprehensive review of the existing Investment portfolio particularly the shareholdings in  various industries in different sectors of the economy</a:t>
            </a:r>
          </a:p>
          <a:p>
            <a:pPr lvl="0" algn="just"/>
            <a:r>
              <a:rPr lang="en-US" dirty="0" smtClean="0">
                <a:latin typeface="Times New Roman" pitchFamily="18" charset="0"/>
                <a:cs typeface="Times New Roman" pitchFamily="18" charset="0"/>
              </a:rPr>
              <a:t>Ensure that the University has valid share certificates and all such certificates held by third parties on behalf of the University are retrieved and kept with the University bankers </a:t>
            </a:r>
          </a:p>
          <a:p>
            <a:pPr lvl="0" algn="just"/>
            <a:r>
              <a:rPr lang="en-US" dirty="0" smtClean="0">
                <a:latin typeface="Times New Roman" pitchFamily="18" charset="0"/>
                <a:cs typeface="Times New Roman" pitchFamily="18" charset="0"/>
              </a:rPr>
              <a:t>Explore the possibility of engaging qualified stockbrokers to assist in the effective and efficient management of the University’s investment portfolios to guarantee maximum returns.</a:t>
            </a:r>
          </a:p>
          <a:p>
            <a:endParaRPr lang="en-US" dirty="0"/>
          </a:p>
        </p:txBody>
      </p:sp>
      <p:pic>
        <p:nvPicPr>
          <p:cNvPr id="32770" name="Picture 2" descr="C:\Users\AMIRA\Desktop\af.jpg"/>
          <p:cNvPicPr>
            <a:picLocks noChangeAspect="1" noChangeArrowheads="1"/>
          </p:cNvPicPr>
          <p:nvPr/>
        </p:nvPicPr>
        <p:blipFill>
          <a:blip r:embed="rId2"/>
          <a:srcRect/>
          <a:stretch>
            <a:fillRect/>
          </a:stretch>
        </p:blipFill>
        <p:spPr bwMode="auto">
          <a:xfrm>
            <a:off x="0" y="1"/>
            <a:ext cx="1400175" cy="1752600"/>
          </a:xfrm>
          <a:prstGeom prst="rect">
            <a:avLst/>
          </a:prstGeom>
          <a:noFill/>
        </p:spPr>
      </p:pic>
    </p:spTree>
  </p:cSld>
  <p:clrMapOvr>
    <a:masterClrMapping/>
  </p:clrMapOvr>
  <p:transition>
    <p:cut thruBlk="1"/>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381000" y="1143000"/>
            <a:ext cx="8229600" cy="4724400"/>
          </a:xfrm>
        </p:spPr>
        <p:txBody>
          <a:bodyPr>
            <a:normAutofit fontScale="25000" lnSpcReduction="20000"/>
          </a:bodyPr>
          <a:lstStyle/>
          <a:p>
            <a:pPr lvl="0">
              <a:buNone/>
            </a:pPr>
            <a:r>
              <a:rPr lang="en-US" b="1" dirty="0" smtClean="0"/>
              <a:t>	</a:t>
            </a:r>
            <a:r>
              <a:rPr lang="en-US" sz="7200" b="1" dirty="0" smtClean="0">
                <a:solidFill>
                  <a:schemeClr val="accent5">
                    <a:lumMod val="60000"/>
                    <a:lumOff val="40000"/>
                  </a:schemeClr>
                </a:solidFill>
              </a:rPr>
              <a:t>Use of ICT Facilities</a:t>
            </a:r>
            <a:endParaRPr lang="en-US" sz="7200" dirty="0" smtClean="0">
              <a:solidFill>
                <a:schemeClr val="accent5">
                  <a:lumMod val="60000"/>
                  <a:lumOff val="40000"/>
                </a:schemeClr>
              </a:solidFill>
            </a:endParaRPr>
          </a:p>
          <a:p>
            <a:pPr algn="just"/>
            <a:r>
              <a:rPr lang="en-US" sz="7200" dirty="0" smtClean="0">
                <a:latin typeface="Times New Roman" pitchFamily="18" charset="0"/>
                <a:cs typeface="Times New Roman" pitchFamily="18" charset="0"/>
              </a:rPr>
              <a:t>The University’s ICT directorate is another viable revenue generation unit, which could provide appreciable and sustainable funding for the University. To ensure that maximum benefit is derived from this source, management should consider the following measures:</a:t>
            </a:r>
          </a:p>
          <a:p>
            <a:pPr lvl="0" algn="just"/>
            <a:r>
              <a:rPr lang="en-US" sz="7200" dirty="0" smtClean="0">
                <a:latin typeface="Times New Roman" pitchFamily="18" charset="0"/>
                <a:cs typeface="Times New Roman" pitchFamily="18" charset="0"/>
              </a:rPr>
              <a:t>Establish a Bursary Unit and Internal Audit Unit within the ICT directorate to facilitate adequate capturing of all financial transactions within the directorate, full accountability, utmost transparency and integrity </a:t>
            </a:r>
          </a:p>
          <a:p>
            <a:pPr lvl="0" algn="just"/>
            <a:r>
              <a:rPr lang="en-US" sz="7200" dirty="0" smtClean="0">
                <a:latin typeface="Times New Roman" pitchFamily="18" charset="0"/>
                <a:cs typeface="Times New Roman" pitchFamily="18" charset="0"/>
              </a:rPr>
              <a:t>Computerization of the revenue collection process to ensure that every individual patronizing the ICT directorate obtains valid receipts for all payments </a:t>
            </a:r>
            <a:r>
              <a:rPr lang="en-US" sz="7200" dirty="0" err="1" smtClean="0">
                <a:latin typeface="Times New Roman" pitchFamily="18" charset="0"/>
                <a:cs typeface="Times New Roman" pitchFamily="18" charset="0"/>
              </a:rPr>
              <a:t>made.in</a:t>
            </a:r>
            <a:r>
              <a:rPr lang="en-US" sz="7200" dirty="0" smtClean="0">
                <a:latin typeface="Times New Roman" pitchFamily="18" charset="0"/>
                <a:cs typeface="Times New Roman" pitchFamily="18" charset="0"/>
              </a:rPr>
              <a:t> respect the services enjoyed.</a:t>
            </a:r>
          </a:p>
          <a:p>
            <a:pPr lvl="0" algn="just"/>
            <a:r>
              <a:rPr lang="en-US" sz="7200" dirty="0" smtClean="0">
                <a:latin typeface="Times New Roman" pitchFamily="18" charset="0"/>
                <a:cs typeface="Times New Roman" pitchFamily="18" charset="0"/>
              </a:rPr>
              <a:t>Expand the existing facilities and operating capacity including the bandwidth, qualified ICT personnel, to enable the ICT directorate to extend its services to the general public apart from the staff, students and few entities being serviced within the University community.</a:t>
            </a:r>
          </a:p>
          <a:p>
            <a:pPr lvl="0" algn="just"/>
            <a:r>
              <a:rPr lang="en-US" sz="7200" dirty="0" smtClean="0">
                <a:latin typeface="Times New Roman" pitchFamily="18" charset="0"/>
                <a:cs typeface="Times New Roman" pitchFamily="18" charset="0"/>
              </a:rPr>
              <a:t>Adequate publicity and sensitization of members of the public on the availability of ICT facilities in the University premises.</a:t>
            </a:r>
          </a:p>
          <a:p>
            <a:pPr lvl="0" algn="just"/>
            <a:r>
              <a:rPr lang="en-US" sz="7200" dirty="0" smtClean="0">
                <a:latin typeface="Times New Roman" pitchFamily="18" charset="0"/>
                <a:cs typeface="Times New Roman" pitchFamily="18" charset="0"/>
              </a:rPr>
              <a:t>Revenue generated should be periodically analyzed under the following headings:</a:t>
            </a:r>
          </a:p>
          <a:p>
            <a:pPr algn="just"/>
            <a:r>
              <a:rPr lang="en-US" sz="7200" dirty="0" smtClean="0">
                <a:latin typeface="Times New Roman" pitchFamily="18" charset="0"/>
                <a:cs typeface="Times New Roman" pitchFamily="18" charset="0"/>
              </a:rPr>
              <a:t>- Student ICT Services </a:t>
            </a:r>
          </a:p>
          <a:p>
            <a:pPr algn="just"/>
            <a:r>
              <a:rPr lang="en-US" sz="7200" dirty="0" smtClean="0">
                <a:latin typeface="Times New Roman" pitchFamily="18" charset="0"/>
                <a:cs typeface="Times New Roman" pitchFamily="18" charset="0"/>
              </a:rPr>
              <a:t>- Staff ICT Services </a:t>
            </a:r>
          </a:p>
          <a:p>
            <a:pPr algn="just"/>
            <a:r>
              <a:rPr lang="en-US" sz="7200" dirty="0" smtClean="0">
                <a:latin typeface="Times New Roman" pitchFamily="18" charset="0"/>
                <a:cs typeface="Times New Roman" pitchFamily="18" charset="0"/>
              </a:rPr>
              <a:t>- Public ICT Services </a:t>
            </a:r>
          </a:p>
          <a:p>
            <a:endParaRPr lang="en-US" dirty="0"/>
          </a:p>
        </p:txBody>
      </p:sp>
      <p:pic>
        <p:nvPicPr>
          <p:cNvPr id="33794" name="Picture 2" descr="C:\Users\AMIRA\Desktop\af.jpg"/>
          <p:cNvPicPr>
            <a:picLocks noChangeAspect="1" noChangeArrowheads="1"/>
          </p:cNvPicPr>
          <p:nvPr/>
        </p:nvPicPr>
        <p:blipFill>
          <a:blip r:embed="rId2"/>
          <a:srcRect/>
          <a:stretch>
            <a:fillRect/>
          </a:stretch>
        </p:blipFill>
        <p:spPr bwMode="auto">
          <a:xfrm>
            <a:off x="0" y="1"/>
            <a:ext cx="1400175" cy="1219200"/>
          </a:xfrm>
          <a:prstGeom prst="rect">
            <a:avLst/>
          </a:prstGeom>
          <a:noFill/>
        </p:spPr>
      </p:pic>
    </p:spTree>
  </p:cSld>
  <p:clrMapOvr>
    <a:masterClrMapping/>
  </p:clrMapOvr>
  <p:transition>
    <p:pull dir="l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676400"/>
            <a:ext cx="8229600" cy="4449763"/>
          </a:xfrm>
        </p:spPr>
        <p:txBody>
          <a:bodyPr>
            <a:normAutofit fontScale="25000" lnSpcReduction="20000"/>
          </a:bodyPr>
          <a:lstStyle/>
          <a:p>
            <a:pPr lvl="0">
              <a:buNone/>
            </a:pPr>
            <a:r>
              <a:rPr lang="en-US" b="1" dirty="0" smtClean="0"/>
              <a:t>	</a:t>
            </a:r>
          </a:p>
          <a:p>
            <a:pPr lvl="0">
              <a:buNone/>
            </a:pPr>
            <a:r>
              <a:rPr lang="en-US" sz="7200" b="1" dirty="0" smtClean="0">
                <a:solidFill>
                  <a:schemeClr val="accent5">
                    <a:lumMod val="60000"/>
                    <a:lumOff val="40000"/>
                  </a:schemeClr>
                </a:solidFill>
                <a:latin typeface="Times New Roman" pitchFamily="18" charset="0"/>
                <a:cs typeface="Times New Roman" pitchFamily="18" charset="0"/>
              </a:rPr>
              <a:t>Consultancy Services</a:t>
            </a:r>
            <a:endParaRPr lang="en-US" sz="7200" dirty="0" smtClean="0">
              <a:solidFill>
                <a:schemeClr val="accent5">
                  <a:lumMod val="60000"/>
                  <a:lumOff val="40000"/>
                </a:schemeClr>
              </a:solidFill>
              <a:latin typeface="Times New Roman" pitchFamily="18" charset="0"/>
              <a:cs typeface="Times New Roman" pitchFamily="18" charset="0"/>
            </a:endParaRPr>
          </a:p>
          <a:p>
            <a:r>
              <a:rPr lang="en-US" sz="7200" dirty="0" smtClean="0">
                <a:latin typeface="Times New Roman" pitchFamily="18" charset="0"/>
                <a:cs typeface="Times New Roman" pitchFamily="18" charset="0"/>
              </a:rPr>
              <a:t>In some universities, consultancy services are rendered in certain areas like Diploma </a:t>
            </a:r>
            <a:r>
              <a:rPr lang="en-US" sz="7200" dirty="0" err="1" smtClean="0">
                <a:latin typeface="Times New Roman" pitchFamily="18" charset="0"/>
                <a:cs typeface="Times New Roman" pitchFamily="18" charset="0"/>
              </a:rPr>
              <a:t>programme</a:t>
            </a:r>
            <a:r>
              <a:rPr lang="en-US" sz="7200" dirty="0" smtClean="0">
                <a:latin typeface="Times New Roman" pitchFamily="18" charset="0"/>
                <a:cs typeface="Times New Roman" pitchFamily="18" charset="0"/>
              </a:rPr>
              <a:t> and other services to the public. This unit of revenue earning often brings in substantial sums that assist in running other </a:t>
            </a:r>
            <a:r>
              <a:rPr lang="en-US" sz="7200" dirty="0" err="1" smtClean="0">
                <a:latin typeface="Times New Roman" pitchFamily="18" charset="0"/>
                <a:cs typeface="Times New Roman" pitchFamily="18" charset="0"/>
              </a:rPr>
              <a:t>programmes</a:t>
            </a:r>
            <a:r>
              <a:rPr lang="en-US" sz="7200" dirty="0" smtClean="0">
                <a:latin typeface="Times New Roman" pitchFamily="18" charset="0"/>
                <a:cs typeface="Times New Roman" pitchFamily="18" charset="0"/>
              </a:rPr>
              <a:t>. In Universities like Lagos and ABU Zaria, University of Ibadan and </a:t>
            </a:r>
            <a:r>
              <a:rPr lang="en-US" sz="7200" dirty="0" err="1" smtClean="0">
                <a:latin typeface="Times New Roman" pitchFamily="18" charset="0"/>
                <a:cs typeface="Times New Roman" pitchFamily="18" charset="0"/>
              </a:rPr>
              <a:t>Obafemi</a:t>
            </a:r>
            <a:r>
              <a:rPr lang="en-US" sz="7200" dirty="0" smtClean="0">
                <a:latin typeface="Times New Roman" pitchFamily="18" charset="0"/>
                <a:cs typeface="Times New Roman" pitchFamily="18" charset="0"/>
              </a:rPr>
              <a:t> </a:t>
            </a:r>
            <a:r>
              <a:rPr lang="en-US" sz="7200" dirty="0" err="1" smtClean="0">
                <a:latin typeface="Times New Roman" pitchFamily="18" charset="0"/>
                <a:cs typeface="Times New Roman" pitchFamily="18" charset="0"/>
              </a:rPr>
              <a:t>Awolowo</a:t>
            </a:r>
            <a:r>
              <a:rPr lang="en-US" sz="7200" dirty="0" smtClean="0">
                <a:latin typeface="Times New Roman" pitchFamily="18" charset="0"/>
                <a:cs typeface="Times New Roman" pitchFamily="18" charset="0"/>
              </a:rPr>
              <a:t> University, their consultancy service earns them some big sums of money. The creation of this revenue earning unit does not require big capital but manpower resources to start with.</a:t>
            </a:r>
          </a:p>
          <a:p>
            <a:r>
              <a:rPr lang="en-US" sz="7200" dirty="0" smtClean="0">
                <a:latin typeface="Times New Roman" pitchFamily="18" charset="0"/>
                <a:cs typeface="Times New Roman" pitchFamily="18" charset="0"/>
              </a:rPr>
              <a:t>The revenue generation through consultancy service is hitherto not encouraging given the enormous opportunities yearning to be tapped to boost the revenue from this source.  </a:t>
            </a:r>
          </a:p>
          <a:p>
            <a:r>
              <a:rPr lang="en-US" sz="7200" dirty="0" smtClean="0">
                <a:latin typeface="Times New Roman" pitchFamily="18" charset="0"/>
                <a:cs typeface="Times New Roman" pitchFamily="18" charset="0"/>
              </a:rPr>
              <a:t>The EKSU Consult is a business unit saddled with the responsibility of handling business development and income generation for the University through the application of the available enormous resource competencies in all fields of human </a:t>
            </a:r>
            <a:r>
              <a:rPr lang="en-US" sz="7200" dirty="0" err="1" smtClean="0">
                <a:latin typeface="Times New Roman" pitchFamily="18" charset="0"/>
                <a:cs typeface="Times New Roman" pitchFamily="18" charset="0"/>
              </a:rPr>
              <a:t>endeavour</a:t>
            </a:r>
            <a:r>
              <a:rPr lang="en-US" sz="7200" dirty="0" smtClean="0">
                <a:latin typeface="Times New Roman" pitchFamily="18" charset="0"/>
                <a:cs typeface="Times New Roman" pitchFamily="18" charset="0"/>
              </a:rPr>
              <a:t> to solve varieties of problems in the various sectors of the state and the nation at large.</a:t>
            </a:r>
          </a:p>
          <a:p>
            <a:endParaRPr lang="en-US" dirty="0"/>
          </a:p>
        </p:txBody>
      </p:sp>
      <p:pic>
        <p:nvPicPr>
          <p:cNvPr id="34818" name="Picture 2" descr="C:\Users\AMIRA\Desktop\af.jpg"/>
          <p:cNvPicPr>
            <a:picLocks noChangeAspect="1" noChangeArrowheads="1"/>
          </p:cNvPicPr>
          <p:nvPr/>
        </p:nvPicPr>
        <p:blipFill>
          <a:blip r:embed="rId2"/>
          <a:srcRect/>
          <a:stretch>
            <a:fillRect/>
          </a:stretch>
        </p:blipFill>
        <p:spPr bwMode="auto">
          <a:xfrm>
            <a:off x="152400" y="152400"/>
            <a:ext cx="1400175" cy="1600200"/>
          </a:xfrm>
          <a:prstGeom prst="rect">
            <a:avLst/>
          </a:prstGeom>
          <a:noFill/>
        </p:spPr>
      </p:pic>
    </p:spTree>
  </p:cSld>
  <p:clrMapOvr>
    <a:masterClrMapping/>
  </p:clrMapOvr>
  <p:transition>
    <p:dissolv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447800"/>
            <a:ext cx="8229600" cy="4953000"/>
          </a:xfrm>
        </p:spPr>
        <p:txBody>
          <a:bodyPr>
            <a:normAutofit fontScale="25000" lnSpcReduction="20000"/>
          </a:bodyPr>
          <a:lstStyle/>
          <a:p>
            <a:r>
              <a:rPr lang="en-US" sz="7200" dirty="0" smtClean="0">
                <a:latin typeface="Times New Roman" pitchFamily="18" charset="0"/>
                <a:cs typeface="Times New Roman" pitchFamily="18" charset="0"/>
              </a:rPr>
              <a:t>To improve on the current level of IGR from Consultancy Services, management should adopt the following measures:</a:t>
            </a:r>
          </a:p>
          <a:p>
            <a:pPr lvl="0"/>
            <a:r>
              <a:rPr lang="en-US" sz="7200" dirty="0" smtClean="0">
                <a:latin typeface="Times New Roman" pitchFamily="18" charset="0"/>
                <a:cs typeface="Times New Roman" pitchFamily="18" charset="0"/>
              </a:rPr>
              <a:t>Total restructuring of EKSU Consult to ensure that only business-oriented individuals with background training in Accountancy, Business Administration, Economics and allied disciplines are given the opportunity to handle key responsibilities in the day to day conduct of the affairs  and operations of the Unit.</a:t>
            </a:r>
          </a:p>
          <a:p>
            <a:pPr lvl="0"/>
            <a:endParaRPr lang="en-US"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Members of staff, both academic and non-academic, should be encouraged to enlist as consultants and resource persons to handles all jobs to be executed by EKSU Consult</a:t>
            </a:r>
          </a:p>
          <a:p>
            <a:pPr lvl="0"/>
            <a:r>
              <a:rPr lang="en-US" sz="7200" dirty="0" smtClean="0">
                <a:latin typeface="Times New Roman" pitchFamily="18" charset="0"/>
                <a:cs typeface="Times New Roman" pitchFamily="18" charset="0"/>
              </a:rPr>
              <a:t>Attractive revenue sharing formula should be established to take care of the interests of all the relevant stakeholders in consultancy jobs execution and details be available to all concerned to encourage full participation by all members of staff with requisite knowledge and skills</a:t>
            </a:r>
          </a:p>
          <a:p>
            <a:pPr lvl="0"/>
            <a:r>
              <a:rPr lang="en-US" sz="7200" dirty="0" smtClean="0">
                <a:latin typeface="Times New Roman" pitchFamily="18" charset="0"/>
                <a:cs typeface="Times New Roman" pitchFamily="18" charset="0"/>
              </a:rPr>
              <a:t> Establish a Bursary Unit and Internal Audit Unit within the EKSU Consult to facilitate adequate capturing of all financial transactions within the Unit, full accountability, utmost transparency and integrity </a:t>
            </a:r>
          </a:p>
          <a:p>
            <a:pPr lvl="0"/>
            <a:r>
              <a:rPr lang="en-US" sz="7200" dirty="0" smtClean="0">
                <a:latin typeface="Times New Roman" pitchFamily="18" charset="0"/>
                <a:cs typeface="Times New Roman" pitchFamily="18" charset="0"/>
              </a:rPr>
              <a:t>Computerization of the revenue collection process to ensure that every individual or entity patronizing EKSU Consult obtains valid receipts for all payments made for services rendered.</a:t>
            </a:r>
          </a:p>
          <a:p>
            <a:endParaRPr lang="en-US" dirty="0"/>
          </a:p>
        </p:txBody>
      </p:sp>
      <p:pic>
        <p:nvPicPr>
          <p:cNvPr id="35842" name="Picture 2" descr="C:\Users\AMIRA\Desktop\af.jpg"/>
          <p:cNvPicPr>
            <a:picLocks noChangeAspect="1" noChangeArrowheads="1"/>
          </p:cNvPicPr>
          <p:nvPr/>
        </p:nvPicPr>
        <p:blipFill>
          <a:blip r:embed="rId2"/>
          <a:srcRect/>
          <a:stretch>
            <a:fillRect/>
          </a:stretch>
        </p:blipFill>
        <p:spPr bwMode="auto">
          <a:xfrm>
            <a:off x="152400" y="152400"/>
            <a:ext cx="1400175" cy="1295400"/>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2954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373563"/>
          </a:xfrm>
        </p:spPr>
        <p:txBody>
          <a:bodyPr>
            <a:normAutofit fontScale="25000" lnSpcReduction="20000"/>
          </a:bodyPr>
          <a:lstStyle/>
          <a:p>
            <a:pPr lvl="0">
              <a:buNone/>
            </a:pPr>
            <a:r>
              <a:rPr lang="en-US" b="1" dirty="0" smtClean="0"/>
              <a:t>	</a:t>
            </a:r>
            <a:r>
              <a:rPr lang="en-US" sz="8000" b="1" dirty="0" smtClean="0">
                <a:solidFill>
                  <a:schemeClr val="accent5">
                    <a:lumMod val="60000"/>
                    <a:lumOff val="40000"/>
                  </a:schemeClr>
                </a:solidFill>
                <a:latin typeface="Times New Roman" pitchFamily="18" charset="0"/>
                <a:cs typeface="Times New Roman" pitchFamily="18" charset="0"/>
              </a:rPr>
              <a:t>Alumni Fees</a:t>
            </a:r>
            <a:endParaRPr lang="en-US" sz="8000" dirty="0" smtClean="0">
              <a:solidFill>
                <a:schemeClr val="accent5">
                  <a:lumMod val="60000"/>
                  <a:lumOff val="40000"/>
                </a:schemeClr>
              </a:solidFill>
              <a:latin typeface="Times New Roman" pitchFamily="18" charset="0"/>
              <a:cs typeface="Times New Roman" pitchFamily="18" charset="0"/>
            </a:endParaRPr>
          </a:p>
          <a:p>
            <a:pPr algn="just"/>
            <a:r>
              <a:rPr lang="en-US" sz="8000" dirty="0" smtClean="0">
                <a:latin typeface="Times New Roman" pitchFamily="18" charset="0"/>
                <a:cs typeface="Times New Roman" pitchFamily="18" charset="0"/>
              </a:rPr>
              <a:t>The Alumni Relations Unit and the Alumni Association could constitute another viable source of IGR for the University and to be able to boost the income from this source, Management should consider the following measures:</a:t>
            </a:r>
          </a:p>
          <a:p>
            <a:pPr lvl="0" algn="just"/>
            <a:r>
              <a:rPr lang="en-US" sz="8000" dirty="0" smtClean="0">
                <a:latin typeface="Times New Roman" pitchFamily="18" charset="0"/>
                <a:cs typeface="Times New Roman" pitchFamily="18" charset="0"/>
              </a:rPr>
              <a:t>Comprehensive Alumni tracking</a:t>
            </a:r>
          </a:p>
          <a:p>
            <a:pPr lvl="0" algn="just"/>
            <a:r>
              <a:rPr lang="en-US" sz="8000" dirty="0" smtClean="0">
                <a:latin typeface="Times New Roman" pitchFamily="18" charset="0"/>
                <a:cs typeface="Times New Roman" pitchFamily="18" charset="0"/>
              </a:rPr>
              <a:t>Full computerization and continuous update of the Alumni database</a:t>
            </a:r>
          </a:p>
          <a:p>
            <a:pPr lvl="0" algn="just"/>
            <a:r>
              <a:rPr lang="en-US" sz="8000" dirty="0" smtClean="0">
                <a:latin typeface="Times New Roman" pitchFamily="18" charset="0"/>
                <a:cs typeface="Times New Roman" pitchFamily="18" charset="0"/>
              </a:rPr>
              <a:t>Periodic contacts to maintain sense of belonging in Alumni Association</a:t>
            </a:r>
          </a:p>
          <a:p>
            <a:pPr lvl="0" algn="just"/>
            <a:r>
              <a:rPr lang="en-US" sz="8000" dirty="0" smtClean="0">
                <a:latin typeface="Times New Roman" pitchFamily="18" charset="0"/>
                <a:cs typeface="Times New Roman" pitchFamily="18" charset="0"/>
              </a:rPr>
              <a:t>Upward review of the Alumni Association Fee payable by the graduating students to say N5,000 per individual graduating student and retention of a reasonable proportion of the amount realized by the University subject to negotiations and concrete agreement with the Alumni Association</a:t>
            </a:r>
          </a:p>
          <a:p>
            <a:pPr lvl="0" algn="just"/>
            <a:r>
              <a:rPr lang="en-US" sz="8000" dirty="0" smtClean="0">
                <a:latin typeface="Times New Roman" pitchFamily="18" charset="0"/>
                <a:cs typeface="Times New Roman" pitchFamily="18" charset="0"/>
              </a:rPr>
              <a:t>Encourage the Alumni Association to make meaningful contributions to the development of the University on an annual basis</a:t>
            </a:r>
          </a:p>
          <a:p>
            <a:pPr lvl="0" algn="just"/>
            <a:r>
              <a:rPr lang="en-US" sz="8000" dirty="0" smtClean="0">
                <a:latin typeface="Times New Roman" pitchFamily="18" charset="0"/>
                <a:cs typeface="Times New Roman" pitchFamily="18" charset="0"/>
              </a:rPr>
              <a:t>Establish a Bursary Unit and Internal Audit Unit within the Alumni Unit to facilitate adequate capturing of all financial transactions </a:t>
            </a:r>
          </a:p>
          <a:p>
            <a:pPr lvl="0" algn="just"/>
            <a:r>
              <a:rPr lang="en-US" sz="8000" dirty="0" smtClean="0">
                <a:latin typeface="Times New Roman" pitchFamily="18" charset="0"/>
                <a:cs typeface="Times New Roman" pitchFamily="18" charset="0"/>
              </a:rPr>
              <a:t>Computerization of the Financial Reporting Framework within the Alumni Unit</a:t>
            </a:r>
          </a:p>
          <a:p>
            <a:endParaRPr lang="en-US" dirty="0"/>
          </a:p>
        </p:txBody>
      </p:sp>
      <p:pic>
        <p:nvPicPr>
          <p:cNvPr id="36866" name="Picture 2" descr="C:\Users\AMIRA\Desktop\af.jpg"/>
          <p:cNvPicPr>
            <a:picLocks noChangeAspect="1" noChangeArrowheads="1"/>
          </p:cNvPicPr>
          <p:nvPr/>
        </p:nvPicPr>
        <p:blipFill>
          <a:blip r:embed="rId2"/>
          <a:srcRect/>
          <a:stretch>
            <a:fillRect/>
          </a:stretch>
        </p:blipFill>
        <p:spPr bwMode="auto">
          <a:xfrm>
            <a:off x="0" y="152401"/>
            <a:ext cx="1400175" cy="1600200"/>
          </a:xfrm>
          <a:prstGeom prst="rect">
            <a:avLst/>
          </a:prstGeom>
          <a:noFill/>
        </p:spPr>
      </p:pic>
    </p:spTree>
  </p:cSld>
  <p:clrMapOvr>
    <a:masterClrMapping/>
  </p:clrMapOvr>
  <p:transition>
    <p:wedg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2057400"/>
            <a:ext cx="8229600" cy="4068763"/>
          </a:xfrm>
        </p:spPr>
        <p:txBody>
          <a:bodyPr>
            <a:normAutofit fontScale="85000" lnSpcReduction="20000"/>
          </a:bodyPr>
          <a:lstStyle/>
          <a:p>
            <a:pPr lvl="0">
              <a:buNone/>
            </a:pPr>
            <a:r>
              <a:rPr lang="en-US" b="1" dirty="0" smtClean="0"/>
              <a:t>	</a:t>
            </a:r>
            <a:r>
              <a:rPr lang="en-US" b="1" dirty="0" smtClean="0">
                <a:solidFill>
                  <a:schemeClr val="accent5">
                    <a:lumMod val="60000"/>
                    <a:lumOff val="40000"/>
                  </a:schemeClr>
                </a:solidFill>
              </a:rPr>
              <a:t>Library Bindery and Photocopy Services</a:t>
            </a:r>
            <a:endParaRPr lang="en-US" dirty="0" smtClean="0">
              <a:solidFill>
                <a:schemeClr val="accent5">
                  <a:lumMod val="60000"/>
                  <a:lumOff val="40000"/>
                </a:schemeClr>
              </a:solidFill>
            </a:endParaRPr>
          </a:p>
          <a:p>
            <a:pPr algn="just"/>
            <a:r>
              <a:rPr lang="en-US" dirty="0" smtClean="0">
                <a:latin typeface="Times New Roman" pitchFamily="18" charset="0"/>
                <a:cs typeface="Times New Roman" pitchFamily="18" charset="0"/>
              </a:rPr>
              <a:t>The Bindery and Photocopy Unit within the University Library could also contribute immensely to the IGR funding of the University. To improve on the current performance of this Unit, management should take the following measures:</a:t>
            </a:r>
          </a:p>
          <a:p>
            <a:pPr lvl="0" algn="just"/>
            <a:r>
              <a:rPr lang="en-US" dirty="0" smtClean="0">
                <a:latin typeface="Times New Roman" pitchFamily="18" charset="0"/>
                <a:cs typeface="Times New Roman" pitchFamily="18" charset="0"/>
              </a:rPr>
              <a:t>General overhaul of the existing facilities and acquisition of additional state-of-the-art equipment to increase the operating capacity of the Unit</a:t>
            </a:r>
          </a:p>
          <a:p>
            <a:pPr lvl="0" algn="just"/>
            <a:r>
              <a:rPr lang="en-US" dirty="0" smtClean="0">
                <a:latin typeface="Times New Roman" pitchFamily="18" charset="0"/>
                <a:cs typeface="Times New Roman" pitchFamily="18" charset="0"/>
              </a:rPr>
              <a:t>Establish a Bursary Unit and Internal Audit Unit within the University Library to facilitate adequate capturing of all financial transactions </a:t>
            </a:r>
          </a:p>
          <a:p>
            <a:pPr lvl="0" algn="just"/>
            <a:r>
              <a:rPr lang="en-US" dirty="0" smtClean="0">
                <a:latin typeface="Times New Roman" pitchFamily="18" charset="0"/>
                <a:cs typeface="Times New Roman" pitchFamily="18" charset="0"/>
              </a:rPr>
              <a:t>Computerization of the Revenue Collection Process within the Bindery and Photocopy Unit</a:t>
            </a:r>
          </a:p>
          <a:p>
            <a:pPr lvl="0" algn="just"/>
            <a:r>
              <a:rPr lang="en-US" dirty="0" smtClean="0">
                <a:latin typeface="Times New Roman" pitchFamily="18" charset="0"/>
                <a:cs typeface="Times New Roman" pitchFamily="18" charset="0"/>
              </a:rPr>
              <a:t>Periodic remittance of profits to the University through the Investment and IGR Coordination Unit in the Bursary department (Treasury Services Division)</a:t>
            </a:r>
          </a:p>
          <a:p>
            <a:endParaRPr lang="en-US" dirty="0"/>
          </a:p>
        </p:txBody>
      </p:sp>
      <p:pic>
        <p:nvPicPr>
          <p:cNvPr id="37890" name="Picture 2" descr="C:\Users\AMIRA\Desktop\af.jpg"/>
          <p:cNvPicPr>
            <a:picLocks noChangeAspect="1" noChangeArrowheads="1"/>
          </p:cNvPicPr>
          <p:nvPr/>
        </p:nvPicPr>
        <p:blipFill>
          <a:blip r:embed="rId2"/>
          <a:srcRect/>
          <a:stretch>
            <a:fillRect/>
          </a:stretch>
        </p:blipFill>
        <p:spPr bwMode="auto">
          <a:xfrm>
            <a:off x="228600" y="0"/>
            <a:ext cx="1400175" cy="1990725"/>
          </a:xfrm>
          <a:prstGeom prst="rect">
            <a:avLst/>
          </a:prstGeom>
          <a:noFill/>
        </p:spPr>
      </p:pic>
    </p:spTree>
  </p:cSld>
  <p:clrMapOvr>
    <a:masterClrMapping/>
  </p:clrMapOvr>
  <p:transition>
    <p:dissolv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81200"/>
            <a:ext cx="8229600" cy="4343400"/>
          </a:xfrm>
        </p:spPr>
        <p:txBody>
          <a:bodyPr>
            <a:normAutofit fontScale="25000" lnSpcReduction="20000"/>
          </a:bodyPr>
          <a:lstStyle/>
          <a:p>
            <a:pPr lvl="0" algn="just">
              <a:buNone/>
            </a:pPr>
            <a:r>
              <a:rPr lang="en-US" b="1" dirty="0" smtClean="0"/>
              <a:t>	</a:t>
            </a:r>
            <a:r>
              <a:rPr lang="en-US" sz="7200" b="1" dirty="0" smtClean="0">
                <a:solidFill>
                  <a:schemeClr val="accent5">
                    <a:lumMod val="60000"/>
                    <a:lumOff val="40000"/>
                  </a:schemeClr>
                </a:solidFill>
              </a:rPr>
              <a:t>Club Registration and Renewal Fees</a:t>
            </a:r>
            <a:endParaRPr lang="en-US" sz="7200" dirty="0" smtClean="0">
              <a:solidFill>
                <a:schemeClr val="accent5">
                  <a:lumMod val="60000"/>
                  <a:lumOff val="40000"/>
                </a:schemeClr>
              </a:solidFill>
            </a:endParaRPr>
          </a:p>
          <a:p>
            <a:pPr algn="just"/>
            <a:r>
              <a:rPr lang="en-US" sz="7200" dirty="0" smtClean="0">
                <a:latin typeface="Times New Roman" pitchFamily="18" charset="0"/>
                <a:cs typeface="Times New Roman" pitchFamily="18" charset="0"/>
              </a:rPr>
              <a:t>There could also be a upward review of the fee payable by clubs and associations willing to register the names and operations within the University. The same could also apply to those renewing their operating certificates.</a:t>
            </a:r>
          </a:p>
          <a:p>
            <a:pPr lvl="0" algn="just">
              <a:buNone/>
            </a:pPr>
            <a:r>
              <a:rPr lang="en-US" sz="7200" b="1" dirty="0" smtClean="0">
                <a:latin typeface="Times New Roman" pitchFamily="18" charset="0"/>
                <a:cs typeface="Times New Roman" pitchFamily="18" charset="0"/>
              </a:rPr>
              <a:t>	</a:t>
            </a:r>
            <a:r>
              <a:rPr lang="en-US" sz="7200" b="1" dirty="0" smtClean="0">
                <a:solidFill>
                  <a:schemeClr val="accent5">
                    <a:lumMod val="60000"/>
                    <a:lumOff val="40000"/>
                  </a:schemeClr>
                </a:solidFill>
                <a:latin typeface="Times New Roman" pitchFamily="18" charset="0"/>
                <a:cs typeface="Times New Roman" pitchFamily="18" charset="0"/>
              </a:rPr>
              <a:t>Linkages/Partnership and Endowment fund</a:t>
            </a:r>
            <a:endParaRPr lang="en-US" sz="7200" dirty="0" smtClean="0">
              <a:solidFill>
                <a:schemeClr val="accent5">
                  <a:lumMod val="60000"/>
                  <a:lumOff val="40000"/>
                </a:schemeClr>
              </a:solidFill>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 Advancement and Linkage directorate could also make reasonable contribution towards the IGR drive of the University.  Management should consider the adoption of the following measures in order to achieve the objectives of this Unit:</a:t>
            </a:r>
          </a:p>
          <a:p>
            <a:pPr lvl="0" algn="just"/>
            <a:r>
              <a:rPr lang="en-US" sz="7200" dirty="0" smtClean="0">
                <a:latin typeface="Times New Roman" pitchFamily="18" charset="0"/>
                <a:cs typeface="Times New Roman" pitchFamily="18" charset="0"/>
              </a:rPr>
              <a:t>Strengthen Advancement and Linkage Directorate in terms of personnel and necessary equipment to be able to carry out it functions in a manner that will guarantee maximum contribution towards the IGR drives of the University</a:t>
            </a:r>
          </a:p>
          <a:p>
            <a:pPr lvl="0" algn="just"/>
            <a:r>
              <a:rPr lang="en-US" sz="7200" dirty="0" smtClean="0">
                <a:latin typeface="Times New Roman" pitchFamily="18" charset="0"/>
                <a:cs typeface="Times New Roman" pitchFamily="18" charset="0"/>
              </a:rPr>
              <a:t>Maintenance and regular update of the database of philanthropists and donor agencies world-wide and constant correspondences with such individuals and entities with a view to attracting funds from them.</a:t>
            </a:r>
          </a:p>
          <a:p>
            <a:pPr lvl="0" algn="just"/>
            <a:r>
              <a:rPr lang="en-US" sz="7200" dirty="0" smtClean="0">
                <a:latin typeface="Times New Roman" pitchFamily="18" charset="0"/>
                <a:cs typeface="Times New Roman" pitchFamily="18" charset="0"/>
              </a:rPr>
              <a:t>Establish a Bursary Unit and Internal Audit Unit within the Advancement and Linkage Directorate to facilitate adequate capturing of all financial transactions </a:t>
            </a:r>
          </a:p>
          <a:p>
            <a:pPr lvl="0" algn="just"/>
            <a:r>
              <a:rPr lang="en-US" sz="7200" dirty="0" smtClean="0">
                <a:latin typeface="Times New Roman" pitchFamily="18" charset="0"/>
                <a:cs typeface="Times New Roman" pitchFamily="18" charset="0"/>
              </a:rPr>
              <a:t>Computerization of the Revenue Collection Process in the Directorate</a:t>
            </a:r>
          </a:p>
          <a:p>
            <a:pPr>
              <a:buNone/>
            </a:pPr>
            <a:r>
              <a:rPr lang="en-US" sz="7200" dirty="0" smtClean="0">
                <a:latin typeface="Times New Roman" pitchFamily="18" charset="0"/>
                <a:cs typeface="Times New Roman" pitchFamily="18" charset="0"/>
              </a:rPr>
              <a:t> </a:t>
            </a:r>
          </a:p>
          <a:p>
            <a:endParaRPr lang="en-US" dirty="0"/>
          </a:p>
        </p:txBody>
      </p:sp>
      <p:pic>
        <p:nvPicPr>
          <p:cNvPr id="38914" name="Picture 2" descr="C:\Users\AMIRA\Desktop\af.jpg"/>
          <p:cNvPicPr>
            <a:picLocks noChangeAspect="1" noChangeArrowheads="1"/>
          </p:cNvPicPr>
          <p:nvPr/>
        </p:nvPicPr>
        <p:blipFill>
          <a:blip r:embed="rId2"/>
          <a:srcRect/>
          <a:stretch>
            <a:fillRect/>
          </a:stretch>
        </p:blipFill>
        <p:spPr bwMode="auto">
          <a:xfrm>
            <a:off x="228600" y="0"/>
            <a:ext cx="1400175" cy="1990725"/>
          </a:xfrm>
          <a:prstGeom prst="rect">
            <a:avLst/>
          </a:prstGeom>
          <a:noFill/>
        </p:spPr>
      </p:pic>
    </p:spTree>
  </p:cSld>
  <p:clrMapOvr>
    <a:masterClrMapping/>
  </p:clrMapOvr>
  <p:transition>
    <p:dissolv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905000"/>
            <a:ext cx="8229600" cy="4572000"/>
          </a:xfrm>
        </p:spPr>
        <p:txBody>
          <a:bodyPr>
            <a:normAutofit fontScale="55000" lnSpcReduction="20000"/>
          </a:bodyPr>
          <a:lstStyle/>
          <a:p>
            <a:pPr lvl="0">
              <a:buNone/>
            </a:pPr>
            <a:r>
              <a:rPr lang="en-US" b="1" dirty="0" smtClean="0"/>
              <a:t>	</a:t>
            </a:r>
            <a:r>
              <a:rPr lang="en-US" sz="3200" b="1" dirty="0" smtClean="0">
                <a:solidFill>
                  <a:schemeClr val="accent5">
                    <a:lumMod val="60000"/>
                    <a:lumOff val="40000"/>
                  </a:schemeClr>
                </a:solidFill>
              </a:rPr>
              <a:t>University Guest House</a:t>
            </a:r>
            <a:endParaRPr lang="en-US" sz="3200" dirty="0" smtClean="0">
              <a:solidFill>
                <a:schemeClr val="accent5">
                  <a:lumMod val="60000"/>
                  <a:lumOff val="40000"/>
                </a:schemeClr>
              </a:solidFill>
            </a:endParaRPr>
          </a:p>
          <a:p>
            <a:pPr algn="just"/>
            <a:r>
              <a:rPr lang="en-US" sz="3200" dirty="0" smtClean="0">
                <a:latin typeface="Times New Roman" pitchFamily="18" charset="0"/>
                <a:cs typeface="Times New Roman" pitchFamily="18" charset="0"/>
              </a:rPr>
              <a:t>The University guest house is currently rendering catering services to the University during different meetings held within the University.  It also provides accommodation services for the University’s guests directed to the Unit. It is expected to be one of the viable investment centers of the University.</a:t>
            </a:r>
          </a:p>
          <a:p>
            <a:pPr algn="just"/>
            <a:r>
              <a:rPr lang="en-US" sz="3200" dirty="0" smtClean="0">
                <a:latin typeface="Times New Roman" pitchFamily="18" charset="0"/>
                <a:cs typeface="Times New Roman" pitchFamily="18" charset="0"/>
              </a:rPr>
              <a:t>The present scale of operation of the Guest House however requires much improvement in order to be able to generate adequate revenue to take care of its running expenses and contribute meaningfully to the IGR drive of the University. To achieve better performance, Management should adopt the following measures:</a:t>
            </a:r>
          </a:p>
          <a:p>
            <a:pPr lvl="0" algn="just"/>
            <a:r>
              <a:rPr lang="en-US" sz="3200" dirty="0" smtClean="0">
                <a:latin typeface="Times New Roman" pitchFamily="18" charset="0"/>
                <a:cs typeface="Times New Roman" pitchFamily="18" charset="0"/>
              </a:rPr>
              <a:t>Expand the existing facilities and operating capacity by increasing the number of buildings being used for accommodation purposes</a:t>
            </a:r>
          </a:p>
          <a:p>
            <a:pPr lvl="0" algn="just"/>
            <a:r>
              <a:rPr lang="en-US" sz="3200" dirty="0" smtClean="0">
                <a:latin typeface="Times New Roman" pitchFamily="18" charset="0"/>
                <a:cs typeface="Times New Roman" pitchFamily="18" charset="0"/>
              </a:rPr>
              <a:t>Strengthening the administrative unit at the Guest House in terms of competent and ICT compliant personnel and necessary equipment</a:t>
            </a:r>
          </a:p>
          <a:p>
            <a:pPr lvl="0" algn="just"/>
            <a:r>
              <a:rPr lang="en-US" sz="3200" dirty="0" smtClean="0">
                <a:latin typeface="Times New Roman" pitchFamily="18" charset="0"/>
                <a:cs typeface="Times New Roman" pitchFamily="18" charset="0"/>
              </a:rPr>
              <a:t>Computerization of the billing and revenue collection processes</a:t>
            </a:r>
          </a:p>
          <a:p>
            <a:pPr lvl="0" algn="just"/>
            <a:r>
              <a:rPr lang="en-US" sz="3200" dirty="0" smtClean="0">
                <a:latin typeface="Times New Roman" pitchFamily="18" charset="0"/>
                <a:cs typeface="Times New Roman" pitchFamily="18" charset="0"/>
              </a:rPr>
              <a:t>Establish a Bursary Unit and Internal Audit Unit within the Guest House to facilitate adequate capturing of all financial transactions and provision of periodic financial report for Management consideration</a:t>
            </a:r>
          </a:p>
          <a:p>
            <a:endParaRPr lang="en-US" dirty="0"/>
          </a:p>
        </p:txBody>
      </p:sp>
      <p:pic>
        <p:nvPicPr>
          <p:cNvPr id="39938" name="Picture 2" descr="C:\Users\AMIRA\Desktop\af.jpg"/>
          <p:cNvPicPr>
            <a:picLocks noChangeAspect="1" noChangeArrowheads="1"/>
          </p:cNvPicPr>
          <p:nvPr/>
        </p:nvPicPr>
        <p:blipFill>
          <a:blip r:embed="rId2"/>
          <a:srcRect/>
          <a:stretch>
            <a:fillRect/>
          </a:stretch>
        </p:blipFill>
        <p:spPr bwMode="auto">
          <a:xfrm>
            <a:off x="0" y="1"/>
            <a:ext cx="1400175" cy="1905000"/>
          </a:xfrm>
          <a:prstGeom prst="rect">
            <a:avLst/>
          </a:prstGeom>
          <a:noFill/>
        </p:spPr>
      </p:pic>
    </p:spTree>
  </p:cSld>
  <p:clrMapOvr>
    <a:masterClrMapping/>
  </p:clrMapOvr>
  <p:transition>
    <p:cu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525963"/>
          </a:xfrm>
        </p:spPr>
        <p:txBody>
          <a:bodyPr>
            <a:normAutofit/>
          </a:bodyPr>
          <a:lstStyle/>
          <a:p>
            <a:pPr lvl="0" algn="just"/>
            <a:r>
              <a:rPr lang="en-US" sz="2000" dirty="0" smtClean="0">
                <a:latin typeface="Times New Roman" pitchFamily="18" charset="0"/>
                <a:cs typeface="Times New Roman" pitchFamily="18" charset="0"/>
              </a:rPr>
              <a:t>Periodic remittance of profits to the University through the Investment and IGR Coordination Unit in the Bursary department (Treasury Services Division)</a:t>
            </a:r>
          </a:p>
          <a:p>
            <a:pPr lvl="0" algn="just"/>
            <a:r>
              <a:rPr lang="en-US" sz="2000" dirty="0" smtClean="0">
                <a:latin typeface="Times New Roman" pitchFamily="18" charset="0"/>
                <a:cs typeface="Times New Roman" pitchFamily="18" charset="0"/>
              </a:rPr>
              <a:t>Introduction of care hire services</a:t>
            </a:r>
          </a:p>
          <a:p>
            <a:pPr lvl="0" algn="just"/>
            <a:r>
              <a:rPr lang="en-US" sz="2000" dirty="0" smtClean="0">
                <a:latin typeface="Times New Roman" pitchFamily="18" charset="0"/>
                <a:cs typeface="Times New Roman" pitchFamily="18" charset="0"/>
              </a:rPr>
              <a:t>Establishment of Cybercafé within the Guest House premises for the provision of ICT services for guests and other members of the public</a:t>
            </a:r>
          </a:p>
          <a:p>
            <a:pPr lvl="0" algn="just"/>
            <a:r>
              <a:rPr lang="en-US" sz="2000" dirty="0" smtClean="0">
                <a:latin typeface="Times New Roman" pitchFamily="18" charset="0"/>
                <a:cs typeface="Times New Roman" pitchFamily="18" charset="0"/>
              </a:rPr>
              <a:t>Construction of high capacity hall, to serve as event center, which could be made available to the public for use during various ceremonies</a:t>
            </a:r>
          </a:p>
          <a:p>
            <a:pPr lvl="0" algn="just"/>
            <a:r>
              <a:rPr lang="en-US" sz="2000" dirty="0" smtClean="0">
                <a:latin typeface="Times New Roman" pitchFamily="18" charset="0"/>
                <a:cs typeface="Times New Roman" pitchFamily="18" charset="0"/>
              </a:rPr>
              <a:t>Establishment of Cafeteria within the University</a:t>
            </a:r>
          </a:p>
          <a:p>
            <a:endParaRPr lang="en-US" dirty="0"/>
          </a:p>
        </p:txBody>
      </p:sp>
      <p:pic>
        <p:nvPicPr>
          <p:cNvPr id="40962" name="Picture 2" descr="C:\Users\AMIRA\Desktop\af.jpg"/>
          <p:cNvPicPr>
            <a:picLocks noChangeAspect="1" noChangeArrowheads="1"/>
          </p:cNvPicPr>
          <p:nvPr/>
        </p:nvPicPr>
        <p:blipFill>
          <a:blip r:embed="rId2"/>
          <a:srcRect/>
          <a:stretch>
            <a:fillRect/>
          </a:stretch>
        </p:blipFill>
        <p:spPr bwMode="auto">
          <a:xfrm>
            <a:off x="0" y="0"/>
            <a:ext cx="1400175" cy="1762125"/>
          </a:xfrm>
          <a:prstGeom prst="rect">
            <a:avLst/>
          </a:prstGeom>
          <a:noFill/>
        </p:spPr>
      </p:pic>
    </p:spTree>
  </p:cSld>
  <p:clrMapOvr>
    <a:masterClrMapping/>
  </p:clrMapOvr>
  <p:transition>
    <p:dissolv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828800"/>
            <a:ext cx="8229600" cy="4038600"/>
          </a:xfrm>
        </p:spPr>
        <p:txBody>
          <a:bodyPr>
            <a:normAutofit fontScale="25000" lnSpcReduction="20000"/>
          </a:bodyPr>
          <a:lstStyle/>
          <a:p>
            <a:pPr lvl="0">
              <a:buNone/>
            </a:pPr>
            <a:r>
              <a:rPr lang="en-US" b="1" dirty="0" smtClean="0"/>
              <a:t>	</a:t>
            </a:r>
            <a:r>
              <a:rPr lang="en-US" sz="7200" b="1" dirty="0" smtClean="0">
                <a:solidFill>
                  <a:schemeClr val="accent5">
                    <a:lumMod val="60000"/>
                    <a:lumOff val="40000"/>
                  </a:schemeClr>
                </a:solidFill>
                <a:latin typeface="Times New Roman" pitchFamily="18" charset="0"/>
                <a:cs typeface="Times New Roman" pitchFamily="18" charset="0"/>
              </a:rPr>
              <a:t>The University Staff School</a:t>
            </a:r>
            <a:endParaRPr lang="en-US" sz="7200" dirty="0" smtClean="0">
              <a:solidFill>
                <a:schemeClr val="accent5">
                  <a:lumMod val="60000"/>
                  <a:lumOff val="40000"/>
                </a:schemeClr>
              </a:solidFill>
              <a:latin typeface="Times New Roman" pitchFamily="18" charset="0"/>
              <a:cs typeface="Times New Roman" pitchFamily="18" charset="0"/>
            </a:endParaRPr>
          </a:p>
          <a:p>
            <a:pPr algn="just"/>
            <a:r>
              <a:rPr lang="en-US" sz="7200" dirty="0" smtClean="0">
                <a:latin typeface="Times New Roman" pitchFamily="18" charset="0"/>
                <a:cs typeface="Times New Roman" pitchFamily="18" charset="0"/>
              </a:rPr>
              <a:t>The University currently has a Nursery and Primary School located within the GRA near the University Staff Quarters. The contribution of the Staff School towards the University’s IGR drive could be improved as follows:</a:t>
            </a:r>
          </a:p>
          <a:p>
            <a:pPr lvl="0" algn="just"/>
            <a:r>
              <a:rPr lang="en-US" sz="7200" dirty="0" smtClean="0">
                <a:latin typeface="Times New Roman" pitchFamily="18" charset="0"/>
                <a:cs typeface="Times New Roman" pitchFamily="18" charset="0"/>
              </a:rPr>
              <a:t>Upward review of the Tuition Fee to make it competitive with the amount payable by pupils in other private schools in the state</a:t>
            </a:r>
          </a:p>
          <a:p>
            <a:pPr lvl="0" algn="just"/>
            <a:r>
              <a:rPr lang="en-US" sz="7200" dirty="0" smtClean="0">
                <a:latin typeface="Times New Roman" pitchFamily="18" charset="0"/>
                <a:cs typeface="Times New Roman" pitchFamily="18" charset="0"/>
              </a:rPr>
              <a:t>Review of the current school curriculum to be at par with international standard</a:t>
            </a:r>
          </a:p>
          <a:p>
            <a:pPr lvl="0" algn="just"/>
            <a:r>
              <a:rPr lang="en-US" sz="7200" dirty="0" smtClean="0">
                <a:latin typeface="Times New Roman" pitchFamily="18" charset="0"/>
                <a:cs typeface="Times New Roman" pitchFamily="18" charset="0"/>
              </a:rPr>
              <a:t> Establishment of International Secondary School</a:t>
            </a:r>
          </a:p>
          <a:p>
            <a:pPr lvl="0" algn="just"/>
            <a:r>
              <a:rPr lang="en-US" sz="7200" dirty="0" smtClean="0">
                <a:latin typeface="Times New Roman" pitchFamily="18" charset="0"/>
                <a:cs typeface="Times New Roman" pitchFamily="18" charset="0"/>
              </a:rPr>
              <a:t>Establish a Bursary Unit and Internal Audit Unit within the Staff School to facilitate adequate capturing of all financial transactions and provision of periodic financial report for Management consideration</a:t>
            </a:r>
          </a:p>
          <a:p>
            <a:pPr lvl="0" algn="just"/>
            <a:r>
              <a:rPr lang="en-US" sz="7200" dirty="0" smtClean="0">
                <a:latin typeface="Times New Roman" pitchFamily="18" charset="0"/>
                <a:cs typeface="Times New Roman" pitchFamily="18" charset="0"/>
              </a:rPr>
              <a:t>Periodic remittance of funds to the University through the Investment and IGR Coordination Unit in the Bursary department (Treasury Services Division)</a:t>
            </a:r>
          </a:p>
          <a:p>
            <a:pPr lvl="0" algn="just"/>
            <a:r>
              <a:rPr lang="en-US" sz="7200" dirty="0" smtClean="0">
                <a:latin typeface="Times New Roman" pitchFamily="18" charset="0"/>
                <a:cs typeface="Times New Roman" pitchFamily="18" charset="0"/>
              </a:rPr>
              <a:t>Revenue realized through tuition fees should not be used for day to day expenses but rather paid into a designated University account to be managed by the Bursary department</a:t>
            </a:r>
          </a:p>
          <a:p>
            <a:pPr lvl="0" algn="just"/>
            <a:r>
              <a:rPr lang="en-US" sz="7200" dirty="0" smtClean="0">
                <a:latin typeface="Times New Roman" pitchFamily="18" charset="0"/>
                <a:cs typeface="Times New Roman" pitchFamily="18" charset="0"/>
              </a:rPr>
              <a:t>Periodic running grants should be released to the Staff School and returns on the expenses incurred via the running grants should be forwarded to the Bursar on monthly basis.</a:t>
            </a:r>
          </a:p>
          <a:p>
            <a:pPr>
              <a:buNone/>
            </a:pPr>
            <a:r>
              <a:rPr lang="en-US" sz="7200" dirty="0" smtClean="0">
                <a:latin typeface="Times New Roman" pitchFamily="18" charset="0"/>
                <a:cs typeface="Times New Roman" pitchFamily="18" charset="0"/>
              </a:rPr>
              <a:t> </a:t>
            </a:r>
          </a:p>
          <a:p>
            <a:endParaRPr lang="en-US" dirty="0"/>
          </a:p>
        </p:txBody>
      </p:sp>
      <p:pic>
        <p:nvPicPr>
          <p:cNvPr id="41986" name="Picture 2" descr="C:\Users\AMIRA\Desktop\af.jpg"/>
          <p:cNvPicPr>
            <a:picLocks noChangeAspect="1" noChangeArrowheads="1"/>
          </p:cNvPicPr>
          <p:nvPr/>
        </p:nvPicPr>
        <p:blipFill>
          <a:blip r:embed="rId2"/>
          <a:srcRect/>
          <a:stretch>
            <a:fillRect/>
          </a:stretch>
        </p:blipFill>
        <p:spPr bwMode="auto">
          <a:xfrm>
            <a:off x="0" y="1"/>
            <a:ext cx="1400175" cy="1828800"/>
          </a:xfrm>
          <a:prstGeom prst="rect">
            <a:avLst/>
          </a:prstGeom>
          <a:noFill/>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pPr algn="ctr"/>
            <a:r>
              <a:rPr lang="en-US" dirty="0" smtClean="0"/>
              <a:t>     EKITI STATE UNIVERSITY ADO-EKITI</a:t>
            </a:r>
            <a:br>
              <a:rPr lang="en-US" dirty="0" smtClean="0"/>
            </a:br>
            <a:r>
              <a:rPr lang="en-US" b="1" dirty="0" smtClean="0"/>
              <a:t>SWOT ANALYSIS OF BURSARY DEPARTMENT</a:t>
            </a:r>
            <a:r>
              <a:rPr lang="en-US" dirty="0" smtClean="0"/>
              <a:t/>
            </a:r>
            <a:br>
              <a:rPr lang="en-US" dirty="0" smtClean="0"/>
            </a:br>
            <a:endParaRPr lang="en-US" dirty="0"/>
          </a:p>
        </p:txBody>
      </p:sp>
      <p:sp>
        <p:nvSpPr>
          <p:cNvPr id="3" name="Content Placeholder 2"/>
          <p:cNvSpPr>
            <a:spLocks noGrp="1"/>
          </p:cNvSpPr>
          <p:nvPr>
            <p:ph sz="quarter" idx="1"/>
          </p:nvPr>
        </p:nvSpPr>
        <p:spPr>
          <a:xfrm>
            <a:off x="457200" y="1600200"/>
            <a:ext cx="8229600" cy="4800600"/>
          </a:xfrm>
        </p:spPr>
        <p:txBody>
          <a:bodyPr>
            <a:normAutofit fontScale="77500" lnSpcReduction="20000"/>
          </a:bodyPr>
          <a:lstStyle/>
          <a:p>
            <a:pPr lvl="0">
              <a:buNone/>
            </a:pPr>
            <a:r>
              <a:rPr lang="en-US" b="1" dirty="0" smtClean="0"/>
              <a:t>	</a:t>
            </a:r>
            <a:r>
              <a:rPr lang="en-US" b="1" dirty="0" smtClean="0">
                <a:solidFill>
                  <a:schemeClr val="accent5">
                    <a:lumMod val="60000"/>
                    <a:lumOff val="40000"/>
                  </a:schemeClr>
                </a:solidFill>
                <a:latin typeface="Times New Roman" pitchFamily="18" charset="0"/>
                <a:cs typeface="Times New Roman" pitchFamily="18" charset="0"/>
              </a:rPr>
              <a:t>Other Small and Medium Scale Enterprises</a:t>
            </a:r>
            <a:endParaRPr lang="en-US" dirty="0" smtClean="0">
              <a:solidFill>
                <a:schemeClr val="accent5">
                  <a:lumMod val="60000"/>
                  <a:lumOff val="40000"/>
                </a:schemeClr>
              </a:solidFill>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University could also boost the level of IGR by embarking on the following other ventures</a:t>
            </a:r>
          </a:p>
          <a:p>
            <a:pPr lvl="0" algn="just"/>
            <a:r>
              <a:rPr lang="en-US" dirty="0" smtClean="0">
                <a:latin typeface="Times New Roman" pitchFamily="18" charset="0"/>
                <a:cs typeface="Times New Roman" pitchFamily="18" charset="0"/>
              </a:rPr>
              <a:t>Build up shops for rent</a:t>
            </a:r>
          </a:p>
          <a:p>
            <a:pPr lvl="0" algn="just"/>
            <a:r>
              <a:rPr lang="en-US" dirty="0" smtClean="0">
                <a:latin typeface="Times New Roman" pitchFamily="18" charset="0"/>
                <a:cs typeface="Times New Roman" pitchFamily="18" charset="0"/>
              </a:rPr>
              <a:t>Cybercafés within and outside the University campus</a:t>
            </a:r>
          </a:p>
          <a:p>
            <a:pPr lvl="0" algn="just"/>
            <a:r>
              <a:rPr lang="en-US" dirty="0" smtClean="0">
                <a:latin typeface="Times New Roman" pitchFamily="18" charset="0"/>
                <a:cs typeface="Times New Roman" pitchFamily="18" charset="0"/>
              </a:rPr>
              <a:t>Fee-for-packing lots</a:t>
            </a:r>
          </a:p>
          <a:p>
            <a:pPr lvl="0" algn="just"/>
            <a:r>
              <a:rPr lang="en-US" dirty="0" smtClean="0">
                <a:latin typeface="Times New Roman" pitchFamily="18" charset="0"/>
                <a:cs typeface="Times New Roman" pitchFamily="18" charset="0"/>
              </a:rPr>
              <a:t>Launderettes</a:t>
            </a:r>
          </a:p>
          <a:p>
            <a:pPr lvl="0" algn="just"/>
            <a:r>
              <a:rPr lang="en-US" dirty="0" smtClean="0">
                <a:latin typeface="Times New Roman" pitchFamily="18" charset="0"/>
                <a:cs typeface="Times New Roman" pitchFamily="18" charset="0"/>
              </a:rPr>
              <a:t>Inter-state transportation services</a:t>
            </a:r>
          </a:p>
          <a:p>
            <a:pPr lvl="0" algn="just"/>
            <a:r>
              <a:rPr lang="en-US" dirty="0" smtClean="0">
                <a:latin typeface="Times New Roman" pitchFamily="18" charset="0"/>
                <a:cs typeface="Times New Roman" pitchFamily="18" charset="0"/>
              </a:rPr>
              <a:t>Renting of halls in the idle time</a:t>
            </a:r>
          </a:p>
          <a:p>
            <a:pPr lvl="0" algn="just"/>
            <a:r>
              <a:rPr lang="en-US" dirty="0" smtClean="0">
                <a:latin typeface="Times New Roman" pitchFamily="18" charset="0"/>
                <a:cs typeface="Times New Roman" pitchFamily="18" charset="0"/>
              </a:rPr>
              <a:t>Petrol/Fuel Station operation</a:t>
            </a:r>
          </a:p>
          <a:p>
            <a:pPr lvl="0" algn="just"/>
            <a:r>
              <a:rPr lang="en-US" dirty="0" smtClean="0">
                <a:latin typeface="Times New Roman" pitchFamily="18" charset="0"/>
                <a:cs typeface="Times New Roman" pitchFamily="18" charset="0"/>
              </a:rPr>
              <a:t>Fabricating tools from idle time of training foundries and Central Engineering Workshop</a:t>
            </a:r>
          </a:p>
          <a:p>
            <a:pPr lvl="0" algn="just"/>
            <a:r>
              <a:rPr lang="en-US" dirty="0" smtClean="0">
                <a:latin typeface="Times New Roman" pitchFamily="18" charset="0"/>
                <a:cs typeface="Times New Roman" pitchFamily="18" charset="0"/>
              </a:rPr>
              <a:t>Development of useable products from research results</a:t>
            </a:r>
          </a:p>
          <a:p>
            <a:pPr lvl="0" algn="just"/>
            <a:r>
              <a:rPr lang="en-US" dirty="0" smtClean="0">
                <a:latin typeface="Times New Roman" pitchFamily="18" charset="0"/>
                <a:cs typeface="Times New Roman" pitchFamily="18" charset="0"/>
              </a:rPr>
              <a:t>Establishment of Micro-finance Bank</a:t>
            </a:r>
          </a:p>
          <a:p>
            <a:pPr lvl="0" algn="just"/>
            <a:r>
              <a:rPr lang="en-US" dirty="0" smtClean="0">
                <a:latin typeface="Times New Roman" pitchFamily="18" charset="0"/>
                <a:cs typeface="Times New Roman" pitchFamily="18" charset="0"/>
              </a:rPr>
              <a:t>Establishment of Sachet and Bottled Water Factory</a:t>
            </a:r>
          </a:p>
          <a:p>
            <a:pPr lvl="0" algn="just"/>
            <a:r>
              <a:rPr lang="en-US" dirty="0" smtClean="0">
                <a:latin typeface="Times New Roman" pitchFamily="18" charset="0"/>
                <a:cs typeface="Times New Roman" pitchFamily="18" charset="0"/>
              </a:rPr>
              <a:t>Establishment of Bakery</a:t>
            </a:r>
          </a:p>
          <a:p>
            <a:endParaRPr lang="en-US" dirty="0"/>
          </a:p>
        </p:txBody>
      </p:sp>
      <p:pic>
        <p:nvPicPr>
          <p:cNvPr id="43010" name="Picture 2" descr="C:\Users\AMIRA\Desktop\af.jpg"/>
          <p:cNvPicPr>
            <a:picLocks noChangeAspect="1" noChangeArrowheads="1"/>
          </p:cNvPicPr>
          <p:nvPr/>
        </p:nvPicPr>
        <p:blipFill>
          <a:blip r:embed="rId2"/>
          <a:srcRect/>
          <a:stretch>
            <a:fillRect/>
          </a:stretch>
        </p:blipFill>
        <p:spPr bwMode="auto">
          <a:xfrm>
            <a:off x="0" y="1"/>
            <a:ext cx="1400175" cy="1524000"/>
          </a:xfrm>
          <a:prstGeom prst="rect">
            <a:avLst/>
          </a:prstGeom>
          <a:noFill/>
        </p:spPr>
      </p:pic>
    </p:spTree>
  </p:cSld>
  <p:clrMapOvr>
    <a:masterClrMapping/>
  </p:clrMapOvr>
  <p:transition>
    <p:cut thruBlk="1"/>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380</TotalTime>
  <Words>1220</Words>
  <Application>Microsoft Office PowerPoint</Application>
  <PresentationFormat>On-screen Show (4:3)</PresentationFormat>
  <Paragraphs>355</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Oriel</vt:lpstr>
      <vt:lpstr>                                      SWOT ANALYSIS OF               BURSARY DEPARTMENT</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lpstr>     EKITI STATE UNIVERSITY ADO-EKITI SWOT ANALYSIS OF BURSARY DEPARTMENT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AMIRA</dc:creator>
  <cp:lastModifiedBy>USER</cp:lastModifiedBy>
  <cp:revision>103</cp:revision>
  <dcterms:created xsi:type="dcterms:W3CDTF">2006-08-16T00:00:00Z</dcterms:created>
  <dcterms:modified xsi:type="dcterms:W3CDTF">2016-01-27T23:09:28Z</dcterms:modified>
</cp:coreProperties>
</file>