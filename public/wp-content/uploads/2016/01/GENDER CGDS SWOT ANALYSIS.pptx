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2" r:id="rId10"/>
    <p:sldId id="280" r:id="rId11"/>
    <p:sldId id="281" r:id="rId12"/>
    <p:sldId id="283" r:id="rId13"/>
    <p:sldId id="284" r:id="rId14"/>
    <p:sldId id="285" r:id="rId15"/>
    <p:sldId id="286" r:id="rId16"/>
  </p:sldIdLst>
  <p:sldSz cx="9144000" cy="6858000" type="screen4x3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4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5CD97-E6EF-4603-A590-E2AE02107847}" type="datetimeFigureOut">
              <a:rPr lang="en-US" smtClean="0"/>
              <a:t>1/25/2016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850" y="4421188"/>
            <a:ext cx="5643563" cy="4189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5593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738" y="8842375"/>
            <a:ext cx="3055937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C1970-1FC9-4AA0-9869-C04AFA4AA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5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3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9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4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7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2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7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8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2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7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7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B3F2A-8037-462D-A001-B2B4E5AD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3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0"/>
            <a:ext cx="8229600" cy="1219200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Aharoni" pitchFamily="2" charset="-79"/>
                <a:cs typeface="Aharoni" pitchFamily="2" charset="-79"/>
              </a:rPr>
              <a:t>A SWOT ANALYSIS OF CGDS</a:t>
            </a:r>
            <a:endParaRPr lang="en-US" sz="40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447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b="1" dirty="0" smtClean="0"/>
              <a:t>PRESENTED</a:t>
            </a:r>
            <a:endParaRPr lang="en-US" b="1" dirty="0"/>
          </a:p>
          <a:p>
            <a:pPr marL="0" indent="0" algn="ctr">
              <a:buNone/>
            </a:pPr>
            <a:r>
              <a:rPr lang="en-GB" b="1" dirty="0" smtClean="0"/>
              <a:t>By</a:t>
            </a:r>
          </a:p>
          <a:p>
            <a:pPr marL="0" indent="0" algn="ctr">
              <a:buNone/>
            </a:pPr>
            <a:r>
              <a:rPr lang="en-GB" b="1" dirty="0" err="1" smtClean="0"/>
              <a:t>Prof.</a:t>
            </a:r>
            <a:r>
              <a:rPr lang="en-GB" b="1" dirty="0" smtClean="0"/>
              <a:t> E. Y. ADERIBIGBE</a:t>
            </a:r>
          </a:p>
          <a:p>
            <a:pPr marL="0" indent="0" algn="ctr">
              <a:buNone/>
            </a:pPr>
            <a:r>
              <a:rPr lang="en-GB" b="1" dirty="0" smtClean="0"/>
              <a:t>Director (CGDS)</a:t>
            </a:r>
          </a:p>
          <a:p>
            <a:pPr marL="0" indent="0" algn="ctr">
              <a:buNone/>
            </a:pPr>
            <a:r>
              <a:rPr lang="en-GB" b="1" dirty="0" smtClean="0"/>
              <a:t>At the EKSU 2016 IGR SUMMIT</a:t>
            </a:r>
          </a:p>
          <a:p>
            <a:pPr marL="0" indent="0" algn="ctr">
              <a:buNone/>
            </a:pPr>
            <a:endParaRPr lang="en-GB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16280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Wednesday , January 27,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8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Outline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GB" dirty="0" smtClean="0"/>
              <a:t>Situation Analysis</a:t>
            </a:r>
            <a:endParaRPr lang="en-GB" dirty="0" smtClean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Strength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Weaknesses</a:t>
            </a:r>
            <a:endParaRPr lang="en-GB" dirty="0" smtClean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Opportunities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Threats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Recommendations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Conclusion 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Situation </a:t>
            </a:r>
            <a:r>
              <a:rPr lang="en-GB" b="1" dirty="0" smtClean="0">
                <a:solidFill>
                  <a:srgbClr val="FF0000"/>
                </a:solidFill>
              </a:rPr>
              <a:t>Analysis – A Short Profile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Wingdings" pitchFamily="2" charset="2"/>
              <a:buChar char="q"/>
            </a:pPr>
            <a:r>
              <a:rPr lang="en-GB" dirty="0" smtClean="0"/>
              <a:t>The </a:t>
            </a:r>
            <a:r>
              <a:rPr lang="en-GB" dirty="0" smtClean="0"/>
              <a:t>University </a:t>
            </a:r>
            <a:r>
              <a:rPr lang="en-GB" dirty="0" smtClean="0"/>
              <a:t>Governing Council established CGDS as </a:t>
            </a:r>
            <a:r>
              <a:rPr lang="en-GB" dirty="0" smtClean="0"/>
              <a:t>a Centre of </a:t>
            </a:r>
            <a:r>
              <a:rPr lang="en-GB" dirty="0" smtClean="0"/>
              <a:t>E</a:t>
            </a:r>
            <a:r>
              <a:rPr lang="en-GB" dirty="0" smtClean="0"/>
              <a:t>xcellence </a:t>
            </a:r>
            <a:r>
              <a:rPr lang="en-GB" dirty="0" smtClean="0"/>
              <a:t>for </a:t>
            </a:r>
            <a:r>
              <a:rPr lang="en-GB" dirty="0" smtClean="0"/>
              <a:t>the </a:t>
            </a:r>
            <a:r>
              <a:rPr lang="en-GB" dirty="0" smtClean="0"/>
              <a:t>interdisciplinary </a:t>
            </a:r>
            <a:r>
              <a:rPr lang="en-GB" dirty="0"/>
              <a:t>s</a:t>
            </a:r>
            <a:r>
              <a:rPr lang="en-GB" dirty="0" smtClean="0"/>
              <a:t>tudy </a:t>
            </a:r>
            <a:r>
              <a:rPr lang="en-GB" dirty="0" smtClean="0"/>
              <a:t>of Gender &amp; Development Studies </a:t>
            </a:r>
            <a:r>
              <a:rPr lang="en-GB" dirty="0" smtClean="0"/>
              <a:t>at undergraduate </a:t>
            </a:r>
            <a:r>
              <a:rPr lang="en-GB" dirty="0" smtClean="0"/>
              <a:t>and </a:t>
            </a:r>
            <a:r>
              <a:rPr lang="en-GB" dirty="0" smtClean="0"/>
              <a:t>postgraduate </a:t>
            </a:r>
            <a:r>
              <a:rPr lang="en-GB" dirty="0"/>
              <a:t>levels </a:t>
            </a:r>
            <a:r>
              <a:rPr lang="en-GB" dirty="0" smtClean="0"/>
              <a:t>on </a:t>
            </a:r>
            <a:r>
              <a:rPr lang="en-GB" dirty="0"/>
              <a:t>13</a:t>
            </a:r>
            <a:r>
              <a:rPr lang="en-GB" baseline="30000" dirty="0"/>
              <a:t>th</a:t>
            </a:r>
            <a:r>
              <a:rPr lang="en-GB" dirty="0"/>
              <a:t> June, </a:t>
            </a:r>
            <a:r>
              <a:rPr lang="en-GB" dirty="0" smtClean="0"/>
              <a:t>2013; </a:t>
            </a:r>
          </a:p>
          <a:p>
            <a:pPr algn="just">
              <a:buFont typeface="Wingdings" pitchFamily="2" charset="2"/>
              <a:buChar char="q"/>
            </a:pPr>
            <a:r>
              <a:rPr lang="en-GB" dirty="0" smtClean="0"/>
              <a:t>The </a:t>
            </a:r>
            <a:r>
              <a:rPr lang="en-GB" dirty="0" smtClean="0"/>
              <a:t>Centre was envisioned to promote gender equality, women empowerment and </a:t>
            </a:r>
            <a:r>
              <a:rPr lang="en-GB" dirty="0" smtClean="0"/>
              <a:t>sustainable development </a:t>
            </a:r>
            <a:r>
              <a:rPr lang="en-GB" dirty="0" smtClean="0"/>
              <a:t>through teaching, research, policy advocacy, conduct of specialized professional trainings and forging of international collaborations and networks with sister institutions and donor communities.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Strength – Academic Programs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GB" dirty="0" smtClean="0"/>
              <a:t>CGDS currently runs Academic </a:t>
            </a:r>
            <a:r>
              <a:rPr lang="en-GB" dirty="0" smtClean="0"/>
              <a:t>programs </a:t>
            </a:r>
            <a:r>
              <a:rPr lang="en-GB" dirty="0" smtClean="0"/>
              <a:t>at </a:t>
            </a:r>
            <a:r>
              <a:rPr lang="en-GB" dirty="0" smtClean="0"/>
              <a:t>Postgraduate </a:t>
            </a:r>
            <a:r>
              <a:rPr lang="en-GB" dirty="0" smtClean="0"/>
              <a:t>levels </a:t>
            </a:r>
            <a:r>
              <a:rPr lang="en-GB" dirty="0" smtClean="0"/>
              <a:t>in: </a:t>
            </a:r>
            <a:endParaRPr lang="en-GB" dirty="0" smtClean="0"/>
          </a:p>
          <a:p>
            <a:pPr marL="912813" indent="-514350">
              <a:buFont typeface="+mj-lt"/>
              <a:buAutoNum type="alphaLcParenR"/>
            </a:pPr>
            <a:r>
              <a:rPr lang="en-GB" dirty="0" smtClean="0"/>
              <a:t>Gender and Development Studies</a:t>
            </a:r>
          </a:p>
          <a:p>
            <a:pPr marL="912813" indent="-514350">
              <a:buFont typeface="+mj-lt"/>
              <a:buAutoNum type="alphaLcParenR"/>
            </a:pPr>
            <a:r>
              <a:rPr lang="en-GB" dirty="0" smtClean="0"/>
              <a:t>Social </a:t>
            </a:r>
            <a:r>
              <a:rPr lang="en-GB" dirty="0" smtClean="0"/>
              <a:t>Work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GB" dirty="0" smtClean="0"/>
              <a:t>It </a:t>
            </a:r>
            <a:r>
              <a:rPr lang="en-GB" dirty="0" smtClean="0"/>
              <a:t>also houses non-degree certificate </a:t>
            </a:r>
            <a:r>
              <a:rPr lang="en-GB" dirty="0"/>
              <a:t>p</a:t>
            </a:r>
            <a:r>
              <a:rPr lang="en-GB" dirty="0" smtClean="0"/>
              <a:t>rograms </a:t>
            </a:r>
            <a:r>
              <a:rPr lang="en-GB" dirty="0" smtClean="0"/>
              <a:t>in:</a:t>
            </a:r>
          </a:p>
          <a:p>
            <a:pPr marL="917575">
              <a:buFont typeface="Wingdings" pitchFamily="2" charset="2"/>
              <a:buChar char="Ø"/>
            </a:pPr>
            <a:r>
              <a:rPr lang="en-GB" dirty="0" smtClean="0"/>
              <a:t>Gender &amp; </a:t>
            </a:r>
            <a:r>
              <a:rPr lang="en-GB" dirty="0" smtClean="0"/>
              <a:t>Development;</a:t>
            </a:r>
            <a:endParaRPr lang="en-GB" dirty="0" smtClean="0"/>
          </a:p>
          <a:p>
            <a:pPr marL="917575">
              <a:buFont typeface="Wingdings" pitchFamily="2" charset="2"/>
              <a:buChar char="Ø"/>
            </a:pPr>
            <a:r>
              <a:rPr lang="en-GB" dirty="0" smtClean="0"/>
              <a:t>Gender &amp; </a:t>
            </a:r>
            <a:r>
              <a:rPr lang="en-GB" dirty="0" smtClean="0"/>
              <a:t>Health;</a:t>
            </a:r>
            <a:endParaRPr lang="en-GB" dirty="0" smtClean="0"/>
          </a:p>
          <a:p>
            <a:pPr marL="917575">
              <a:buFont typeface="Wingdings" pitchFamily="2" charset="2"/>
              <a:buChar char="Ø"/>
            </a:pPr>
            <a:r>
              <a:rPr lang="en-GB" dirty="0" smtClean="0"/>
              <a:t>Gender, Human Rights and access to </a:t>
            </a:r>
            <a:r>
              <a:rPr lang="en-GB" dirty="0" smtClean="0"/>
              <a:t>Justice;</a:t>
            </a:r>
            <a:endParaRPr lang="en-GB" dirty="0" smtClean="0"/>
          </a:p>
          <a:p>
            <a:pPr marL="917575">
              <a:buFont typeface="Wingdings" pitchFamily="2" charset="2"/>
              <a:buChar char="Ø"/>
            </a:pPr>
            <a:r>
              <a:rPr lang="en-GB" dirty="0" smtClean="0"/>
              <a:t>Gender, Adolescent Sexually and Youth </a:t>
            </a:r>
            <a:r>
              <a:rPr lang="en-GB" dirty="0" smtClean="0"/>
              <a:t>Development; and</a:t>
            </a:r>
            <a:endParaRPr lang="en-GB" dirty="0" smtClean="0"/>
          </a:p>
          <a:p>
            <a:pPr marL="917575">
              <a:buFont typeface="Wingdings" pitchFamily="2" charset="2"/>
              <a:buChar char="Ø"/>
            </a:pPr>
            <a:r>
              <a:rPr lang="en-GB" dirty="0" smtClean="0"/>
              <a:t>Woman and Gender Studies.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Strength – Specialized </a:t>
            </a:r>
            <a:r>
              <a:rPr lang="en-GB" sz="3600" b="1" dirty="0" smtClean="0">
                <a:solidFill>
                  <a:srgbClr val="FF0000"/>
                </a:solidFill>
              </a:rPr>
              <a:t>Professional </a:t>
            </a:r>
            <a:r>
              <a:rPr lang="en-GB" sz="3600" b="1" dirty="0" smtClean="0">
                <a:solidFill>
                  <a:srgbClr val="FF0000"/>
                </a:solidFill>
              </a:rPr>
              <a:t>Programs </a:t>
            </a:r>
            <a:r>
              <a:rPr lang="en-GB" sz="3600" b="1" dirty="0" smtClean="0">
                <a:solidFill>
                  <a:srgbClr val="FF0000"/>
                </a:solidFill>
              </a:rPr>
              <a:t>and Non-Teaching Services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GB" dirty="0" smtClean="0"/>
              <a:t>The Centre has specialized programmes for professionals </a:t>
            </a:r>
            <a:r>
              <a:rPr lang="en-GB" dirty="0" smtClean="0"/>
              <a:t>on:</a:t>
            </a:r>
            <a:endParaRPr lang="en-GB" dirty="0" smtClean="0"/>
          </a:p>
          <a:p>
            <a:pPr marL="917575">
              <a:buFont typeface="Wingdings" pitchFamily="2" charset="2"/>
              <a:buChar char="v"/>
            </a:pPr>
            <a:r>
              <a:rPr lang="en-GB" dirty="0" smtClean="0"/>
              <a:t>Institutionalization of Gender mainstreaming in Academics, industries and Cooperate bodies.</a:t>
            </a:r>
          </a:p>
          <a:p>
            <a:pPr marL="917575">
              <a:buFont typeface="Wingdings" pitchFamily="2" charset="2"/>
              <a:buChar char="v"/>
            </a:pPr>
            <a:r>
              <a:rPr lang="en-GB" dirty="0" smtClean="0"/>
              <a:t>Counselling Services</a:t>
            </a:r>
          </a:p>
          <a:p>
            <a:pPr marL="917575">
              <a:buFont typeface="Wingdings" pitchFamily="2" charset="2"/>
              <a:buChar char="v"/>
            </a:pPr>
            <a:r>
              <a:rPr lang="en-GB" dirty="0" smtClean="0"/>
              <a:t>Training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Strength –</a:t>
            </a:r>
            <a:r>
              <a:rPr lang="en-GB" b="1" dirty="0" smtClean="0">
                <a:solidFill>
                  <a:srgbClr val="FF0000"/>
                </a:solidFill>
              </a:rPr>
              <a:t>Research </a:t>
            </a:r>
            <a:r>
              <a:rPr lang="en-GB" b="1" dirty="0" smtClean="0">
                <a:solidFill>
                  <a:srgbClr val="FF0000"/>
                </a:solidFill>
              </a:rPr>
              <a:t>&amp; Consultancies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q"/>
            </a:pPr>
            <a:r>
              <a:rPr lang="en-GB" dirty="0" smtClean="0"/>
              <a:t>The Centre has the mandate and capacity to engage </a:t>
            </a:r>
            <a:r>
              <a:rPr lang="en-GB" dirty="0" smtClean="0"/>
              <a:t>in:</a:t>
            </a:r>
            <a:endParaRPr lang="en-GB" dirty="0" smtClean="0"/>
          </a:p>
          <a:p>
            <a:pPr marL="917575" algn="just">
              <a:buFont typeface="Wingdings" pitchFamily="2" charset="2"/>
              <a:buChar char="Ø"/>
            </a:pPr>
            <a:r>
              <a:rPr lang="en-GB" dirty="0" smtClean="0"/>
              <a:t>Forging international collaborations with Donor Communities and international funding </a:t>
            </a:r>
            <a:r>
              <a:rPr lang="en-GB" dirty="0" smtClean="0"/>
              <a:t>Agencies;</a:t>
            </a:r>
            <a:endParaRPr lang="en-GB" dirty="0" smtClean="0"/>
          </a:p>
          <a:p>
            <a:pPr marL="917575" algn="just">
              <a:buFont typeface="Wingdings" pitchFamily="2" charset="2"/>
              <a:buChar char="Ø"/>
            </a:pPr>
            <a:r>
              <a:rPr lang="en-GB" dirty="0" smtClean="0"/>
              <a:t>Establishing Collaborations with Academic institutions within and outside </a:t>
            </a:r>
            <a:r>
              <a:rPr lang="en-GB" dirty="0" smtClean="0"/>
              <a:t>Nigeria;</a:t>
            </a:r>
            <a:endParaRPr lang="en-GB" dirty="0" smtClean="0"/>
          </a:p>
          <a:p>
            <a:pPr marL="917575" algn="just">
              <a:buFont typeface="Wingdings" pitchFamily="2" charset="2"/>
              <a:buChar char="Ø"/>
            </a:pPr>
            <a:r>
              <a:rPr lang="en-GB" dirty="0" smtClean="0"/>
              <a:t>Mainstreaming of Gender database for EKSU &amp; Ekiti </a:t>
            </a:r>
            <a:r>
              <a:rPr lang="en-GB" dirty="0" smtClean="0"/>
              <a:t>State; and</a:t>
            </a:r>
            <a:endParaRPr lang="en-GB" dirty="0" smtClean="0"/>
          </a:p>
          <a:p>
            <a:pPr marL="917575" algn="just">
              <a:buFont typeface="Wingdings" pitchFamily="2" charset="2"/>
              <a:buChar char="Ø"/>
            </a:pPr>
            <a:r>
              <a:rPr lang="en-GB" dirty="0" smtClean="0"/>
              <a:t>Capacity Building on data </a:t>
            </a:r>
            <a:r>
              <a:rPr lang="en-GB" dirty="0" smtClean="0"/>
              <a:t>management.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Strength </a:t>
            </a:r>
            <a:r>
              <a:rPr lang="en-GB" b="1" dirty="0" smtClean="0">
                <a:solidFill>
                  <a:srgbClr val="FF0000"/>
                </a:solidFill>
              </a:rPr>
              <a:t>– </a:t>
            </a:r>
            <a:r>
              <a:rPr lang="en-GB" b="1" dirty="0" smtClean="0">
                <a:solidFill>
                  <a:srgbClr val="FF0000"/>
                </a:solidFill>
              </a:rPr>
              <a:t>Collaborations </a:t>
            </a:r>
            <a:r>
              <a:rPr lang="en-GB" b="1" dirty="0" smtClean="0">
                <a:solidFill>
                  <a:srgbClr val="FF0000"/>
                </a:solidFill>
              </a:rPr>
              <a:t>&amp; </a:t>
            </a:r>
            <a:r>
              <a:rPr lang="en-GB" b="1" dirty="0" smtClean="0">
                <a:solidFill>
                  <a:srgbClr val="FF0000"/>
                </a:solidFill>
              </a:rPr>
              <a:t>Linkages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GB" b="1" dirty="0" smtClean="0"/>
              <a:t>Local</a:t>
            </a:r>
            <a:r>
              <a:rPr lang="en-GB" dirty="0" smtClean="0"/>
              <a:t>: CGDS has collaborated with the Department of Sociology to run </a:t>
            </a:r>
            <a:r>
              <a:rPr lang="en-GB" dirty="0" smtClean="0"/>
              <a:t>postgraduate </a:t>
            </a:r>
            <a:r>
              <a:rPr lang="en-GB" dirty="0"/>
              <a:t>p</a:t>
            </a:r>
            <a:r>
              <a:rPr lang="en-GB" dirty="0" smtClean="0"/>
              <a:t>rograms </a:t>
            </a:r>
            <a:r>
              <a:rPr lang="en-GB" dirty="0" smtClean="0"/>
              <a:t>in Gender &amp; Development Studies and Social </a:t>
            </a:r>
            <a:r>
              <a:rPr lang="en-GB" dirty="0" smtClean="0"/>
              <a:t>work; and</a:t>
            </a:r>
          </a:p>
          <a:p>
            <a:pPr marL="0" indent="0" algn="just">
              <a:buNone/>
            </a:pPr>
            <a:endParaRPr lang="en-GB" dirty="0" smtClean="0"/>
          </a:p>
          <a:p>
            <a:pPr algn="just">
              <a:buFont typeface="Wingdings" pitchFamily="2" charset="2"/>
              <a:buChar char="q"/>
            </a:pPr>
            <a:r>
              <a:rPr lang="en-GB" b="1" dirty="0" smtClean="0"/>
              <a:t>International:</a:t>
            </a:r>
            <a:r>
              <a:rPr lang="en-GB" dirty="0" smtClean="0"/>
              <a:t> CGDS has also </a:t>
            </a:r>
            <a:r>
              <a:rPr lang="en-GB" dirty="0" smtClean="0"/>
              <a:t>signed </a:t>
            </a:r>
            <a:r>
              <a:rPr lang="en-GB" dirty="0" smtClean="0"/>
              <a:t>an MOU with the University of Eastern </a:t>
            </a:r>
            <a:r>
              <a:rPr lang="en-GB" dirty="0" smtClean="0"/>
              <a:t>Finland.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Strength </a:t>
            </a:r>
            <a:r>
              <a:rPr lang="en-GB" b="1" dirty="0" smtClean="0">
                <a:solidFill>
                  <a:srgbClr val="FF0000"/>
                </a:solidFill>
              </a:rPr>
              <a:t>– </a:t>
            </a:r>
            <a:r>
              <a:rPr lang="en-GB" b="1" dirty="0" smtClean="0">
                <a:solidFill>
                  <a:srgbClr val="FF0000"/>
                </a:solidFill>
              </a:rPr>
              <a:t>Institutionalization </a:t>
            </a:r>
            <a:r>
              <a:rPr lang="en-GB" b="1" dirty="0" smtClean="0">
                <a:solidFill>
                  <a:srgbClr val="FF0000"/>
                </a:solidFill>
              </a:rPr>
              <a:t>of Gender Mainstreaming in EKSU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1"/>
            <a:ext cx="8229600" cy="3657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GB" sz="3600" dirty="0" smtClean="0"/>
              <a:t>CGDS organised series of Gender mainstreaming workshop across EKSU between October and November </a:t>
            </a:r>
            <a:r>
              <a:rPr lang="en-GB" sz="3600" dirty="0" smtClean="0"/>
              <a:t>2015</a:t>
            </a:r>
          </a:p>
          <a:p>
            <a:pPr algn="just">
              <a:buFont typeface="Wingdings" pitchFamily="2" charset="2"/>
              <a:buChar char="q"/>
            </a:pPr>
            <a:r>
              <a:rPr lang="en-GB" sz="3600" dirty="0" smtClean="0"/>
              <a:t>CGDS </a:t>
            </a:r>
            <a:r>
              <a:rPr lang="en-GB" sz="3600" dirty="0" smtClean="0"/>
              <a:t>Developed the EKSU Gender Policy and Sexual Harassment Guidelines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Strength </a:t>
            </a:r>
            <a:r>
              <a:rPr lang="en-GB" b="1" dirty="0" smtClean="0">
                <a:solidFill>
                  <a:srgbClr val="FF0000"/>
                </a:solidFill>
              </a:rPr>
              <a:t>– </a:t>
            </a:r>
            <a:r>
              <a:rPr lang="en-GB" b="1" dirty="0" smtClean="0">
                <a:solidFill>
                  <a:srgbClr val="FF0000"/>
                </a:solidFill>
              </a:rPr>
              <a:t>CGDS </a:t>
            </a:r>
            <a:r>
              <a:rPr lang="en-GB" b="1" dirty="0" smtClean="0">
                <a:solidFill>
                  <a:srgbClr val="FF0000"/>
                </a:solidFill>
              </a:rPr>
              <a:t>Statutory 	Bodies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86000"/>
            <a:ext cx="8229600" cy="2971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GB" sz="3600" dirty="0" smtClean="0"/>
              <a:t>CGDS Governing Board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GB" sz="3600" dirty="0" smtClean="0"/>
              <a:t>CGDS Academic Board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 smtClean="0">
                <a:solidFill>
                  <a:srgbClr val="FF0000"/>
                </a:solidFill>
              </a:rPr>
              <a:t> </a:t>
            </a:r>
            <a:r>
              <a:rPr lang="en-GB" sz="4800" b="1" dirty="0">
                <a:solidFill>
                  <a:srgbClr val="FF0000"/>
                </a:solidFill>
              </a:rPr>
              <a:t>Strength </a:t>
            </a:r>
            <a:r>
              <a:rPr lang="en-GB" sz="4800" b="1" dirty="0" smtClean="0">
                <a:solidFill>
                  <a:srgbClr val="FF0000"/>
                </a:solidFill>
              </a:rPr>
              <a:t>– </a:t>
            </a:r>
            <a:r>
              <a:rPr lang="en-GB" sz="4800" b="1" dirty="0" smtClean="0">
                <a:solidFill>
                  <a:srgbClr val="FF0000"/>
                </a:solidFill>
              </a:rPr>
              <a:t>Personnel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GB" b="1" dirty="0" smtClean="0"/>
              <a:t>Academic: </a:t>
            </a:r>
            <a:r>
              <a:rPr lang="en-GB" dirty="0" smtClean="0"/>
              <a:t>	   </a:t>
            </a:r>
            <a:r>
              <a:rPr lang="en-GB" dirty="0" smtClean="0"/>
              <a:t>  1 </a:t>
            </a:r>
            <a:r>
              <a:rPr lang="en-GB" dirty="0" smtClean="0"/>
              <a:t>Professor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	   	   </a:t>
            </a:r>
            <a:r>
              <a:rPr lang="en-GB" dirty="0" smtClean="0"/>
              <a:t>  1 </a:t>
            </a:r>
            <a:r>
              <a:rPr lang="en-GB" dirty="0" smtClean="0"/>
              <a:t>Senior Research Fellow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	    	   </a:t>
            </a:r>
            <a:r>
              <a:rPr lang="en-GB" dirty="0" smtClean="0"/>
              <a:t>  1 </a:t>
            </a:r>
            <a:r>
              <a:rPr lang="en-GB" dirty="0" smtClean="0"/>
              <a:t>Research Fellow II</a:t>
            </a:r>
          </a:p>
          <a:p>
            <a:pPr>
              <a:buFont typeface="Wingdings" pitchFamily="2" charset="2"/>
              <a:buChar char="q"/>
            </a:pPr>
            <a:r>
              <a:rPr lang="en-GB" b="1" dirty="0" smtClean="0"/>
              <a:t>Administrative:</a:t>
            </a:r>
            <a:r>
              <a:rPr lang="en-GB" dirty="0" smtClean="0"/>
              <a:t>    2 </a:t>
            </a:r>
            <a:r>
              <a:rPr lang="en-GB" dirty="0" smtClean="0"/>
              <a:t>Administrative Officers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		    </a:t>
            </a:r>
            <a:r>
              <a:rPr lang="en-GB" dirty="0" smtClean="0"/>
              <a:t>  1 </a:t>
            </a:r>
            <a:r>
              <a:rPr lang="en-GB" dirty="0" smtClean="0"/>
              <a:t>Data Processing Officer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		     </a:t>
            </a:r>
            <a:r>
              <a:rPr lang="en-GB" dirty="0" smtClean="0"/>
              <a:t> 1 </a:t>
            </a:r>
            <a:r>
              <a:rPr lang="en-GB" dirty="0" smtClean="0"/>
              <a:t>Senior Executive Officer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		      1 Clerical Officer.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 smtClean="0">
                <a:solidFill>
                  <a:srgbClr val="FF0000"/>
                </a:solidFill>
              </a:rPr>
              <a:t>Weaknesses 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 Insufficient Academic Staff :</a:t>
            </a:r>
          </a:p>
          <a:p>
            <a:pPr lvl="2">
              <a:buFont typeface="Wingdings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smtClean="0"/>
              <a:t>Demographer / Statistician</a:t>
            </a:r>
          </a:p>
          <a:p>
            <a:pPr lvl="2">
              <a:buFont typeface="Wingdings" pitchFamily="2" charset="2"/>
              <a:buChar char="v"/>
            </a:pPr>
            <a:r>
              <a:rPr lang="en-GB" sz="2000" dirty="0"/>
              <a:t> P</a:t>
            </a:r>
            <a:r>
              <a:rPr lang="en-GB" sz="2000" dirty="0" smtClean="0"/>
              <a:t>olicy Analyst</a:t>
            </a:r>
          </a:p>
          <a:p>
            <a:pPr lvl="2">
              <a:buFont typeface="Wingdings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smtClean="0"/>
              <a:t>Legal Expert</a:t>
            </a:r>
          </a:p>
          <a:p>
            <a:pPr lvl="2">
              <a:buFont typeface="Wingdings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smtClean="0"/>
              <a:t>Project Officers</a:t>
            </a:r>
          </a:p>
          <a:p>
            <a:pPr lvl="2">
              <a:buFont typeface="Wingdings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smtClean="0"/>
              <a:t>Counselling Psychologist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Low </a:t>
            </a:r>
            <a:r>
              <a:rPr lang="en-GB" sz="2800" dirty="0" smtClean="0"/>
              <a:t>Budgetary </a:t>
            </a:r>
            <a:r>
              <a:rPr lang="en-GB" sz="2800" dirty="0" smtClean="0"/>
              <a:t>Allocation</a:t>
            </a: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Poor logistical support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Lack of Utility Vehicles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Inadequate Office facilities.</a:t>
            </a:r>
          </a:p>
          <a:p>
            <a:pPr marL="0" indent="0">
              <a:buNone/>
            </a:pPr>
            <a:endParaRPr lang="en-GB" sz="2800" dirty="0" smtClean="0"/>
          </a:p>
          <a:p>
            <a:pPr>
              <a:buFont typeface="Wingdings" pitchFamily="2" charset="2"/>
              <a:buChar char="v"/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GB" sz="4800" b="1" dirty="0" smtClean="0">
                <a:solidFill>
                  <a:srgbClr val="FF0000"/>
                </a:solidFill>
              </a:rPr>
              <a:t>Opportunities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229600" cy="4343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 smtClean="0"/>
              <a:t>Design and Development of Academic </a:t>
            </a:r>
            <a:r>
              <a:rPr lang="en-GB" sz="2200" dirty="0" smtClean="0"/>
              <a:t>programs </a:t>
            </a:r>
            <a:r>
              <a:rPr lang="en-GB" sz="2200" dirty="0" smtClean="0"/>
              <a:t>and Courses at </a:t>
            </a:r>
            <a:r>
              <a:rPr lang="en-GB" sz="2200" dirty="0" smtClean="0"/>
              <a:t>Undergraduate level </a:t>
            </a:r>
            <a:r>
              <a:rPr lang="en-GB" sz="2200" dirty="0" smtClean="0"/>
              <a:t>in Gender and Development &amp; </a:t>
            </a:r>
            <a:r>
              <a:rPr lang="en-GB" sz="2200" dirty="0" smtClean="0"/>
              <a:t>Social Work;</a:t>
            </a:r>
            <a:endParaRPr lang="en-GB" sz="2200" dirty="0" smtClean="0"/>
          </a:p>
          <a:p>
            <a:pPr>
              <a:buFont typeface="Wingdings" pitchFamily="2" charset="2"/>
              <a:buChar char="q"/>
            </a:pPr>
            <a:r>
              <a:rPr lang="en-GB" sz="2200" dirty="0" smtClean="0"/>
              <a:t>Float postgraduate </a:t>
            </a:r>
            <a:r>
              <a:rPr lang="en-GB" sz="2200" dirty="0" smtClean="0"/>
              <a:t>programs </a:t>
            </a:r>
            <a:r>
              <a:rPr lang="en-GB" sz="2200" dirty="0" smtClean="0"/>
              <a:t>in Gender and Development Studies and Social </a:t>
            </a:r>
            <a:r>
              <a:rPr lang="en-GB" sz="2200" dirty="0" smtClean="0"/>
              <a:t>Work </a:t>
            </a:r>
            <a:r>
              <a:rPr lang="en-GB" sz="2200" dirty="0" smtClean="0"/>
              <a:t>through</a:t>
            </a:r>
            <a:r>
              <a:rPr lang="en-GB" sz="2200" dirty="0" smtClean="0"/>
              <a:t> </a:t>
            </a:r>
            <a:r>
              <a:rPr lang="en-GB" sz="2200" dirty="0" smtClean="0"/>
              <a:t>Distance </a:t>
            </a:r>
            <a:r>
              <a:rPr lang="en-GB" sz="2200" dirty="0" smtClean="0"/>
              <a:t>Learning programs;</a:t>
            </a:r>
            <a:endParaRPr lang="en-GB" sz="2200" dirty="0" smtClean="0"/>
          </a:p>
          <a:p>
            <a:pPr>
              <a:buFont typeface="Wingdings" pitchFamily="2" charset="2"/>
              <a:buChar char="q"/>
            </a:pPr>
            <a:r>
              <a:rPr lang="en-GB" sz="2200" dirty="0" smtClean="0"/>
              <a:t>Work with other </a:t>
            </a:r>
            <a:r>
              <a:rPr lang="en-GB" sz="2200" dirty="0" smtClean="0"/>
              <a:t>Departments </a:t>
            </a:r>
            <a:r>
              <a:rPr lang="en-GB" sz="2200" dirty="0" smtClean="0"/>
              <a:t>and Faculties to engender their Academic Curricula and </a:t>
            </a:r>
            <a:r>
              <a:rPr lang="en-GB" sz="2200" dirty="0" smtClean="0"/>
              <a:t>Pedagogies;</a:t>
            </a:r>
            <a:endParaRPr lang="en-GB" sz="2200" dirty="0" smtClean="0"/>
          </a:p>
          <a:p>
            <a:pPr>
              <a:buFont typeface="Wingdings" pitchFamily="2" charset="2"/>
              <a:buChar char="q"/>
            </a:pPr>
            <a:r>
              <a:rPr lang="en-GB" sz="2200" dirty="0" smtClean="0"/>
              <a:t>Promote </a:t>
            </a:r>
            <a:r>
              <a:rPr lang="en-GB" sz="2200" dirty="0" smtClean="0"/>
              <a:t>inter-disciplinary </a:t>
            </a:r>
            <a:r>
              <a:rPr lang="en-GB" sz="2200" dirty="0" smtClean="0"/>
              <a:t>research on Gender issues, Social work and </a:t>
            </a:r>
            <a:r>
              <a:rPr lang="en-GB" sz="2200" dirty="0" smtClean="0"/>
              <a:t>Policies;</a:t>
            </a:r>
            <a:endParaRPr lang="en-GB" sz="2200" dirty="0" smtClean="0"/>
          </a:p>
          <a:p>
            <a:pPr>
              <a:buFont typeface="Wingdings" pitchFamily="2" charset="2"/>
              <a:buChar char="q"/>
            </a:pPr>
            <a:r>
              <a:rPr lang="en-GB" sz="2200" dirty="0" smtClean="0"/>
              <a:t>Organise intensive workshops for key </a:t>
            </a:r>
            <a:r>
              <a:rPr lang="en-GB" sz="2200" dirty="0" smtClean="0"/>
              <a:t>stakeholders; and</a:t>
            </a:r>
            <a:endParaRPr lang="en-GB" sz="2200" dirty="0" smtClean="0"/>
          </a:p>
          <a:p>
            <a:pPr>
              <a:buFont typeface="Wingdings" pitchFamily="2" charset="2"/>
              <a:buChar char="q"/>
            </a:pPr>
            <a:r>
              <a:rPr lang="en-GB" sz="2200" dirty="0" smtClean="0"/>
              <a:t>Forge </a:t>
            </a:r>
            <a:r>
              <a:rPr lang="en-GB" sz="2200" dirty="0" smtClean="0"/>
              <a:t>collaborations </a:t>
            </a:r>
            <a:r>
              <a:rPr lang="en-GB" sz="2200" dirty="0" smtClean="0"/>
              <a:t>&amp; partnership with Government </a:t>
            </a:r>
            <a:r>
              <a:rPr lang="en-GB" sz="2200" dirty="0" smtClean="0"/>
              <a:t>Agencies </a:t>
            </a:r>
            <a:r>
              <a:rPr lang="en-GB" sz="2200" dirty="0" smtClean="0"/>
              <a:t>and donor Communities.</a:t>
            </a: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 smtClean="0">
                <a:solidFill>
                  <a:srgbClr val="FF0000"/>
                </a:solidFill>
              </a:rPr>
              <a:t>Threats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Resource </a:t>
            </a:r>
            <a:r>
              <a:rPr lang="en-GB" dirty="0" smtClean="0"/>
              <a:t>mobilisation;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Payment of Honoraria for CGDS </a:t>
            </a:r>
            <a:r>
              <a:rPr lang="en-GB" dirty="0" smtClean="0"/>
              <a:t>Fellows </a:t>
            </a:r>
            <a:r>
              <a:rPr lang="en-GB" dirty="0" smtClean="0"/>
              <a:t>from Sociology and other </a:t>
            </a:r>
            <a:r>
              <a:rPr lang="en-GB" dirty="0" smtClean="0"/>
              <a:t>Departments;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CGDS </a:t>
            </a:r>
            <a:r>
              <a:rPr lang="en-GB" dirty="0" smtClean="0"/>
              <a:t>Building;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Teaching and Research </a:t>
            </a:r>
            <a:r>
              <a:rPr lang="en-GB" dirty="0" smtClean="0"/>
              <a:t>facilities;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Personnel; and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Funding of CGDS </a:t>
            </a:r>
            <a:r>
              <a:rPr lang="en-GB" dirty="0" smtClean="0"/>
              <a:t>research</a:t>
            </a:r>
            <a:r>
              <a:rPr lang="en-GB" dirty="0" smtClean="0"/>
              <a:t>, workshops and </a:t>
            </a:r>
            <a:r>
              <a:rPr lang="en-GB" dirty="0" smtClean="0"/>
              <a:t>trainings</a:t>
            </a:r>
            <a:r>
              <a:rPr lang="en-GB" dirty="0" smtClean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Recommendations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61963" indent="-403225">
              <a:buFont typeface="Wingdings" pitchFamily="2" charset="2"/>
              <a:buChar char="q"/>
            </a:pPr>
            <a:r>
              <a:rPr lang="en-GB" sz="2100" dirty="0" smtClean="0"/>
              <a:t>Retention </a:t>
            </a:r>
            <a:r>
              <a:rPr lang="en-GB" sz="2100" dirty="0" smtClean="0"/>
              <a:t>of CGDS as an Academic Centre of </a:t>
            </a:r>
            <a:r>
              <a:rPr lang="en-GB" sz="2100" dirty="0" smtClean="0"/>
              <a:t>Excellence; </a:t>
            </a:r>
            <a:endParaRPr lang="en-GB" sz="2100" dirty="0" smtClean="0"/>
          </a:p>
          <a:p>
            <a:pPr marL="461963" lvl="1" indent="-403225">
              <a:buFont typeface="Wingdings" pitchFamily="2" charset="2"/>
              <a:buChar char="q"/>
            </a:pPr>
            <a:r>
              <a:rPr lang="en-GB" sz="2100" dirty="0" smtClean="0"/>
              <a:t>Engagement in </a:t>
            </a:r>
            <a:r>
              <a:rPr lang="en-GB" sz="2100" dirty="0" smtClean="0"/>
              <a:t>collaborative </a:t>
            </a:r>
            <a:r>
              <a:rPr lang="en-GB" sz="2100" dirty="0" smtClean="0"/>
              <a:t>research with both local and international </a:t>
            </a:r>
            <a:r>
              <a:rPr lang="en-GB" sz="2100" dirty="0" smtClean="0"/>
              <a:t>sister Centres;</a:t>
            </a:r>
            <a:endParaRPr lang="en-GB" sz="2100" dirty="0" smtClean="0"/>
          </a:p>
          <a:p>
            <a:pPr marL="461963" lvl="1" indent="-403225">
              <a:buFont typeface="Wingdings" pitchFamily="2" charset="2"/>
              <a:buChar char="q"/>
            </a:pPr>
            <a:r>
              <a:rPr lang="en-GB" sz="2100" dirty="0" smtClean="0"/>
              <a:t>Filling of vacant Academic positions at the </a:t>
            </a:r>
            <a:r>
              <a:rPr lang="en-GB" sz="2100" dirty="0" smtClean="0"/>
              <a:t>Centre;</a:t>
            </a:r>
            <a:endParaRPr lang="en-GB" sz="2100" dirty="0" smtClean="0"/>
          </a:p>
          <a:p>
            <a:pPr marL="461963" lvl="1" indent="-403225">
              <a:buFont typeface="Wingdings" pitchFamily="2" charset="2"/>
              <a:buChar char="q"/>
            </a:pPr>
            <a:r>
              <a:rPr lang="en-GB" sz="2100" dirty="0" smtClean="0"/>
              <a:t>Promotion of CGDS </a:t>
            </a:r>
            <a:r>
              <a:rPr lang="en-GB" sz="2100" dirty="0" smtClean="0"/>
              <a:t>programs </a:t>
            </a:r>
            <a:r>
              <a:rPr lang="en-GB" sz="2100" dirty="0" smtClean="0"/>
              <a:t>through the media and EKSU </a:t>
            </a:r>
            <a:r>
              <a:rPr lang="en-GB" sz="2100" dirty="0" smtClean="0"/>
              <a:t>website;</a:t>
            </a:r>
            <a:endParaRPr lang="en-GB" sz="2100" dirty="0" smtClean="0"/>
          </a:p>
          <a:p>
            <a:pPr marL="461963" lvl="1" indent="-403225">
              <a:buFont typeface="Wingdings" pitchFamily="2" charset="2"/>
              <a:buChar char="q"/>
            </a:pPr>
            <a:r>
              <a:rPr lang="en-GB" sz="2100" dirty="0" smtClean="0"/>
              <a:t>Floating of CGDS </a:t>
            </a:r>
            <a:r>
              <a:rPr lang="en-GB" sz="2100" dirty="0" smtClean="0"/>
              <a:t>postgraduate programs through the Directorate of Distance Learning  </a:t>
            </a:r>
            <a:r>
              <a:rPr lang="en-GB" sz="2100" dirty="0" smtClean="0"/>
              <a:t>to attract National and International </a:t>
            </a:r>
            <a:r>
              <a:rPr lang="en-GB" sz="2100" dirty="0" smtClean="0"/>
              <a:t>candidates;</a:t>
            </a:r>
            <a:endParaRPr lang="en-GB" sz="2100" dirty="0" smtClean="0"/>
          </a:p>
          <a:p>
            <a:pPr marL="461963" lvl="1" indent="-403225">
              <a:buFont typeface="Wingdings" pitchFamily="2" charset="2"/>
              <a:buChar char="q"/>
            </a:pPr>
            <a:r>
              <a:rPr lang="en-GB" sz="2100" dirty="0" smtClean="0"/>
              <a:t>Running of </a:t>
            </a:r>
            <a:r>
              <a:rPr lang="en-GB" sz="2100" dirty="0" smtClean="0"/>
              <a:t>CGDS Short </a:t>
            </a:r>
            <a:r>
              <a:rPr lang="en-GB" sz="2100" dirty="0" smtClean="0"/>
              <a:t>Courses and Intensive Training </a:t>
            </a:r>
            <a:r>
              <a:rPr lang="en-GB" sz="2100" dirty="0" smtClean="0"/>
              <a:t>programs;</a:t>
            </a:r>
            <a:endParaRPr lang="en-GB" sz="2100" dirty="0" smtClean="0"/>
          </a:p>
          <a:p>
            <a:pPr marL="461963" lvl="1" indent="-403225">
              <a:buFont typeface="Wingdings" pitchFamily="2" charset="2"/>
              <a:buChar char="q"/>
            </a:pPr>
            <a:r>
              <a:rPr lang="en-GB" sz="2100" dirty="0" smtClean="0"/>
              <a:t>Organization of International </a:t>
            </a:r>
            <a:r>
              <a:rPr lang="en-GB" sz="2100" dirty="0" smtClean="0"/>
              <a:t>Conferences; and </a:t>
            </a:r>
            <a:endParaRPr lang="en-GB" sz="2100" dirty="0" smtClean="0"/>
          </a:p>
          <a:p>
            <a:pPr marL="461963" lvl="1" indent="-403225">
              <a:buFont typeface="Wingdings" pitchFamily="2" charset="2"/>
              <a:buChar char="q"/>
            </a:pPr>
            <a:r>
              <a:rPr lang="en-GB" sz="2100" dirty="0" smtClean="0"/>
              <a:t>Smooth </a:t>
            </a:r>
            <a:r>
              <a:rPr lang="en-GB" sz="2100" dirty="0" smtClean="0"/>
              <a:t>Completion </a:t>
            </a:r>
            <a:r>
              <a:rPr lang="en-GB" sz="2100" dirty="0" smtClean="0"/>
              <a:t>of CGDS Building and relocation in preparation for NUC </a:t>
            </a:r>
            <a:r>
              <a:rPr lang="en-GB" sz="2100" dirty="0" smtClean="0"/>
              <a:t>visitation </a:t>
            </a:r>
            <a:r>
              <a:rPr lang="en-GB" sz="2100" dirty="0" smtClean="0"/>
              <a:t>of our Academic </a:t>
            </a:r>
            <a:r>
              <a:rPr lang="en-GB" sz="2100" dirty="0" smtClean="0"/>
              <a:t>Programs</a:t>
            </a:r>
            <a:r>
              <a:rPr lang="en-GB" sz="2100" dirty="0" smtClean="0"/>
              <a:t>.</a:t>
            </a:r>
          </a:p>
          <a:p>
            <a:pPr marL="461963" lvl="1" indent="-403225"/>
            <a:endParaRPr lang="en-US" sz="2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3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724400"/>
          </a:xfrm>
        </p:spPr>
        <p:txBody>
          <a:bodyPr/>
          <a:lstStyle/>
          <a:p>
            <a:pPr algn="ctr"/>
            <a:endParaRPr lang="en-GB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b="1" dirty="0">
              <a:solidFill>
                <a:srgbClr val="FF0000"/>
              </a:solidFill>
            </a:endParaRPr>
          </a:p>
          <a:p>
            <a:pPr algn="ctr"/>
            <a:endParaRPr lang="en-GB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4000" b="1" dirty="0" smtClean="0">
                <a:solidFill>
                  <a:srgbClr val="FF0000"/>
                </a:solidFill>
              </a:rPr>
              <a:t>Thank you for your rapt attention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01/27/2016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B3F2A-8037-462D-A001-B2B4E5AD88F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636</Words>
  <Application>Microsoft Office PowerPoint</Application>
  <PresentationFormat>On-screen Show (4:3)</PresentationFormat>
  <Paragraphs>124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 SWOT ANALYSIS OF CGDS</vt:lpstr>
      <vt:lpstr>Outline</vt:lpstr>
      <vt:lpstr>Situation Analysis – A Short Profile</vt:lpstr>
      <vt:lpstr>Strength – Academic Programs </vt:lpstr>
      <vt:lpstr>Strength – Specialized Professional Programs and Non-Teaching Services</vt:lpstr>
      <vt:lpstr>Strength –Research &amp; Consultancies</vt:lpstr>
      <vt:lpstr>Strength – Collaborations &amp; Linkages</vt:lpstr>
      <vt:lpstr>Strength – Institutionalization of Gender Mainstreaming in EKSU</vt:lpstr>
      <vt:lpstr>Strength – CGDS Statutory  Bodies</vt:lpstr>
      <vt:lpstr> Strength – Personnel</vt:lpstr>
      <vt:lpstr>Weaknesses </vt:lpstr>
      <vt:lpstr>Opportunities</vt:lpstr>
      <vt:lpstr>Threats</vt:lpstr>
      <vt:lpstr>Recommendations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CGDS SWOT ANALYSIS</dc:title>
  <dc:creator>Test</dc:creator>
  <cp:lastModifiedBy>Test</cp:lastModifiedBy>
  <cp:revision>50</cp:revision>
  <cp:lastPrinted>2016-01-25T15:19:08Z</cp:lastPrinted>
  <dcterms:created xsi:type="dcterms:W3CDTF">2016-01-20T20:08:58Z</dcterms:created>
  <dcterms:modified xsi:type="dcterms:W3CDTF">2016-01-25T17:51:04Z</dcterms:modified>
</cp:coreProperties>
</file>