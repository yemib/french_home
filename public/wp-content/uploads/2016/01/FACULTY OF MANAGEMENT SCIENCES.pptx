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2"/>
  </p:notesMasterIdLst>
  <p:sldIdLst>
    <p:sldId id="256" r:id="rId2"/>
    <p:sldId id="270" r:id="rId3"/>
    <p:sldId id="269" r:id="rId4"/>
    <p:sldId id="257" r:id="rId5"/>
    <p:sldId id="258" r:id="rId6"/>
    <p:sldId id="259" r:id="rId7"/>
    <p:sldId id="272" r:id="rId8"/>
    <p:sldId id="273" r:id="rId9"/>
    <p:sldId id="274" r:id="rId10"/>
    <p:sldId id="260" r:id="rId11"/>
    <p:sldId id="262" r:id="rId12"/>
    <p:sldId id="261" r:id="rId13"/>
    <p:sldId id="264" r:id="rId14"/>
    <p:sldId id="263" r:id="rId15"/>
    <p:sldId id="265" r:id="rId16"/>
    <p:sldId id="266" r:id="rId17"/>
    <p:sldId id="267" r:id="rId18"/>
    <p:sldId id="271" r:id="rId19"/>
    <p:sldId id="275" r:id="rId20"/>
    <p:sldId id="268" r:id="rId21"/>
  </p:sldIdLst>
  <p:sldSz cx="9144000" cy="6858000" type="screen4x3"/>
  <p:notesSz cx="9947275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4487" y="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07FF9-D77C-448E-99AB-E34C56FA444B}" type="datetimeFigureOut">
              <a:rPr lang="en-GB" smtClean="0"/>
              <a:pPr/>
              <a:t>27/01/2016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59138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728" y="3257550"/>
            <a:ext cx="795782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4D02C-2BE1-4841-A489-2C431D85328B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4D02C-2BE1-4841-A489-2C431D85328B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F3687-E4D0-4DCC-BB2A-256BF32DAE87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E3D5-541C-4244-81F0-7E359C5B10AC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6671-77CC-45DB-A17F-88ED5FB7AADC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080C-01D6-4159-B265-F4CF11477898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ABF4D-94F2-4C37-89D8-3D4FA78ED0E2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67495-AB21-47B9-99EC-90BB6252FC00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ED774-CFA8-4276-B5AA-C6A08E8E9D06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EAF6B-0082-44B1-B78C-3261812925F8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DFD2A-2F6A-49CD-B51E-EA2961FBE6E1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100C-9B19-4477-979E-FC56AC495738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0385F-2A29-4EC2-9E54-ADF981CFBD9A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CB631-C159-4C2D-845D-5AFD5EDD366F}" type="datetime1">
              <a:rPr lang="en-GB" smtClean="0"/>
              <a:pPr/>
              <a:t>27/01/2016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8272-1631-45EF-8C86-F034EA4C3E9F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edg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/>
          </a:bodyPr>
          <a:lstStyle/>
          <a:p>
            <a:r>
              <a:rPr lang="en-GB" sz="4000" b="1" dirty="0" smtClean="0">
                <a:solidFill>
                  <a:srgbClr val="FF0000"/>
                </a:solidFill>
              </a:rPr>
              <a:t>FACULTY OF MANAGEMET SCIENCES: AN IGR HUB FOR  SUSTAINED REVENUE DRIVE IN EKSU</a:t>
            </a:r>
          </a:p>
          <a:p>
            <a:endParaRPr lang="en-GB" sz="4000" b="1" dirty="0">
              <a:solidFill>
                <a:schemeClr val="tx1"/>
              </a:solidFill>
            </a:endParaRPr>
          </a:p>
          <a:p>
            <a:r>
              <a:rPr lang="en-GB" sz="4000" b="1" dirty="0" smtClean="0">
                <a:solidFill>
                  <a:schemeClr val="tx1"/>
                </a:solidFill>
              </a:rPr>
              <a:t>BEING A PAPER PRESENTED AT THE IGR SUMMIT OF EKITI STATE UNIVERSITY, ADO EKITI</a:t>
            </a:r>
          </a:p>
          <a:p>
            <a:endParaRPr lang="en-GB" sz="4000" b="1" dirty="0">
              <a:solidFill>
                <a:schemeClr val="tx1"/>
              </a:solidFill>
            </a:endParaRPr>
          </a:p>
          <a:p>
            <a:r>
              <a:rPr lang="en-GB" sz="4000" b="1" dirty="0" smtClean="0">
                <a:solidFill>
                  <a:schemeClr val="tx1"/>
                </a:solidFill>
              </a:rPr>
              <a:t>ON WEDNESDAY 27</a:t>
            </a:r>
            <a:r>
              <a:rPr lang="en-GB" sz="4000" b="1" baseline="30000" dirty="0" smtClean="0">
                <a:solidFill>
                  <a:schemeClr val="tx1"/>
                </a:solidFill>
              </a:rPr>
              <a:t>TH</a:t>
            </a:r>
            <a:r>
              <a:rPr lang="en-GB" sz="4000" b="1" dirty="0" smtClean="0">
                <a:solidFill>
                  <a:schemeClr val="tx1"/>
                </a:solidFill>
              </a:rPr>
              <a:t> JANUARY, 2016</a:t>
            </a:r>
          </a:p>
          <a:p>
            <a:pPr algn="l"/>
            <a:endParaRPr lang="en-GB" dirty="0" smtClean="0">
              <a:solidFill>
                <a:schemeClr val="tx1"/>
              </a:solidFill>
            </a:endParaRPr>
          </a:p>
          <a:p>
            <a:pPr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/>
          <a:lstStyle/>
          <a:p>
            <a:r>
              <a:rPr lang="en-GB" sz="4400" b="1" dirty="0" smtClean="0">
                <a:solidFill>
                  <a:srgbClr val="FF0000"/>
                </a:solidFill>
              </a:rPr>
              <a:t>DELIVERED BY</a:t>
            </a:r>
          </a:p>
          <a:p>
            <a:endParaRPr lang="en-GB" sz="4000" b="1" dirty="0">
              <a:solidFill>
                <a:schemeClr val="tx1"/>
              </a:solidFill>
            </a:endParaRPr>
          </a:p>
          <a:p>
            <a:endParaRPr lang="en-GB" sz="4000" b="1" dirty="0">
              <a:solidFill>
                <a:schemeClr val="tx1"/>
              </a:solidFill>
            </a:endParaRPr>
          </a:p>
          <a:p>
            <a:r>
              <a:rPr lang="en-GB" sz="4800" b="1" dirty="0" smtClean="0">
                <a:solidFill>
                  <a:schemeClr val="tx1"/>
                </a:solidFill>
              </a:rPr>
              <a:t>PROF. PATRICK OLAJIDE OLADELE</a:t>
            </a:r>
          </a:p>
          <a:p>
            <a:r>
              <a:rPr lang="en-GB" b="1" dirty="0" smtClean="0">
                <a:solidFill>
                  <a:schemeClr val="tx1"/>
                </a:solidFill>
              </a:rPr>
              <a:t>DEAN, FACULTY OF MANAGEMENT SCIENCES</a:t>
            </a:r>
          </a:p>
          <a:p>
            <a:r>
              <a:rPr lang="en-GB" b="1" dirty="0" smtClean="0">
                <a:solidFill>
                  <a:schemeClr val="tx1"/>
                </a:solidFill>
              </a:rPr>
              <a:t>EKITI STATE UNIVERSITY, ADO EKITI</a:t>
            </a:r>
          </a:p>
          <a:p>
            <a:pPr algn="just"/>
            <a:endParaRPr lang="en-GB" dirty="0" smtClean="0">
              <a:solidFill>
                <a:schemeClr val="tx1"/>
              </a:solidFill>
            </a:endParaRPr>
          </a:p>
          <a:p>
            <a:pPr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/>
          <a:lstStyle/>
          <a:p>
            <a:r>
              <a:rPr lang="en-GB" sz="4000" b="1" dirty="0" smtClean="0">
                <a:solidFill>
                  <a:srgbClr val="FF0000"/>
                </a:solidFill>
              </a:rPr>
              <a:t>THE PECULIARITIES OF FACULTY OF MANAGEMENT SCIENCES</a:t>
            </a:r>
          </a:p>
          <a:p>
            <a:pPr marL="571500" indent="-571500" algn="just">
              <a:buAutoNum type="romanLcPeriod"/>
            </a:pPr>
            <a:r>
              <a:rPr lang="en-GB" sz="3200" b="1" dirty="0" smtClean="0">
                <a:solidFill>
                  <a:schemeClr val="tx1"/>
                </a:solidFill>
              </a:rPr>
              <a:t>Capacity to attract undergraduate and postgraduate students on full time, part time and distance learning programmes </a:t>
            </a:r>
          </a:p>
          <a:p>
            <a:pPr marL="571500" indent="-571500" algn="just"/>
            <a:endParaRPr lang="en-GB" sz="3200" b="1" dirty="0" smtClean="0">
              <a:solidFill>
                <a:schemeClr val="tx1"/>
              </a:solidFill>
            </a:endParaRPr>
          </a:p>
          <a:p>
            <a:pPr marL="571500" indent="-571500" algn="just"/>
            <a:r>
              <a:rPr lang="en-GB" sz="3200" b="1" dirty="0" smtClean="0">
                <a:solidFill>
                  <a:schemeClr val="tx1"/>
                </a:solidFill>
              </a:rPr>
              <a:t>ii. Ready made market for all programmes (Accounting, Business Administration, Finance, Marketing, Cooperative Management and Insurance)</a:t>
            </a:r>
          </a:p>
          <a:p>
            <a:pPr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/>
          </a:bodyPr>
          <a:lstStyle/>
          <a:p>
            <a:r>
              <a:rPr lang="en-GB" sz="4000" b="1" dirty="0" smtClean="0">
                <a:solidFill>
                  <a:srgbClr val="FF0000"/>
                </a:solidFill>
              </a:rPr>
              <a:t>PECULIARITIES OF THE FACULTY OF MANAGEMENT SCIENCES (Contd.)</a:t>
            </a:r>
          </a:p>
          <a:p>
            <a:pPr algn="just"/>
            <a:endParaRPr lang="en-GB" dirty="0">
              <a:solidFill>
                <a:schemeClr val="tx1"/>
              </a:solidFill>
            </a:endParaRPr>
          </a:p>
          <a:p>
            <a:pPr marL="571500" indent="-571500" algn="just"/>
            <a:r>
              <a:rPr lang="en-GB" dirty="0" smtClean="0">
                <a:solidFill>
                  <a:schemeClr val="tx1"/>
                </a:solidFill>
              </a:rPr>
              <a:t>iii. </a:t>
            </a:r>
            <a:r>
              <a:rPr lang="en-GB" sz="3200" b="1" dirty="0" smtClean="0">
                <a:solidFill>
                  <a:schemeClr val="tx1"/>
                </a:solidFill>
              </a:rPr>
              <a:t>The professional and academic postgraduate programmes of the Faculty are highly demanded in the society.</a:t>
            </a:r>
          </a:p>
          <a:p>
            <a:pPr marL="571500" indent="-571500" algn="just"/>
            <a:endParaRPr lang="en-GB" sz="3200" b="1" dirty="0">
              <a:solidFill>
                <a:schemeClr val="tx1"/>
              </a:solidFill>
            </a:endParaRPr>
          </a:p>
          <a:p>
            <a:pPr marL="571500" indent="-571500" algn="just"/>
            <a:r>
              <a:rPr lang="en-GB" sz="3200" b="1" dirty="0" smtClean="0">
                <a:solidFill>
                  <a:schemeClr val="tx1"/>
                </a:solidFill>
              </a:rPr>
              <a:t>iv. Qualified academic personnel.</a:t>
            </a:r>
          </a:p>
          <a:p>
            <a:pPr marL="571500" indent="-571500" algn="just"/>
            <a:endParaRPr lang="en-GB" sz="3200" b="1" dirty="0">
              <a:solidFill>
                <a:schemeClr val="tx1"/>
              </a:solidFill>
            </a:endParaRPr>
          </a:p>
          <a:p>
            <a:pPr marL="571500" indent="-571500" algn="just"/>
            <a:r>
              <a:rPr lang="en-GB" sz="3200" b="1" dirty="0" smtClean="0">
                <a:solidFill>
                  <a:schemeClr val="tx1"/>
                </a:solidFill>
              </a:rPr>
              <a:t>v. Virile leadership and committed </a:t>
            </a:r>
            <a:r>
              <a:rPr lang="en-GB" sz="3200" b="1" dirty="0" err="1" smtClean="0">
                <a:solidFill>
                  <a:schemeClr val="tx1"/>
                </a:solidFill>
              </a:rPr>
              <a:t>followership</a:t>
            </a:r>
            <a:r>
              <a:rPr lang="en-GB" sz="3200" b="1" dirty="0" smtClean="0">
                <a:solidFill>
                  <a:schemeClr val="tx1"/>
                </a:solidFill>
              </a:rPr>
              <a:t>.</a:t>
            </a: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 fontScale="85000" lnSpcReduction="20000"/>
          </a:bodyPr>
          <a:lstStyle/>
          <a:p>
            <a:r>
              <a:rPr lang="en-GB" sz="5200" b="1" dirty="0" smtClean="0">
                <a:solidFill>
                  <a:srgbClr val="FF0000"/>
                </a:solidFill>
              </a:rPr>
              <a:t>ROADMAP TO INCREASED IGR IN FACULTY OF MANAGEMENT SCIENCES</a:t>
            </a:r>
          </a:p>
          <a:p>
            <a:pPr algn="just"/>
            <a:endParaRPr lang="en-GB" dirty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r>
              <a:rPr lang="en-GB" sz="2600" b="1" dirty="0" smtClean="0">
                <a:solidFill>
                  <a:schemeClr val="tx1"/>
                </a:solidFill>
                <a:latin typeface="Arial Black" pitchFamily="34" charset="0"/>
              </a:rPr>
              <a:t>Expanding areas of coverage/student base of our professional postgraduate programmes by adopting modular system.</a:t>
            </a:r>
          </a:p>
          <a:p>
            <a:pPr marL="571500" indent="-571500" algn="just">
              <a:buAutoNum type="romanLcPeriod"/>
            </a:pPr>
            <a:endParaRPr lang="en-GB" sz="2600" b="1" dirty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>
              <a:buAutoNum type="romanLcPeriod"/>
            </a:pPr>
            <a:r>
              <a:rPr lang="en-GB" sz="2600" b="1" dirty="0" smtClean="0">
                <a:solidFill>
                  <a:schemeClr val="tx1"/>
                </a:solidFill>
                <a:latin typeface="Arial Black" pitchFamily="34" charset="0"/>
              </a:rPr>
              <a:t>Immediate admission into the newly approved programmes by the NUC (part time and full time).</a:t>
            </a:r>
          </a:p>
          <a:p>
            <a:pPr marL="571500" indent="-571500" algn="just">
              <a:buAutoNum type="romanLcPeriod"/>
            </a:pPr>
            <a:endParaRPr lang="en-GB" sz="2600" b="1" dirty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>
              <a:buAutoNum type="romanLcPeriod"/>
            </a:pPr>
            <a:r>
              <a:rPr lang="en-GB" sz="2600" b="1" dirty="0" smtClean="0">
                <a:solidFill>
                  <a:schemeClr val="tx1"/>
                </a:solidFill>
                <a:latin typeface="Arial Black" pitchFamily="34" charset="0"/>
              </a:rPr>
              <a:t>Expanding admission base for the academic postgraduate programmes.</a:t>
            </a:r>
          </a:p>
          <a:p>
            <a:pPr marL="571500" indent="-571500" algn="just"/>
            <a:endParaRPr lang="en-GB" sz="2600" b="1" dirty="0" smtClean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/>
            <a:r>
              <a:rPr lang="en-GB" sz="2600" b="1" dirty="0" smtClean="0">
                <a:solidFill>
                  <a:schemeClr val="tx1"/>
                </a:solidFill>
                <a:latin typeface="Arial Black" pitchFamily="34" charset="0"/>
              </a:rPr>
              <a:t>iv. Collaboration with other Faculties within and outside the University Community</a:t>
            </a: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 fontScale="85000" lnSpcReduction="20000"/>
          </a:bodyPr>
          <a:lstStyle/>
          <a:p>
            <a:pPr marL="571500" indent="-571500"/>
            <a:r>
              <a:rPr lang="en-GB" sz="4300" b="1" dirty="0" smtClean="0">
                <a:solidFill>
                  <a:srgbClr val="FF0000"/>
                </a:solidFill>
              </a:rPr>
              <a:t>EXPANDING AREAS OF COVERAGE OF OUR PROFESSIONAL POSTGRADUATE PROGRAMMES</a:t>
            </a:r>
          </a:p>
          <a:p>
            <a:pPr marL="571500" indent="-571500" algn="just"/>
            <a:r>
              <a:rPr lang="en-GB" b="1" dirty="0" smtClean="0">
                <a:solidFill>
                  <a:schemeClr val="tx1"/>
                </a:solidFill>
              </a:rPr>
              <a:t>	</a:t>
            </a:r>
            <a:r>
              <a:rPr lang="en-GB" b="1" dirty="0" smtClean="0">
                <a:solidFill>
                  <a:schemeClr val="tx1"/>
                </a:solidFill>
                <a:latin typeface="Arial Black" pitchFamily="34" charset="0"/>
              </a:rPr>
              <a:t>Establishing tutorial centres across major cities in Nigeria. This will include but not necessarily limited to:</a:t>
            </a:r>
          </a:p>
          <a:p>
            <a:pPr marL="571500" indent="-571500" algn="just">
              <a:buAutoNum type="romanLcPeriod"/>
            </a:pPr>
            <a:r>
              <a:rPr lang="en-GB" b="1" dirty="0" smtClean="0">
                <a:solidFill>
                  <a:schemeClr val="tx1"/>
                </a:solidFill>
                <a:latin typeface="Arial Black" pitchFamily="34" charset="0"/>
              </a:rPr>
              <a:t>Abuja	</a:t>
            </a:r>
          </a:p>
          <a:p>
            <a:pPr marL="571500" indent="-571500" algn="just">
              <a:buAutoNum type="romanLcPeriod"/>
            </a:pPr>
            <a:r>
              <a:rPr lang="en-GB" b="1" dirty="0" smtClean="0">
                <a:solidFill>
                  <a:schemeClr val="tx1"/>
                </a:solidFill>
                <a:latin typeface="Arial Black" pitchFamily="34" charset="0"/>
              </a:rPr>
              <a:t>Lagos</a:t>
            </a:r>
          </a:p>
          <a:p>
            <a:pPr marL="571500" indent="-571500" algn="just">
              <a:buAutoNum type="romanLcPeriod"/>
            </a:pPr>
            <a:r>
              <a:rPr lang="en-GB" b="1" dirty="0" err="1" smtClean="0">
                <a:solidFill>
                  <a:schemeClr val="tx1"/>
                </a:solidFill>
                <a:latin typeface="Arial Black" pitchFamily="34" charset="0"/>
              </a:rPr>
              <a:t>Ibadan</a:t>
            </a:r>
            <a:endParaRPr lang="en-GB" b="1" dirty="0" smtClean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>
              <a:buAutoNum type="romanLcPeriod"/>
            </a:pPr>
            <a:r>
              <a:rPr lang="en-GB" b="1" dirty="0" smtClean="0">
                <a:solidFill>
                  <a:schemeClr val="tx1"/>
                </a:solidFill>
                <a:latin typeface="Arial Black" pitchFamily="34" charset="0"/>
              </a:rPr>
              <a:t>Port-Harcourt</a:t>
            </a:r>
          </a:p>
          <a:p>
            <a:pPr marL="571500" indent="-571500" algn="just">
              <a:buAutoNum type="romanLcPeriod"/>
            </a:pPr>
            <a:r>
              <a:rPr lang="en-GB" b="1" dirty="0" smtClean="0">
                <a:solidFill>
                  <a:schemeClr val="tx1"/>
                </a:solidFill>
                <a:latin typeface="Arial Black" pitchFamily="34" charset="0"/>
              </a:rPr>
              <a:t>Akure</a:t>
            </a:r>
          </a:p>
          <a:p>
            <a:pPr marL="571500" indent="-571500" algn="just">
              <a:buAutoNum type="romanLcPeriod"/>
            </a:pPr>
            <a:r>
              <a:rPr lang="en-GB" b="1" dirty="0" err="1" smtClean="0">
                <a:solidFill>
                  <a:schemeClr val="tx1"/>
                </a:solidFill>
                <a:latin typeface="Arial Black" pitchFamily="34" charset="0"/>
              </a:rPr>
              <a:t>Ilorin</a:t>
            </a:r>
            <a:endParaRPr lang="en-GB" b="1" dirty="0" smtClean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>
              <a:buAutoNum type="romanLcPeriod"/>
            </a:pPr>
            <a:r>
              <a:rPr lang="en-GB" b="1" dirty="0" err="1" smtClean="0">
                <a:solidFill>
                  <a:schemeClr val="tx1"/>
                </a:solidFill>
                <a:latin typeface="Arial Black" pitchFamily="34" charset="0"/>
              </a:rPr>
              <a:t>Kaduna</a:t>
            </a:r>
            <a:r>
              <a:rPr lang="en-GB" b="1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</a:p>
          <a:p>
            <a:pPr marL="571500" indent="-571500" algn="just">
              <a:buAutoNum type="romanLcPeriod"/>
            </a:pPr>
            <a:r>
              <a:rPr lang="en-GB" b="1" dirty="0" smtClean="0">
                <a:solidFill>
                  <a:schemeClr val="tx1"/>
                </a:solidFill>
                <a:latin typeface="Arial Black" pitchFamily="34" charset="0"/>
              </a:rPr>
              <a:t>Benin City</a:t>
            </a:r>
          </a:p>
          <a:p>
            <a:pPr marL="571500" indent="-571500" algn="just">
              <a:buAutoNum type="romanLcPeriod"/>
            </a:pPr>
            <a:endParaRPr lang="en-GB" dirty="0">
              <a:solidFill>
                <a:schemeClr val="tx1"/>
              </a:solidFill>
            </a:endParaRP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ACTION PLAN FOR THE PROFESSIONAL POSTGRADUATE PROGRAMMES</a:t>
            </a:r>
            <a:endParaRPr lang="en-GB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0" y="1609725"/>
          <a:ext cx="9144000" cy="582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618"/>
                <a:gridCol w="2525982"/>
                <a:gridCol w="1828800"/>
                <a:gridCol w="1828800"/>
                <a:gridCol w="18288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 smtClean="0"/>
                        <a:t>ITEM</a:t>
                      </a:r>
                      <a:r>
                        <a:rPr lang="en-GB" b="1" baseline="0" dirty="0" smtClean="0"/>
                        <a:t> NO.</a:t>
                      </a:r>
                      <a:endParaRPr lang="en-GB" b="1" dirty="0"/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ACTION</a:t>
                      </a:r>
                      <a:endParaRPr lang="en-GB" b="1" dirty="0"/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TIME LINE</a:t>
                      </a:r>
                      <a:endParaRPr lang="en-GB" b="1" dirty="0"/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WHO SHOULD BE RESPONSIBLE</a:t>
                      </a:r>
                      <a:endParaRPr lang="en-GB" b="1" dirty="0"/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REMARK</a:t>
                      </a:r>
                      <a:endParaRPr lang="en-GB" b="1" dirty="0"/>
                    </a:p>
                  </a:txBody>
                  <a:tcPr marL="80433" marR="80433"/>
                </a:tc>
              </a:tr>
              <a:tr h="1274440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1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INITIATE A MEETING WITH INTERESTED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PARTNERS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MARCH,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THE DEAN, FMS AND THE THREE </a:t>
                      </a:r>
                      <a:r>
                        <a:rPr lang="en-GB" sz="1400" b="1" dirty="0" err="1" smtClean="0">
                          <a:latin typeface="Arial Black" pitchFamily="34" charset="0"/>
                        </a:rPr>
                        <a:t>HODs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AS A FACULTY WE ALREADY CONTACTED SOME PARTNERS AND THEY ARE WILLING TO COLLABORATE WITH US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</a:tr>
              <a:tr h="1057632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2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ADVERTISING OF THE UNIVERSITY’S INTEREST TO PARTNER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WITH PRIVATE INDIVIDUALS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APRIL,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PUBLIC RELATIONS UNIT OF THE UNIVERSITY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THIS WILL ALLOW OTHER INTERESTED PARTNERS THAT ARE NOT KNOWN TO THE FACULTY TO SHOW INTEREST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3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DEVELOPING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MEMORANDUM OF UNDERSTANDING WITH ACCREDITED PARTNERS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MAY,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UNIVERSITY MGT. TEAM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&amp;</a:t>
                      </a:r>
                      <a:r>
                        <a:rPr lang="en-GB" sz="1400" b="1" dirty="0" smtClean="0">
                          <a:latin typeface="Arial Black" pitchFamily="34" charset="0"/>
                        </a:rPr>
                        <a:t> LEGAL OFFICER,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</a:t>
                      </a:r>
                      <a:r>
                        <a:rPr lang="en-GB" sz="1400" b="1" dirty="0" smtClean="0">
                          <a:latin typeface="Arial Black" pitchFamily="34" charset="0"/>
                        </a:rPr>
                        <a:t>DEAN (FMS)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THIS WILL ENABLE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US AGREE ON ROYALTY PAYABLE TO PARTNERS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 marL="80433" marR="80433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ACTION PLAN FOR THE PROFESSIONAL POSTGRADUATE PROGRAMMES Contd.</a:t>
            </a:r>
            <a:endParaRPr lang="en-GB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0" y="1600200"/>
          <a:ext cx="9144000" cy="5974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618"/>
                <a:gridCol w="2000222"/>
                <a:gridCol w="1440160"/>
                <a:gridCol w="1520168"/>
                <a:gridCol w="3051832"/>
              </a:tblGrid>
              <a:tr h="1003718">
                <a:tc>
                  <a:txBody>
                    <a:bodyPr/>
                    <a:lstStyle/>
                    <a:p>
                      <a:r>
                        <a:rPr lang="en-GB" b="1" dirty="0" smtClean="0"/>
                        <a:t>ITEM</a:t>
                      </a:r>
                      <a:r>
                        <a:rPr lang="en-GB" b="1" baseline="0" dirty="0" smtClean="0"/>
                        <a:t> NO.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ACTION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TIME LINE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WHO SHOULD BE RESPONSIBLE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REMARK</a:t>
                      </a:r>
                      <a:endParaRPr lang="en-GB" b="1" dirty="0"/>
                    </a:p>
                  </a:txBody>
                  <a:tcPr/>
                </a:tc>
              </a:tr>
              <a:tr h="1398926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4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LAUNCHING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OF ADMISSION AND TUITION PAYMENT PLATFORMS FROM THE UNIVERSITY’S WEBSITE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MAY,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ICT UNIT OF THE UNIVERSITY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THE ICT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UNIT SHOULD IMPROVE ON THE METHOD OF APPLICATION FOR PG PROGRAMMES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1160940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5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ADMISSION 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JUNE,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FACULTY OF MANAGEMENT SCIENCES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THESE CENTRES MUST HAVE BEEN ACCREDITED BY THE DEVELOPMENT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COMMITTEE OF THE </a:t>
                      </a:r>
                      <a:r>
                        <a:rPr lang="en-GB" sz="1400" b="1" dirty="0" smtClean="0">
                          <a:latin typeface="Arial Black" pitchFamily="34" charset="0"/>
                        </a:rPr>
                        <a:t>UNIVERSITY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1505576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REGISTRATION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TILL AUGUST,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STUDENTS, ICT, CPGS,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TUTORIAL CENTRES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ADMISSION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LETTER TO BE PRINTED ONLINE, DOCUMENTATION AND PAYMENT TO BE DONE WITHOUT VISITING THE UNIVERSITY. ONLY FINAL CLEARANCE SHOULD BRING STUDENTS TO THE UNIVERSITY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ACTION PLAN FOR THE PROFESSIONAL POSTGRADUATE PROGRAMMES Contd.</a:t>
            </a:r>
            <a:endParaRPr lang="en-GB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0" y="1600200"/>
          <a:ext cx="9144000" cy="4828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576"/>
                <a:gridCol w="2376264"/>
                <a:gridCol w="1440160"/>
                <a:gridCol w="1520168"/>
                <a:gridCol w="3051832"/>
              </a:tblGrid>
              <a:tr h="1003718">
                <a:tc>
                  <a:txBody>
                    <a:bodyPr/>
                    <a:lstStyle/>
                    <a:p>
                      <a:r>
                        <a:rPr lang="en-GB" b="1" dirty="0" smtClean="0"/>
                        <a:t>ITEM</a:t>
                      </a:r>
                      <a:r>
                        <a:rPr lang="en-GB" b="1" baseline="0" dirty="0" smtClean="0"/>
                        <a:t> NO.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ACTION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TIME LINE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WHO SHOULD BE RESPONSIBLE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REMARK</a:t>
                      </a:r>
                      <a:endParaRPr lang="en-GB" b="1" dirty="0"/>
                    </a:p>
                  </a:txBody>
                  <a:tcPr/>
                </a:tc>
              </a:tr>
              <a:tr h="969098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7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smtClean="0">
                          <a:latin typeface="Arial Black" pitchFamily="34" charset="0"/>
                        </a:rPr>
                        <a:t>DESPATCH </a:t>
                      </a:r>
                      <a:r>
                        <a:rPr lang="en-GB" sz="1400" b="1" dirty="0" smtClean="0">
                          <a:latin typeface="Arial Black" pitchFamily="34" charset="0"/>
                        </a:rPr>
                        <a:t>OF LECTURE MODULES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BEGINNING OF NEW SEMESTER, AUGUST,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FACULTY OF MGT. SCIENCES,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DIRECTOR DDL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SOFT COPIES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OF MODULES SHALL BE MAILED TO ALL STUDENTS THAT ARE FULLY REGISTERED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1160940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8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RESIDENTIAL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PROGRAMME FOR THE FIRST SEMESTER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DECEMBER,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2016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FACULTY OF MANAGEMENT SCIENCES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ONE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WEEK FOR REVIEW AND CONTINUOUS ASSESSMENT,  ONE WEEK FOR EXAMINATION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1505576"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9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SUBMISSION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OF RESULTS AND COMMENCEMENT OF TUTORIALS FOR SECOND SEMESTER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FEBRUARY, 2017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ALL LECTURERS, FACULTY, ICT, CPGS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1" dirty="0" smtClean="0">
                          <a:latin typeface="Arial Black" pitchFamily="34" charset="0"/>
                        </a:rPr>
                        <a:t>SUBMISSION OF RESULTS</a:t>
                      </a:r>
                      <a:r>
                        <a:rPr lang="en-GB" sz="1400" b="1" baseline="0" dirty="0" smtClean="0">
                          <a:latin typeface="Arial Black" pitchFamily="34" charset="0"/>
                        </a:rPr>
                        <a:t> SHALL BE TWO WEEKS AFTER EXAMINATION.  RESULTS SHALL BE PUBLISHED IMMEDIATELY AFTER COMPUTATION</a:t>
                      </a:r>
                      <a:endParaRPr lang="en-GB" sz="1400" b="1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 fontScale="92500" lnSpcReduction="10000"/>
          </a:bodyPr>
          <a:lstStyle/>
          <a:p>
            <a:pPr marL="571500" indent="-571500"/>
            <a:r>
              <a:rPr lang="en-GB" sz="3200" b="1" dirty="0" smtClean="0">
                <a:solidFill>
                  <a:srgbClr val="FF0000"/>
                </a:solidFill>
              </a:rPr>
              <a:t>IMMEDIATE ADMISSION INTO THE NEWLY APPROVED PROGRAMMES BY THE NUC (PART TIME AND FULL TIME)</a:t>
            </a:r>
          </a:p>
          <a:p>
            <a:pPr marL="571500" indent="-571500" algn="just">
              <a:buAutoNum type="romanLcPeriod"/>
            </a:pPr>
            <a:endParaRPr lang="en-GB" dirty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The University should mandate Director of Academic Planning to expedite action for JAMB to include all the NUC newly approved programmes on its Brochure for the next admission exercise.</a:t>
            </a:r>
          </a:p>
          <a:p>
            <a:pPr marL="571500" indent="-571500" algn="just">
              <a:buAutoNum type="romanLcPeriod"/>
            </a:pPr>
            <a:endParaRPr lang="en-GB" sz="2800" b="1" dirty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>
              <a:buAutoNum type="romanLcPeriod"/>
            </a:pP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The Directorate of Part time Programmes should be mandated to advertise these programmes as soon as they are listed in JAMB Brochure.</a:t>
            </a: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525344"/>
          </a:xfrm>
        </p:spPr>
        <p:txBody>
          <a:bodyPr>
            <a:normAutofit fontScale="70000" lnSpcReduction="20000"/>
          </a:bodyPr>
          <a:lstStyle/>
          <a:p>
            <a:pPr marL="571500" indent="-571500"/>
            <a:r>
              <a:rPr lang="en-GB" sz="4400" b="1" dirty="0" smtClean="0">
                <a:solidFill>
                  <a:srgbClr val="FF0000"/>
                </a:solidFill>
              </a:rPr>
              <a:t>EXPANDING ADMISSION BASE FOR THE ACADEMIC POSTGRADUATE PROGRAMMES</a:t>
            </a: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r>
              <a:rPr lang="en-GB" sz="4000" b="1" dirty="0" smtClean="0">
                <a:solidFill>
                  <a:schemeClr val="tx1"/>
                </a:solidFill>
                <a:latin typeface="Arial Black" pitchFamily="34" charset="0"/>
              </a:rPr>
              <a:t>The Faculty currently admits few students into the academic postgraduate programmes (M.Sc., </a:t>
            </a:r>
            <a:r>
              <a:rPr lang="en-GB" sz="4000" b="1" dirty="0" err="1" smtClean="0">
                <a:solidFill>
                  <a:schemeClr val="tx1"/>
                </a:solidFill>
                <a:latin typeface="Arial Black" pitchFamily="34" charset="0"/>
              </a:rPr>
              <a:t>M.Phil/Ph.D</a:t>
            </a:r>
            <a:r>
              <a:rPr lang="en-GB" sz="4000" b="1" dirty="0" smtClean="0">
                <a:solidFill>
                  <a:schemeClr val="tx1"/>
                </a:solidFill>
                <a:latin typeface="Arial Black" pitchFamily="34" charset="0"/>
              </a:rPr>
              <a:t> and </a:t>
            </a:r>
            <a:r>
              <a:rPr lang="en-GB" sz="4000" b="1" dirty="0" err="1" smtClean="0">
                <a:solidFill>
                  <a:schemeClr val="tx1"/>
                </a:solidFill>
                <a:latin typeface="Arial Black" pitchFamily="34" charset="0"/>
              </a:rPr>
              <a:t>Ph.D</a:t>
            </a:r>
            <a:r>
              <a:rPr lang="en-GB" sz="4000" b="1" dirty="0" smtClean="0">
                <a:solidFill>
                  <a:schemeClr val="tx1"/>
                </a:solidFill>
                <a:latin typeface="Arial Black" pitchFamily="34" charset="0"/>
              </a:rPr>
              <a:t>) in the existing three Departments.</a:t>
            </a:r>
          </a:p>
          <a:p>
            <a:pPr marL="571500" indent="-571500" algn="just">
              <a:buAutoNum type="romanLcPeriod"/>
            </a:pPr>
            <a:endParaRPr lang="en-GB" sz="4000" b="1" dirty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>
              <a:buAutoNum type="romanLcPeriod"/>
            </a:pPr>
            <a:r>
              <a:rPr lang="en-GB" sz="4000" b="1" dirty="0" smtClean="0">
                <a:solidFill>
                  <a:schemeClr val="tx1"/>
                </a:solidFill>
                <a:latin typeface="Arial Black" pitchFamily="34" charset="0"/>
              </a:rPr>
              <a:t>So many applicants are denied admission annually for lack of supervisors. Departments in the Faculty would be allowed to admit more students.</a:t>
            </a:r>
          </a:p>
          <a:p>
            <a:pPr marL="571500" indent="-571500" algn="just"/>
            <a:endParaRPr lang="en-GB" sz="4000" b="1" dirty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/>
            <a:r>
              <a:rPr lang="en-GB" sz="4000" b="1" dirty="0" smtClean="0">
                <a:solidFill>
                  <a:schemeClr val="tx1"/>
                </a:solidFill>
                <a:latin typeface="Arial Black" pitchFamily="34" charset="0"/>
              </a:rPr>
              <a:t>iii. The Faculty will ensure smooth academic calendar for the Postgraduate programmes and ensure it did not relent in its effort at graduating students in record time.</a:t>
            </a:r>
          </a:p>
          <a:p>
            <a:pPr marL="571500" indent="-571500" algn="just"/>
            <a:endParaRPr lang="en-GB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/>
          </a:bodyPr>
          <a:lstStyle/>
          <a:p>
            <a:pPr marL="571500" indent="-571500"/>
            <a:r>
              <a:rPr lang="en-GB" b="1" dirty="0" smtClean="0">
                <a:solidFill>
                  <a:srgbClr val="FF0000"/>
                </a:solidFill>
              </a:rPr>
              <a:t>ANTICIPATED ENROLMENTS FOR THE FACULTY (5 YEARS PROJECTION) – PG - Professional</a:t>
            </a:r>
          </a:p>
          <a:p>
            <a:pPr marL="571500" indent="-571500"/>
            <a:endParaRPr lang="en-GB" b="1" dirty="0" smtClean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endParaRPr lang="en-GB" dirty="0">
              <a:solidFill>
                <a:schemeClr val="tx1"/>
              </a:solidFill>
            </a:endParaRP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512" y="1628802"/>
          <a:ext cx="8964486" cy="5229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054"/>
                <a:gridCol w="996054"/>
                <a:gridCol w="996054"/>
                <a:gridCol w="996054"/>
                <a:gridCol w="996054"/>
                <a:gridCol w="996054"/>
                <a:gridCol w="996054"/>
                <a:gridCol w="996054"/>
                <a:gridCol w="996054"/>
              </a:tblGrid>
              <a:tr h="871533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YEAR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ABUJA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LAGOS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PORTHARCOURT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ILORIN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IBADAN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KADUNA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AKURE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BENIN CITY</a:t>
                      </a:r>
                    </a:p>
                  </a:txBody>
                  <a:tcPr marL="9525" marR="9525" marT="9525" marB="0" anchor="b"/>
                </a:tc>
              </a:tr>
              <a:tr h="871533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1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</a:tr>
              <a:tr h="871533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2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</a:tr>
              <a:tr h="871533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3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125</a:t>
                      </a:r>
                    </a:p>
                  </a:txBody>
                  <a:tcPr marL="9525" marR="9525" marT="9525" marB="0" anchor="b"/>
                </a:tc>
              </a:tr>
              <a:tr h="871533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4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125</a:t>
                      </a:r>
                    </a:p>
                  </a:txBody>
                  <a:tcPr marL="9525" marR="9525" marT="9525" marB="0" anchor="b"/>
                </a:tc>
              </a:tr>
              <a:tr h="871533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5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/>
          </a:bodyPr>
          <a:lstStyle/>
          <a:p>
            <a:pPr marL="571500" indent="-571500"/>
            <a:r>
              <a:rPr lang="en-GB" b="1" dirty="0" smtClean="0">
                <a:solidFill>
                  <a:srgbClr val="FF0000"/>
                </a:solidFill>
              </a:rPr>
              <a:t>ANTICIPATED ENROLMENTS FOR THE FACULTY (5 YEARS PROJECTION) – Undergraduate</a:t>
            </a:r>
          </a:p>
          <a:p>
            <a:pPr marL="571500" indent="-571500"/>
            <a:endParaRPr lang="en-GB" sz="4400" b="1" dirty="0" smtClean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endParaRPr lang="en-GB" dirty="0">
              <a:solidFill>
                <a:schemeClr val="tx1"/>
              </a:solidFill>
            </a:endParaRP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512" y="1628802"/>
          <a:ext cx="8568954" cy="501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159"/>
                <a:gridCol w="1428159"/>
                <a:gridCol w="1428159"/>
                <a:gridCol w="1428159"/>
                <a:gridCol w="1428159"/>
                <a:gridCol w="1428159"/>
              </a:tblGrid>
              <a:tr h="1060937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YEAR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MARKETING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INSURANCE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COOPERATIVE MGT.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INDUSTRIAL</a:t>
                      </a:r>
                      <a:r>
                        <a:rPr lang="en-GB" sz="1400" b="1" i="0" u="none" strike="noStrike" baseline="0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 RELATIONS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ENTREPRENEURSHIP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91134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1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</a:tr>
              <a:tr h="791134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2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</a:tr>
              <a:tr h="791134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3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</a:tr>
              <a:tr h="791134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4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280</a:t>
                      </a:r>
                    </a:p>
                  </a:txBody>
                  <a:tcPr marL="9525" marR="9525" marT="9525" marB="0" anchor="b"/>
                </a:tc>
              </a:tr>
              <a:tr h="791134">
                <a:tc>
                  <a:txBody>
                    <a:bodyPr/>
                    <a:lstStyle/>
                    <a:p>
                      <a:r>
                        <a:rPr lang="en-GB" sz="2800" dirty="0" smtClean="0">
                          <a:latin typeface="Arial Black" pitchFamily="34" charset="0"/>
                        </a:rPr>
                        <a:t>5</a:t>
                      </a:r>
                      <a:endParaRPr lang="en-GB" sz="28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340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571500" indent="-571500"/>
            <a:r>
              <a:rPr lang="en-GB" sz="3600" b="1" dirty="0" smtClean="0">
                <a:solidFill>
                  <a:srgbClr val="FF0000"/>
                </a:solidFill>
              </a:rPr>
              <a:t>EXPECTED IGR (in millions of naira )</a:t>
            </a:r>
          </a:p>
          <a:p>
            <a:pPr marL="571500" indent="-571500"/>
            <a:r>
              <a:rPr lang="en-GB" sz="3600" b="1" dirty="0" smtClean="0">
                <a:solidFill>
                  <a:srgbClr val="FF0000"/>
                </a:solidFill>
              </a:rPr>
              <a:t>Assuming Each student will pay N200,000 per annum – PG Professional </a:t>
            </a:r>
          </a:p>
          <a:p>
            <a:pPr marL="571500" indent="-571500"/>
            <a:endParaRPr lang="en-GB" sz="4400" b="1" dirty="0" smtClean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endParaRPr lang="en-GB" dirty="0">
              <a:solidFill>
                <a:schemeClr val="tx1"/>
              </a:solidFill>
            </a:endParaRP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512" y="2348882"/>
          <a:ext cx="8712970" cy="450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297"/>
                <a:gridCol w="871297"/>
                <a:gridCol w="871297"/>
                <a:gridCol w="871297"/>
                <a:gridCol w="871297"/>
                <a:gridCol w="871297"/>
                <a:gridCol w="871297"/>
                <a:gridCol w="871297"/>
                <a:gridCol w="871297"/>
                <a:gridCol w="871297"/>
              </a:tblGrid>
              <a:tr h="954595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YEAR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ABUJA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LAGOS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PORT-HARCOURT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ILORIN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IBADAN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KADUNA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AKURE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BENIN CITY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10905">
                <a:tc>
                  <a:txBody>
                    <a:bodyPr/>
                    <a:lstStyle/>
                    <a:p>
                      <a:r>
                        <a:rPr lang="en-GB" sz="2000" dirty="0" smtClean="0">
                          <a:latin typeface="Arial Black" pitchFamily="34" charset="0"/>
                        </a:rPr>
                        <a:t>1</a:t>
                      </a:r>
                      <a:endParaRPr lang="en-GB" sz="20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1.9B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10905">
                <a:tc>
                  <a:txBody>
                    <a:bodyPr/>
                    <a:lstStyle/>
                    <a:p>
                      <a:r>
                        <a:rPr lang="en-GB" sz="2000" dirty="0" smtClean="0">
                          <a:latin typeface="Arial Black" pitchFamily="34" charset="0"/>
                        </a:rPr>
                        <a:t>2</a:t>
                      </a:r>
                      <a:endParaRPr lang="en-GB" sz="20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2.18B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10905">
                <a:tc>
                  <a:txBody>
                    <a:bodyPr/>
                    <a:lstStyle/>
                    <a:p>
                      <a:r>
                        <a:rPr lang="en-GB" sz="2000" dirty="0" smtClean="0">
                          <a:latin typeface="Arial Black" pitchFamily="34" charset="0"/>
                        </a:rPr>
                        <a:t>3</a:t>
                      </a:r>
                      <a:endParaRPr lang="en-GB" sz="20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440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2.77B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10905">
                <a:tc>
                  <a:txBody>
                    <a:bodyPr/>
                    <a:lstStyle/>
                    <a:p>
                      <a:r>
                        <a:rPr lang="en-GB" sz="2000" dirty="0" smtClean="0">
                          <a:latin typeface="Arial Black" pitchFamily="34" charset="0"/>
                        </a:rPr>
                        <a:t>4</a:t>
                      </a:r>
                      <a:endParaRPr lang="en-GB" sz="20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400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600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3.31B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10905">
                <a:tc>
                  <a:txBody>
                    <a:bodyPr/>
                    <a:lstStyle/>
                    <a:p>
                      <a:r>
                        <a:rPr lang="en-GB" sz="2000" dirty="0" smtClean="0">
                          <a:latin typeface="Arial Black" pitchFamily="34" charset="0"/>
                        </a:rPr>
                        <a:t>5</a:t>
                      </a:r>
                      <a:endParaRPr lang="en-GB" sz="20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600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640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680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240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720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0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3.98B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/>
          </a:bodyPr>
          <a:lstStyle/>
          <a:p>
            <a:pPr marL="571500" indent="-571500" algn="ctr"/>
            <a:r>
              <a:rPr lang="en-GB" sz="3600" b="1" dirty="0" smtClean="0">
                <a:solidFill>
                  <a:srgbClr val="FF0000"/>
                </a:solidFill>
              </a:rPr>
              <a:t>EXPECTED IGR (in millions of naira )</a:t>
            </a:r>
          </a:p>
          <a:p>
            <a:pPr marL="571500" indent="-571500" algn="ctr"/>
            <a:r>
              <a:rPr lang="en-GB" sz="3600" b="1" dirty="0" smtClean="0">
                <a:solidFill>
                  <a:srgbClr val="FF0000"/>
                </a:solidFill>
              </a:rPr>
              <a:t>Assuming Each student will pay </a:t>
            </a:r>
            <a:r>
              <a:rPr lang="en-GB" sz="4400" b="1" dirty="0" smtClean="0">
                <a:solidFill>
                  <a:srgbClr val="FF0000"/>
                </a:solidFill>
              </a:rPr>
              <a:t>N50,000 per annum - UG</a:t>
            </a:r>
          </a:p>
          <a:p>
            <a:pPr marL="571500" indent="-571500"/>
            <a:endParaRPr lang="en-GB" sz="4400" b="1" dirty="0" smtClean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endParaRPr lang="en-GB" dirty="0">
              <a:solidFill>
                <a:schemeClr val="tx1"/>
              </a:solidFill>
            </a:endParaRPr>
          </a:p>
          <a:p>
            <a:pPr marL="571500" indent="-571500" algn="just"/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512" y="2492898"/>
          <a:ext cx="8784978" cy="4365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023"/>
                <a:gridCol w="1608970"/>
                <a:gridCol w="1254997"/>
                <a:gridCol w="1254997"/>
                <a:gridCol w="1254997"/>
                <a:gridCol w="1254997"/>
                <a:gridCol w="1254997"/>
              </a:tblGrid>
              <a:tr h="733252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YEAR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MARKETING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INSURANCE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COOPERATIVE MGT.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INDUSTRIAL</a:t>
                      </a:r>
                      <a:r>
                        <a:rPr lang="en-GB" sz="1400" b="1" i="0" u="none" strike="noStrike" baseline="0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 RELATIONS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ENTREPRENEURSHIP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TOTAL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2637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1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31M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2637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2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35.5M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2637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3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45.5M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2637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4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56.5M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26370">
                <a:tc>
                  <a:txBody>
                    <a:bodyPr/>
                    <a:lstStyle/>
                    <a:p>
                      <a:r>
                        <a:rPr lang="en-GB" sz="1600" dirty="0" smtClean="0">
                          <a:latin typeface="Arial Black" pitchFamily="34" charset="0"/>
                        </a:rPr>
                        <a:t>5</a:t>
                      </a:r>
                      <a:endParaRPr lang="en-GB" sz="16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12.5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7.5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2800" b="0" i="0" u="none" strike="noStrike" dirty="0" smtClean="0">
                          <a:solidFill>
                            <a:srgbClr val="000000"/>
                          </a:solidFill>
                          <a:latin typeface="Arial Black" pitchFamily="34" charset="0"/>
                        </a:rPr>
                        <a:t>68M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latin typeface="Arial Black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 fontScale="92500" lnSpcReduction="10000"/>
          </a:bodyPr>
          <a:lstStyle/>
          <a:p>
            <a:pPr marL="571500" indent="-571500" algn="just"/>
            <a:r>
              <a:rPr lang="en-GB" sz="4400" b="1" dirty="0" smtClean="0">
                <a:solidFill>
                  <a:schemeClr val="tx1"/>
                </a:solidFill>
              </a:rPr>
              <a:t>	AN EXPANSION IN THE ADMISSION BASE OF THE ACADEMIC POSGRADUATE PROGRAMMES IN THE FACULTY TO A MINIMUM OF 50 STUDENTS PER PROGRAMME  WILL INCREASE THE IGR BASE BY 60% (FROM AROUND </a:t>
            </a:r>
            <a:r>
              <a:rPr lang="en-GB" sz="6000" b="1" dirty="0" smtClean="0">
                <a:solidFill>
                  <a:schemeClr val="tx1"/>
                </a:solidFill>
              </a:rPr>
              <a:t>N6,750,000 </a:t>
            </a:r>
            <a:r>
              <a:rPr lang="en-GB" sz="4400" b="1" dirty="0" smtClean="0">
                <a:solidFill>
                  <a:schemeClr val="tx1"/>
                </a:solidFill>
              </a:rPr>
              <a:t>TO ABOUT </a:t>
            </a:r>
            <a:r>
              <a:rPr lang="en-GB" sz="6000" b="1" dirty="0" smtClean="0">
                <a:solidFill>
                  <a:schemeClr val="tx1"/>
                </a:solidFill>
              </a:rPr>
              <a:t>N10,800,000 </a:t>
            </a:r>
            <a:r>
              <a:rPr lang="en-GB" sz="4400" b="1" dirty="0" smtClean="0">
                <a:solidFill>
                  <a:schemeClr val="tx1"/>
                </a:solidFill>
              </a:rPr>
              <a:t>PER ANNUM</a:t>
            </a:r>
            <a:endParaRPr lang="en-GB" sz="6000" dirty="0" smtClean="0">
              <a:solidFill>
                <a:schemeClr val="tx1"/>
              </a:solidFill>
            </a:endParaRPr>
          </a:p>
          <a:p>
            <a:pPr marL="571500" indent="-571500" algn="just"/>
            <a:endParaRPr lang="en-GB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 lnSpcReduction="10000"/>
          </a:bodyPr>
          <a:lstStyle/>
          <a:p>
            <a:pPr marL="571500" indent="-571500"/>
            <a:r>
              <a:rPr lang="en-GB" sz="4000" b="1" dirty="0" smtClean="0">
                <a:solidFill>
                  <a:srgbClr val="FF0000"/>
                </a:solidFill>
              </a:rPr>
              <a:t>COLLABORATION WITH OTHER FACULTIES WITHIN AND OUTSIDE THE UNIVERSITY COMMUNITY</a:t>
            </a:r>
          </a:p>
          <a:p>
            <a:pPr marL="571500" indent="-571500" algn="just">
              <a:buAutoNum type="romanLcPeriod"/>
            </a:pP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The Faculty has concluded preliminary plans to establish professional postgraduate programme in HOSPITAL, HEALTH, AND RECORD MANAGEMENT. This shall be in collaboration with the College of Medicine.</a:t>
            </a:r>
          </a:p>
          <a:p>
            <a:pPr marL="571500" indent="-571500" algn="just"/>
            <a:endParaRPr lang="en-GB" sz="2800" b="1" dirty="0" smtClean="0">
              <a:solidFill>
                <a:schemeClr val="tx1"/>
              </a:solidFill>
              <a:latin typeface="Arial Black" pitchFamily="34" charset="0"/>
            </a:endParaRPr>
          </a:p>
          <a:p>
            <a:pPr marL="571500" indent="-571500" algn="just"/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ii. The programme shall cover Postgraduate Diploma (PGD) and Master programmes (MHRM).</a:t>
            </a:r>
          </a:p>
          <a:p>
            <a:pPr marL="571500" indent="-571500" algn="just"/>
            <a:endParaRPr lang="en-GB" dirty="0" smtClean="0">
              <a:solidFill>
                <a:schemeClr val="tx1"/>
              </a:solidFill>
            </a:endParaRPr>
          </a:p>
          <a:p>
            <a:pPr marL="571500" indent="-571500" algn="just">
              <a:buAutoNum type="romanLcPeriod"/>
            </a:pPr>
            <a:endParaRPr lang="en-GB" dirty="0" smtClean="0">
              <a:solidFill>
                <a:schemeClr val="tx1"/>
              </a:solidFill>
            </a:endParaRPr>
          </a:p>
          <a:p>
            <a:pPr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404664"/>
            <a:ext cx="8568952" cy="6120680"/>
          </a:xfrm>
        </p:spPr>
        <p:txBody>
          <a:bodyPr>
            <a:normAutofit fontScale="92500" lnSpcReduction="20000"/>
          </a:bodyPr>
          <a:lstStyle/>
          <a:p>
            <a:r>
              <a:rPr lang="en-GB" sz="4800" b="1" dirty="0" smtClean="0">
                <a:solidFill>
                  <a:srgbClr val="FF0000"/>
                </a:solidFill>
              </a:rPr>
              <a:t>POSSIBLE IMPEDIMENTS</a:t>
            </a:r>
          </a:p>
          <a:p>
            <a:pPr marL="571500" indent="-571500" algn="just"/>
            <a:r>
              <a:rPr lang="en-GB" b="1" dirty="0" smtClean="0">
                <a:solidFill>
                  <a:schemeClr val="tx1"/>
                </a:solidFill>
              </a:rPr>
              <a:t>	</a:t>
            </a: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As beautiful as these projections may appear, the following factors may prevent the University from exploring this juicy revenue drive:</a:t>
            </a:r>
          </a:p>
          <a:p>
            <a:pPr marL="571500" indent="-571500" algn="just">
              <a:buAutoNum type="romanLcPeriod"/>
            </a:pP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Inadequate staff (in quantity) for postgraduate programmes.</a:t>
            </a:r>
          </a:p>
          <a:p>
            <a:pPr marL="571500" indent="-571500" algn="just">
              <a:buAutoNum type="romanLcPeriod"/>
            </a:pP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Delay in inclusion of our NUC newly approved programmes in the JAMB Brochure.</a:t>
            </a:r>
          </a:p>
          <a:p>
            <a:pPr marL="571500" indent="-571500" algn="just">
              <a:buAutoNum type="romanLcPeriod"/>
            </a:pP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Delay in movement to our new Faculty Complex may forestall commencement of thee newly approved programmes.</a:t>
            </a:r>
          </a:p>
          <a:p>
            <a:pPr marL="571500" indent="-571500" algn="just">
              <a:buAutoNum type="romanLcPeriod"/>
            </a:pPr>
            <a:r>
              <a:rPr lang="en-GB" sz="2800" b="1" dirty="0" smtClean="0">
                <a:solidFill>
                  <a:schemeClr val="tx1"/>
                </a:solidFill>
                <a:latin typeface="Arial Black" pitchFamily="34" charset="0"/>
              </a:rPr>
              <a:t>Administrative Bureaucracy of the CPGS on Professional Postgraduate Programmes.</a:t>
            </a:r>
          </a:p>
          <a:p>
            <a:pPr marL="571500" indent="-571500" algn="just">
              <a:buAutoNum type="romanLcPeriod"/>
            </a:pPr>
            <a:endParaRPr lang="en-GB" dirty="0" smtClean="0">
              <a:solidFill>
                <a:schemeClr val="tx1"/>
              </a:solidFill>
            </a:endParaRPr>
          </a:p>
          <a:p>
            <a:pPr algn="just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CONCLUSION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2776"/>
            <a:ext cx="8892480" cy="544522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dirty="0" smtClean="0"/>
              <a:t>	</a:t>
            </a:r>
            <a:r>
              <a:rPr lang="en-GB" b="1" dirty="0" smtClean="0">
                <a:latin typeface="Arial Black" pitchFamily="34" charset="0"/>
              </a:rPr>
              <a:t>If given the necessary supports, in the next five years, the Faculty of Management Sciences will have generated the following sums to the coffers of EKSU:</a:t>
            </a:r>
          </a:p>
          <a:p>
            <a:pPr marL="571500" indent="-571500">
              <a:buAutoNum type="romanLcPeriod"/>
            </a:pPr>
            <a:r>
              <a:rPr lang="en-GB" b="1" dirty="0" smtClean="0">
                <a:latin typeface="Arial Black" pitchFamily="34" charset="0"/>
              </a:rPr>
              <a:t>From Professional Postgraduate programmes: </a:t>
            </a:r>
            <a:r>
              <a:rPr lang="en-GB" b="1" dirty="0" smtClean="0">
                <a:solidFill>
                  <a:srgbClr val="FF0000"/>
                </a:solidFill>
                <a:latin typeface="Arial Black" pitchFamily="34" charset="0"/>
              </a:rPr>
              <a:t>N1,414,000,000 (Not more than 25% of this fund will go into running expenses)</a:t>
            </a:r>
          </a:p>
          <a:p>
            <a:pPr marL="571500" indent="-571500">
              <a:buAutoNum type="romanLcPeriod"/>
            </a:pPr>
            <a:r>
              <a:rPr lang="en-GB" b="1" dirty="0" smtClean="0">
                <a:latin typeface="Arial Black" pitchFamily="34" charset="0"/>
              </a:rPr>
              <a:t>From Academic Postgraduate Programmes: </a:t>
            </a:r>
            <a:r>
              <a:rPr lang="en-GB" b="1" dirty="0" smtClean="0">
                <a:solidFill>
                  <a:srgbClr val="FF0000"/>
                </a:solidFill>
                <a:latin typeface="Arial Black" pitchFamily="34" charset="0"/>
              </a:rPr>
              <a:t>N53,000,000</a:t>
            </a:r>
          </a:p>
          <a:p>
            <a:pPr marL="571500" indent="-571500">
              <a:buAutoNum type="romanLcPeriod"/>
            </a:pPr>
            <a:r>
              <a:rPr lang="en-GB" b="1" dirty="0" smtClean="0">
                <a:latin typeface="Arial Black" pitchFamily="34" charset="0"/>
              </a:rPr>
              <a:t>From newly approved Undergraduate Programmes: </a:t>
            </a:r>
            <a:r>
              <a:rPr lang="en-GB" b="1" dirty="0" smtClean="0">
                <a:solidFill>
                  <a:srgbClr val="FF0000"/>
                </a:solidFill>
                <a:latin typeface="Arial Black" pitchFamily="34" charset="0"/>
              </a:rPr>
              <a:t>N236,500,000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 algn="ctr">
              <a:buNone/>
            </a:pPr>
            <a:r>
              <a:rPr lang="en-GB" sz="4800" b="1" dirty="0" smtClean="0"/>
              <a:t>THANK YOU FOR LISTENING</a:t>
            </a:r>
          </a:p>
          <a:p>
            <a:pPr algn="ctr">
              <a:buNone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8272-1631-45EF-8C86-F034EA4C3E9F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1059</Words>
  <Application>Microsoft Office PowerPoint</Application>
  <PresentationFormat>On-screen Show (4:3)</PresentationFormat>
  <Paragraphs>345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ACTION PLAN FOR THE PROFESSIONAL POSTGRADUATE PROGRAMMES</vt:lpstr>
      <vt:lpstr>ACTION PLAN FOR THE PROFESSIONAL POSTGRADUATE PROGRAMMES Contd.</vt:lpstr>
      <vt:lpstr>ACTION PLAN FOR THE PROFESSIONAL POSTGRADUATE PROGRAMMES Contd.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CONCLUSION</vt:lpstr>
      <vt:lpstr>Slide 20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38</cp:revision>
  <dcterms:created xsi:type="dcterms:W3CDTF">2016-01-25T17:49:32Z</dcterms:created>
  <dcterms:modified xsi:type="dcterms:W3CDTF">2016-01-27T07:51:54Z</dcterms:modified>
</cp:coreProperties>
</file>