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9" r:id="rId4"/>
    <p:sldId id="258" r:id="rId5"/>
    <p:sldId id="260" r:id="rId6"/>
    <p:sldId id="261" r:id="rId7"/>
    <p:sldId id="262" r:id="rId8"/>
    <p:sldId id="263" r:id="rId9"/>
    <p:sldId id="280" r:id="rId10"/>
    <p:sldId id="264" r:id="rId11"/>
    <p:sldId id="265" r:id="rId12"/>
    <p:sldId id="266" r:id="rId13"/>
    <p:sldId id="267" r:id="rId14"/>
    <p:sldId id="268" r:id="rId15"/>
    <p:sldId id="269" r:id="rId16"/>
    <p:sldId id="270" r:id="rId17"/>
    <p:sldId id="271" r:id="rId18"/>
    <p:sldId id="272" r:id="rId19"/>
    <p:sldId id="273" r:id="rId20"/>
    <p:sldId id="275" r:id="rId21"/>
    <p:sldId id="276" r:id="rId22"/>
    <p:sldId id="277" r:id="rId23"/>
    <p:sldId id="278" r:id="rId24"/>
    <p:sldId id="279" r:id="rId25"/>
    <p:sldId id="281" r:id="rId26"/>
    <p:sldId id="282" r:id="rId27"/>
    <p:sldId id="283" r:id="rId28"/>
    <p:sldId id="284" r:id="rId29"/>
    <p:sldId id="285" r:id="rId30"/>
    <p:sldId id="290" r:id="rId31"/>
    <p:sldId id="286" r:id="rId32"/>
    <p:sldId id="287" r:id="rId33"/>
    <p:sldId id="288" r:id="rId34"/>
    <p:sldId id="289"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8208" autoAdjust="0"/>
  </p:normalViewPr>
  <p:slideViewPr>
    <p:cSldViewPr>
      <p:cViewPr>
        <p:scale>
          <a:sx n="77" d="100"/>
          <a:sy n="77" d="100"/>
        </p:scale>
        <p:origin x="-1092"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77399108-4FED-48D3-A876-C25BF844C7DC}" type="datetimeFigureOut">
              <a:rPr lang="en-US" smtClean="0"/>
              <a:pPr/>
              <a:t>1/26/2016</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D479AD00-70CE-4442-AB7B-5237AC66C106}"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77399108-4FED-48D3-A876-C25BF844C7DC}" type="datetimeFigureOut">
              <a:rPr lang="en-US" smtClean="0"/>
              <a:pPr/>
              <a:t>1/26/2016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D479AD00-70CE-4442-AB7B-5237AC66C106}"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77399108-4FED-48D3-A876-C25BF844C7DC}" type="datetimeFigureOut">
              <a:rPr lang="en-US" smtClean="0"/>
              <a:pPr/>
              <a:t>1/26/2016</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D479AD00-70CE-4442-AB7B-5237AC66C106}"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77399108-4FED-48D3-A876-C25BF844C7DC}" type="datetimeFigureOut">
              <a:rPr lang="en-US" smtClean="0"/>
              <a:pPr/>
              <a:t>1/26/2016</a:t>
            </a:fld>
            <a:endParaRPr lang="en-US"/>
          </a:p>
        </p:txBody>
      </p:sp>
      <p:sp>
        <p:nvSpPr>
          <p:cNvPr id="10" name="Slide Number Placeholder 9"/>
          <p:cNvSpPr>
            <a:spLocks noGrp="1"/>
          </p:cNvSpPr>
          <p:nvPr>
            <p:ph type="sldNum" sz="quarter" idx="16"/>
          </p:nvPr>
        </p:nvSpPr>
        <p:spPr/>
        <p:txBody>
          <a:bodyPr rtlCol="0"/>
          <a:lstStyle/>
          <a:p>
            <a:fld id="{D479AD00-70CE-4442-AB7B-5237AC66C106}"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77399108-4FED-48D3-A876-C25BF844C7DC}" type="datetimeFigureOut">
              <a:rPr lang="en-US" smtClean="0"/>
              <a:pPr/>
              <a:t>1/26/2016</a:t>
            </a:fld>
            <a:endParaRPr lang="en-US"/>
          </a:p>
        </p:txBody>
      </p:sp>
      <p:sp>
        <p:nvSpPr>
          <p:cNvPr id="12" name="Slide Number Placeholder 11"/>
          <p:cNvSpPr>
            <a:spLocks noGrp="1"/>
          </p:cNvSpPr>
          <p:nvPr>
            <p:ph type="sldNum" sz="quarter" idx="16"/>
          </p:nvPr>
        </p:nvSpPr>
        <p:spPr/>
        <p:txBody>
          <a:bodyPr rtlCol="0"/>
          <a:lstStyle/>
          <a:p>
            <a:fld id="{D479AD00-70CE-4442-AB7B-5237AC66C106}"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7399108-4FED-48D3-A876-C25BF844C7DC}" type="datetimeFigureOut">
              <a:rPr lang="en-US" smtClean="0"/>
              <a:pPr/>
              <a:t>1/26/2016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D479AD00-70CE-4442-AB7B-5237AC66C106}" type="slidenum">
              <a:rPr lang="en-US" smtClean="0"/>
              <a:pPr/>
              <a:t>‹#›</a:t>
            </a:fld>
            <a:endParaRPr lang="en-US"/>
          </a:p>
        </p:txBody>
      </p:sp>
    </p:spTree>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399108-4FED-48D3-A876-C25BF844C7DC}" type="datetimeFigureOut">
              <a:rPr lang="en-US" smtClean="0"/>
              <a:pPr/>
              <a:t>1/26/2016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D479AD00-70CE-4442-AB7B-5237AC66C106}" type="slidenum">
              <a:rPr lang="en-US" smtClean="0"/>
              <a:pPr/>
              <a:t>‹#›</a:t>
            </a:fld>
            <a:endParaRPr lang="en-US"/>
          </a:p>
        </p:txBody>
      </p:sp>
    </p:spTree>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77399108-4FED-48D3-A876-C25BF844C7DC}" type="datetimeFigureOut">
              <a:rPr lang="en-US" smtClean="0"/>
              <a:pPr/>
              <a:t>1/26/2016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D479AD00-70CE-4442-AB7B-5237AC66C106}"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77399108-4FED-48D3-A876-C25BF844C7DC}" type="datetimeFigureOut">
              <a:rPr lang="en-US" smtClean="0"/>
              <a:pPr/>
              <a:t>1/26/2016</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D479AD00-70CE-4442-AB7B-5237AC66C106}"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7399108-4FED-48D3-A876-C25BF844C7DC}" type="datetimeFigureOut">
              <a:rPr lang="en-US" smtClean="0"/>
              <a:pPr/>
              <a:t>1/26/2016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79AD00-70CE-4442-AB7B-5237AC66C106}" type="slidenum">
              <a:rPr lang="en-US" smtClean="0"/>
              <a:pPr/>
              <a:t>‹#›</a:t>
            </a:fld>
            <a:endParaRPr lang="en-US"/>
          </a:p>
        </p:txBody>
      </p:sp>
    </p:spTree>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77399108-4FED-48D3-A876-C25BF844C7DC}" type="datetimeFigureOut">
              <a:rPr lang="en-US" smtClean="0"/>
              <a:pPr/>
              <a:t>1/26/2016</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D479AD00-70CE-4442-AB7B-5237AC66C106}"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77399108-4FED-48D3-A876-C25BF844C7DC}" type="datetimeFigureOut">
              <a:rPr lang="en-US" smtClean="0"/>
              <a:pPr/>
              <a:t>1/26/2016</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D479AD00-70CE-4442-AB7B-5237AC66C10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spd="med">
    <p:random/>
  </p:transition>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2844" y="1214422"/>
            <a:ext cx="8858312" cy="4152912"/>
          </a:xfrm>
        </p:spPr>
        <p:txBody>
          <a:bodyPr>
            <a:normAutofit/>
          </a:bodyPr>
          <a:lstStyle/>
          <a:p>
            <a:pPr algn="ctr"/>
            <a:r>
              <a:rPr lang="en-GB" sz="4600" b="1" dirty="0" smtClean="0">
                <a:effectLst>
                  <a:outerShdw blurRad="38100" dist="38100" dir="2700000" algn="tl">
                    <a:srgbClr val="000000">
                      <a:alpha val="43137"/>
                    </a:srgbClr>
                  </a:outerShdw>
                </a:effectLst>
              </a:rPr>
              <a:t>FACULTY OF SCIENCE POSITION on review of existing </a:t>
            </a:r>
            <a:r>
              <a:rPr lang="en-GB" sz="4600" b="1" dirty="0" err="1" smtClean="0">
                <a:effectLst>
                  <a:outerShdw blurRad="38100" dist="38100" dir="2700000" algn="tl">
                    <a:srgbClr val="000000">
                      <a:alpha val="43137"/>
                    </a:srgbClr>
                  </a:outerShdw>
                </a:effectLst>
              </a:rPr>
              <a:t>igr</a:t>
            </a:r>
            <a:r>
              <a:rPr lang="en-GB" sz="4600" b="1" dirty="0" smtClean="0">
                <a:effectLst>
                  <a:outerShdw blurRad="38100" dist="38100" dir="2700000" algn="tl">
                    <a:srgbClr val="000000">
                      <a:alpha val="43137"/>
                    </a:srgbClr>
                  </a:outerShdw>
                </a:effectLst>
              </a:rPr>
              <a:t> drives, Their impact on the university and action plans to propel </a:t>
            </a:r>
            <a:r>
              <a:rPr lang="en-GB" sz="4600" b="1" dirty="0" err="1" smtClean="0">
                <a:effectLst>
                  <a:outerShdw blurRad="38100" dist="38100" dir="2700000" algn="tl">
                    <a:srgbClr val="000000">
                      <a:alpha val="43137"/>
                    </a:srgbClr>
                  </a:outerShdw>
                </a:effectLst>
              </a:rPr>
              <a:t>eksu</a:t>
            </a:r>
            <a:r>
              <a:rPr lang="en-GB" sz="4600" b="1" dirty="0" smtClean="0">
                <a:effectLst>
                  <a:outerShdw blurRad="38100" dist="38100" dir="2700000" algn="tl">
                    <a:srgbClr val="000000">
                      <a:alpha val="43137"/>
                    </a:srgbClr>
                  </a:outerShdw>
                </a:effectLst>
              </a:rPr>
              <a:t> </a:t>
            </a:r>
            <a:r>
              <a:rPr lang="en-GB" sz="4600" b="1" dirty="0" err="1" smtClean="0">
                <a:effectLst>
                  <a:outerShdw blurRad="38100" dist="38100" dir="2700000" algn="tl">
                    <a:srgbClr val="000000">
                      <a:alpha val="43137"/>
                    </a:srgbClr>
                  </a:outerShdw>
                </a:effectLst>
              </a:rPr>
              <a:t>igr</a:t>
            </a:r>
            <a:r>
              <a:rPr lang="en-GB" sz="4600" b="1" dirty="0" smtClean="0">
                <a:effectLst>
                  <a:outerShdw blurRad="38100" dist="38100" dir="2700000" algn="tl">
                    <a:srgbClr val="000000">
                      <a:alpha val="43137"/>
                    </a:srgbClr>
                  </a:outerShdw>
                </a:effectLst>
              </a:rPr>
              <a:t> initiatives</a:t>
            </a:r>
            <a:endParaRPr lang="en-US" sz="4600" b="1"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2285984" y="6000768"/>
            <a:ext cx="6781816" cy="857256"/>
          </a:xfrm>
        </p:spPr>
        <p:txBody>
          <a:bodyPr>
            <a:normAutofit/>
          </a:bodyPr>
          <a:lstStyle/>
          <a:p>
            <a:pPr algn="r">
              <a:lnSpc>
                <a:spcPct val="70000"/>
              </a:lnSpc>
            </a:pPr>
            <a:r>
              <a:rPr lang="en-GB" b="1" dirty="0" smtClean="0">
                <a:solidFill>
                  <a:schemeClr val="bg1"/>
                </a:solidFill>
                <a:effectLst>
                  <a:outerShdw blurRad="38100" dist="38100" dir="2700000" algn="tl">
                    <a:srgbClr val="000000">
                      <a:alpha val="43137"/>
                    </a:srgbClr>
                  </a:outerShdw>
                </a:effectLst>
              </a:rPr>
              <a:t>PROF. L. K. OLOFINTOYE</a:t>
            </a:r>
          </a:p>
          <a:p>
            <a:pPr algn="r">
              <a:lnSpc>
                <a:spcPct val="70000"/>
              </a:lnSpc>
            </a:pPr>
            <a:r>
              <a:rPr lang="en-GB" b="1" dirty="0" smtClean="0">
                <a:solidFill>
                  <a:schemeClr val="bg1"/>
                </a:solidFill>
                <a:effectLst>
                  <a:outerShdw blurRad="38100" dist="38100" dir="2700000" algn="tl">
                    <a:srgbClr val="000000">
                      <a:alpha val="43137"/>
                    </a:srgbClr>
                  </a:outerShdw>
                </a:effectLst>
              </a:rPr>
              <a:t>DEAN, FACULTY OF SCIENCE</a:t>
            </a:r>
            <a:endParaRPr lang="en-US" b="1" dirty="0">
              <a:solidFill>
                <a:schemeClr val="bg1"/>
              </a:solidFill>
              <a:effectLst>
                <a:outerShdw blurRad="38100" dist="38100" dir="2700000" algn="tl">
                  <a:srgbClr val="000000">
                    <a:alpha val="43137"/>
                  </a:srgbClr>
                </a:outerShdw>
              </a:effectLst>
            </a:endParaRPr>
          </a:p>
        </p:txBody>
      </p:sp>
      <p:pic>
        <p:nvPicPr>
          <p:cNvPr id="4" name="Picture 3" descr="C:\Documents and Settings\Geology\My Documents\EKSU logo 1.png"/>
          <p:cNvPicPr/>
          <p:nvPr/>
        </p:nvPicPr>
        <p:blipFill>
          <a:blip r:embed="rId2"/>
          <a:srcRect/>
          <a:stretch>
            <a:fillRect/>
          </a:stretch>
        </p:blipFill>
        <p:spPr bwMode="auto">
          <a:xfrm>
            <a:off x="4000496" y="142852"/>
            <a:ext cx="1143008" cy="1285884"/>
          </a:xfrm>
          <a:prstGeom prst="rect">
            <a:avLst/>
          </a:prstGeom>
          <a:noFill/>
          <a:ln w="9525">
            <a:noFill/>
            <a:miter lim="800000"/>
            <a:headEnd/>
            <a:tailEnd/>
          </a:ln>
        </p:spPr>
      </p:pic>
    </p:spTree>
  </p:cSld>
  <p:clrMapOvr>
    <a:masterClrMapping/>
  </p:clrMapOvr>
  <p:transition spd="med">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1142976" y="2743200"/>
            <a:ext cx="7123113" cy="1673225"/>
          </a:xfrm>
        </p:spPr>
        <p:txBody>
          <a:bodyPr>
            <a:normAutofit/>
          </a:bodyPr>
          <a:lstStyle/>
          <a:p>
            <a:r>
              <a:rPr lang="en-GB" sz="4000" dirty="0" smtClean="0">
                <a:solidFill>
                  <a:schemeClr val="tx1"/>
                </a:solidFill>
              </a:rPr>
              <a:t>All protocols observed.</a:t>
            </a:r>
          </a:p>
          <a:p>
            <a:pPr>
              <a:buNone/>
            </a:pPr>
            <a:endParaRPr lang="en-GB" sz="4000" dirty="0" smtClean="0">
              <a:solidFill>
                <a:schemeClr val="tx1"/>
              </a:solidFill>
            </a:endParaRPr>
          </a:p>
        </p:txBody>
      </p:sp>
      <p:sp>
        <p:nvSpPr>
          <p:cNvPr id="6" name="Title 1"/>
          <p:cNvSpPr>
            <a:spLocks noGrp="1"/>
          </p:cNvSpPr>
          <p:nvPr>
            <p:ph type="title"/>
          </p:nvPr>
        </p:nvSpPr>
        <p:spPr>
          <a:xfrm>
            <a:off x="163670" y="85724"/>
            <a:ext cx="8766048" cy="1343012"/>
          </a:xfrm>
        </p:spPr>
        <p:txBody>
          <a:bodyPr>
            <a:noAutofit/>
          </a:bodyPr>
          <a:lstStyle/>
          <a:p>
            <a:r>
              <a:rPr lang="en-GB" b="1" dirty="0" smtClean="0">
                <a:solidFill>
                  <a:schemeClr val="tx1"/>
                </a:solidFill>
              </a:rPr>
              <a:t>RESOURCES MOBILIZATION FOR INCREASED IGR</a:t>
            </a:r>
            <a:endParaRPr lang="en-US" b="1" dirty="0">
              <a:solidFill>
                <a:schemeClr val="tx1"/>
              </a:solidFill>
            </a:endParaRPr>
          </a:p>
        </p:txBody>
      </p:sp>
    </p:spTree>
  </p:cSld>
  <p:clrMapOvr>
    <a:masterClrMapping/>
  </p:clrMapOvr>
  <p:transition spd="med">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282" y="71414"/>
            <a:ext cx="8715436" cy="1147762"/>
          </a:xfrm>
        </p:spPr>
        <p:txBody>
          <a:bodyPr anchor="t">
            <a:noAutofit/>
          </a:bodyPr>
          <a:lstStyle/>
          <a:p>
            <a:r>
              <a:rPr lang="en-GB" sz="3600" b="1" dirty="0" smtClean="0"/>
              <a:t>POSITION OF THE FACULTY OF SCIENCE ON THE REVIEW OF EXISTING IGR DRIVES</a:t>
            </a:r>
            <a:br>
              <a:rPr lang="en-GB" sz="3600" b="1" dirty="0" smtClean="0"/>
            </a:br>
            <a:endParaRPr lang="en-US" sz="3600" b="1" dirty="0"/>
          </a:p>
        </p:txBody>
      </p:sp>
      <p:sp>
        <p:nvSpPr>
          <p:cNvPr id="3" name="Content Placeholder 2"/>
          <p:cNvSpPr>
            <a:spLocks noGrp="1"/>
          </p:cNvSpPr>
          <p:nvPr>
            <p:ph sz="quarter" idx="1"/>
          </p:nvPr>
        </p:nvSpPr>
        <p:spPr>
          <a:xfrm>
            <a:off x="214282" y="2285992"/>
            <a:ext cx="8643998" cy="3357586"/>
          </a:xfrm>
        </p:spPr>
        <p:txBody>
          <a:bodyPr>
            <a:normAutofit/>
          </a:bodyPr>
          <a:lstStyle/>
          <a:p>
            <a:pPr>
              <a:buFont typeface="Wingdings" pitchFamily="2" charset="2"/>
              <a:buChar char="q"/>
            </a:pPr>
            <a:r>
              <a:rPr lang="en-GB" sz="3600" dirty="0" smtClean="0"/>
              <a:t>It is paramount at this time to unveil and articulate internally embedded resources in various departments in the Faculty of Science to boost the Internally Generated Revenue of the University.</a:t>
            </a:r>
          </a:p>
          <a:p>
            <a:pPr>
              <a:buFont typeface="Wingdings" pitchFamily="2" charset="2"/>
              <a:buChar char="q"/>
            </a:pPr>
            <a:endParaRPr lang="en-US" sz="3600" dirty="0" smtClean="0"/>
          </a:p>
        </p:txBody>
      </p:sp>
    </p:spTree>
  </p:cSld>
  <p:clrMapOvr>
    <a:masterClrMapping/>
  </p:clrMapOvr>
  <p:transition spd="med">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14282" y="1600200"/>
            <a:ext cx="8715436" cy="4972072"/>
          </a:xfrm>
        </p:spPr>
        <p:txBody>
          <a:bodyPr>
            <a:normAutofit fontScale="92500" lnSpcReduction="20000"/>
          </a:bodyPr>
          <a:lstStyle/>
          <a:p>
            <a:pPr>
              <a:buFont typeface="Wingdings" pitchFamily="2" charset="2"/>
              <a:buChar char="q"/>
            </a:pPr>
            <a:r>
              <a:rPr lang="en-GB" sz="3200" dirty="0" smtClean="0"/>
              <a:t>The only existing IGR Drive in the Faculty has been the IGR accrued from our Part-Time programme in the Institute of Science Laboratory Technology (now Department of Science Laboratory Technology) for some years back.</a:t>
            </a:r>
          </a:p>
          <a:p>
            <a:pPr>
              <a:buFont typeface="Wingdings" pitchFamily="2" charset="2"/>
              <a:buChar char="q"/>
            </a:pPr>
            <a:endParaRPr lang="en-GB" sz="3200" dirty="0" smtClean="0"/>
          </a:p>
          <a:p>
            <a:pPr>
              <a:buFont typeface="Wingdings" pitchFamily="2" charset="2"/>
              <a:buChar char="q"/>
            </a:pPr>
            <a:r>
              <a:rPr lang="en-GB" sz="3200" dirty="0" smtClean="0"/>
              <a:t>The programme is now fragmented into Full-Time B. Sc and Part-Time B. Sc programme.</a:t>
            </a:r>
          </a:p>
          <a:p>
            <a:pPr>
              <a:buNone/>
            </a:pPr>
            <a:endParaRPr lang="en-GB" sz="3200" dirty="0" smtClean="0"/>
          </a:p>
          <a:p>
            <a:pPr>
              <a:buFont typeface="Wingdings" pitchFamily="2" charset="2"/>
              <a:buChar char="q"/>
            </a:pPr>
            <a:r>
              <a:rPr lang="en-GB" sz="3200" dirty="0" smtClean="0"/>
              <a:t>The Part-Time B. Sc programme remains only two sets of students, i.e. 400 level and 500 level.</a:t>
            </a:r>
          </a:p>
        </p:txBody>
      </p:sp>
      <p:sp>
        <p:nvSpPr>
          <p:cNvPr id="4" name="Title 1"/>
          <p:cNvSpPr>
            <a:spLocks noGrp="1"/>
          </p:cNvSpPr>
          <p:nvPr>
            <p:ph type="title"/>
          </p:nvPr>
        </p:nvSpPr>
        <p:spPr>
          <a:xfrm>
            <a:off x="214282" y="66660"/>
            <a:ext cx="8715436" cy="1147762"/>
          </a:xfrm>
        </p:spPr>
        <p:txBody>
          <a:bodyPr anchor="t">
            <a:noAutofit/>
          </a:bodyPr>
          <a:lstStyle/>
          <a:p>
            <a:r>
              <a:rPr lang="en-GB" sz="4000" b="1" dirty="0" smtClean="0"/>
              <a:t>DEPARTMENT OF</a:t>
            </a:r>
            <a:br>
              <a:rPr lang="en-GB" sz="4000" b="1" dirty="0" smtClean="0"/>
            </a:br>
            <a:r>
              <a:rPr lang="en-GB" sz="4000" b="1" dirty="0" smtClean="0"/>
              <a:t>SCIENCE LABORATORY TECHNOLOGY</a:t>
            </a:r>
            <a:br>
              <a:rPr lang="en-GB" sz="4000" b="1" dirty="0" smtClean="0"/>
            </a:br>
            <a:endParaRPr lang="en-US" sz="4000" b="1" dirty="0"/>
          </a:p>
        </p:txBody>
      </p:sp>
    </p:spTree>
  </p:cSld>
  <p:clrMapOvr>
    <a:masterClrMapping/>
  </p:clrMapOvr>
  <p:transition spd="med">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6514" y="1500174"/>
            <a:ext cx="8551766" cy="5257800"/>
          </a:xfrm>
        </p:spPr>
        <p:txBody>
          <a:bodyPr>
            <a:normAutofit lnSpcReduction="10000"/>
          </a:bodyPr>
          <a:lstStyle/>
          <a:p>
            <a:pPr>
              <a:buNone/>
            </a:pPr>
            <a:r>
              <a:rPr lang="en-GB" sz="3200" b="1" dirty="0" smtClean="0"/>
              <a:t>Action Plan</a:t>
            </a:r>
          </a:p>
          <a:p>
            <a:pPr>
              <a:buFont typeface="Wingdings" pitchFamily="2" charset="2"/>
              <a:buChar char="q"/>
            </a:pPr>
            <a:r>
              <a:rPr lang="en-GB" sz="2800" dirty="0" smtClean="0"/>
              <a:t>There is need to re-introduce the Part-Time programme to start from 100 level. If this is done, a quite number of secondary schools laboratory staff would be interested in this programme to upgrade themselves.</a:t>
            </a:r>
          </a:p>
          <a:p>
            <a:pPr>
              <a:buFont typeface="Wingdings" pitchFamily="2" charset="2"/>
              <a:buChar char="q"/>
            </a:pPr>
            <a:endParaRPr lang="en-GB" sz="2800" dirty="0" smtClean="0"/>
          </a:p>
          <a:p>
            <a:pPr>
              <a:buNone/>
            </a:pPr>
            <a:r>
              <a:rPr lang="en-GB" sz="3200" b="1" dirty="0" smtClean="0"/>
              <a:t>Impact</a:t>
            </a:r>
            <a:endParaRPr lang="en-US" sz="3200" b="1" dirty="0" smtClean="0"/>
          </a:p>
          <a:p>
            <a:pPr>
              <a:buFont typeface="Wingdings" pitchFamily="2" charset="2"/>
              <a:buChar char="q"/>
            </a:pPr>
            <a:r>
              <a:rPr lang="en-GB" dirty="0" smtClean="0"/>
              <a:t>This will be a good source of Internally Generated Revenue . For instance, if one student pays N150,000.00, then with at least 100 candidates registered, this will give us N15million per session.</a:t>
            </a:r>
            <a:endParaRPr lang="en-US" dirty="0"/>
          </a:p>
        </p:txBody>
      </p:sp>
      <p:sp>
        <p:nvSpPr>
          <p:cNvPr id="7" name="Title 1"/>
          <p:cNvSpPr>
            <a:spLocks noGrp="1"/>
          </p:cNvSpPr>
          <p:nvPr>
            <p:ph type="title"/>
          </p:nvPr>
        </p:nvSpPr>
        <p:spPr>
          <a:xfrm>
            <a:off x="214282" y="71414"/>
            <a:ext cx="8715436" cy="1147762"/>
          </a:xfrm>
        </p:spPr>
        <p:txBody>
          <a:bodyPr anchor="t">
            <a:noAutofit/>
          </a:bodyPr>
          <a:lstStyle/>
          <a:p>
            <a:r>
              <a:rPr lang="en-GB" sz="4000" dirty="0" smtClean="0"/>
              <a:t>DEPARTMENT OF</a:t>
            </a:r>
            <a:br>
              <a:rPr lang="en-GB" sz="4000" dirty="0" smtClean="0"/>
            </a:br>
            <a:r>
              <a:rPr lang="en-GB" sz="4000" dirty="0" smtClean="0"/>
              <a:t>SCIENCE LABORATORY TECHNOLOGY</a:t>
            </a:r>
            <a:br>
              <a:rPr lang="en-GB" sz="4000" dirty="0" smtClean="0"/>
            </a:br>
            <a:endParaRPr lang="en-US" sz="4000" dirty="0"/>
          </a:p>
        </p:txBody>
      </p:sp>
    </p:spTree>
  </p:cSld>
  <p:clrMapOvr>
    <a:masterClrMapping/>
  </p:clrMapOvr>
  <p:transition spd="med">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1528762"/>
            <a:ext cx="9144000" cy="5329238"/>
          </a:xfrm>
        </p:spPr>
        <p:txBody>
          <a:bodyPr>
            <a:normAutofit/>
          </a:bodyPr>
          <a:lstStyle/>
          <a:p>
            <a:pPr>
              <a:buNone/>
            </a:pPr>
            <a:r>
              <a:rPr lang="en-GB" dirty="0" smtClean="0"/>
              <a:t>	</a:t>
            </a:r>
            <a:r>
              <a:rPr lang="en-GB" b="1" dirty="0" smtClean="0"/>
              <a:t>AVAILABILITY OF ULTRA HIGH PRESSURE LIQUID CHROMATOGRAPHY (UHPLC)</a:t>
            </a:r>
          </a:p>
          <a:p>
            <a:pPr>
              <a:buFont typeface="Wingdings" pitchFamily="2" charset="2"/>
              <a:buChar char="q"/>
            </a:pPr>
            <a:r>
              <a:rPr lang="en-GB" dirty="0" smtClean="0"/>
              <a:t>The instrument is available in the Department of Chemistry</a:t>
            </a:r>
            <a:r>
              <a:rPr lang="en-US" dirty="0" smtClean="0"/>
              <a:t>.</a:t>
            </a:r>
          </a:p>
          <a:p>
            <a:pPr>
              <a:buNone/>
            </a:pPr>
            <a:endParaRPr lang="en-US" dirty="0" smtClean="0"/>
          </a:p>
          <a:p>
            <a:pPr>
              <a:buFont typeface="Wingdings" pitchFamily="2" charset="2"/>
              <a:buChar char="q"/>
            </a:pPr>
            <a:r>
              <a:rPr lang="en-GB" dirty="0" smtClean="0"/>
              <a:t>It is an analytical tool of versatile applications.</a:t>
            </a:r>
          </a:p>
          <a:p>
            <a:pPr>
              <a:buNone/>
            </a:pPr>
            <a:endParaRPr lang="en-GB" dirty="0" smtClean="0"/>
          </a:p>
          <a:p>
            <a:pPr>
              <a:buFont typeface="Wingdings" pitchFamily="2" charset="2"/>
              <a:buChar char="q"/>
            </a:pPr>
            <a:r>
              <a:rPr lang="en-GB" dirty="0" smtClean="0"/>
              <a:t>It is used for complex-sample-</a:t>
            </a:r>
            <a:r>
              <a:rPr lang="en-GB" dirty="0" err="1" smtClean="0"/>
              <a:t>seperation</a:t>
            </a:r>
            <a:r>
              <a:rPr lang="en-GB" dirty="0" smtClean="0"/>
              <a:t>.</a:t>
            </a:r>
          </a:p>
          <a:p>
            <a:pPr>
              <a:buNone/>
            </a:pPr>
            <a:endParaRPr lang="en-GB" dirty="0" smtClean="0"/>
          </a:p>
          <a:p>
            <a:pPr>
              <a:buFont typeface="Wingdings" pitchFamily="2" charset="2"/>
              <a:buChar char="q"/>
            </a:pPr>
            <a:r>
              <a:rPr lang="en-GB" dirty="0" smtClean="0"/>
              <a:t>It is used to analyze medical, environmental and chemical samples</a:t>
            </a:r>
          </a:p>
        </p:txBody>
      </p:sp>
      <p:sp>
        <p:nvSpPr>
          <p:cNvPr id="5" name="Title 1"/>
          <p:cNvSpPr>
            <a:spLocks noGrp="1"/>
          </p:cNvSpPr>
          <p:nvPr>
            <p:ph type="title"/>
          </p:nvPr>
        </p:nvSpPr>
        <p:spPr>
          <a:xfrm>
            <a:off x="214282" y="428604"/>
            <a:ext cx="8715436" cy="714380"/>
          </a:xfrm>
        </p:spPr>
        <p:txBody>
          <a:bodyPr anchor="t">
            <a:noAutofit/>
          </a:bodyPr>
          <a:lstStyle/>
          <a:p>
            <a:r>
              <a:rPr lang="en-GB" sz="4000" b="1" dirty="0" smtClean="0"/>
              <a:t>DEPARTMENT OF CHEMISTRY</a:t>
            </a:r>
            <a:br>
              <a:rPr lang="en-GB" sz="4000" b="1" dirty="0" smtClean="0"/>
            </a:br>
            <a:endParaRPr lang="en-US" sz="4000" b="1" dirty="0"/>
          </a:p>
        </p:txBody>
      </p:sp>
    </p:spTree>
  </p:cSld>
  <p:clrMapOvr>
    <a:masterClrMapping/>
  </p:clrMapOvr>
  <p:transition spd="med">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71406" y="1385886"/>
            <a:ext cx="8929718" cy="5186386"/>
          </a:xfrm>
        </p:spPr>
        <p:txBody>
          <a:bodyPr>
            <a:normAutofit/>
          </a:bodyPr>
          <a:lstStyle/>
          <a:p>
            <a:pPr>
              <a:buFont typeface="Wingdings" pitchFamily="2" charset="2"/>
              <a:buChar char="q"/>
            </a:pPr>
            <a:r>
              <a:rPr lang="en-GB" dirty="0" smtClean="0"/>
              <a:t>It is alarming that several thousands of naira is spent annually by our students in various faculties (e.g., Agricultural Sciences and Science) on analysis of samples for their projects in private analytical laboratories.</a:t>
            </a:r>
          </a:p>
          <a:p>
            <a:pPr>
              <a:buFont typeface="Wingdings" pitchFamily="2" charset="2"/>
              <a:buChar char="q"/>
            </a:pPr>
            <a:endParaRPr lang="en-GB" dirty="0" smtClean="0"/>
          </a:p>
          <a:p>
            <a:pPr>
              <a:buFont typeface="Wingdings" pitchFamily="2" charset="2"/>
              <a:buChar char="q"/>
            </a:pPr>
            <a:r>
              <a:rPr lang="en-GB" dirty="0" smtClean="0"/>
              <a:t>However, the efficiency of this instrument depends on the number of applicable columns available.</a:t>
            </a:r>
          </a:p>
          <a:p>
            <a:pPr>
              <a:buFont typeface="Wingdings" pitchFamily="2" charset="2"/>
              <a:buChar char="q"/>
            </a:pPr>
            <a:endParaRPr lang="en-GB" dirty="0" smtClean="0"/>
          </a:p>
          <a:p>
            <a:pPr>
              <a:buFont typeface="Wingdings" pitchFamily="2" charset="2"/>
              <a:buChar char="q"/>
            </a:pPr>
            <a:r>
              <a:rPr lang="en-GB" dirty="0" smtClean="0"/>
              <a:t>The instrument at the moment has only one (1) column, therefore limiting the types of samples to analyze.</a:t>
            </a:r>
            <a:endParaRPr lang="en-US" dirty="0"/>
          </a:p>
        </p:txBody>
      </p:sp>
      <p:sp>
        <p:nvSpPr>
          <p:cNvPr id="6" name="Title 1"/>
          <p:cNvSpPr>
            <a:spLocks noGrp="1"/>
          </p:cNvSpPr>
          <p:nvPr>
            <p:ph type="title"/>
          </p:nvPr>
        </p:nvSpPr>
        <p:spPr>
          <a:xfrm>
            <a:off x="214282" y="428604"/>
            <a:ext cx="8715436" cy="714380"/>
          </a:xfrm>
        </p:spPr>
        <p:txBody>
          <a:bodyPr anchor="t">
            <a:noAutofit/>
          </a:bodyPr>
          <a:lstStyle/>
          <a:p>
            <a:r>
              <a:rPr lang="en-GB" sz="4000" dirty="0" smtClean="0"/>
              <a:t>DEPARTMENT OF CHEMISTRY</a:t>
            </a:r>
            <a:br>
              <a:rPr lang="en-GB" sz="4000" dirty="0" smtClean="0"/>
            </a:br>
            <a:endParaRPr lang="en-US" sz="4000" dirty="0"/>
          </a:p>
        </p:txBody>
      </p:sp>
    </p:spTree>
  </p:cSld>
  <p:clrMapOvr>
    <a:masterClrMapping/>
  </p:clrMapOvr>
  <p:transition spd="med">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
          </p:nvPr>
        </p:nvSpPr>
        <p:spPr>
          <a:xfrm>
            <a:off x="377952" y="1857364"/>
            <a:ext cx="8551766" cy="5143536"/>
          </a:xfrm>
        </p:spPr>
        <p:txBody>
          <a:bodyPr>
            <a:normAutofit/>
          </a:bodyPr>
          <a:lstStyle/>
          <a:p>
            <a:pPr>
              <a:buNone/>
            </a:pPr>
            <a:r>
              <a:rPr lang="en-GB" sz="3200" b="1" dirty="0" smtClean="0"/>
              <a:t>Action Plan</a:t>
            </a:r>
          </a:p>
          <a:p>
            <a:pPr>
              <a:buFont typeface="Wingdings" pitchFamily="2" charset="2"/>
              <a:buChar char="q"/>
            </a:pPr>
            <a:r>
              <a:rPr lang="en-GB" sz="2800" dirty="0" smtClean="0"/>
              <a:t>There is need to purchase additional columns to enhance the efficiency of the analytical instrument (Table 1).</a:t>
            </a:r>
          </a:p>
          <a:p>
            <a:pPr>
              <a:buFont typeface="Wingdings" pitchFamily="2" charset="2"/>
              <a:buChar char="q"/>
            </a:pPr>
            <a:endParaRPr lang="en-GB" sz="2800" dirty="0" smtClean="0"/>
          </a:p>
          <a:p>
            <a:pPr>
              <a:buNone/>
            </a:pPr>
            <a:r>
              <a:rPr lang="en-GB" sz="3200" b="1" dirty="0" smtClean="0"/>
              <a:t>Impact</a:t>
            </a:r>
            <a:endParaRPr lang="en-US" sz="3200" b="1" dirty="0" smtClean="0"/>
          </a:p>
          <a:p>
            <a:pPr>
              <a:buFont typeface="Wingdings" pitchFamily="2" charset="2"/>
              <a:buChar char="q"/>
            </a:pPr>
            <a:r>
              <a:rPr lang="en-GB" dirty="0" smtClean="0"/>
              <a:t>To promote avenue of having substantial </a:t>
            </a:r>
            <a:r>
              <a:rPr lang="en-GB" sz="3200" dirty="0" smtClean="0"/>
              <a:t>Internally Generated Revenue.</a:t>
            </a:r>
            <a:endParaRPr lang="en-US" dirty="0"/>
          </a:p>
        </p:txBody>
      </p:sp>
      <p:sp>
        <p:nvSpPr>
          <p:cNvPr id="7" name="Title 1"/>
          <p:cNvSpPr>
            <a:spLocks noGrp="1"/>
          </p:cNvSpPr>
          <p:nvPr>
            <p:ph type="title"/>
          </p:nvPr>
        </p:nvSpPr>
        <p:spPr>
          <a:xfrm>
            <a:off x="214282" y="428604"/>
            <a:ext cx="8715436" cy="714380"/>
          </a:xfrm>
        </p:spPr>
        <p:txBody>
          <a:bodyPr anchor="t">
            <a:noAutofit/>
          </a:bodyPr>
          <a:lstStyle/>
          <a:p>
            <a:r>
              <a:rPr lang="en-GB" sz="4000" dirty="0" smtClean="0"/>
              <a:t>DEPARTMENT OF CHEMISTRY</a:t>
            </a:r>
            <a:br>
              <a:rPr lang="en-GB" sz="4000" dirty="0" smtClean="0"/>
            </a:br>
            <a:endParaRPr lang="en-US" sz="4000" dirty="0"/>
          </a:p>
        </p:txBody>
      </p:sp>
    </p:spTree>
  </p:cSld>
  <p:clrMapOvr>
    <a:masterClrMapping/>
  </p:clrMapOvr>
  <p:transition spd="med">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nvPr>
        </p:nvGraphicFramePr>
        <p:xfrm>
          <a:off x="71406" y="1214423"/>
          <a:ext cx="8858280" cy="5469640"/>
        </p:xfrm>
        <a:graphic>
          <a:graphicData uri="http://schemas.openxmlformats.org/drawingml/2006/table">
            <a:tbl>
              <a:tblPr firstRow="1" bandRow="1">
                <a:tableStyleId>{5940675A-B579-460E-94D1-54222C63F5DA}</a:tableStyleId>
              </a:tblPr>
              <a:tblGrid>
                <a:gridCol w="1973090"/>
                <a:gridCol w="2741786"/>
                <a:gridCol w="1928834"/>
                <a:gridCol w="2214570"/>
              </a:tblGrid>
              <a:tr h="360635">
                <a:tc>
                  <a:txBody>
                    <a:bodyPr/>
                    <a:lstStyle/>
                    <a:p>
                      <a:r>
                        <a:rPr lang="en-GB" b="1" dirty="0" smtClean="0"/>
                        <a:t>COLUMN NAME</a:t>
                      </a:r>
                      <a:endParaRPr lang="en-US" b="1" dirty="0"/>
                    </a:p>
                  </a:txBody>
                  <a:tcPr/>
                </a:tc>
                <a:tc>
                  <a:txBody>
                    <a:bodyPr/>
                    <a:lstStyle/>
                    <a:p>
                      <a:r>
                        <a:rPr lang="en-GB" b="1" dirty="0" smtClean="0"/>
                        <a:t>APPLICATION</a:t>
                      </a:r>
                      <a:endParaRPr lang="en-US" b="1" dirty="0"/>
                    </a:p>
                  </a:txBody>
                  <a:tcPr/>
                </a:tc>
                <a:tc>
                  <a:txBody>
                    <a:bodyPr/>
                    <a:lstStyle/>
                    <a:p>
                      <a:r>
                        <a:rPr lang="en-GB" b="1" dirty="0" smtClean="0"/>
                        <a:t>MANUFACTURER</a:t>
                      </a:r>
                      <a:endParaRPr lang="en-US" b="1" dirty="0"/>
                    </a:p>
                  </a:txBody>
                  <a:tcPr/>
                </a:tc>
                <a:tc>
                  <a:txBody>
                    <a:bodyPr/>
                    <a:lstStyle/>
                    <a:p>
                      <a:r>
                        <a:rPr lang="en-GB" b="1" dirty="0" smtClean="0"/>
                        <a:t>COMMENT</a:t>
                      </a:r>
                      <a:endParaRPr lang="en-US" b="1" dirty="0"/>
                    </a:p>
                  </a:txBody>
                  <a:tcPr/>
                </a:tc>
              </a:tr>
              <a:tr h="889238">
                <a:tc>
                  <a:txBody>
                    <a:bodyPr/>
                    <a:lstStyle/>
                    <a:p>
                      <a:r>
                        <a:rPr lang="en-GB" dirty="0" smtClean="0"/>
                        <a:t>Hi-</a:t>
                      </a:r>
                      <a:r>
                        <a:rPr lang="en-GB" dirty="0" err="1" smtClean="0"/>
                        <a:t>Plex</a:t>
                      </a:r>
                      <a:r>
                        <a:rPr lang="en-GB" dirty="0" smtClean="0"/>
                        <a:t> Ca</a:t>
                      </a:r>
                      <a:endParaRPr lang="en-US" dirty="0"/>
                    </a:p>
                  </a:txBody>
                  <a:tcPr/>
                </a:tc>
                <a:tc>
                  <a:txBody>
                    <a:bodyPr/>
                    <a:lstStyle/>
                    <a:p>
                      <a:r>
                        <a:rPr lang="en-GB" dirty="0" smtClean="0"/>
                        <a:t>Analysis of carbohydrate and Organic acids</a:t>
                      </a:r>
                      <a:endParaRPr lang="en-US" dirty="0"/>
                    </a:p>
                  </a:txBody>
                  <a:tcPr/>
                </a:tc>
                <a:tc rowSpan="6">
                  <a:txBody>
                    <a:bodyPr/>
                    <a:lstStyle/>
                    <a:p>
                      <a:pPr algn="ctr"/>
                      <a:r>
                        <a:rPr lang="en-GB" dirty="0" smtClean="0"/>
                        <a:t>Agilent</a:t>
                      </a:r>
                      <a:endParaRPr lang="en-US" dirty="0"/>
                    </a:p>
                  </a:txBody>
                  <a:tcPr/>
                </a:tc>
                <a:tc rowSpan="3">
                  <a:txBody>
                    <a:bodyPr/>
                    <a:lstStyle/>
                    <a:p>
                      <a:r>
                        <a:rPr lang="en-GB" dirty="0" smtClean="0"/>
                        <a:t>Hi-</a:t>
                      </a:r>
                      <a:r>
                        <a:rPr lang="en-GB" dirty="0" err="1" smtClean="0"/>
                        <a:t>Plex</a:t>
                      </a:r>
                      <a:r>
                        <a:rPr lang="en-GB" dirty="0" smtClean="0"/>
                        <a:t> columns are ion exchange or </a:t>
                      </a:r>
                      <a:r>
                        <a:rPr lang="en-GB" dirty="0" err="1" smtClean="0"/>
                        <a:t>ligand</a:t>
                      </a:r>
                      <a:r>
                        <a:rPr lang="en-GB" dirty="0" smtClean="0"/>
                        <a:t> exchange columns used predominantly for the separation of carbohydrates and organic</a:t>
                      </a:r>
                      <a:r>
                        <a:rPr lang="en-GB" baseline="0" dirty="0" smtClean="0"/>
                        <a:t> acids.</a:t>
                      </a:r>
                      <a:endParaRPr lang="en-US" dirty="0"/>
                    </a:p>
                  </a:txBody>
                  <a:tcPr/>
                </a:tc>
              </a:tr>
              <a:tr h="1156008">
                <a:tc>
                  <a:txBody>
                    <a:bodyPr/>
                    <a:lstStyle/>
                    <a:p>
                      <a:r>
                        <a:rPr lang="en-GB" dirty="0" smtClean="0"/>
                        <a:t>Hi-</a:t>
                      </a:r>
                      <a:r>
                        <a:rPr lang="en-GB" dirty="0" err="1" smtClean="0"/>
                        <a:t>Plex</a:t>
                      </a:r>
                      <a:r>
                        <a:rPr lang="en-GB" baseline="0" dirty="0" smtClean="0"/>
                        <a:t> </a:t>
                      </a:r>
                      <a:r>
                        <a:rPr lang="en-GB" baseline="0" dirty="0" err="1" smtClean="0"/>
                        <a:t>Pb</a:t>
                      </a:r>
                      <a:endParaRPr lang="en-US" dirty="0"/>
                    </a:p>
                  </a:txBody>
                  <a:tcPr/>
                </a:tc>
                <a:tc>
                  <a:txBody>
                    <a:bodyPr/>
                    <a:lstStyle/>
                    <a:p>
                      <a:r>
                        <a:rPr lang="en-GB" dirty="0" smtClean="0"/>
                        <a:t>Wood Pulp</a:t>
                      </a:r>
                      <a:r>
                        <a:rPr lang="en-GB" baseline="0" dirty="0" smtClean="0"/>
                        <a:t> </a:t>
                      </a:r>
                      <a:r>
                        <a:rPr lang="en-GB" baseline="0" dirty="0" err="1" smtClean="0"/>
                        <a:t>Hydrolysates</a:t>
                      </a:r>
                      <a:r>
                        <a:rPr lang="en-GB" baseline="0" dirty="0" smtClean="0"/>
                        <a:t> (cellulose/hemi-cellulose)</a:t>
                      </a:r>
                      <a:endParaRPr lang="en-US" dirty="0"/>
                    </a:p>
                  </a:txBody>
                  <a:tcPr/>
                </a:tc>
                <a:tc vMerge="1">
                  <a:txBody>
                    <a:bodyPr/>
                    <a:lstStyle/>
                    <a:p>
                      <a:endParaRPr lang="en-US" dirty="0"/>
                    </a:p>
                  </a:txBody>
                  <a:tcPr/>
                </a:tc>
                <a:tc vMerge="1">
                  <a:txBody>
                    <a:bodyPr/>
                    <a:lstStyle/>
                    <a:p>
                      <a:endParaRPr lang="en-US" dirty="0"/>
                    </a:p>
                  </a:txBody>
                  <a:tcPr/>
                </a:tc>
              </a:tr>
              <a:tr h="622466">
                <a:tc>
                  <a:txBody>
                    <a:bodyPr/>
                    <a:lstStyle/>
                    <a:p>
                      <a:r>
                        <a:rPr lang="en-GB" dirty="0" smtClean="0"/>
                        <a:t>Hi-</a:t>
                      </a:r>
                      <a:r>
                        <a:rPr lang="en-GB" dirty="0" err="1" smtClean="0"/>
                        <a:t>Plex</a:t>
                      </a:r>
                      <a:r>
                        <a:rPr lang="en-GB" dirty="0" smtClean="0"/>
                        <a:t> H</a:t>
                      </a:r>
                      <a:endParaRPr lang="en-US" dirty="0"/>
                    </a:p>
                  </a:txBody>
                  <a:tcPr/>
                </a:tc>
                <a:tc>
                  <a:txBody>
                    <a:bodyPr/>
                    <a:lstStyle/>
                    <a:p>
                      <a:r>
                        <a:rPr lang="en-GB" dirty="0" smtClean="0"/>
                        <a:t>Analysis of sugars in wine</a:t>
                      </a:r>
                      <a:endParaRPr lang="en-US" dirty="0"/>
                    </a:p>
                  </a:txBody>
                  <a:tcPr/>
                </a:tc>
                <a:tc vMerge="1">
                  <a:txBody>
                    <a:bodyPr/>
                    <a:lstStyle/>
                    <a:p>
                      <a:endParaRPr lang="en-US" dirty="0"/>
                    </a:p>
                  </a:txBody>
                  <a:tcPr/>
                </a:tc>
                <a:tc vMerge="1">
                  <a:txBody>
                    <a:bodyPr/>
                    <a:lstStyle/>
                    <a:p>
                      <a:endParaRPr lang="en-US" dirty="0"/>
                    </a:p>
                  </a:txBody>
                  <a:tcPr/>
                </a:tc>
              </a:tr>
              <a:tr h="622466">
                <a:tc>
                  <a:txBody>
                    <a:bodyPr/>
                    <a:lstStyle/>
                    <a:p>
                      <a:r>
                        <a:rPr lang="en-GB" dirty="0" smtClean="0"/>
                        <a:t>ZORBAX Eclipse Plus- C8</a:t>
                      </a:r>
                      <a:endParaRPr lang="en-US" dirty="0"/>
                    </a:p>
                  </a:txBody>
                  <a:tcPr/>
                </a:tc>
                <a:tc>
                  <a:txBody>
                    <a:bodyPr/>
                    <a:lstStyle/>
                    <a:p>
                      <a:r>
                        <a:rPr lang="en-GB" dirty="0" smtClean="0"/>
                        <a:t>Analysis of Plant Extract</a:t>
                      </a:r>
                      <a:endParaRPr lang="en-US" dirty="0"/>
                    </a:p>
                  </a:txBody>
                  <a:tcPr/>
                </a:tc>
                <a:tc vMerge="1">
                  <a:txBody>
                    <a:bodyPr/>
                    <a:lstStyle/>
                    <a:p>
                      <a:endParaRPr lang="en-US" dirty="0"/>
                    </a:p>
                  </a:txBody>
                  <a:tcPr/>
                </a:tc>
                <a:tc>
                  <a:txBody>
                    <a:bodyPr/>
                    <a:lstStyle/>
                    <a:p>
                      <a:r>
                        <a:rPr lang="en-GB" dirty="0" smtClean="0"/>
                        <a:t>Reverses Phase C8 Column</a:t>
                      </a:r>
                      <a:endParaRPr lang="en-US" dirty="0"/>
                    </a:p>
                  </a:txBody>
                  <a:tcPr/>
                </a:tc>
              </a:tr>
              <a:tr h="622466">
                <a:tc>
                  <a:txBody>
                    <a:bodyPr/>
                    <a:lstStyle/>
                    <a:p>
                      <a:r>
                        <a:rPr lang="en-GB" dirty="0" smtClean="0"/>
                        <a:t>Eclipse</a:t>
                      </a:r>
                      <a:r>
                        <a:rPr lang="en-GB" baseline="0" dirty="0" smtClean="0"/>
                        <a:t> RRHT XDB-C8</a:t>
                      </a:r>
                      <a:endParaRPr lang="en-US" dirty="0"/>
                    </a:p>
                  </a:txBody>
                  <a:tcPr/>
                </a:tc>
                <a:tc>
                  <a:txBody>
                    <a:bodyPr/>
                    <a:lstStyle/>
                    <a:p>
                      <a:r>
                        <a:rPr lang="en-GB" dirty="0" smtClean="0"/>
                        <a:t>Analysis of </a:t>
                      </a:r>
                      <a:r>
                        <a:rPr lang="en-GB" dirty="0" err="1" smtClean="0"/>
                        <a:t>Alkylphenones</a:t>
                      </a:r>
                      <a:endParaRPr lang="en-US" dirty="0"/>
                    </a:p>
                  </a:txBody>
                  <a:tcPr/>
                </a:tc>
                <a:tc vMerge="1">
                  <a:txBody>
                    <a:bodyPr/>
                    <a:lstStyle/>
                    <a:p>
                      <a:endParaRPr lang="en-US" dirty="0"/>
                    </a:p>
                  </a:txBody>
                  <a:tcPr/>
                </a:tc>
                <a:tc>
                  <a:txBody>
                    <a:bodyPr/>
                    <a:lstStyle/>
                    <a:p>
                      <a:r>
                        <a:rPr lang="en-GB" dirty="0" smtClean="0"/>
                        <a:t>C8 Column</a:t>
                      </a:r>
                      <a:endParaRPr lang="en-US" dirty="0"/>
                    </a:p>
                  </a:txBody>
                  <a:tcPr/>
                </a:tc>
              </a:tr>
              <a:tr h="1156008">
                <a:tc>
                  <a:txBody>
                    <a:bodyPr/>
                    <a:lstStyle/>
                    <a:p>
                      <a:r>
                        <a:rPr lang="en-GB" dirty="0" smtClean="0"/>
                        <a:t>Polaris C18- A</a:t>
                      </a:r>
                      <a:endParaRPr lang="en-US" dirty="0"/>
                    </a:p>
                  </a:txBody>
                  <a:tcPr/>
                </a:tc>
                <a:tc>
                  <a:txBody>
                    <a:bodyPr/>
                    <a:lstStyle/>
                    <a:p>
                      <a:r>
                        <a:rPr lang="en-GB" dirty="0" smtClean="0"/>
                        <a:t>Analysis of </a:t>
                      </a:r>
                      <a:r>
                        <a:rPr lang="en-GB" dirty="0" err="1" smtClean="0"/>
                        <a:t>Uracil</a:t>
                      </a:r>
                      <a:r>
                        <a:rPr lang="en-GB" dirty="0" smtClean="0"/>
                        <a:t>, caffeine,</a:t>
                      </a:r>
                      <a:r>
                        <a:rPr lang="en-GB" baseline="0" dirty="0" smtClean="0"/>
                        <a:t> phenol, toluene, </a:t>
                      </a:r>
                      <a:r>
                        <a:rPr lang="en-GB" baseline="0" dirty="0" err="1" smtClean="0"/>
                        <a:t>butylbenzene</a:t>
                      </a:r>
                      <a:r>
                        <a:rPr lang="en-GB" baseline="0" dirty="0" smtClean="0"/>
                        <a:t>, etc.</a:t>
                      </a:r>
                      <a:endParaRPr lang="en-US" dirty="0"/>
                    </a:p>
                  </a:txBody>
                  <a:tcPr/>
                </a:tc>
                <a:tc vMerge="1">
                  <a:txBody>
                    <a:bodyPr/>
                    <a:lstStyle/>
                    <a:p>
                      <a:endParaRPr lang="en-US" dirty="0"/>
                    </a:p>
                  </a:txBody>
                  <a:tcPr/>
                </a:tc>
                <a:tc>
                  <a:txBody>
                    <a:bodyPr/>
                    <a:lstStyle/>
                    <a:p>
                      <a:r>
                        <a:rPr lang="en-GB" dirty="0" smtClean="0"/>
                        <a:t>C-18 Column</a:t>
                      </a:r>
                      <a:endParaRPr lang="en-US" dirty="0"/>
                    </a:p>
                  </a:txBody>
                  <a:tcPr/>
                </a:tc>
              </a:tr>
            </a:tbl>
          </a:graphicData>
        </a:graphic>
      </p:graphicFrame>
      <p:sp>
        <p:nvSpPr>
          <p:cNvPr id="5" name="Title 3"/>
          <p:cNvSpPr>
            <a:spLocks noGrp="1"/>
          </p:cNvSpPr>
          <p:nvPr>
            <p:ph type="title"/>
          </p:nvPr>
        </p:nvSpPr>
        <p:spPr>
          <a:xfrm>
            <a:off x="142844" y="357166"/>
            <a:ext cx="8858280" cy="500066"/>
          </a:xfrm>
        </p:spPr>
        <p:txBody>
          <a:bodyPr anchor="t">
            <a:noAutofit/>
          </a:bodyPr>
          <a:lstStyle/>
          <a:p>
            <a:r>
              <a:rPr lang="en-GB" sz="2800" dirty="0" smtClean="0">
                <a:solidFill>
                  <a:schemeClr val="tx1"/>
                </a:solidFill>
              </a:rPr>
              <a:t>Table 1: Relevant Columns suggested to be purchased</a:t>
            </a:r>
            <a:br>
              <a:rPr lang="en-GB" sz="2800" dirty="0" smtClean="0">
                <a:solidFill>
                  <a:schemeClr val="tx1"/>
                </a:solidFill>
              </a:rPr>
            </a:br>
            <a:endParaRPr lang="en-US" sz="2800" dirty="0">
              <a:solidFill>
                <a:schemeClr val="tx1"/>
              </a:solidFill>
            </a:endParaRPr>
          </a:p>
        </p:txBody>
      </p:sp>
    </p:spTree>
  </p:cSld>
  <p:clrMapOvr>
    <a:masterClrMapping/>
  </p:clrMapOvr>
  <p:transition spd="med">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1428736"/>
            <a:ext cx="9144000" cy="5429264"/>
          </a:xfrm>
        </p:spPr>
        <p:txBody>
          <a:bodyPr>
            <a:normAutofit lnSpcReduction="10000"/>
          </a:bodyPr>
          <a:lstStyle/>
          <a:p>
            <a:pPr>
              <a:buNone/>
            </a:pPr>
            <a:r>
              <a:rPr lang="en-GB" dirty="0" smtClean="0"/>
              <a:t>	A.	</a:t>
            </a:r>
            <a:r>
              <a:rPr lang="en-GB" b="1" dirty="0" smtClean="0"/>
              <a:t>BOTANICAL/BIOLOGICAL GARDEN</a:t>
            </a:r>
          </a:p>
          <a:p>
            <a:pPr>
              <a:buFont typeface="Wingdings" pitchFamily="2" charset="2"/>
              <a:buChar char="q"/>
            </a:pPr>
            <a:r>
              <a:rPr lang="en-GB" dirty="0" smtClean="0"/>
              <a:t>Botanical Garden is a unit that maintains the living plant collections of different varieties including ornamental and cultivated plants, wild, medicinal, of economic importance with special interest in the following ways:</a:t>
            </a:r>
          </a:p>
          <a:p>
            <a:pPr>
              <a:buFont typeface="Wingdings" pitchFamily="2" charset="2"/>
              <a:buChar char="q"/>
            </a:pPr>
            <a:endParaRPr lang="en-GB" dirty="0" smtClean="0"/>
          </a:p>
          <a:p>
            <a:pPr lvl="1">
              <a:buFont typeface="Wingdings" pitchFamily="2" charset="2"/>
              <a:buChar char="q"/>
            </a:pPr>
            <a:r>
              <a:rPr lang="en-GB" sz="2800" dirty="0" smtClean="0"/>
              <a:t>These are of values to the Botanists, Horticulturist, Foresters and also millions of Tourists.</a:t>
            </a:r>
          </a:p>
          <a:p>
            <a:pPr>
              <a:buNone/>
            </a:pPr>
            <a:endParaRPr lang="en-GB" sz="3200" dirty="0" smtClean="0"/>
          </a:p>
          <a:p>
            <a:pPr lvl="1">
              <a:buFont typeface="Wingdings" pitchFamily="2" charset="2"/>
              <a:buChar char="q"/>
            </a:pPr>
            <a:r>
              <a:rPr lang="en-GB" sz="2800" dirty="0" smtClean="0"/>
              <a:t>These play vital roles in Taxonomic studies for students and researchers, Botanical research Conservation, Aesthetic, Recreation and Commercial Tree Nursery.</a:t>
            </a:r>
          </a:p>
        </p:txBody>
      </p:sp>
      <p:sp>
        <p:nvSpPr>
          <p:cNvPr id="5" name="Title 1"/>
          <p:cNvSpPr>
            <a:spLocks noGrp="1"/>
          </p:cNvSpPr>
          <p:nvPr>
            <p:ph type="title"/>
          </p:nvPr>
        </p:nvSpPr>
        <p:spPr>
          <a:xfrm>
            <a:off x="214282" y="428604"/>
            <a:ext cx="8715436" cy="714380"/>
          </a:xfrm>
        </p:spPr>
        <p:txBody>
          <a:bodyPr anchor="t">
            <a:noAutofit/>
          </a:bodyPr>
          <a:lstStyle/>
          <a:p>
            <a:r>
              <a:rPr lang="en-GB" sz="4000" b="1" dirty="0" smtClean="0"/>
              <a:t>DEPARTMENT OF PLANT SCIENCE</a:t>
            </a:r>
            <a:br>
              <a:rPr lang="en-GB" sz="4000" b="1" dirty="0" smtClean="0"/>
            </a:br>
            <a:endParaRPr lang="en-US" sz="4000" b="1" dirty="0"/>
          </a:p>
        </p:txBody>
      </p:sp>
    </p:spTree>
  </p:cSld>
  <p:clrMapOvr>
    <a:masterClrMapping/>
  </p:clrMapOvr>
  <p:transition spd="med">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2" y="1428736"/>
            <a:ext cx="9144000" cy="5257800"/>
          </a:xfrm>
        </p:spPr>
        <p:txBody>
          <a:bodyPr>
            <a:normAutofit/>
          </a:bodyPr>
          <a:lstStyle/>
          <a:p>
            <a:pPr lvl="1">
              <a:buFont typeface="Wingdings" pitchFamily="2" charset="2"/>
              <a:buChar char="q"/>
            </a:pPr>
            <a:r>
              <a:rPr lang="en-GB" sz="2800" b="1" dirty="0" smtClean="0"/>
              <a:t>Action plans</a:t>
            </a:r>
          </a:p>
          <a:p>
            <a:pPr lvl="1">
              <a:buFont typeface="Wingdings" pitchFamily="2" charset="2"/>
              <a:buChar char="q"/>
            </a:pPr>
            <a:r>
              <a:rPr lang="en-GB" sz="2800" dirty="0" smtClean="0"/>
              <a:t> Production </a:t>
            </a:r>
            <a:r>
              <a:rPr lang="en-GB" sz="2800" dirty="0" smtClean="0"/>
              <a:t>and marketing of evergreen trees and shrubs, fruit trees, seedlings, and rooted cuttings, perennial flowers, forest seedlings, deciduous trees and shrubs.</a:t>
            </a:r>
          </a:p>
          <a:p>
            <a:pPr>
              <a:buFont typeface="Wingdings" pitchFamily="2" charset="2"/>
              <a:buChar char="q"/>
            </a:pPr>
            <a:endParaRPr lang="en-GB" sz="3200" dirty="0" smtClean="0"/>
          </a:p>
          <a:p>
            <a:pPr lvl="1">
              <a:buFont typeface="Wingdings" pitchFamily="2" charset="2"/>
              <a:buChar char="q"/>
            </a:pPr>
            <a:r>
              <a:rPr lang="en-GB" sz="2800" dirty="0" smtClean="0"/>
              <a:t>These plants can be sold to retail outlets, garden centres, landscape contractors and mass merchandisers.</a:t>
            </a:r>
          </a:p>
          <a:p>
            <a:pPr>
              <a:buFont typeface="Wingdings" pitchFamily="2" charset="2"/>
              <a:buChar char="q"/>
            </a:pPr>
            <a:endParaRPr lang="en-GB" sz="3200" dirty="0" smtClean="0"/>
          </a:p>
          <a:p>
            <a:pPr lvl="1">
              <a:buFont typeface="Wingdings" pitchFamily="2" charset="2"/>
              <a:buChar char="q"/>
            </a:pPr>
            <a:r>
              <a:rPr lang="en-GB" sz="2800" dirty="0" smtClean="0"/>
              <a:t>Plant Identification/Authentication is a good source of internally generated revenue for the University.</a:t>
            </a:r>
          </a:p>
        </p:txBody>
      </p:sp>
      <p:sp>
        <p:nvSpPr>
          <p:cNvPr id="6" name="Title 1"/>
          <p:cNvSpPr>
            <a:spLocks noGrp="1"/>
          </p:cNvSpPr>
          <p:nvPr>
            <p:ph type="title"/>
          </p:nvPr>
        </p:nvSpPr>
        <p:spPr>
          <a:xfrm>
            <a:off x="214282" y="428604"/>
            <a:ext cx="8715436" cy="714380"/>
          </a:xfrm>
        </p:spPr>
        <p:txBody>
          <a:bodyPr anchor="t">
            <a:noAutofit/>
          </a:bodyPr>
          <a:lstStyle/>
          <a:p>
            <a:r>
              <a:rPr lang="en-GB" sz="4000" dirty="0" smtClean="0"/>
              <a:t>DEPARTMENT OF PLANT SCIENCE</a:t>
            </a:r>
            <a:br>
              <a:rPr lang="en-GB" sz="4000" dirty="0" smtClean="0"/>
            </a:br>
            <a:endParaRPr lang="en-US" sz="4000" dirty="0"/>
          </a:p>
        </p:txBody>
      </p:sp>
    </p:spTree>
  </p:cSld>
  <p:clrMapOvr>
    <a:masterClrMapping/>
  </p:clrMapOvr>
  <p:transition spd="med">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1428736"/>
            <a:ext cx="9144000" cy="4900634"/>
          </a:xfrm>
        </p:spPr>
        <p:txBody>
          <a:bodyPr>
            <a:normAutofit/>
          </a:bodyPr>
          <a:lstStyle/>
          <a:p>
            <a:pPr>
              <a:buFont typeface="Wingdings" pitchFamily="2" charset="2"/>
              <a:buChar char="q"/>
            </a:pPr>
            <a:r>
              <a:rPr lang="en-GB" sz="3200" dirty="0" smtClean="0"/>
              <a:t>B.	Short-term Training/Workshop in the following 	areas:</a:t>
            </a:r>
          </a:p>
          <a:p>
            <a:pPr lvl="1">
              <a:buFont typeface="Wingdings" pitchFamily="2" charset="2"/>
              <a:buChar char="q"/>
            </a:pPr>
            <a:r>
              <a:rPr lang="en-GB" sz="2800" dirty="0" err="1" smtClean="0"/>
              <a:t>Phtyomedicine</a:t>
            </a:r>
            <a:endParaRPr lang="en-GB" sz="2800" dirty="0" smtClean="0"/>
          </a:p>
          <a:p>
            <a:pPr lvl="1">
              <a:buFont typeface="Wingdings" pitchFamily="2" charset="2"/>
              <a:buChar char="q"/>
            </a:pPr>
            <a:r>
              <a:rPr lang="en-GB" sz="2800" dirty="0" smtClean="0"/>
              <a:t>Timber Merchants/Wood Utilisation</a:t>
            </a:r>
          </a:p>
          <a:p>
            <a:pPr lvl="1">
              <a:buFont typeface="Wingdings" pitchFamily="2" charset="2"/>
              <a:buChar char="q"/>
            </a:pPr>
            <a:r>
              <a:rPr lang="en-GB" sz="2800" dirty="0" smtClean="0"/>
              <a:t>Landscape Horticulture</a:t>
            </a:r>
            <a:endParaRPr lang="en-US" sz="2800" dirty="0"/>
          </a:p>
        </p:txBody>
      </p:sp>
      <p:sp>
        <p:nvSpPr>
          <p:cNvPr id="6" name="Title 1"/>
          <p:cNvSpPr txBox="1">
            <a:spLocks/>
          </p:cNvSpPr>
          <p:nvPr/>
        </p:nvSpPr>
        <p:spPr>
          <a:xfrm>
            <a:off x="214282" y="428604"/>
            <a:ext cx="8715436" cy="714380"/>
          </a:xfrm>
          <a:prstGeom prst="rect">
            <a:avLst/>
          </a:prstGeom>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4000" b="0" i="0" u="none" strike="noStrike" kern="1200" cap="none" spc="0" normalizeH="0" baseline="0" noProof="0" dirty="0" smtClean="0">
                <a:ln>
                  <a:noFill/>
                </a:ln>
                <a:solidFill>
                  <a:schemeClr val="tx2"/>
                </a:solidFill>
                <a:effectLst/>
                <a:uLnTx/>
                <a:uFillTx/>
                <a:latin typeface="+mj-lt"/>
                <a:ea typeface="+mj-ea"/>
                <a:cs typeface="+mj-cs"/>
              </a:rPr>
              <a:t>DEPARTMENT OF PLANT SCIENCE</a:t>
            </a:r>
            <a:br>
              <a:rPr kumimoji="0" lang="en-GB" sz="4000" b="0" i="0" u="none" strike="noStrike" kern="1200" cap="none" spc="0" normalizeH="0" baseline="0" noProof="0" dirty="0" smtClean="0">
                <a:ln>
                  <a:noFill/>
                </a:ln>
                <a:solidFill>
                  <a:schemeClr val="tx2"/>
                </a:solidFill>
                <a:effectLst/>
                <a:uLnTx/>
                <a:uFillTx/>
                <a:latin typeface="+mj-lt"/>
                <a:ea typeface="+mj-ea"/>
                <a:cs typeface="+mj-cs"/>
              </a:rPr>
            </a:br>
            <a:endParaRPr kumimoji="0" lang="en-US" sz="40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spd="med">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714356"/>
            <a:ext cx="9358346" cy="5715040"/>
          </a:xfrm>
        </p:spPr>
        <p:txBody>
          <a:bodyPr>
            <a:normAutofit lnSpcReduction="10000"/>
          </a:bodyPr>
          <a:lstStyle/>
          <a:p>
            <a:pPr>
              <a:buFont typeface="Wingdings" pitchFamily="2" charset="2"/>
              <a:buChar char="q"/>
            </a:pPr>
            <a:r>
              <a:rPr lang="en-GB" dirty="0" smtClean="0"/>
              <a:t>The training may attract the following;</a:t>
            </a:r>
          </a:p>
          <a:p>
            <a:pPr>
              <a:buNone/>
            </a:pPr>
            <a:endParaRPr lang="en-GB" dirty="0" smtClean="0"/>
          </a:p>
          <a:p>
            <a:pPr lvl="1">
              <a:buFont typeface="Wingdings" pitchFamily="2" charset="2"/>
              <a:buChar char="q"/>
            </a:pPr>
            <a:r>
              <a:rPr lang="en-GB" dirty="0" smtClean="0"/>
              <a:t>A 1-3 day training/workshop			10,000.00</a:t>
            </a:r>
          </a:p>
          <a:p>
            <a:pPr lvl="1">
              <a:buFont typeface="Wingdings" pitchFamily="2" charset="2"/>
              <a:buChar char="q"/>
            </a:pPr>
            <a:r>
              <a:rPr lang="en-GB" dirty="0" smtClean="0"/>
              <a:t>One week					30,000.00</a:t>
            </a:r>
          </a:p>
          <a:p>
            <a:pPr lvl="1">
              <a:buFont typeface="Wingdings" pitchFamily="2" charset="2"/>
              <a:buChar char="q"/>
            </a:pPr>
            <a:r>
              <a:rPr lang="en-GB" dirty="0" smtClean="0"/>
              <a:t>2 weeks						40,000.00</a:t>
            </a:r>
          </a:p>
          <a:p>
            <a:pPr lvl="1">
              <a:buFont typeface="Wingdings" pitchFamily="2" charset="2"/>
              <a:buChar char="q"/>
            </a:pPr>
            <a:r>
              <a:rPr lang="en-GB" dirty="0" smtClean="0"/>
              <a:t>3 weeks						50,000.00</a:t>
            </a:r>
          </a:p>
          <a:p>
            <a:pPr lvl="1">
              <a:buFont typeface="Wingdings" pitchFamily="2" charset="2"/>
              <a:buChar char="q"/>
            </a:pPr>
            <a:r>
              <a:rPr lang="en-GB" dirty="0" smtClean="0"/>
              <a:t>One month					60,000.00</a:t>
            </a:r>
          </a:p>
          <a:p>
            <a:pPr lvl="1">
              <a:buFont typeface="Wingdings" pitchFamily="2" charset="2"/>
              <a:buChar char="q"/>
            </a:pPr>
            <a:r>
              <a:rPr lang="en-GB" dirty="0" smtClean="0"/>
              <a:t>Two months					100,000.00</a:t>
            </a:r>
          </a:p>
          <a:p>
            <a:pPr lvl="1">
              <a:buFont typeface="Wingdings" pitchFamily="2" charset="2"/>
              <a:buChar char="q"/>
            </a:pPr>
            <a:r>
              <a:rPr lang="en-GB" dirty="0" smtClean="0"/>
              <a:t>Three months					200,000.00</a:t>
            </a:r>
          </a:p>
          <a:p>
            <a:pPr lvl="1">
              <a:buFont typeface="Wingdings" pitchFamily="2" charset="2"/>
              <a:buChar char="q"/>
            </a:pPr>
            <a:r>
              <a:rPr lang="en-GB" dirty="0" smtClean="0"/>
              <a:t>Four months					250,000.00</a:t>
            </a:r>
          </a:p>
          <a:p>
            <a:pPr lvl="1">
              <a:buFont typeface="Wingdings" pitchFamily="2" charset="2"/>
              <a:buChar char="q"/>
            </a:pPr>
            <a:r>
              <a:rPr lang="en-GB" dirty="0" smtClean="0"/>
              <a:t>Five months					300,000.00</a:t>
            </a:r>
          </a:p>
          <a:p>
            <a:pPr lvl="1">
              <a:buFont typeface="Wingdings" pitchFamily="2" charset="2"/>
              <a:buChar char="q"/>
            </a:pPr>
            <a:r>
              <a:rPr lang="en-GB" dirty="0" smtClean="0"/>
              <a:t>Six months					350,000.00</a:t>
            </a:r>
            <a:endParaRPr lang="en-US" dirty="0"/>
          </a:p>
        </p:txBody>
      </p:sp>
    </p:spTree>
  </p:cSld>
  <p:clrMapOvr>
    <a:masterClrMapping/>
  </p:clrMapOvr>
  <p:transition spd="med">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
          </p:nvPr>
        </p:nvSpPr>
        <p:spPr>
          <a:xfrm>
            <a:off x="0" y="1500174"/>
            <a:ext cx="9144000" cy="5000660"/>
          </a:xfrm>
        </p:spPr>
        <p:txBody>
          <a:bodyPr>
            <a:normAutofit/>
          </a:bodyPr>
          <a:lstStyle/>
          <a:p>
            <a:pPr marL="273050" lvl="1" indent="-273050">
              <a:buNone/>
            </a:pPr>
            <a:r>
              <a:rPr lang="en-GB" sz="2800" dirty="0" smtClean="0"/>
              <a:t>The </a:t>
            </a:r>
            <a:r>
              <a:rPr lang="en-GB" sz="2800" dirty="0" smtClean="0"/>
              <a:t>following programmes are viable areas of generating revenue for the University;</a:t>
            </a:r>
          </a:p>
          <a:p>
            <a:pPr marL="273050" lvl="1" indent="-273050">
              <a:buFont typeface="Wingdings" pitchFamily="2" charset="2"/>
              <a:buChar char="q"/>
            </a:pPr>
            <a:r>
              <a:rPr lang="en-GB" sz="2800" dirty="0" smtClean="0"/>
              <a:t>Diploma or Certificate courses in Computer Science with special packaging directed towards a particular profession or sector of the Industry.</a:t>
            </a:r>
          </a:p>
          <a:p>
            <a:pPr lvl="2">
              <a:buFont typeface="Wingdings" pitchFamily="2" charset="2"/>
              <a:buChar char="q"/>
            </a:pPr>
            <a:r>
              <a:rPr lang="en-GB" sz="2400" dirty="0" smtClean="0"/>
              <a:t>SPSS, the Social and Management Science.</a:t>
            </a:r>
          </a:p>
          <a:p>
            <a:pPr lvl="2">
              <a:buFont typeface="Wingdings" pitchFamily="2" charset="2"/>
              <a:buChar char="q"/>
            </a:pPr>
            <a:r>
              <a:rPr lang="en-GB" sz="2400" dirty="0" smtClean="0"/>
              <a:t>Microsoft Professional for Secretary and Management Staff</a:t>
            </a:r>
          </a:p>
          <a:p>
            <a:pPr lvl="2">
              <a:buFont typeface="Wingdings" pitchFamily="2" charset="2"/>
              <a:buChar char="q"/>
            </a:pPr>
            <a:r>
              <a:rPr lang="en-GB" sz="2400" dirty="0" err="1" smtClean="0"/>
              <a:t>AutoCard</a:t>
            </a:r>
            <a:r>
              <a:rPr lang="en-GB" sz="2400" dirty="0" smtClean="0"/>
              <a:t> </a:t>
            </a:r>
            <a:r>
              <a:rPr lang="en-GB" sz="2400" dirty="0" smtClean="0"/>
              <a:t>for Engineers</a:t>
            </a:r>
          </a:p>
          <a:p>
            <a:pPr lvl="2">
              <a:buFont typeface="Wingdings" pitchFamily="2" charset="2"/>
              <a:buChar char="q"/>
            </a:pPr>
            <a:r>
              <a:rPr lang="en-GB" sz="2400" dirty="0" smtClean="0"/>
              <a:t>Photoshop for printers</a:t>
            </a:r>
          </a:p>
          <a:p>
            <a:pPr marL="320040" lvl="1" indent="-320040">
              <a:spcBef>
                <a:spcPts val="700"/>
              </a:spcBef>
              <a:buClr>
                <a:schemeClr val="accent2"/>
              </a:buClr>
              <a:buSzPct val="60000"/>
              <a:buFont typeface="Wingdings" pitchFamily="2" charset="2"/>
              <a:buChar char="q"/>
            </a:pPr>
            <a:r>
              <a:rPr lang="en-GB" sz="2800" dirty="0" smtClean="0"/>
              <a:t>Diploma in Statistics for middle level manpower in the ministries with emphasis on the statistical packages.</a:t>
            </a:r>
          </a:p>
        </p:txBody>
      </p:sp>
      <p:sp>
        <p:nvSpPr>
          <p:cNvPr id="7" name="Title 1"/>
          <p:cNvSpPr txBox="1">
            <a:spLocks/>
          </p:cNvSpPr>
          <p:nvPr/>
        </p:nvSpPr>
        <p:spPr>
          <a:xfrm>
            <a:off x="214282" y="71414"/>
            <a:ext cx="8715436" cy="1214446"/>
          </a:xfrm>
          <a:prstGeom prst="rect">
            <a:avLst/>
          </a:prstGeom>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4000" b="1" i="0" u="none" strike="noStrike" kern="1200" cap="none" spc="0" normalizeH="0" baseline="0" noProof="0" dirty="0" smtClean="0">
                <a:ln>
                  <a:noFill/>
                </a:ln>
                <a:solidFill>
                  <a:schemeClr val="tx2"/>
                </a:solidFill>
                <a:effectLst/>
                <a:uLnTx/>
                <a:uFillTx/>
                <a:latin typeface="+mj-lt"/>
                <a:ea typeface="+mj-ea"/>
                <a:cs typeface="+mj-cs"/>
              </a:rPr>
              <a:t>DEPARTMENT OF</a:t>
            </a:r>
            <a:endParaRPr lang="en-GB" sz="4000" b="1" baseline="0" dirty="0" smtClean="0">
              <a:solidFill>
                <a:schemeClr val="tx2"/>
              </a:solidFill>
              <a:latin typeface="+mj-lt"/>
              <a:ea typeface="+mj-ea"/>
              <a:cs typeface="+mj-cs"/>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4000" b="1" i="0" u="none" strike="noStrike" kern="1200" cap="none" spc="0" normalizeH="0" baseline="0" noProof="0" dirty="0" smtClean="0">
                <a:ln>
                  <a:noFill/>
                </a:ln>
                <a:solidFill>
                  <a:schemeClr val="tx2"/>
                </a:solidFill>
                <a:effectLst/>
                <a:uLnTx/>
                <a:uFillTx/>
                <a:latin typeface="+mj-lt"/>
                <a:ea typeface="+mj-ea"/>
                <a:cs typeface="+mj-cs"/>
              </a:rPr>
              <a:t>MATHEMATICAL SCIENCES</a:t>
            </a:r>
            <a:br>
              <a:rPr kumimoji="0" lang="en-GB" sz="4000" b="1" i="0" u="none" strike="noStrike" kern="1200" cap="none" spc="0" normalizeH="0" baseline="0" noProof="0" dirty="0" smtClean="0">
                <a:ln>
                  <a:noFill/>
                </a:ln>
                <a:solidFill>
                  <a:schemeClr val="tx2"/>
                </a:solidFill>
                <a:effectLst/>
                <a:uLnTx/>
                <a:uFillTx/>
                <a:latin typeface="+mj-lt"/>
                <a:ea typeface="+mj-ea"/>
                <a:cs typeface="+mj-cs"/>
              </a:rPr>
            </a:br>
            <a:endParaRPr kumimoji="0" lang="en-US" sz="4000" b="1"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spd="med">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1428760"/>
            <a:ext cx="9144032" cy="5429240"/>
          </a:xfrm>
        </p:spPr>
        <p:txBody>
          <a:bodyPr>
            <a:noAutofit/>
          </a:bodyPr>
          <a:lstStyle/>
          <a:p>
            <a:pPr>
              <a:buNone/>
            </a:pPr>
            <a:r>
              <a:rPr lang="en-GB" sz="2500" dirty="0" smtClean="0"/>
              <a:t>	</a:t>
            </a:r>
            <a:r>
              <a:rPr lang="en-GB" sz="2500" dirty="0" smtClean="0"/>
              <a:t>There </a:t>
            </a:r>
            <a:r>
              <a:rPr lang="en-GB" sz="2500" dirty="0" smtClean="0"/>
              <a:t>are two areas of viable sources of Internally Generated Revenue:</a:t>
            </a:r>
          </a:p>
          <a:p>
            <a:pPr>
              <a:buFont typeface="Wingdings" pitchFamily="2" charset="2"/>
              <a:buChar char="q"/>
            </a:pPr>
            <a:r>
              <a:rPr lang="en-GB" sz="2500" dirty="0" smtClean="0"/>
              <a:t>1. Setting up of a Micro-quarry is a viable source of generating revenue. However, it will involve the following:</a:t>
            </a:r>
          </a:p>
          <a:p>
            <a:pPr lvl="1">
              <a:buFont typeface="Wingdings" pitchFamily="2" charset="2"/>
              <a:buChar char="q"/>
            </a:pPr>
            <a:r>
              <a:rPr lang="en-GB" sz="2500" dirty="0" smtClean="0"/>
              <a:t>To carry out systematic mapping of the proposed study area 1:50,000 and produce a detailed geological map of the area.</a:t>
            </a:r>
          </a:p>
          <a:p>
            <a:pPr lvl="1">
              <a:buFont typeface="Wingdings" pitchFamily="2" charset="2"/>
              <a:buChar char="q"/>
            </a:pPr>
            <a:r>
              <a:rPr lang="en-GB" sz="2500" dirty="0" smtClean="0"/>
              <a:t>To carry out detailed </a:t>
            </a:r>
            <a:r>
              <a:rPr lang="en-GB" sz="2500" dirty="0" err="1" smtClean="0"/>
              <a:t>petrological</a:t>
            </a:r>
            <a:r>
              <a:rPr lang="en-GB" sz="2500" dirty="0" smtClean="0"/>
              <a:t> studies to determine mineralogical composition of the mapped crystalline rocks in the area.</a:t>
            </a:r>
          </a:p>
          <a:p>
            <a:pPr lvl="1">
              <a:buFont typeface="Wingdings" pitchFamily="2" charset="2"/>
              <a:buChar char="q"/>
            </a:pPr>
            <a:r>
              <a:rPr lang="en-GB" sz="2500" dirty="0" smtClean="0"/>
              <a:t>To carry out geochemical analysis of fresh rock samples to obtain their chemical composition (SiO</a:t>
            </a:r>
            <a:r>
              <a:rPr lang="en-GB" sz="2500" baseline="-25000" dirty="0" smtClean="0"/>
              <a:t>2</a:t>
            </a:r>
            <a:r>
              <a:rPr lang="en-GB" sz="2500" dirty="0" smtClean="0"/>
              <a:t>, Al</a:t>
            </a:r>
            <a:r>
              <a:rPr lang="en-GB" sz="2500" baseline="-25000" dirty="0" smtClean="0"/>
              <a:t>2</a:t>
            </a:r>
            <a:r>
              <a:rPr lang="en-GB" sz="2500" dirty="0" smtClean="0"/>
              <a:t>O</a:t>
            </a:r>
            <a:r>
              <a:rPr lang="en-GB" sz="2500" baseline="-25000" dirty="0" smtClean="0"/>
              <a:t>3</a:t>
            </a:r>
            <a:r>
              <a:rPr lang="en-GB" sz="2500" dirty="0" smtClean="0"/>
              <a:t>, Fe</a:t>
            </a:r>
            <a:r>
              <a:rPr lang="en-GB" sz="2500" baseline="-25000" dirty="0" smtClean="0"/>
              <a:t>2</a:t>
            </a:r>
            <a:r>
              <a:rPr lang="en-GB" sz="2500" dirty="0" smtClean="0"/>
              <a:t>O</a:t>
            </a:r>
            <a:r>
              <a:rPr lang="en-GB" sz="2500" baseline="-25000" dirty="0" smtClean="0"/>
              <a:t>3</a:t>
            </a:r>
            <a:r>
              <a:rPr lang="en-GB" sz="2500" dirty="0" smtClean="0"/>
              <a:t>, </a:t>
            </a:r>
            <a:r>
              <a:rPr lang="en-GB" sz="2500" dirty="0" err="1" smtClean="0"/>
              <a:t>MnO</a:t>
            </a:r>
            <a:r>
              <a:rPr lang="en-GB" sz="2500" dirty="0" smtClean="0"/>
              <a:t>, </a:t>
            </a:r>
            <a:r>
              <a:rPr lang="en-GB" sz="2500" dirty="0" err="1" smtClean="0"/>
              <a:t>CaO</a:t>
            </a:r>
            <a:r>
              <a:rPr lang="en-GB" sz="2500" dirty="0" smtClean="0"/>
              <a:t>, </a:t>
            </a:r>
            <a:r>
              <a:rPr lang="en-GB" sz="2500" dirty="0" err="1" smtClean="0"/>
              <a:t>MgO</a:t>
            </a:r>
            <a:r>
              <a:rPr lang="en-GB" sz="2500" dirty="0" smtClean="0"/>
              <a:t>, Na</a:t>
            </a:r>
            <a:r>
              <a:rPr lang="en-GB" sz="2500" baseline="-25000" dirty="0" smtClean="0"/>
              <a:t>2</a:t>
            </a:r>
            <a:r>
              <a:rPr lang="en-GB" sz="2500" dirty="0" smtClean="0"/>
              <a:t>O, K</a:t>
            </a:r>
            <a:r>
              <a:rPr lang="en-GB" sz="2500" baseline="-25000" dirty="0" smtClean="0"/>
              <a:t>2</a:t>
            </a:r>
            <a:r>
              <a:rPr lang="en-GB" sz="2500" dirty="0" smtClean="0"/>
              <a:t>O, TiO</a:t>
            </a:r>
            <a:r>
              <a:rPr lang="en-GB" sz="2500" baseline="-25000" dirty="0" smtClean="0"/>
              <a:t>2</a:t>
            </a:r>
            <a:r>
              <a:rPr lang="en-GB" sz="2500" dirty="0" smtClean="0"/>
              <a:t> and P</a:t>
            </a:r>
            <a:r>
              <a:rPr lang="en-GB" sz="2500" baseline="-25000" dirty="0" smtClean="0"/>
              <a:t>2</a:t>
            </a:r>
            <a:r>
              <a:rPr lang="en-GB" sz="2500" dirty="0" smtClean="0"/>
              <a:t>O</a:t>
            </a:r>
            <a:r>
              <a:rPr lang="en-GB" sz="2500" baseline="-25000" dirty="0" smtClean="0"/>
              <a:t>5</a:t>
            </a:r>
            <a:r>
              <a:rPr lang="en-GB" sz="2500" dirty="0" smtClean="0"/>
              <a:t>) and to determine other possible uses of the rocks based on their geochemical composition.</a:t>
            </a:r>
            <a:endParaRPr lang="en-US" sz="2500" baseline="-25000" dirty="0"/>
          </a:p>
        </p:txBody>
      </p:sp>
      <p:sp>
        <p:nvSpPr>
          <p:cNvPr id="7" name="Title 1"/>
          <p:cNvSpPr txBox="1">
            <a:spLocks/>
          </p:cNvSpPr>
          <p:nvPr/>
        </p:nvSpPr>
        <p:spPr>
          <a:xfrm>
            <a:off x="214282" y="428604"/>
            <a:ext cx="8715436" cy="714380"/>
          </a:xfrm>
          <a:prstGeom prst="rect">
            <a:avLst/>
          </a:prstGeom>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4000" b="1" i="0" u="none" strike="noStrike" kern="1200" cap="none" spc="0" normalizeH="0" baseline="0" noProof="0" dirty="0" smtClean="0">
                <a:ln>
                  <a:noFill/>
                </a:ln>
                <a:solidFill>
                  <a:schemeClr val="tx2"/>
                </a:solidFill>
                <a:effectLst/>
                <a:uLnTx/>
                <a:uFillTx/>
                <a:latin typeface="+mj-lt"/>
                <a:ea typeface="+mj-ea"/>
                <a:cs typeface="+mj-cs"/>
              </a:rPr>
              <a:t>DEPARTMENT OF GEOLOGY</a:t>
            </a:r>
            <a:br>
              <a:rPr kumimoji="0" lang="en-GB" sz="4000" b="1" i="0" u="none" strike="noStrike" kern="1200" cap="none" spc="0" normalizeH="0" baseline="0" noProof="0" dirty="0" smtClean="0">
                <a:ln>
                  <a:noFill/>
                </a:ln>
                <a:solidFill>
                  <a:schemeClr val="tx2"/>
                </a:solidFill>
                <a:effectLst/>
                <a:uLnTx/>
                <a:uFillTx/>
                <a:latin typeface="+mj-lt"/>
                <a:ea typeface="+mj-ea"/>
                <a:cs typeface="+mj-cs"/>
              </a:rPr>
            </a:br>
            <a:endParaRPr kumimoji="0" lang="en-US" sz="4000" b="1"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spd="med">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0" y="357167"/>
            <a:ext cx="9144000" cy="6072229"/>
          </a:xfrm>
        </p:spPr>
        <p:txBody>
          <a:bodyPr>
            <a:noAutofit/>
          </a:bodyPr>
          <a:lstStyle/>
          <a:p>
            <a:pPr>
              <a:buFont typeface="Wingdings" pitchFamily="2" charset="2"/>
              <a:buChar char="q"/>
            </a:pPr>
            <a:r>
              <a:rPr lang="en-GB" sz="3200" dirty="0" smtClean="0"/>
              <a:t>To come up with calculated reserve of the crystalline rocks of economic interest and determine annual output and life span of the outcrop.</a:t>
            </a:r>
          </a:p>
          <a:p>
            <a:pPr>
              <a:buFont typeface="Wingdings" pitchFamily="2" charset="2"/>
              <a:buChar char="q"/>
            </a:pPr>
            <a:endParaRPr lang="en-GB" sz="3200" dirty="0" smtClean="0"/>
          </a:p>
          <a:p>
            <a:pPr>
              <a:buFont typeface="Wingdings" pitchFamily="2" charset="2"/>
              <a:buChar char="q"/>
            </a:pPr>
            <a:r>
              <a:rPr lang="en-GB" sz="3200" dirty="0" smtClean="0"/>
              <a:t>Machines needed: these include crusher, grinding and washing machine, and beneficiation machine.</a:t>
            </a:r>
          </a:p>
          <a:p>
            <a:pPr>
              <a:buFont typeface="Wingdings" pitchFamily="2" charset="2"/>
              <a:buChar char="q"/>
            </a:pPr>
            <a:endParaRPr lang="en-GB" sz="3200" dirty="0" smtClean="0"/>
          </a:p>
          <a:p>
            <a:pPr>
              <a:buFont typeface="Wingdings" pitchFamily="2" charset="2"/>
              <a:buChar char="q"/>
            </a:pPr>
            <a:r>
              <a:rPr lang="en-GB" sz="3200" dirty="0" smtClean="0"/>
              <a:t>The cost of these machines will depend on the size and output and could be readily obtained from their manufacturers. Conservative estimate is about 3million naira only.</a:t>
            </a:r>
            <a:endParaRPr lang="en-US" sz="3200" dirty="0"/>
          </a:p>
        </p:txBody>
      </p:sp>
    </p:spTree>
  </p:cSld>
  <p:clrMapOvr>
    <a:masterClrMapping/>
  </p:clrMapOvr>
  <p:transition spd="med">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63670" y="66660"/>
            <a:ext cx="8766048" cy="1219200"/>
          </a:xfrm>
        </p:spPr>
        <p:txBody>
          <a:bodyPr anchor="t">
            <a:noAutofit/>
          </a:bodyPr>
          <a:lstStyle/>
          <a:p>
            <a:r>
              <a:rPr lang="en-GB" sz="3200" dirty="0" smtClean="0">
                <a:solidFill>
                  <a:schemeClr val="tx1"/>
                </a:solidFill>
              </a:rPr>
              <a:t>2. Viability of the Use of Geological/Geophysical Equipment for revenue generating consulting services</a:t>
            </a:r>
            <a:br>
              <a:rPr lang="en-GB" sz="3200" dirty="0" smtClean="0">
                <a:solidFill>
                  <a:schemeClr val="tx1"/>
                </a:solidFill>
              </a:rPr>
            </a:br>
            <a:endParaRPr lang="en-US" sz="3200" dirty="0">
              <a:solidFill>
                <a:schemeClr val="tx1"/>
              </a:solidFill>
            </a:endParaRPr>
          </a:p>
        </p:txBody>
      </p:sp>
      <p:sp>
        <p:nvSpPr>
          <p:cNvPr id="3" name="Content Placeholder 2"/>
          <p:cNvSpPr>
            <a:spLocks noGrp="1"/>
          </p:cNvSpPr>
          <p:nvPr>
            <p:ph sz="quarter" idx="1"/>
          </p:nvPr>
        </p:nvSpPr>
        <p:spPr>
          <a:xfrm>
            <a:off x="0" y="1385910"/>
            <a:ext cx="9144000" cy="5257800"/>
          </a:xfrm>
        </p:spPr>
        <p:txBody>
          <a:bodyPr>
            <a:normAutofit/>
          </a:bodyPr>
          <a:lstStyle/>
          <a:p>
            <a:pPr>
              <a:buFont typeface="Wingdings" pitchFamily="2" charset="2"/>
              <a:buChar char="q"/>
            </a:pPr>
            <a:r>
              <a:rPr lang="en-GB" sz="3200" dirty="0" smtClean="0"/>
              <a:t>These include:</a:t>
            </a:r>
          </a:p>
          <a:p>
            <a:pPr lvl="1">
              <a:buFont typeface="Wingdings" pitchFamily="2" charset="2"/>
              <a:buChar char="q"/>
            </a:pPr>
            <a:r>
              <a:rPr lang="en-GB" sz="2800" dirty="0" smtClean="0"/>
              <a:t>Geophysical and Geological investigations for groundwater and auxiliary water facilities location for individuals and private or public corporate organisations.</a:t>
            </a:r>
          </a:p>
          <a:p>
            <a:pPr lvl="1">
              <a:buNone/>
            </a:pPr>
            <a:endParaRPr lang="en-GB" sz="2800" dirty="0" smtClean="0"/>
          </a:p>
          <a:p>
            <a:pPr lvl="1">
              <a:buFont typeface="Wingdings" pitchFamily="2" charset="2"/>
              <a:buChar char="q"/>
            </a:pPr>
            <a:r>
              <a:rPr lang="en-GB" sz="2800" dirty="0" smtClean="0"/>
              <a:t>Geophysical and Geological investigations for metallic and non-metallic minerals deposit location, quantification and associated services for individuals and private or public corporate organisations.</a:t>
            </a:r>
            <a:endParaRPr lang="en-US" sz="2800" dirty="0"/>
          </a:p>
        </p:txBody>
      </p:sp>
    </p:spTree>
  </p:cSld>
  <p:clrMapOvr>
    <a:masterClrMapping/>
  </p:clrMapOvr>
  <p:transition spd="med">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1357298"/>
            <a:ext cx="8766048" cy="5257800"/>
          </a:xfrm>
        </p:spPr>
        <p:txBody>
          <a:bodyPr>
            <a:normAutofit/>
          </a:bodyPr>
          <a:lstStyle/>
          <a:p>
            <a:pPr lvl="1">
              <a:buFont typeface="Wingdings" pitchFamily="2" charset="2"/>
              <a:buChar char="q"/>
            </a:pPr>
            <a:r>
              <a:rPr lang="en-GB" sz="3200" dirty="0" smtClean="0"/>
              <a:t>Geophysical and Geological investigations for Environmental Impact Assessment (EIA) of a project or activity and associated services for individuals and private or public corporate organizations.</a:t>
            </a:r>
          </a:p>
          <a:p>
            <a:pPr lvl="1">
              <a:buFont typeface="Wingdings" pitchFamily="2" charset="2"/>
              <a:buChar char="q"/>
            </a:pPr>
            <a:endParaRPr lang="en-GB" sz="3200" dirty="0" smtClean="0"/>
          </a:p>
          <a:p>
            <a:pPr lvl="1">
              <a:buFont typeface="Wingdings" pitchFamily="2" charset="2"/>
              <a:buChar char="q"/>
            </a:pPr>
            <a:r>
              <a:rPr lang="en-GB" sz="3200" dirty="0" smtClean="0"/>
              <a:t>Geotechnical site investigation, foundation investigation and route locations.</a:t>
            </a:r>
            <a:endParaRPr lang="en-US" sz="3200" dirty="0"/>
          </a:p>
        </p:txBody>
      </p:sp>
      <p:sp>
        <p:nvSpPr>
          <p:cNvPr id="5" name="Title 1"/>
          <p:cNvSpPr txBox="1">
            <a:spLocks/>
          </p:cNvSpPr>
          <p:nvPr/>
        </p:nvSpPr>
        <p:spPr>
          <a:xfrm>
            <a:off x="214282" y="428604"/>
            <a:ext cx="8715436" cy="714380"/>
          </a:xfrm>
          <a:prstGeom prst="rect">
            <a:avLst/>
          </a:prstGeom>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4000" i="0" u="none" strike="noStrike" kern="1200" cap="none" spc="0" normalizeH="0" baseline="0" noProof="0" dirty="0" smtClean="0">
                <a:ln>
                  <a:noFill/>
                </a:ln>
                <a:solidFill>
                  <a:schemeClr val="tx2"/>
                </a:solidFill>
                <a:effectLst/>
                <a:uLnTx/>
                <a:uFillTx/>
                <a:latin typeface="+mj-lt"/>
                <a:ea typeface="+mj-ea"/>
                <a:cs typeface="+mj-cs"/>
              </a:rPr>
              <a:t>DEPARTMENT OF GEOLOGY</a:t>
            </a:r>
            <a:br>
              <a:rPr kumimoji="0" lang="en-GB" sz="4000" i="0" u="none" strike="noStrike" kern="1200" cap="none" spc="0" normalizeH="0" baseline="0" noProof="0" dirty="0" smtClean="0">
                <a:ln>
                  <a:noFill/>
                </a:ln>
                <a:solidFill>
                  <a:schemeClr val="tx2"/>
                </a:solidFill>
                <a:effectLst/>
                <a:uLnTx/>
                <a:uFillTx/>
                <a:latin typeface="+mj-lt"/>
                <a:ea typeface="+mj-ea"/>
                <a:cs typeface="+mj-cs"/>
              </a:rPr>
            </a:br>
            <a:endParaRPr kumimoji="0" lang="en-US" sz="400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spd="med">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
          </p:nvPr>
        </p:nvSpPr>
        <p:spPr>
          <a:xfrm>
            <a:off x="92264" y="-24"/>
            <a:ext cx="8980330" cy="6429420"/>
          </a:xfrm>
        </p:spPr>
        <p:txBody>
          <a:bodyPr>
            <a:normAutofit/>
          </a:bodyPr>
          <a:lstStyle/>
          <a:p>
            <a:pPr>
              <a:buFont typeface="Wingdings" pitchFamily="2" charset="2"/>
              <a:buChar char="q"/>
            </a:pPr>
            <a:r>
              <a:rPr lang="en-GB" dirty="0" smtClean="0"/>
              <a:t>However, to proffer solutions on how </a:t>
            </a:r>
            <a:r>
              <a:rPr lang="en-GB" dirty="0" smtClean="0"/>
              <a:t>this can be actualised to generate revenue</a:t>
            </a:r>
            <a:r>
              <a:rPr lang="en-GB" dirty="0" smtClean="0"/>
              <a:t>, it is suggested that the </a:t>
            </a:r>
            <a:r>
              <a:rPr lang="en-GB" dirty="0" smtClean="0"/>
              <a:t>following equipment  be provided</a:t>
            </a:r>
            <a:endParaRPr lang="en-GB" dirty="0" smtClean="0"/>
          </a:p>
          <a:p>
            <a:pPr>
              <a:buNone/>
            </a:pPr>
            <a:r>
              <a:rPr lang="en-GB" dirty="0" smtClean="0"/>
              <a:t>								Naira</a:t>
            </a:r>
          </a:p>
          <a:p>
            <a:pPr lvl="1">
              <a:buFont typeface="Wingdings" pitchFamily="2" charset="2"/>
              <a:buChar char="q"/>
            </a:pPr>
            <a:r>
              <a:rPr lang="en-GB" dirty="0" err="1" smtClean="0"/>
              <a:t>Terrameter</a:t>
            </a:r>
            <a:r>
              <a:rPr lang="en-GB" dirty="0" smtClean="0"/>
              <a:t>					200,000</a:t>
            </a:r>
          </a:p>
          <a:p>
            <a:pPr lvl="1">
              <a:buFont typeface="Wingdings" pitchFamily="2" charset="2"/>
              <a:buChar char="q"/>
            </a:pPr>
            <a:r>
              <a:rPr lang="en-GB" dirty="0" smtClean="0"/>
              <a:t>WADI VLF Detector				10,000</a:t>
            </a:r>
          </a:p>
          <a:p>
            <a:pPr lvl="1">
              <a:buFont typeface="Wingdings" pitchFamily="2" charset="2"/>
              <a:buChar char="q"/>
            </a:pPr>
            <a:r>
              <a:rPr lang="en-GB" dirty="0" smtClean="0"/>
              <a:t>GPS						2,000</a:t>
            </a:r>
          </a:p>
          <a:p>
            <a:pPr lvl="1">
              <a:buFont typeface="Wingdings" pitchFamily="2" charset="2"/>
              <a:buChar char="q"/>
            </a:pPr>
            <a:r>
              <a:rPr lang="en-GB" dirty="0" smtClean="0"/>
              <a:t>Seismograph					10,000</a:t>
            </a:r>
          </a:p>
          <a:p>
            <a:pPr lvl="1">
              <a:buFont typeface="Wingdings" pitchFamily="2" charset="2"/>
              <a:buChar char="q"/>
            </a:pPr>
            <a:r>
              <a:rPr lang="en-GB" dirty="0" smtClean="0"/>
              <a:t>2 Garmin-GPS Map, 64st 2.6”				Handled (Built-in Bluetooth)			450 each</a:t>
            </a:r>
          </a:p>
          <a:p>
            <a:pPr lvl="1">
              <a:buFont typeface="Wingdings" pitchFamily="2" charset="2"/>
              <a:buChar char="q"/>
            </a:pPr>
            <a:r>
              <a:rPr lang="en-GB" dirty="0" smtClean="0"/>
              <a:t>Grain Size Comparator (Pack of 5)		26</a:t>
            </a:r>
          </a:p>
          <a:p>
            <a:pPr lvl="1">
              <a:buFont typeface="Wingdings" pitchFamily="2" charset="2"/>
              <a:buChar char="q"/>
            </a:pPr>
            <a:r>
              <a:rPr lang="en-GB" dirty="0" smtClean="0"/>
              <a:t>Digital camera					250</a:t>
            </a:r>
          </a:p>
          <a:p>
            <a:pPr lvl="1">
              <a:buFont typeface="Wingdings" pitchFamily="2" charset="2"/>
              <a:buChar char="q"/>
            </a:pPr>
            <a:r>
              <a:rPr lang="en-GB" dirty="0" smtClean="0"/>
              <a:t>Field Vehicle (Toyota </a:t>
            </a:r>
            <a:r>
              <a:rPr lang="en-GB" dirty="0" err="1" smtClean="0"/>
              <a:t>Hilux</a:t>
            </a:r>
            <a:r>
              <a:rPr lang="en-GB" dirty="0" smtClean="0"/>
              <a:t>)			4,800,000</a:t>
            </a:r>
            <a:endParaRPr lang="en-US" dirty="0"/>
          </a:p>
        </p:txBody>
      </p:sp>
    </p:spTree>
  </p:cSld>
  <p:clrMapOvr>
    <a:masterClrMapping/>
  </p:clrMapOvr>
  <p:transition spd="med">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
          </p:nvPr>
        </p:nvSpPr>
        <p:spPr>
          <a:xfrm>
            <a:off x="0" y="1500174"/>
            <a:ext cx="9144000" cy="4786346"/>
          </a:xfrm>
        </p:spPr>
        <p:txBody>
          <a:bodyPr>
            <a:normAutofit/>
          </a:bodyPr>
          <a:lstStyle/>
          <a:p>
            <a:pPr marL="320040" lvl="1" indent="-320040">
              <a:spcBef>
                <a:spcPts val="700"/>
              </a:spcBef>
              <a:buClr>
                <a:schemeClr val="accent2"/>
              </a:buClr>
              <a:buSzPct val="60000"/>
              <a:buNone/>
            </a:pPr>
            <a:r>
              <a:rPr lang="en-GB" sz="3200" dirty="0" smtClean="0"/>
              <a:t>	In Microbiology, the following revenue yielding productions are feasible;</a:t>
            </a:r>
          </a:p>
          <a:p>
            <a:pPr marL="320040" lvl="1" indent="-320040">
              <a:spcBef>
                <a:spcPts val="700"/>
              </a:spcBef>
              <a:buClr>
                <a:schemeClr val="accent2"/>
              </a:buClr>
              <a:buSzPct val="60000"/>
              <a:buFont typeface="Wingdings" pitchFamily="2" charset="2"/>
              <a:buChar char="q"/>
            </a:pPr>
            <a:r>
              <a:rPr lang="en-GB" sz="3200" dirty="0" smtClean="0"/>
              <a:t>Production of </a:t>
            </a:r>
            <a:r>
              <a:rPr lang="en-GB" sz="3200" dirty="0" smtClean="0"/>
              <a:t>Yoghurt( EKSU YOGHURT)</a:t>
            </a:r>
            <a:endParaRPr lang="en-GB" sz="3200" dirty="0" smtClean="0"/>
          </a:p>
          <a:p>
            <a:pPr marL="320040" lvl="1" indent="-320040">
              <a:spcBef>
                <a:spcPts val="700"/>
              </a:spcBef>
              <a:buClr>
                <a:schemeClr val="accent2"/>
              </a:buClr>
              <a:buSzPct val="60000"/>
              <a:buFont typeface="Wingdings" pitchFamily="2" charset="2"/>
              <a:buChar char="q"/>
            </a:pPr>
            <a:r>
              <a:rPr lang="en-GB" sz="3200" dirty="0" smtClean="0"/>
              <a:t>Production of “</a:t>
            </a:r>
            <a:r>
              <a:rPr lang="en-GB" sz="3200" dirty="0" err="1" smtClean="0"/>
              <a:t>Iru</a:t>
            </a:r>
            <a:r>
              <a:rPr lang="en-GB" sz="3200" dirty="0" smtClean="0"/>
              <a:t>”</a:t>
            </a:r>
          </a:p>
          <a:p>
            <a:pPr>
              <a:buFont typeface="Wingdings" pitchFamily="2" charset="2"/>
              <a:buChar char="q"/>
            </a:pPr>
            <a:r>
              <a:rPr lang="en-GB" sz="3200" dirty="0" err="1" smtClean="0"/>
              <a:t>Tempeh</a:t>
            </a:r>
            <a:r>
              <a:rPr lang="en-GB" sz="3200" dirty="0" smtClean="0"/>
              <a:t> Production</a:t>
            </a:r>
          </a:p>
          <a:p>
            <a:pPr>
              <a:buFont typeface="Wingdings" pitchFamily="2" charset="2"/>
              <a:buChar char="q"/>
            </a:pPr>
            <a:r>
              <a:rPr lang="en-GB" sz="3200" dirty="0" smtClean="0"/>
              <a:t>Mushroom Production</a:t>
            </a:r>
          </a:p>
          <a:p>
            <a:pPr>
              <a:buFont typeface="Wingdings" pitchFamily="2" charset="2"/>
              <a:buChar char="q"/>
            </a:pPr>
            <a:r>
              <a:rPr lang="en-GB" sz="3200" dirty="0" smtClean="0"/>
              <a:t>API20E Kit panel for Microbial Identification</a:t>
            </a:r>
            <a:endParaRPr lang="en-US" sz="3200" dirty="0"/>
          </a:p>
        </p:txBody>
      </p:sp>
      <p:sp>
        <p:nvSpPr>
          <p:cNvPr id="6" name="Title 1"/>
          <p:cNvSpPr txBox="1">
            <a:spLocks/>
          </p:cNvSpPr>
          <p:nvPr/>
        </p:nvSpPr>
        <p:spPr>
          <a:xfrm>
            <a:off x="214282" y="428604"/>
            <a:ext cx="8715436" cy="714380"/>
          </a:xfrm>
          <a:prstGeom prst="rect">
            <a:avLst/>
          </a:prstGeom>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4000" b="1" i="0" u="none" strike="noStrike" kern="1200" cap="none" spc="0" normalizeH="0" baseline="0" noProof="0" dirty="0" smtClean="0">
                <a:ln>
                  <a:noFill/>
                </a:ln>
                <a:solidFill>
                  <a:schemeClr val="tx2"/>
                </a:solidFill>
                <a:effectLst/>
                <a:uLnTx/>
                <a:uFillTx/>
                <a:latin typeface="+mj-lt"/>
                <a:ea typeface="+mj-ea"/>
                <a:cs typeface="+mj-cs"/>
              </a:rPr>
              <a:t>DEPARTMENT OF MICROBIOLOGY</a:t>
            </a:r>
            <a:br>
              <a:rPr kumimoji="0" lang="en-GB" sz="4000" b="1" i="0" u="none" strike="noStrike" kern="1200" cap="none" spc="0" normalizeH="0" baseline="0" noProof="0" dirty="0" smtClean="0">
                <a:ln>
                  <a:noFill/>
                </a:ln>
                <a:solidFill>
                  <a:schemeClr val="tx2"/>
                </a:solidFill>
                <a:effectLst/>
                <a:uLnTx/>
                <a:uFillTx/>
                <a:latin typeface="+mj-lt"/>
                <a:ea typeface="+mj-ea"/>
                <a:cs typeface="+mj-cs"/>
              </a:rPr>
            </a:br>
            <a:endParaRPr kumimoji="0" lang="en-US" sz="4000" b="1"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spd="med">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
          </p:nvPr>
        </p:nvSpPr>
        <p:spPr>
          <a:xfrm>
            <a:off x="0" y="1785926"/>
            <a:ext cx="9144000" cy="4786346"/>
          </a:xfrm>
        </p:spPr>
        <p:txBody>
          <a:bodyPr>
            <a:normAutofit/>
          </a:bodyPr>
          <a:lstStyle/>
          <a:p>
            <a:pPr marL="320040" lvl="1" indent="-320040">
              <a:spcBef>
                <a:spcPts val="700"/>
              </a:spcBef>
              <a:buClr>
                <a:schemeClr val="accent2"/>
              </a:buClr>
              <a:buSzPct val="60000"/>
              <a:buNone/>
            </a:pPr>
            <a:endParaRPr lang="en-GB" sz="3200" dirty="0" smtClean="0"/>
          </a:p>
          <a:p>
            <a:pPr marL="320040" lvl="1" indent="-320040">
              <a:spcBef>
                <a:spcPts val="700"/>
              </a:spcBef>
              <a:buClr>
                <a:schemeClr val="accent2"/>
              </a:buClr>
              <a:buSzPct val="60000"/>
              <a:buFont typeface="Wingdings" pitchFamily="2" charset="2"/>
              <a:buChar char="q"/>
            </a:pPr>
            <a:r>
              <a:rPr lang="en-GB" sz="3200" dirty="0" smtClean="0"/>
              <a:t>Projects and research sample analysis could be done on environmental analysis of soil and other samples. Our students go out of the University to carry out lab tests and pay N1,500 per sample, for an average of 30 samples per student. Such analysis, for a minimum of 20 students per session, will amount to N900,000.</a:t>
            </a:r>
          </a:p>
          <a:p>
            <a:pPr marL="320040" lvl="1" indent="-320040">
              <a:spcBef>
                <a:spcPts val="700"/>
              </a:spcBef>
              <a:buClr>
                <a:schemeClr val="accent2"/>
              </a:buClr>
              <a:buSzPct val="60000"/>
              <a:buNone/>
            </a:pPr>
            <a:endParaRPr lang="en-GB" sz="3200" dirty="0" smtClean="0"/>
          </a:p>
        </p:txBody>
      </p:sp>
      <p:sp>
        <p:nvSpPr>
          <p:cNvPr id="8" name="Title 1"/>
          <p:cNvSpPr txBox="1">
            <a:spLocks/>
          </p:cNvSpPr>
          <p:nvPr/>
        </p:nvSpPr>
        <p:spPr>
          <a:xfrm>
            <a:off x="214282" y="428604"/>
            <a:ext cx="8715436" cy="714380"/>
          </a:xfrm>
          <a:prstGeom prst="rect">
            <a:avLst/>
          </a:prstGeom>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4000" b="1" i="0" u="none" strike="noStrike" kern="1200" cap="none" spc="0" normalizeH="0" baseline="0" noProof="0" dirty="0" smtClean="0">
                <a:ln>
                  <a:noFill/>
                </a:ln>
                <a:solidFill>
                  <a:schemeClr val="tx2"/>
                </a:solidFill>
                <a:effectLst/>
                <a:uLnTx/>
                <a:uFillTx/>
                <a:latin typeface="+mj-lt"/>
                <a:ea typeface="+mj-ea"/>
                <a:cs typeface="+mj-cs"/>
              </a:rPr>
              <a:t>DEPARTMENT OF PHYSICS</a:t>
            </a:r>
            <a:br>
              <a:rPr kumimoji="0" lang="en-GB" sz="4000" b="1" i="0" u="none" strike="noStrike" kern="1200" cap="none" spc="0" normalizeH="0" baseline="0" noProof="0" dirty="0" smtClean="0">
                <a:ln>
                  <a:noFill/>
                </a:ln>
                <a:solidFill>
                  <a:schemeClr val="tx2"/>
                </a:solidFill>
                <a:effectLst/>
                <a:uLnTx/>
                <a:uFillTx/>
                <a:latin typeface="+mj-lt"/>
                <a:ea typeface="+mj-ea"/>
                <a:cs typeface="+mj-cs"/>
              </a:rPr>
            </a:br>
            <a:endParaRPr kumimoji="0" lang="en-US" sz="4000" b="1"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spd="med">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nvPr>
        </p:nvGraphicFramePr>
        <p:xfrm>
          <a:off x="71406" y="1957389"/>
          <a:ext cx="8929719" cy="4686321"/>
        </p:xfrm>
        <a:graphic>
          <a:graphicData uri="http://schemas.openxmlformats.org/drawingml/2006/table">
            <a:tbl>
              <a:tblPr firstRow="1" bandRow="1">
                <a:tableStyleId>{5940675A-B579-460E-94D1-54222C63F5DA}</a:tableStyleId>
              </a:tblPr>
              <a:tblGrid>
                <a:gridCol w="2976573"/>
                <a:gridCol w="2976573"/>
                <a:gridCol w="2976573"/>
              </a:tblGrid>
              <a:tr h="1353826">
                <a:tc>
                  <a:txBody>
                    <a:bodyPr/>
                    <a:lstStyle/>
                    <a:p>
                      <a:pPr algn="l"/>
                      <a:r>
                        <a:rPr lang="en-GB" sz="2400" b="1" dirty="0" smtClean="0"/>
                        <a:t>EQUIPMENT</a:t>
                      </a:r>
                      <a:endParaRPr lang="en-US" sz="2400" b="1" dirty="0"/>
                    </a:p>
                  </a:txBody>
                  <a:tcPr marL="81534" marR="81534"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GB" sz="2400" b="1" dirty="0" smtClean="0"/>
                        <a:t>AVERAGE</a:t>
                      </a:r>
                      <a:r>
                        <a:rPr lang="en-GB" sz="2400" b="1" baseline="0" dirty="0" smtClean="0"/>
                        <a:t> COST (naira)</a:t>
                      </a:r>
                      <a:endParaRPr lang="en-US" sz="2400" b="1" dirty="0"/>
                    </a:p>
                  </a:txBody>
                  <a:tcPr marL="81534" marR="81534"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GB" sz="2400" b="1" dirty="0" smtClean="0"/>
                        <a:t>ESTIMATED</a:t>
                      </a:r>
                      <a:r>
                        <a:rPr lang="en-GB" sz="2400" b="1" baseline="0" dirty="0" smtClean="0"/>
                        <a:t> ANNUAL INCOME (naira)</a:t>
                      </a:r>
                      <a:endParaRPr lang="en-US" sz="2400" b="1" dirty="0"/>
                    </a:p>
                  </a:txBody>
                  <a:tcPr marL="81534" marR="81534" anchor="ctr">
                    <a:lnL w="12700" cmpd="sng">
                      <a:noFill/>
                    </a:lnL>
                    <a:lnR w="12700" cmpd="sng">
                      <a:noFill/>
                    </a:lnR>
                    <a:lnT w="12700" cmpd="sng">
                      <a:noFill/>
                    </a:lnT>
                    <a:lnB w="12700" cmpd="sng">
                      <a:noFill/>
                    </a:lnB>
                    <a:lnTlToBr w="12700" cmpd="sng">
                      <a:noFill/>
                      <a:prstDash val="solid"/>
                    </a:lnTlToBr>
                    <a:lnBlToTr w="12700" cmpd="sng">
                      <a:noFill/>
                      <a:prstDash val="solid"/>
                    </a:lnBlToTr>
                  </a:tcPr>
                </a:tc>
              </a:tr>
              <a:tr h="937264">
                <a:tc>
                  <a:txBody>
                    <a:bodyPr/>
                    <a:lstStyle/>
                    <a:p>
                      <a:r>
                        <a:rPr lang="en-GB" sz="2400" dirty="0" err="1" smtClean="0"/>
                        <a:t>Nal</a:t>
                      </a:r>
                      <a:r>
                        <a:rPr lang="en-GB" sz="2400" dirty="0" smtClean="0"/>
                        <a:t> (T1)</a:t>
                      </a:r>
                      <a:r>
                        <a:rPr lang="en-GB" sz="2400" baseline="0" dirty="0" smtClean="0"/>
                        <a:t> Gamma Spectrometer</a:t>
                      </a:r>
                      <a:endParaRPr lang="en-US" sz="2400" dirty="0"/>
                    </a:p>
                  </a:txBody>
                  <a:tcPr marL="81534" marR="8153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400" dirty="0" smtClean="0"/>
                        <a:t>13,169.00</a:t>
                      </a:r>
                      <a:endParaRPr lang="en-US" sz="2400" dirty="0"/>
                    </a:p>
                  </a:txBody>
                  <a:tcPr marL="81534" marR="8153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400" dirty="0" smtClean="0"/>
                        <a:t>600,000.00</a:t>
                      </a:r>
                      <a:endParaRPr lang="en-US" sz="2400" dirty="0"/>
                    </a:p>
                  </a:txBody>
                  <a:tcPr marL="81534" marR="81534">
                    <a:lnL w="12700" cmpd="sng">
                      <a:noFill/>
                    </a:lnL>
                    <a:lnR w="12700" cmpd="sng">
                      <a:noFill/>
                    </a:lnR>
                    <a:lnT w="12700" cmpd="sng">
                      <a:noFill/>
                    </a:lnT>
                    <a:lnB w="12700" cmpd="sng">
                      <a:noFill/>
                    </a:lnB>
                    <a:lnTlToBr w="12700" cmpd="sng">
                      <a:noFill/>
                      <a:prstDash val="solid"/>
                    </a:lnTlToBr>
                    <a:lnBlToTr w="12700" cmpd="sng">
                      <a:noFill/>
                      <a:prstDash val="solid"/>
                    </a:lnBlToTr>
                  </a:tcPr>
                </a:tc>
              </a:tr>
              <a:tr h="937264">
                <a:tc>
                  <a:txBody>
                    <a:bodyPr/>
                    <a:lstStyle/>
                    <a:p>
                      <a:r>
                        <a:rPr lang="en-GB" sz="2400" dirty="0" smtClean="0"/>
                        <a:t>Atomic Absorption Spectrometer</a:t>
                      </a:r>
                      <a:endParaRPr lang="en-US" sz="2400" dirty="0"/>
                    </a:p>
                  </a:txBody>
                  <a:tcPr marL="81534" marR="8153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400" dirty="0" smtClean="0"/>
                        <a:t>19,280.00</a:t>
                      </a:r>
                      <a:endParaRPr lang="en-US" sz="2400" dirty="0"/>
                    </a:p>
                  </a:txBody>
                  <a:tcPr marL="81534" marR="8153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400" dirty="0" smtClean="0"/>
                        <a:t>500,000.00</a:t>
                      </a:r>
                      <a:endParaRPr lang="en-US" sz="2400" dirty="0"/>
                    </a:p>
                  </a:txBody>
                  <a:tcPr marL="81534" marR="81534">
                    <a:lnL w="12700" cmpd="sng">
                      <a:noFill/>
                    </a:lnL>
                    <a:lnR w="12700" cmpd="sng">
                      <a:noFill/>
                    </a:lnR>
                    <a:lnT w="12700" cmpd="sng">
                      <a:noFill/>
                    </a:lnT>
                    <a:lnB w="12700" cmpd="sng">
                      <a:noFill/>
                    </a:lnB>
                    <a:lnTlToBr w="12700" cmpd="sng">
                      <a:noFill/>
                      <a:prstDash val="solid"/>
                    </a:lnTlToBr>
                    <a:lnBlToTr w="12700" cmpd="sng">
                      <a:noFill/>
                      <a:prstDash val="solid"/>
                    </a:lnBlToTr>
                  </a:tcPr>
                </a:tc>
              </a:tr>
              <a:tr h="520703">
                <a:tc>
                  <a:txBody>
                    <a:bodyPr/>
                    <a:lstStyle/>
                    <a:p>
                      <a:r>
                        <a:rPr lang="en-GB" sz="2400" dirty="0" smtClean="0"/>
                        <a:t>XRF</a:t>
                      </a:r>
                      <a:r>
                        <a:rPr lang="en-GB" sz="2400" baseline="0" dirty="0" smtClean="0"/>
                        <a:t> Spectrometer</a:t>
                      </a:r>
                      <a:endParaRPr lang="en-US" sz="2400" dirty="0"/>
                    </a:p>
                  </a:txBody>
                  <a:tcPr marL="81534" marR="8153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400" dirty="0" smtClean="0"/>
                        <a:t>10,900.00</a:t>
                      </a:r>
                      <a:endParaRPr lang="en-US" sz="2400" dirty="0"/>
                    </a:p>
                  </a:txBody>
                  <a:tcPr marL="81534" marR="8153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400" dirty="0" smtClean="0"/>
                        <a:t>500,000.00</a:t>
                      </a:r>
                      <a:endParaRPr lang="en-US" sz="2400" dirty="0"/>
                    </a:p>
                  </a:txBody>
                  <a:tcPr marL="81534" marR="81534">
                    <a:lnL w="12700" cmpd="sng">
                      <a:noFill/>
                    </a:lnL>
                    <a:lnR w="12700" cmpd="sng">
                      <a:noFill/>
                    </a:lnR>
                    <a:lnT w="12700" cmpd="sng">
                      <a:noFill/>
                    </a:lnT>
                    <a:lnB w="12700" cmpd="sng">
                      <a:noFill/>
                    </a:lnB>
                    <a:lnTlToBr w="12700" cmpd="sng">
                      <a:noFill/>
                      <a:prstDash val="solid"/>
                    </a:lnTlToBr>
                    <a:lnBlToTr w="12700" cmpd="sng">
                      <a:noFill/>
                      <a:prstDash val="solid"/>
                    </a:lnBlToTr>
                  </a:tcPr>
                </a:tc>
              </a:tr>
              <a:tr h="937264">
                <a:tc>
                  <a:txBody>
                    <a:bodyPr/>
                    <a:lstStyle/>
                    <a:p>
                      <a:r>
                        <a:rPr lang="en-GB" sz="2400" dirty="0" err="1" smtClean="0"/>
                        <a:t>Terrameter</a:t>
                      </a:r>
                      <a:r>
                        <a:rPr lang="en-GB" sz="2400" dirty="0" smtClean="0"/>
                        <a:t> (Omega Unit)</a:t>
                      </a:r>
                      <a:endParaRPr lang="en-US" sz="2400" dirty="0"/>
                    </a:p>
                  </a:txBody>
                  <a:tcPr marL="81534" marR="8153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400" dirty="0" smtClean="0"/>
                        <a:t>3.5million</a:t>
                      </a:r>
                      <a:endParaRPr lang="en-US" sz="2400" dirty="0"/>
                    </a:p>
                  </a:txBody>
                  <a:tcPr marL="81534" marR="8153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400" dirty="0" smtClean="0"/>
                        <a:t>500,000.00</a:t>
                      </a:r>
                      <a:endParaRPr lang="en-US" sz="2400" dirty="0"/>
                    </a:p>
                  </a:txBody>
                  <a:tcPr marL="81534" marR="81534">
                    <a:lnL w="12700" cmpd="sng">
                      <a:noFill/>
                    </a:lnL>
                    <a:lnR w="12700" cmpd="sng">
                      <a:noFill/>
                    </a:lnR>
                    <a:lnT w="12700" cmpd="sng">
                      <a:noFill/>
                    </a:lnT>
                    <a:lnB w="12700" cmpd="sng">
                      <a:noFill/>
                    </a:lnB>
                    <a:lnTlToBr w="12700" cmpd="sng">
                      <a:noFill/>
                      <a:prstDash val="solid"/>
                    </a:lnTlToBr>
                    <a:lnBlToTr w="12700" cmpd="sng">
                      <a:noFill/>
                      <a:prstDash val="solid"/>
                    </a:lnBlToTr>
                  </a:tcPr>
                </a:tc>
              </a:tr>
            </a:tbl>
          </a:graphicData>
        </a:graphic>
      </p:graphicFrame>
      <p:sp>
        <p:nvSpPr>
          <p:cNvPr id="6" name="Title 3"/>
          <p:cNvSpPr>
            <a:spLocks noGrp="1"/>
          </p:cNvSpPr>
          <p:nvPr>
            <p:ph type="title"/>
          </p:nvPr>
        </p:nvSpPr>
        <p:spPr>
          <a:xfrm>
            <a:off x="142844" y="280974"/>
            <a:ext cx="8858280" cy="1219200"/>
          </a:xfrm>
        </p:spPr>
        <p:txBody>
          <a:bodyPr anchor="t">
            <a:noAutofit/>
          </a:bodyPr>
          <a:lstStyle/>
          <a:p>
            <a:r>
              <a:rPr lang="en-GB" sz="3200" dirty="0" smtClean="0">
                <a:solidFill>
                  <a:schemeClr val="tx1"/>
                </a:solidFill>
              </a:rPr>
              <a:t>This Department can generate revenue on this, if the following equipment are available.</a:t>
            </a:r>
            <a:br>
              <a:rPr lang="en-GB" sz="3200" dirty="0" smtClean="0">
                <a:solidFill>
                  <a:schemeClr val="tx1"/>
                </a:solidFill>
              </a:rPr>
            </a:br>
            <a:endParaRPr lang="en-US" sz="3200" dirty="0">
              <a:solidFill>
                <a:schemeClr val="tx1"/>
              </a:solidFill>
            </a:endParaRPr>
          </a:p>
        </p:txBody>
      </p:sp>
      <p:sp>
        <p:nvSpPr>
          <p:cNvPr id="7" name="TextBox 6"/>
          <p:cNvSpPr txBox="1"/>
          <p:nvPr/>
        </p:nvSpPr>
        <p:spPr>
          <a:xfrm>
            <a:off x="0" y="1454995"/>
            <a:ext cx="9144000" cy="830997"/>
          </a:xfrm>
          <a:prstGeom prst="rect">
            <a:avLst/>
          </a:prstGeom>
          <a:noFill/>
        </p:spPr>
        <p:txBody>
          <a:bodyPr wrap="square" rtlCol="0">
            <a:spAutoFit/>
          </a:bodyPr>
          <a:lstStyle/>
          <a:p>
            <a:r>
              <a:rPr lang="en-GB" sz="2400" dirty="0" smtClean="0"/>
              <a:t>Table 2: Shows the average cost and estimated annual income of equipments needed.  </a:t>
            </a:r>
            <a:endParaRPr lang="en-US" sz="2400" dirty="0"/>
          </a:p>
        </p:txBody>
      </p:sp>
    </p:spTree>
  </p:cSld>
  <p:clrMapOvr>
    <a:masterClrMapping/>
  </p:clrMapOvr>
  <p:transition spd="med">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14282" y="1600200"/>
            <a:ext cx="8551766" cy="5043510"/>
          </a:xfrm>
        </p:spPr>
        <p:txBody>
          <a:bodyPr>
            <a:noAutofit/>
          </a:bodyPr>
          <a:lstStyle/>
          <a:p>
            <a:pPr>
              <a:buFont typeface="Wingdings" pitchFamily="2" charset="2"/>
              <a:buChar char="q"/>
            </a:pPr>
            <a:r>
              <a:rPr lang="en-GB" sz="3600" dirty="0" smtClean="0"/>
              <a:t>In addition, there are some machines in the department that are useful to generate revenue if put into use. Such machines are:</a:t>
            </a:r>
          </a:p>
          <a:p>
            <a:pPr lvl="1">
              <a:buFont typeface="Wingdings" pitchFamily="2" charset="2"/>
              <a:buChar char="q"/>
            </a:pPr>
            <a:r>
              <a:rPr lang="en-GB" sz="3200" dirty="0" smtClean="0"/>
              <a:t>Centre Lathe Machine</a:t>
            </a:r>
          </a:p>
          <a:p>
            <a:pPr lvl="1">
              <a:buFont typeface="Wingdings" pitchFamily="2" charset="2"/>
              <a:buChar char="q"/>
            </a:pPr>
            <a:r>
              <a:rPr lang="en-GB" sz="3200" dirty="0" smtClean="0"/>
              <a:t>Milling Machine</a:t>
            </a:r>
          </a:p>
          <a:p>
            <a:pPr lvl="1">
              <a:buFont typeface="Wingdings" pitchFamily="2" charset="2"/>
              <a:buChar char="q"/>
            </a:pPr>
            <a:r>
              <a:rPr lang="en-GB" sz="3200" dirty="0" smtClean="0"/>
              <a:t>Shaping Machine</a:t>
            </a:r>
          </a:p>
          <a:p>
            <a:pPr lvl="1">
              <a:buFont typeface="Wingdings" pitchFamily="2" charset="2"/>
              <a:buChar char="q"/>
            </a:pPr>
            <a:r>
              <a:rPr lang="en-GB" sz="3200" dirty="0" smtClean="0"/>
              <a:t>Drilling Machine</a:t>
            </a:r>
          </a:p>
          <a:p>
            <a:pPr lvl="1">
              <a:buFont typeface="Wingdings" pitchFamily="2" charset="2"/>
              <a:buChar char="q"/>
            </a:pPr>
            <a:r>
              <a:rPr lang="en-GB" sz="3200" dirty="0" smtClean="0"/>
              <a:t>Surface Grinding Machine</a:t>
            </a:r>
            <a:endParaRPr lang="en-US" sz="3200" dirty="0"/>
          </a:p>
        </p:txBody>
      </p:sp>
      <p:sp>
        <p:nvSpPr>
          <p:cNvPr id="4" name="Title 1"/>
          <p:cNvSpPr txBox="1">
            <a:spLocks/>
          </p:cNvSpPr>
          <p:nvPr/>
        </p:nvSpPr>
        <p:spPr>
          <a:xfrm>
            <a:off x="214282" y="428604"/>
            <a:ext cx="8715436" cy="714380"/>
          </a:xfrm>
          <a:prstGeom prst="rect">
            <a:avLst/>
          </a:prstGeom>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4000" i="0" u="none" strike="noStrike" kern="1200" cap="none" spc="0" normalizeH="0" baseline="0" noProof="0" dirty="0" smtClean="0">
                <a:ln>
                  <a:noFill/>
                </a:ln>
                <a:solidFill>
                  <a:schemeClr val="tx2"/>
                </a:solidFill>
                <a:effectLst/>
                <a:uLnTx/>
                <a:uFillTx/>
                <a:latin typeface="+mj-lt"/>
                <a:ea typeface="+mj-ea"/>
                <a:cs typeface="+mj-cs"/>
              </a:rPr>
              <a:t>DEPARTMENT OF PHYSICS</a:t>
            </a:r>
            <a:br>
              <a:rPr kumimoji="0" lang="en-GB" sz="4000" i="0" u="none" strike="noStrike" kern="1200" cap="none" spc="0" normalizeH="0" baseline="0" noProof="0" dirty="0" smtClean="0">
                <a:ln>
                  <a:noFill/>
                </a:ln>
                <a:solidFill>
                  <a:schemeClr val="tx2"/>
                </a:solidFill>
                <a:effectLst/>
                <a:uLnTx/>
                <a:uFillTx/>
                <a:latin typeface="+mj-lt"/>
                <a:ea typeface="+mj-ea"/>
                <a:cs typeface="+mj-cs"/>
              </a:rPr>
            </a:br>
            <a:endParaRPr kumimoji="0" lang="en-US" sz="400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spd="med">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
          </p:nvPr>
        </p:nvSpPr>
        <p:spPr>
          <a:xfrm>
            <a:off x="0" y="1500174"/>
            <a:ext cx="9144000" cy="5357826"/>
          </a:xfrm>
        </p:spPr>
        <p:txBody>
          <a:bodyPr>
            <a:normAutofit fontScale="92500" lnSpcReduction="20000"/>
          </a:bodyPr>
          <a:lstStyle/>
          <a:p>
            <a:pPr marL="320040" lvl="1" indent="-320040">
              <a:spcBef>
                <a:spcPts val="700"/>
              </a:spcBef>
              <a:buClr>
                <a:schemeClr val="accent2"/>
              </a:buClr>
              <a:buSzPct val="60000"/>
              <a:buNone/>
            </a:pPr>
            <a:r>
              <a:rPr lang="en-GB" sz="3200" dirty="0" smtClean="0"/>
              <a:t>From the Department of Zoology, the following are possible ways of generating revenue:</a:t>
            </a:r>
          </a:p>
          <a:p>
            <a:pPr marL="320040" lvl="1" indent="-320040">
              <a:spcBef>
                <a:spcPts val="700"/>
              </a:spcBef>
              <a:buClr>
                <a:schemeClr val="accent2"/>
              </a:buClr>
              <a:buSzPct val="60000"/>
              <a:buFont typeface="Wingdings" pitchFamily="2" charset="2"/>
              <a:buChar char="q"/>
            </a:pPr>
            <a:r>
              <a:rPr lang="en-GB" sz="3200" dirty="0" smtClean="0"/>
              <a:t>A.	Fabrication of apparatus for use in experiments, practicals, teaching and research/project work. These are essential needs because of inadequate or lack of supply of imported ones to science laboratories. These apparatus are:</a:t>
            </a:r>
            <a:endParaRPr lang="en-GB" sz="3200" b="1" dirty="0" smtClean="0"/>
          </a:p>
          <a:p>
            <a:pPr marL="594360" lvl="2" indent="-320040">
              <a:spcBef>
                <a:spcPts val="700"/>
              </a:spcBef>
              <a:buSzPct val="60000"/>
              <a:buFont typeface="Wingdings" pitchFamily="2" charset="2"/>
              <a:buChar char="q"/>
            </a:pPr>
            <a:r>
              <a:rPr lang="en-GB" sz="2900" dirty="0" smtClean="0"/>
              <a:t>Scoop net		</a:t>
            </a:r>
            <a:r>
              <a:rPr lang="en-GB" sz="2900" dirty="0" err="1" smtClean="0"/>
              <a:t>Pooter</a:t>
            </a:r>
            <a:r>
              <a:rPr lang="en-GB" sz="2900" dirty="0" smtClean="0"/>
              <a:t>		Wire gauze</a:t>
            </a:r>
          </a:p>
          <a:p>
            <a:pPr marL="594360" lvl="2" indent="-320040">
              <a:spcBef>
                <a:spcPts val="700"/>
              </a:spcBef>
              <a:buSzPct val="60000"/>
              <a:buFont typeface="Wingdings" pitchFamily="2" charset="2"/>
              <a:buChar char="q"/>
            </a:pPr>
            <a:r>
              <a:rPr lang="en-GB" sz="2900" dirty="0" err="1" smtClean="0"/>
              <a:t>Insectory</a:t>
            </a:r>
            <a:r>
              <a:rPr lang="en-GB" sz="2900" dirty="0" smtClean="0"/>
              <a:t>			Quadrant</a:t>
            </a:r>
          </a:p>
          <a:p>
            <a:pPr marL="594360" lvl="2" indent="-320040">
              <a:spcBef>
                <a:spcPts val="700"/>
              </a:spcBef>
              <a:buSzPct val="60000"/>
              <a:buFont typeface="Wingdings" pitchFamily="2" charset="2"/>
              <a:buChar char="q"/>
            </a:pPr>
            <a:r>
              <a:rPr lang="en-GB" sz="2900" dirty="0" smtClean="0"/>
              <a:t>Metre rule		Test tube rack</a:t>
            </a:r>
          </a:p>
          <a:p>
            <a:pPr marL="594360" lvl="2" indent="-320040">
              <a:spcBef>
                <a:spcPts val="700"/>
              </a:spcBef>
              <a:buSzPct val="60000"/>
              <a:buFont typeface="Wingdings" pitchFamily="2" charset="2"/>
              <a:buChar char="q"/>
            </a:pPr>
            <a:r>
              <a:rPr lang="en-GB" sz="2900" dirty="0" err="1" smtClean="0"/>
              <a:t>Secchi</a:t>
            </a:r>
            <a:r>
              <a:rPr lang="en-GB" sz="2900" dirty="0" smtClean="0"/>
              <a:t> disc		Sweep net</a:t>
            </a:r>
          </a:p>
          <a:p>
            <a:pPr marL="594360" lvl="2" indent="-320040">
              <a:spcBef>
                <a:spcPts val="700"/>
              </a:spcBef>
              <a:buSzPct val="60000"/>
              <a:buFont typeface="Wingdings" pitchFamily="2" charset="2"/>
              <a:buChar char="q"/>
            </a:pPr>
            <a:r>
              <a:rPr lang="en-GB" sz="2900" dirty="0" smtClean="0"/>
              <a:t>Plankton net		Multipurpose dissecting board</a:t>
            </a:r>
          </a:p>
          <a:p>
            <a:pPr marL="594360" lvl="2" indent="-320040">
              <a:spcBef>
                <a:spcPts val="700"/>
              </a:spcBef>
              <a:buSzPct val="60000"/>
              <a:buFont typeface="Wingdings" pitchFamily="2" charset="2"/>
              <a:buChar char="q"/>
            </a:pPr>
            <a:r>
              <a:rPr lang="en-GB" sz="2900" dirty="0" smtClean="0"/>
              <a:t>Insect cage		Dissecting board</a:t>
            </a:r>
          </a:p>
        </p:txBody>
      </p:sp>
      <p:sp>
        <p:nvSpPr>
          <p:cNvPr id="7" name="Title 1"/>
          <p:cNvSpPr txBox="1">
            <a:spLocks/>
          </p:cNvSpPr>
          <p:nvPr/>
        </p:nvSpPr>
        <p:spPr>
          <a:xfrm>
            <a:off x="214282" y="428604"/>
            <a:ext cx="8715436" cy="714380"/>
          </a:xfrm>
          <a:prstGeom prst="rect">
            <a:avLst/>
          </a:prstGeom>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4000" b="1" i="0" u="none" strike="noStrike" kern="1200" cap="none" spc="0" normalizeH="0" baseline="0" noProof="0" dirty="0" smtClean="0">
                <a:ln>
                  <a:noFill/>
                </a:ln>
                <a:solidFill>
                  <a:schemeClr val="tx2"/>
                </a:solidFill>
                <a:effectLst/>
                <a:uLnTx/>
                <a:uFillTx/>
                <a:latin typeface="+mj-lt"/>
                <a:ea typeface="+mj-ea"/>
                <a:cs typeface="+mj-cs"/>
              </a:rPr>
              <a:t>DEPARTMENT OF ZOOLOGY</a:t>
            </a:r>
            <a:br>
              <a:rPr kumimoji="0" lang="en-GB" sz="4000" b="1" i="0" u="none" strike="noStrike" kern="1200" cap="none" spc="0" normalizeH="0" baseline="0" noProof="0" dirty="0" smtClean="0">
                <a:ln>
                  <a:noFill/>
                </a:ln>
                <a:solidFill>
                  <a:schemeClr val="tx2"/>
                </a:solidFill>
                <a:effectLst/>
                <a:uLnTx/>
                <a:uFillTx/>
                <a:latin typeface="+mj-lt"/>
                <a:ea typeface="+mj-ea"/>
                <a:cs typeface="+mj-cs"/>
              </a:rPr>
            </a:br>
            <a:endParaRPr kumimoji="0" lang="en-US" sz="4000" b="1"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spd="med">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14314" y="1571612"/>
            <a:ext cx="8929718" cy="5000660"/>
          </a:xfrm>
        </p:spPr>
        <p:txBody>
          <a:bodyPr>
            <a:normAutofit/>
          </a:bodyPr>
          <a:lstStyle/>
          <a:p>
            <a:pPr>
              <a:buNone/>
            </a:pPr>
            <a:r>
              <a:rPr lang="en-GB" sz="3200" dirty="0" smtClean="0"/>
              <a:t>	Sales/Supply</a:t>
            </a:r>
          </a:p>
          <a:p>
            <a:pPr>
              <a:buFont typeface="Wingdings" pitchFamily="2" charset="2"/>
              <a:buChar char="q"/>
            </a:pPr>
            <a:r>
              <a:rPr lang="en-GB" sz="3200" dirty="0" smtClean="0"/>
              <a:t>Establishments where these apparatus and instruments are required for scientific work </a:t>
            </a:r>
            <a:r>
              <a:rPr lang="en-GB" sz="3200" dirty="0" smtClean="0"/>
              <a:t>include:</a:t>
            </a:r>
          </a:p>
          <a:p>
            <a:pPr>
              <a:buFont typeface="Wingdings" pitchFamily="2" charset="2"/>
              <a:buChar char="q"/>
            </a:pPr>
            <a:r>
              <a:rPr lang="en-GB" sz="3200" dirty="0" smtClean="0"/>
              <a:t> </a:t>
            </a:r>
            <a:r>
              <a:rPr lang="en-GB" sz="3200" dirty="0" smtClean="0"/>
              <a:t> </a:t>
            </a:r>
            <a:r>
              <a:rPr lang="en-GB" sz="3200" dirty="0" smtClean="0"/>
              <a:t>Universities    </a:t>
            </a:r>
            <a:r>
              <a:rPr lang="en-GB" sz="2800" dirty="0" smtClean="0"/>
              <a:t> </a:t>
            </a:r>
            <a:endParaRPr lang="en-GB" sz="2800" dirty="0" smtClean="0"/>
          </a:p>
          <a:p>
            <a:pPr lvl="1">
              <a:buFont typeface="Wingdings" pitchFamily="2" charset="2"/>
              <a:buChar char="q"/>
            </a:pPr>
            <a:r>
              <a:rPr lang="en-GB" sz="2800" dirty="0" smtClean="0"/>
              <a:t>Polytechnics/</a:t>
            </a:r>
            <a:r>
              <a:rPr lang="en-GB" sz="2800" dirty="0" err="1" smtClean="0"/>
              <a:t>Monotechnics</a:t>
            </a:r>
            <a:endParaRPr lang="en-GB" sz="2800" dirty="0" smtClean="0"/>
          </a:p>
          <a:p>
            <a:pPr lvl="1">
              <a:buFont typeface="Wingdings" pitchFamily="2" charset="2"/>
              <a:buChar char="q"/>
            </a:pPr>
            <a:r>
              <a:rPr lang="en-GB" sz="2800" dirty="0" smtClean="0"/>
              <a:t>Research Institutes/Centres</a:t>
            </a:r>
          </a:p>
          <a:p>
            <a:pPr lvl="1">
              <a:buFont typeface="Wingdings" pitchFamily="2" charset="2"/>
              <a:buChar char="q"/>
            </a:pPr>
            <a:r>
              <a:rPr lang="en-GB" sz="2800" dirty="0" smtClean="0"/>
              <a:t>Colleges </a:t>
            </a:r>
            <a:r>
              <a:rPr lang="en-GB" sz="2800" dirty="0" smtClean="0"/>
              <a:t>of Education</a:t>
            </a:r>
          </a:p>
        </p:txBody>
      </p:sp>
      <p:sp>
        <p:nvSpPr>
          <p:cNvPr id="5" name="Title 1"/>
          <p:cNvSpPr txBox="1">
            <a:spLocks/>
          </p:cNvSpPr>
          <p:nvPr/>
        </p:nvSpPr>
        <p:spPr>
          <a:xfrm>
            <a:off x="214282" y="428604"/>
            <a:ext cx="8715436" cy="714380"/>
          </a:xfrm>
          <a:prstGeom prst="rect">
            <a:avLst/>
          </a:prstGeom>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4000" i="0" u="none" strike="noStrike" kern="1200" cap="none" spc="0" normalizeH="0" baseline="0" noProof="0" dirty="0" smtClean="0">
                <a:ln>
                  <a:noFill/>
                </a:ln>
                <a:solidFill>
                  <a:schemeClr val="tx2"/>
                </a:solidFill>
                <a:effectLst/>
                <a:uLnTx/>
                <a:uFillTx/>
                <a:latin typeface="+mj-lt"/>
                <a:ea typeface="+mj-ea"/>
                <a:cs typeface="+mj-cs"/>
              </a:rPr>
              <a:t>DEPARTMENT OF ZOOLOGY</a:t>
            </a:r>
            <a:br>
              <a:rPr kumimoji="0" lang="en-GB" sz="4000" i="0" u="none" strike="noStrike" kern="1200" cap="none" spc="0" normalizeH="0" baseline="0" noProof="0" dirty="0" smtClean="0">
                <a:ln>
                  <a:noFill/>
                </a:ln>
                <a:solidFill>
                  <a:schemeClr val="tx2"/>
                </a:solidFill>
                <a:effectLst/>
                <a:uLnTx/>
                <a:uFillTx/>
                <a:latin typeface="+mj-lt"/>
                <a:ea typeface="+mj-ea"/>
                <a:cs typeface="+mj-cs"/>
              </a:rPr>
            </a:br>
            <a:endParaRPr kumimoji="0" lang="en-US" sz="400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spd="med">
    <p:rand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85720" y="1600200"/>
            <a:ext cx="8643998" cy="4829196"/>
          </a:xfrm>
        </p:spPr>
        <p:txBody>
          <a:bodyPr>
            <a:normAutofit/>
          </a:bodyPr>
          <a:lstStyle/>
          <a:p>
            <a:pPr lvl="1">
              <a:buFont typeface="Wingdings" pitchFamily="2" charset="2"/>
              <a:buChar char="q"/>
            </a:pPr>
            <a:r>
              <a:rPr lang="en-GB" dirty="0" smtClean="0"/>
              <a:t>Schools </a:t>
            </a:r>
            <a:r>
              <a:rPr lang="en-GB" dirty="0" smtClean="0"/>
              <a:t>of Health Technology</a:t>
            </a:r>
          </a:p>
          <a:p>
            <a:pPr lvl="1">
              <a:buFont typeface="Wingdings" pitchFamily="2" charset="2"/>
              <a:buChar char="q"/>
            </a:pPr>
            <a:r>
              <a:rPr lang="en-GB" dirty="0" smtClean="0"/>
              <a:t>Schools </a:t>
            </a:r>
            <a:r>
              <a:rPr lang="en-GB" dirty="0" smtClean="0"/>
              <a:t>of Agriculture</a:t>
            </a:r>
          </a:p>
          <a:p>
            <a:pPr lvl="1">
              <a:buFont typeface="Wingdings" pitchFamily="2" charset="2"/>
              <a:buChar char="q"/>
            </a:pPr>
            <a:r>
              <a:rPr lang="en-GB" dirty="0" smtClean="0"/>
              <a:t>Secondary schools</a:t>
            </a:r>
          </a:p>
          <a:p>
            <a:pPr lvl="1">
              <a:buFont typeface="Wingdings" pitchFamily="2" charset="2"/>
              <a:buChar char="q"/>
            </a:pPr>
            <a:r>
              <a:rPr lang="en-GB" dirty="0" smtClean="0"/>
              <a:t>Primary schools</a:t>
            </a:r>
          </a:p>
          <a:p>
            <a:pPr lvl="1">
              <a:buFont typeface="Wingdings" pitchFamily="2" charset="2"/>
              <a:buChar char="q"/>
            </a:pPr>
            <a:r>
              <a:rPr lang="en-GB" dirty="0" smtClean="0"/>
              <a:t>Supply companies</a:t>
            </a:r>
            <a:endParaRPr lang="en-US" dirty="0" smtClean="0"/>
          </a:p>
          <a:p>
            <a:pPr>
              <a:buNone/>
            </a:pPr>
            <a:endParaRPr lang="en-GB" sz="3600" dirty="0" smtClean="0"/>
          </a:p>
          <a:p>
            <a:pPr>
              <a:buFont typeface="Wingdings" pitchFamily="2" charset="2"/>
              <a:buChar char="q"/>
            </a:pPr>
            <a:r>
              <a:rPr lang="en-GB" sz="3200" dirty="0" smtClean="0"/>
              <a:t>Considering the Educational Industry of </a:t>
            </a:r>
            <a:r>
              <a:rPr lang="en-GB" sz="3200" dirty="0" err="1" smtClean="0"/>
              <a:t>Ekiti</a:t>
            </a:r>
            <a:r>
              <a:rPr lang="en-GB" sz="3200" dirty="0" smtClean="0"/>
              <a:t> State, there is hope that marketing of these apparatus will receive a boost patronage.</a:t>
            </a:r>
            <a:endParaRPr lang="en-US" sz="3200" dirty="0"/>
          </a:p>
        </p:txBody>
      </p:sp>
      <p:sp>
        <p:nvSpPr>
          <p:cNvPr id="4" name="Title 1"/>
          <p:cNvSpPr txBox="1">
            <a:spLocks/>
          </p:cNvSpPr>
          <p:nvPr/>
        </p:nvSpPr>
        <p:spPr>
          <a:xfrm>
            <a:off x="214282" y="428604"/>
            <a:ext cx="8715436" cy="714380"/>
          </a:xfrm>
          <a:prstGeom prst="rect">
            <a:avLst/>
          </a:prstGeom>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4000" i="0" u="none" strike="noStrike" kern="1200" cap="none" spc="0" normalizeH="0" baseline="0" noProof="0" dirty="0" smtClean="0">
                <a:ln>
                  <a:noFill/>
                </a:ln>
                <a:solidFill>
                  <a:schemeClr val="tx2"/>
                </a:solidFill>
                <a:effectLst/>
                <a:uLnTx/>
                <a:uFillTx/>
                <a:latin typeface="+mj-lt"/>
                <a:ea typeface="+mj-ea"/>
                <a:cs typeface="+mj-cs"/>
              </a:rPr>
              <a:t>DEPARTMENT OF ZOOLOGY</a:t>
            </a:r>
            <a:br>
              <a:rPr kumimoji="0" lang="en-GB" sz="4000" i="0" u="none" strike="noStrike" kern="1200" cap="none" spc="0" normalizeH="0" baseline="0" noProof="0" dirty="0" smtClean="0">
                <a:ln>
                  <a:noFill/>
                </a:ln>
                <a:solidFill>
                  <a:schemeClr val="tx2"/>
                </a:solidFill>
                <a:effectLst/>
                <a:uLnTx/>
                <a:uFillTx/>
                <a:latin typeface="+mj-lt"/>
                <a:ea typeface="+mj-ea"/>
                <a:cs typeface="+mj-cs"/>
              </a:rPr>
            </a:br>
            <a:endParaRPr kumimoji="0" lang="en-US" sz="400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spd="med">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14282" y="1571612"/>
            <a:ext cx="8715436" cy="5286412"/>
          </a:xfrm>
        </p:spPr>
        <p:txBody>
          <a:bodyPr/>
          <a:lstStyle/>
          <a:p>
            <a:pPr>
              <a:buNone/>
            </a:pPr>
            <a:r>
              <a:rPr lang="en-GB" dirty="0" smtClean="0"/>
              <a:t>B.  Breeding of Laboratory Animals</a:t>
            </a:r>
          </a:p>
          <a:p>
            <a:pPr>
              <a:buFont typeface="Wingdings" pitchFamily="2" charset="2"/>
              <a:buChar char="q"/>
            </a:pPr>
            <a:r>
              <a:rPr lang="en-GB" dirty="0" smtClean="0"/>
              <a:t>These animals are bred for use in practicals, experiments, research, teaching and Museum studies in both tertiary and post-basic Institutions of learning. They are also used in Research Centres, Pharmaceutical Industries and other Government Establishments.</a:t>
            </a:r>
          </a:p>
          <a:p>
            <a:pPr>
              <a:buFont typeface="Wingdings" pitchFamily="2" charset="2"/>
              <a:buChar char="q"/>
            </a:pPr>
            <a:endParaRPr lang="en-GB" dirty="0" smtClean="0"/>
          </a:p>
          <a:p>
            <a:pPr>
              <a:buFont typeface="Wingdings" pitchFamily="2" charset="2"/>
              <a:buChar char="q"/>
            </a:pPr>
            <a:r>
              <a:rPr lang="en-GB" dirty="0" smtClean="0"/>
              <a:t>The laboratory animals include mouse, guinea pig, rat and rabbit, they are albino type because they have lost their natural colours (eye and skin colours) due to hybridization.</a:t>
            </a:r>
            <a:endParaRPr lang="en-US" dirty="0"/>
          </a:p>
        </p:txBody>
      </p:sp>
      <p:sp>
        <p:nvSpPr>
          <p:cNvPr id="5" name="Title 1"/>
          <p:cNvSpPr txBox="1">
            <a:spLocks/>
          </p:cNvSpPr>
          <p:nvPr/>
        </p:nvSpPr>
        <p:spPr>
          <a:xfrm>
            <a:off x="214282" y="428604"/>
            <a:ext cx="8715436" cy="714380"/>
          </a:xfrm>
          <a:prstGeom prst="rect">
            <a:avLst/>
          </a:prstGeom>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4000" i="0" u="none" strike="noStrike" kern="1200" cap="none" spc="0" normalizeH="0" baseline="0" noProof="0" dirty="0" smtClean="0">
                <a:ln>
                  <a:noFill/>
                </a:ln>
                <a:solidFill>
                  <a:schemeClr val="tx2"/>
                </a:solidFill>
                <a:effectLst/>
                <a:uLnTx/>
                <a:uFillTx/>
                <a:latin typeface="+mj-lt"/>
                <a:ea typeface="+mj-ea"/>
                <a:cs typeface="+mj-cs"/>
              </a:rPr>
              <a:t>DEPARTMENT OF ZOOLOGY</a:t>
            </a:r>
            <a:br>
              <a:rPr kumimoji="0" lang="en-GB" sz="4000" i="0" u="none" strike="noStrike" kern="1200" cap="none" spc="0" normalizeH="0" baseline="0" noProof="0" dirty="0" smtClean="0">
                <a:ln>
                  <a:noFill/>
                </a:ln>
                <a:solidFill>
                  <a:schemeClr val="tx2"/>
                </a:solidFill>
                <a:effectLst/>
                <a:uLnTx/>
                <a:uFillTx/>
                <a:latin typeface="+mj-lt"/>
                <a:ea typeface="+mj-ea"/>
                <a:cs typeface="+mj-cs"/>
              </a:rPr>
            </a:br>
            <a:endParaRPr kumimoji="0" lang="en-US" sz="400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spd="med">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0" y="285750"/>
            <a:ext cx="9144000" cy="6572250"/>
          </a:xfrm>
        </p:spPr>
        <p:txBody>
          <a:bodyPr>
            <a:normAutofit lnSpcReduction="10000"/>
          </a:bodyPr>
          <a:lstStyle/>
          <a:p>
            <a:pPr>
              <a:buFont typeface="Wingdings" pitchFamily="2" charset="2"/>
              <a:buChar char="q"/>
            </a:pPr>
            <a:r>
              <a:rPr lang="en-GB" dirty="0" smtClean="0"/>
              <a:t>This type of animal house management is a good source of Internally Generated Revenue for the University.</a:t>
            </a:r>
          </a:p>
          <a:p>
            <a:pPr>
              <a:buFont typeface="Wingdings" pitchFamily="2" charset="2"/>
              <a:buChar char="q"/>
            </a:pPr>
            <a:endParaRPr lang="en-GB" dirty="0" smtClean="0"/>
          </a:p>
          <a:p>
            <a:pPr>
              <a:buFont typeface="Wingdings" pitchFamily="2" charset="2"/>
              <a:buChar char="q"/>
            </a:pPr>
            <a:r>
              <a:rPr lang="en-GB" dirty="0" smtClean="0"/>
              <a:t>This is because interdisciplinary research activities of both staff and students that require the use of experimental animals can easily </a:t>
            </a:r>
            <a:r>
              <a:rPr lang="en-GB" dirty="0" smtClean="0"/>
              <a:t>acquire them </a:t>
            </a:r>
            <a:r>
              <a:rPr lang="en-GB" dirty="0" smtClean="0"/>
              <a:t>from the animal house.</a:t>
            </a:r>
          </a:p>
          <a:p>
            <a:pPr>
              <a:buFont typeface="Wingdings" pitchFamily="2" charset="2"/>
              <a:buChar char="q"/>
            </a:pPr>
            <a:endParaRPr lang="en-GB" dirty="0" smtClean="0"/>
          </a:p>
          <a:p>
            <a:pPr>
              <a:buFont typeface="Wingdings" pitchFamily="2" charset="2"/>
              <a:buChar char="q"/>
            </a:pPr>
            <a:r>
              <a:rPr lang="en-GB" dirty="0" smtClean="0"/>
              <a:t>All practical courses in Science, Medicine, Education, Biology, and students’ projects in Biochemistry, Microbiology and Zoology that require the use of experimental animals will be easily carried out as these animals are easily purchased from the animal house instead of travelling outside the state, and other Institutions outside our state can equally benefit.</a:t>
            </a:r>
            <a:endParaRPr lang="en-US" dirty="0"/>
          </a:p>
        </p:txBody>
      </p:sp>
    </p:spTree>
  </p:cSld>
  <p:clrMapOvr>
    <a:masterClrMapping/>
  </p:clrMapOvr>
  <p:transition spd="med">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1500174"/>
            <a:ext cx="8551766" cy="642942"/>
          </a:xfrm>
        </p:spPr>
        <p:txBody>
          <a:bodyPr>
            <a:normAutofit/>
          </a:bodyPr>
          <a:lstStyle/>
          <a:p>
            <a:r>
              <a:rPr lang="en-GB" sz="3200" dirty="0" smtClean="0">
                <a:solidFill>
                  <a:schemeClr val="tx1"/>
                </a:solidFill>
              </a:rPr>
              <a:t>Table 3: Information on Basic Expenses and Income</a:t>
            </a:r>
            <a:endParaRPr lang="en-US" sz="3200" dirty="0">
              <a:solidFill>
                <a:schemeClr val="tx1"/>
              </a:solidFill>
            </a:endParaRPr>
          </a:p>
        </p:txBody>
      </p:sp>
      <p:graphicFrame>
        <p:nvGraphicFramePr>
          <p:cNvPr id="4" name="Content Placeholder 3"/>
          <p:cNvGraphicFramePr>
            <a:graphicFrameLocks noGrp="1"/>
          </p:cNvGraphicFramePr>
          <p:nvPr>
            <p:ph sz="quarter" idx="1"/>
          </p:nvPr>
        </p:nvGraphicFramePr>
        <p:xfrm>
          <a:off x="-1" y="2243142"/>
          <a:ext cx="9144000" cy="4400568"/>
        </p:xfrm>
        <a:graphic>
          <a:graphicData uri="http://schemas.openxmlformats.org/drawingml/2006/table">
            <a:tbl>
              <a:tblPr firstRow="1" bandRow="1">
                <a:tableStyleId>{5940675A-B579-460E-94D1-54222C63F5DA}</a:tableStyleId>
              </a:tblPr>
              <a:tblGrid>
                <a:gridCol w="1828800"/>
                <a:gridCol w="1828800"/>
                <a:gridCol w="1828800"/>
                <a:gridCol w="1828800"/>
                <a:gridCol w="1828800"/>
              </a:tblGrid>
              <a:tr h="1158044">
                <a:tc>
                  <a:txBody>
                    <a:bodyPr/>
                    <a:lstStyle/>
                    <a:p>
                      <a:r>
                        <a:rPr lang="en-GB" sz="2000" b="1" dirty="0" smtClean="0"/>
                        <a:t>ANIMALS</a:t>
                      </a:r>
                      <a:endParaRPr lang="en-US" sz="20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000" b="1" dirty="0" smtClean="0"/>
                        <a:t>BROOD STOCK</a:t>
                      </a:r>
                      <a:r>
                        <a:rPr lang="en-GB" sz="2000" b="1" baseline="0" dirty="0" smtClean="0"/>
                        <a:t> PER CAGE</a:t>
                      </a:r>
                      <a:endParaRPr lang="en-US" sz="20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000" b="1" dirty="0" smtClean="0"/>
                        <a:t>PRICE AT PURCHASE PER ANIMAL</a:t>
                      </a:r>
                      <a:endParaRPr lang="en-US" sz="20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000" b="1" dirty="0" smtClean="0"/>
                        <a:t>AV. LITTER SIZE PER ANNUM</a:t>
                      </a:r>
                      <a:endParaRPr lang="en-US" sz="20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000" b="1" dirty="0" smtClean="0"/>
                        <a:t>SELLING PRICE AT MATURITY</a:t>
                      </a:r>
                      <a:endParaRPr lang="en-US" sz="20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810631">
                <a:tc>
                  <a:txBody>
                    <a:bodyPr/>
                    <a:lstStyle/>
                    <a:p>
                      <a:r>
                        <a:rPr lang="en-GB" sz="2000" dirty="0" smtClean="0"/>
                        <a:t>MOUSE</a:t>
                      </a:r>
                      <a:endParaRPr lang="en-US" sz="2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sz="2000" dirty="0" smtClean="0"/>
                        <a:t>5 + 1 MALE</a:t>
                      </a:r>
                      <a:endParaRPr lang="en-US" sz="2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sz="2000" dirty="0" smtClean="0"/>
                        <a:t>6</a:t>
                      </a:r>
                      <a:r>
                        <a:rPr lang="en-GB" sz="2000" baseline="0" dirty="0" smtClean="0"/>
                        <a:t> X 100 = 600</a:t>
                      </a:r>
                      <a:endParaRPr lang="en-US" sz="2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sz="2000" dirty="0" smtClean="0"/>
                        <a:t>36 X 5 = 180</a:t>
                      </a:r>
                      <a:endParaRPr lang="en-US" sz="2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sz="2000" dirty="0" smtClean="0"/>
                        <a:t>180 X 100 = 18,000.00</a:t>
                      </a:r>
                      <a:endParaRPr lang="en-US" sz="20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r>
              <a:tr h="810631">
                <a:tc>
                  <a:txBody>
                    <a:bodyPr/>
                    <a:lstStyle/>
                    <a:p>
                      <a:r>
                        <a:rPr lang="en-GB" sz="2000" dirty="0" smtClean="0"/>
                        <a:t>RAT</a:t>
                      </a:r>
                      <a:endParaRPr lang="en-US" sz="2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000" dirty="0" smtClean="0"/>
                        <a:t>5 + 1 MALE</a:t>
                      </a:r>
                      <a:endParaRPr lang="en-US" sz="2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000" dirty="0" smtClean="0"/>
                        <a:t>6 X 200 = 1,200</a:t>
                      </a:r>
                      <a:endParaRPr lang="en-US" sz="2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000" dirty="0" smtClean="0"/>
                        <a:t>36 X 5 = 180</a:t>
                      </a:r>
                      <a:endParaRPr lang="en-US" sz="2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000" dirty="0" smtClean="0"/>
                        <a:t>180 X 200</a:t>
                      </a:r>
                      <a:r>
                        <a:rPr lang="en-GB" sz="2000" baseline="0" dirty="0" smtClean="0"/>
                        <a:t> = 36,000.00</a:t>
                      </a:r>
                      <a:endParaRPr lang="en-US" sz="2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810631">
                <a:tc>
                  <a:txBody>
                    <a:bodyPr/>
                    <a:lstStyle/>
                    <a:p>
                      <a:r>
                        <a:rPr lang="en-GB" sz="2000" dirty="0" smtClean="0"/>
                        <a:t>GUINEA PIG</a:t>
                      </a:r>
                      <a:endParaRPr lang="en-US" sz="2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000" dirty="0" smtClean="0"/>
                        <a:t>5 + 1 MALE</a:t>
                      </a:r>
                      <a:endParaRPr lang="en-US" sz="2000" dirty="0" smtClean="0"/>
                    </a:p>
                    <a:p>
                      <a:endParaRPr lang="en-US" sz="2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000" dirty="0" smtClean="0"/>
                        <a:t>6 X 200 = 1,200</a:t>
                      </a:r>
                      <a:endParaRPr lang="en-US" sz="2000" dirty="0" smtClean="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000" dirty="0" smtClean="0"/>
                        <a:t>18 X 5 = 90</a:t>
                      </a:r>
                      <a:endParaRPr lang="en-US" sz="2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2000" dirty="0" smtClean="0"/>
                        <a:t>90 X 200 = 18,000.00</a:t>
                      </a:r>
                      <a:endParaRPr lang="en-US" sz="2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810631">
                <a:tc>
                  <a:txBody>
                    <a:bodyPr/>
                    <a:lstStyle/>
                    <a:p>
                      <a:r>
                        <a:rPr lang="en-GB" sz="2000" dirty="0" smtClean="0"/>
                        <a:t>RABBIT</a:t>
                      </a:r>
                      <a:endParaRPr lang="en-US" sz="2000"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000" dirty="0" smtClean="0"/>
                        <a:t>5 + 1 MALE</a:t>
                      </a:r>
                      <a:endParaRPr lang="en-US" sz="2000" dirty="0" smtClean="0"/>
                    </a:p>
                    <a:p>
                      <a:endParaRPr lang="en-US" sz="2000"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000" dirty="0" smtClean="0"/>
                        <a:t>6 X 400 = 2,400</a:t>
                      </a:r>
                      <a:endParaRPr lang="en-US" sz="2000"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000" dirty="0" smtClean="0"/>
                        <a:t>18 X 5 = 90</a:t>
                      </a:r>
                      <a:endParaRPr lang="en-US" sz="2000"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000" dirty="0" smtClean="0"/>
                        <a:t>90 X 400 = 36,000</a:t>
                      </a:r>
                      <a:endParaRPr lang="en-US" sz="2000" dirty="0"/>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5" name="Title 1"/>
          <p:cNvSpPr txBox="1">
            <a:spLocks/>
          </p:cNvSpPr>
          <p:nvPr/>
        </p:nvSpPr>
        <p:spPr>
          <a:xfrm>
            <a:off x="214282" y="428604"/>
            <a:ext cx="8715436" cy="714380"/>
          </a:xfrm>
          <a:prstGeom prst="rect">
            <a:avLst/>
          </a:prstGeom>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4000" i="0" u="none" strike="noStrike" kern="1200" cap="none" spc="0" normalizeH="0" baseline="0" noProof="0" dirty="0" smtClean="0">
                <a:ln>
                  <a:noFill/>
                </a:ln>
                <a:solidFill>
                  <a:schemeClr val="tx2"/>
                </a:solidFill>
                <a:effectLst/>
                <a:uLnTx/>
                <a:uFillTx/>
                <a:latin typeface="+mj-lt"/>
                <a:ea typeface="+mj-ea"/>
                <a:cs typeface="+mj-cs"/>
              </a:rPr>
              <a:t>DEPARTMENT OF ZOOLOGY</a:t>
            </a:r>
            <a:br>
              <a:rPr kumimoji="0" lang="en-GB" sz="4000" i="0" u="none" strike="noStrike" kern="1200" cap="none" spc="0" normalizeH="0" baseline="0" noProof="0" dirty="0" smtClean="0">
                <a:ln>
                  <a:noFill/>
                </a:ln>
                <a:solidFill>
                  <a:schemeClr val="tx2"/>
                </a:solidFill>
                <a:effectLst/>
                <a:uLnTx/>
                <a:uFillTx/>
                <a:latin typeface="+mj-lt"/>
                <a:ea typeface="+mj-ea"/>
                <a:cs typeface="+mj-cs"/>
              </a:rPr>
            </a:br>
            <a:endParaRPr kumimoji="0" lang="en-US" sz="400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spd="med">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35108" y="1600200"/>
            <a:ext cx="8766048" cy="4495800"/>
          </a:xfrm>
        </p:spPr>
        <p:txBody>
          <a:bodyPr>
            <a:normAutofit/>
          </a:bodyPr>
          <a:lstStyle/>
          <a:p>
            <a:pPr>
              <a:buFont typeface="Wingdings" pitchFamily="2" charset="2"/>
              <a:buChar char="q"/>
            </a:pPr>
            <a:r>
              <a:rPr lang="en-GB" sz="3200" dirty="0" smtClean="0"/>
              <a:t>The completion of Central Laboratory will open ways for various analyses of samples from multidisciplinary research </a:t>
            </a:r>
            <a:r>
              <a:rPr lang="en-GB" sz="3200" dirty="0" smtClean="0"/>
              <a:t>Institutes. </a:t>
            </a:r>
            <a:r>
              <a:rPr lang="en-GB" sz="3200" dirty="0" smtClean="0"/>
              <a:t>Therefore, serves as one of the major ways of generating revenue for the University.</a:t>
            </a:r>
            <a:endParaRPr lang="en-US" sz="3200" dirty="0"/>
          </a:p>
        </p:txBody>
      </p:sp>
      <p:sp>
        <p:nvSpPr>
          <p:cNvPr id="4" name="Title 1"/>
          <p:cNvSpPr txBox="1">
            <a:spLocks/>
          </p:cNvSpPr>
          <p:nvPr/>
        </p:nvSpPr>
        <p:spPr>
          <a:xfrm>
            <a:off x="214282" y="428604"/>
            <a:ext cx="8715436" cy="714380"/>
          </a:xfrm>
          <a:prstGeom prst="rect">
            <a:avLst/>
          </a:prstGeom>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GB" sz="4000" dirty="0" smtClean="0">
                <a:solidFill>
                  <a:schemeClr val="tx2"/>
                </a:solidFill>
                <a:latin typeface="+mj-lt"/>
                <a:ea typeface="+mj-ea"/>
                <a:cs typeface="+mj-cs"/>
              </a:rPr>
              <a:t>CENTRAL LABORATORY</a:t>
            </a:r>
            <a:r>
              <a:rPr kumimoji="0" lang="en-GB" sz="4000" i="0" u="none" strike="noStrike" kern="1200" cap="none" spc="0" normalizeH="0" baseline="0" noProof="0" dirty="0" smtClean="0">
                <a:ln>
                  <a:noFill/>
                </a:ln>
                <a:solidFill>
                  <a:schemeClr val="tx2"/>
                </a:solidFill>
                <a:effectLst/>
                <a:uLnTx/>
                <a:uFillTx/>
                <a:latin typeface="+mj-lt"/>
                <a:ea typeface="+mj-ea"/>
                <a:cs typeface="+mj-cs"/>
              </a:rPr>
              <a:t/>
            </a:r>
            <a:br>
              <a:rPr kumimoji="0" lang="en-GB" sz="4000" i="0" u="none" strike="noStrike" kern="1200" cap="none" spc="0" normalizeH="0" baseline="0" noProof="0" dirty="0" smtClean="0">
                <a:ln>
                  <a:noFill/>
                </a:ln>
                <a:solidFill>
                  <a:schemeClr val="tx2"/>
                </a:solidFill>
                <a:effectLst/>
                <a:uLnTx/>
                <a:uFillTx/>
                <a:latin typeface="+mj-lt"/>
                <a:ea typeface="+mj-ea"/>
                <a:cs typeface="+mj-cs"/>
              </a:rPr>
            </a:br>
            <a:endParaRPr kumimoji="0" lang="en-US" sz="400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spd="med">
    <p:rand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Strengths</a:t>
            </a:r>
            <a:endParaRPr lang="en-US" dirty="0"/>
          </a:p>
        </p:txBody>
      </p:sp>
      <p:sp>
        <p:nvSpPr>
          <p:cNvPr id="3" name="Content Placeholder 2"/>
          <p:cNvSpPr>
            <a:spLocks noGrp="1"/>
          </p:cNvSpPr>
          <p:nvPr>
            <p:ph sz="quarter" idx="1"/>
          </p:nvPr>
        </p:nvSpPr>
        <p:spPr/>
        <p:txBody>
          <a:bodyPr/>
          <a:lstStyle/>
          <a:p>
            <a:pPr>
              <a:buFont typeface="Wingdings" pitchFamily="2" charset="2"/>
              <a:buChar char="q"/>
            </a:pPr>
            <a:r>
              <a:rPr lang="en-GB" dirty="0" smtClean="0"/>
              <a:t>There are highly qualified academic and average sufficient Technical Staff and hardworking students in the Faculty of Science to work towards the success of all these suggested plans.</a:t>
            </a:r>
            <a:endParaRPr lang="en-US" dirty="0"/>
          </a:p>
        </p:txBody>
      </p:sp>
    </p:spTree>
  </p:cSld>
  <p:clrMapOvr>
    <a:masterClrMapping/>
  </p:clrMapOvr>
  <p:transition spd="med">
    <p:rand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Weakness/Challenges</a:t>
            </a:r>
            <a:endParaRPr lang="en-US" dirty="0"/>
          </a:p>
        </p:txBody>
      </p:sp>
      <p:sp>
        <p:nvSpPr>
          <p:cNvPr id="3" name="Content Placeholder 2"/>
          <p:cNvSpPr>
            <a:spLocks noGrp="1"/>
          </p:cNvSpPr>
          <p:nvPr>
            <p:ph sz="quarter" idx="1"/>
          </p:nvPr>
        </p:nvSpPr>
        <p:spPr>
          <a:xfrm>
            <a:off x="357158" y="1600200"/>
            <a:ext cx="8786842" cy="5257800"/>
          </a:xfrm>
        </p:spPr>
        <p:txBody>
          <a:bodyPr>
            <a:normAutofit lnSpcReduction="10000"/>
          </a:bodyPr>
          <a:lstStyle/>
          <a:p>
            <a:pPr>
              <a:buFont typeface="Wingdings" pitchFamily="2" charset="2"/>
              <a:buChar char="q"/>
            </a:pPr>
            <a:r>
              <a:rPr lang="en-GB" dirty="0" smtClean="0"/>
              <a:t>There are no sufficient Technical Staff</a:t>
            </a:r>
          </a:p>
          <a:p>
            <a:pPr>
              <a:buFont typeface="Wingdings" pitchFamily="2" charset="2"/>
              <a:buChar char="q"/>
            </a:pPr>
            <a:endParaRPr lang="en-GB" dirty="0" smtClean="0"/>
          </a:p>
          <a:p>
            <a:pPr>
              <a:buFont typeface="Wingdings" pitchFamily="2" charset="2"/>
              <a:buChar char="q"/>
            </a:pPr>
            <a:r>
              <a:rPr lang="en-GB" dirty="0" smtClean="0"/>
              <a:t>Equipment for high specialized analyses are not available.</a:t>
            </a:r>
          </a:p>
          <a:p>
            <a:pPr>
              <a:buFont typeface="Wingdings" pitchFamily="2" charset="2"/>
              <a:buChar char="q"/>
            </a:pPr>
            <a:endParaRPr lang="en-GB" dirty="0" smtClean="0"/>
          </a:p>
          <a:p>
            <a:pPr>
              <a:buFont typeface="Wingdings" pitchFamily="2" charset="2"/>
              <a:buChar char="q"/>
            </a:pPr>
            <a:r>
              <a:rPr lang="en-GB" dirty="0" smtClean="0"/>
              <a:t>Maintenance and sustenance of these equipment depends on electricity and water supply</a:t>
            </a:r>
          </a:p>
          <a:p>
            <a:pPr>
              <a:buFont typeface="Wingdings" pitchFamily="2" charset="2"/>
              <a:buChar char="q"/>
            </a:pPr>
            <a:endParaRPr lang="en-GB" dirty="0" smtClean="0"/>
          </a:p>
          <a:p>
            <a:pPr>
              <a:buFont typeface="Wingdings" pitchFamily="2" charset="2"/>
              <a:buChar char="q"/>
            </a:pPr>
            <a:r>
              <a:rPr lang="en-GB" dirty="0" smtClean="0"/>
              <a:t>Lack of space to house the equipment</a:t>
            </a:r>
          </a:p>
          <a:p>
            <a:pPr>
              <a:buFont typeface="Wingdings" pitchFamily="2" charset="2"/>
              <a:buChar char="q"/>
            </a:pPr>
            <a:endParaRPr lang="en-GB" dirty="0" smtClean="0"/>
          </a:p>
          <a:p>
            <a:pPr>
              <a:buFont typeface="Wingdings" pitchFamily="2" charset="2"/>
              <a:buChar char="q"/>
            </a:pPr>
            <a:r>
              <a:rPr lang="en-GB" dirty="0" smtClean="0"/>
              <a:t>Inadequate space for staff</a:t>
            </a:r>
            <a:endParaRPr lang="en-US" dirty="0"/>
          </a:p>
        </p:txBody>
      </p:sp>
    </p:spTree>
  </p:cSld>
  <p:clrMapOvr>
    <a:masterClrMapping/>
  </p:clrMapOvr>
  <p:transition spd="med">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Threats</a:t>
            </a:r>
            <a:endParaRPr lang="en-US" dirty="0"/>
          </a:p>
        </p:txBody>
      </p:sp>
      <p:sp>
        <p:nvSpPr>
          <p:cNvPr id="3" name="Content Placeholder 2"/>
          <p:cNvSpPr>
            <a:spLocks noGrp="1"/>
          </p:cNvSpPr>
          <p:nvPr>
            <p:ph sz="quarter" idx="1"/>
          </p:nvPr>
        </p:nvSpPr>
        <p:spPr/>
        <p:txBody>
          <a:bodyPr/>
          <a:lstStyle/>
          <a:p>
            <a:pPr>
              <a:buFont typeface="Wingdings" pitchFamily="2" charset="2"/>
              <a:buChar char="q"/>
            </a:pPr>
            <a:r>
              <a:rPr lang="en-GB" dirty="0" smtClean="0"/>
              <a:t>Non-availability of funds to purchase necessary equipment and maintenance of these equipment.</a:t>
            </a:r>
          </a:p>
          <a:p>
            <a:pPr>
              <a:buFont typeface="Wingdings" pitchFamily="2" charset="2"/>
              <a:buChar char="q"/>
            </a:pPr>
            <a:endParaRPr lang="en-GB" dirty="0" smtClean="0"/>
          </a:p>
          <a:p>
            <a:pPr>
              <a:buFont typeface="Wingdings" pitchFamily="2" charset="2"/>
              <a:buChar char="q"/>
            </a:pPr>
            <a:r>
              <a:rPr lang="en-GB" dirty="0" smtClean="0"/>
              <a:t>Electricity supply.</a:t>
            </a:r>
            <a:endParaRPr lang="en-US" dirty="0"/>
          </a:p>
        </p:txBody>
      </p:sp>
    </p:spTree>
  </p:cSld>
  <p:clrMapOvr>
    <a:masterClrMapping/>
  </p:clrMapOvr>
  <p:transition spd="med">
    <p:rand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txBox="1">
            <a:spLocks/>
          </p:cNvSpPr>
          <p:nvPr/>
        </p:nvSpPr>
        <p:spPr>
          <a:xfrm>
            <a:off x="1571604" y="0"/>
            <a:ext cx="7572396" cy="4572008"/>
          </a:xfrm>
          <a:prstGeom prst="rect">
            <a:avLst/>
          </a:prstGeom>
          <a:solidFill>
            <a:schemeClr val="accent1">
              <a:tint val="40000"/>
            </a:schemeClr>
          </a:solidFill>
          <a:ln>
            <a:noFill/>
          </a:ln>
        </p:spPr>
        <p:txBody>
          <a:bodyPr vert="horz" anchor="ctr">
            <a:normAutofit/>
          </a:bodyPr>
          <a:lstStyle/>
          <a:p>
            <a:pPr marL="0" marR="0" lvl="0" indent="0" algn="l" defTabSz="914400" rtl="0" eaLnBrk="1" fontAlgn="auto" latinLnBrk="0" hangingPunct="1">
              <a:lnSpc>
                <a:spcPct val="100000"/>
              </a:lnSpc>
              <a:spcBef>
                <a:spcPts val="700"/>
              </a:spcBef>
              <a:spcAft>
                <a:spcPts val="0"/>
              </a:spcAft>
              <a:buClr>
                <a:schemeClr val="accent2"/>
              </a:buClr>
              <a:buSzPct val="60000"/>
              <a:buFont typeface="Wingdings" pitchFamily="2" charset="2"/>
              <a:buChar char="v"/>
              <a:tabLst/>
              <a:defRPr/>
            </a:pPr>
            <a:r>
              <a:rPr kumimoji="0" lang="en-GB" sz="6600" b="0" i="0" u="none" strike="noStrike" kern="1200" cap="none" spc="0" normalizeH="0" baseline="0" noProof="0" dirty="0" smtClean="0">
                <a:ln>
                  <a:noFill/>
                </a:ln>
                <a:solidFill>
                  <a:schemeClr val="tx1"/>
                </a:solidFill>
                <a:effectLst/>
                <a:uLnTx/>
                <a:uFillTx/>
                <a:latin typeface="+mn-lt"/>
                <a:ea typeface="+mn-ea"/>
                <a:cs typeface="+mn-cs"/>
              </a:rPr>
              <a:t>Thank</a:t>
            </a:r>
            <a:r>
              <a:rPr kumimoji="0" lang="en-GB" sz="6600" b="0" i="0" u="none" strike="noStrike" kern="1200" cap="none" spc="0" normalizeH="0" noProof="0" dirty="0" smtClean="0">
                <a:ln>
                  <a:noFill/>
                </a:ln>
                <a:solidFill>
                  <a:schemeClr val="tx1"/>
                </a:solidFill>
                <a:effectLst/>
                <a:uLnTx/>
                <a:uFillTx/>
                <a:latin typeface="+mn-lt"/>
                <a:ea typeface="+mn-ea"/>
                <a:cs typeface="+mn-cs"/>
              </a:rPr>
              <a:t> you.</a:t>
            </a:r>
            <a:endParaRPr kumimoji="0" lang="en-US" sz="6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908</TotalTime>
  <Words>1483</Words>
  <Application>Microsoft Office PowerPoint</Application>
  <PresentationFormat>On-screen Show (4:3)</PresentationFormat>
  <Paragraphs>246</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Median</vt:lpstr>
      <vt:lpstr>FACULTY OF SCIENCE POSITION on review of existing igr drives, Their impact on the university and action plans to propel eksu igr initiatives</vt:lpstr>
      <vt:lpstr>RESOURCES MOBILIZATION FOR INCREASED IGR</vt:lpstr>
      <vt:lpstr>POSITION OF THE FACULTY OF SCIENCE ON THE REVIEW OF EXISTING IGR DRIVES </vt:lpstr>
      <vt:lpstr>DEPARTMENT OF SCIENCE LABORATORY TECHNOLOGY </vt:lpstr>
      <vt:lpstr>DEPARTMENT OF SCIENCE LABORATORY TECHNOLOGY </vt:lpstr>
      <vt:lpstr>DEPARTMENT OF CHEMISTRY </vt:lpstr>
      <vt:lpstr>DEPARTMENT OF CHEMISTRY </vt:lpstr>
      <vt:lpstr>DEPARTMENT OF CHEMISTRY </vt:lpstr>
      <vt:lpstr>Table 1: Relevant Columns suggested to be purchased </vt:lpstr>
      <vt:lpstr>DEPARTMENT OF PLANT SCIENCE </vt:lpstr>
      <vt:lpstr>DEPARTMENT OF PLANT SCIENCE </vt:lpstr>
      <vt:lpstr>Slide 12</vt:lpstr>
      <vt:lpstr>Slide 13</vt:lpstr>
      <vt:lpstr>Slide 14</vt:lpstr>
      <vt:lpstr>Slide 15</vt:lpstr>
      <vt:lpstr>Slide 16</vt:lpstr>
      <vt:lpstr>2. Viability of the Use of Geological/Geophysical Equipment for revenue generating consulting services </vt:lpstr>
      <vt:lpstr>Slide 18</vt:lpstr>
      <vt:lpstr>Slide 19</vt:lpstr>
      <vt:lpstr>Slide 20</vt:lpstr>
      <vt:lpstr>Slide 21</vt:lpstr>
      <vt:lpstr>This Department can generate revenue on this, if the following equipment are available. </vt:lpstr>
      <vt:lpstr>Slide 23</vt:lpstr>
      <vt:lpstr>Slide 24</vt:lpstr>
      <vt:lpstr>Slide 25</vt:lpstr>
      <vt:lpstr>Slide 26</vt:lpstr>
      <vt:lpstr>Slide 27</vt:lpstr>
      <vt:lpstr>Slide 28</vt:lpstr>
      <vt:lpstr>Table 3: Information on Basic Expenses and Income</vt:lpstr>
      <vt:lpstr>Slide 30</vt:lpstr>
      <vt:lpstr>Strengths</vt:lpstr>
      <vt:lpstr>Weakness/Challenges</vt:lpstr>
      <vt:lpstr>Threats</vt:lpstr>
      <vt:lpstr>Slide 34</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FACULTY OF SCIENCE POSITION on review of existing igr drives, Their impact on the university and action plans to propel eksu igr initiatives</dc:title>
  <dc:creator>SCIENCE</dc:creator>
  <cp:lastModifiedBy>SCIENCE</cp:lastModifiedBy>
  <cp:revision>63</cp:revision>
  <dcterms:created xsi:type="dcterms:W3CDTF">2016-01-22T09:38:56Z</dcterms:created>
  <dcterms:modified xsi:type="dcterms:W3CDTF">2016-01-26T17:54:13Z</dcterms:modified>
</cp:coreProperties>
</file>