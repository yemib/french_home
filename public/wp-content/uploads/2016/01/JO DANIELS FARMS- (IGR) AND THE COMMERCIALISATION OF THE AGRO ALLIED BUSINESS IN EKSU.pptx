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3" r:id="rId10"/>
    <p:sldId id="264"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1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3744509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3928944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589557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2106034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2546596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1020687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57731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2901157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39952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2022021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2EE879-B6C9-4301-BC06-A48BF1F60B34}" type="datetimeFigureOut">
              <a:rPr lang="en-GB" smtClean="0"/>
              <a:pPr/>
              <a:t>27/01/2016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2520634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2EE879-B6C9-4301-BC06-A48BF1F60B34}" type="datetimeFigureOut">
              <a:rPr lang="en-GB" smtClean="0"/>
              <a:pPr/>
              <a:t>27/01/2016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0C107D-35DF-407A-A1C0-F27E18858515}" type="slidenum">
              <a:rPr lang="en-GB" smtClean="0"/>
              <a:pPr/>
              <a:t>‹#›</a:t>
            </a:fld>
            <a:endParaRPr lang="en-GB"/>
          </a:p>
        </p:txBody>
      </p:sp>
    </p:spTree>
    <p:extLst>
      <p:ext uri="{BB962C8B-B14F-4D97-AF65-F5344CB8AC3E}">
        <p14:creationId xmlns:p14="http://schemas.microsoft.com/office/powerpoint/2010/main" xmlns="" val="574152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4"/>
            <a:ext cx="7772400" cy="4608512"/>
          </a:xfrm>
        </p:spPr>
        <p:txBody>
          <a:bodyPr>
            <a:normAutofit fontScale="90000"/>
          </a:bodyPr>
          <a:lstStyle/>
          <a:p>
            <a:r>
              <a:rPr lang="en-GB" dirty="0"/>
              <a:t>Internally Generated Revenue (IGR) and the commercialisation of the Agro Allied Business in </a:t>
            </a:r>
            <a:r>
              <a:rPr lang="en-GB" dirty="0" err="1" smtClean="0"/>
              <a:t>Ekiti</a:t>
            </a:r>
            <a:r>
              <a:rPr lang="en-GB" dirty="0" smtClean="0"/>
              <a:t> state University</a:t>
            </a:r>
            <a:br>
              <a:rPr lang="en-GB" dirty="0" smtClean="0"/>
            </a:br>
            <a:r>
              <a:rPr lang="en-GB" dirty="0" smtClean="0"/>
              <a:t>Presented by Oluseye Benson, </a:t>
            </a:r>
            <a:r>
              <a:rPr lang="en-GB" dirty="0" smtClean="0"/>
              <a:t/>
            </a:r>
            <a:br>
              <a:rPr lang="en-GB" dirty="0" smtClean="0"/>
            </a:br>
            <a:r>
              <a:rPr lang="en-GB" dirty="0" smtClean="0"/>
              <a:t>Jo </a:t>
            </a:r>
            <a:r>
              <a:rPr lang="en-GB" dirty="0" smtClean="0"/>
              <a:t>Daniels Farms Limited, </a:t>
            </a:r>
            <a:br>
              <a:rPr lang="en-GB" dirty="0" smtClean="0"/>
            </a:br>
            <a:r>
              <a:rPr lang="en-GB" dirty="0" smtClean="0"/>
              <a:t>Ibadan</a:t>
            </a:r>
            <a:r>
              <a:rPr lang="en-GB" dirty="0"/>
              <a:t/>
            </a:r>
            <a:br>
              <a:rPr lang="en-GB" dirty="0"/>
            </a:br>
            <a:endParaRPr lang="en-GB" dirty="0"/>
          </a:p>
        </p:txBody>
      </p:sp>
    </p:spTree>
    <p:extLst>
      <p:ext uri="{BB962C8B-B14F-4D97-AF65-F5344CB8AC3E}">
        <p14:creationId xmlns:p14="http://schemas.microsoft.com/office/powerpoint/2010/main" xmlns="" val="2271993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lstStyle/>
          <a:p>
            <a:r>
              <a:rPr lang="en-GB" dirty="0" smtClean="0"/>
              <a:t>IGR and schools</a:t>
            </a:r>
          </a:p>
          <a:p>
            <a:pPr lvl="1"/>
            <a:r>
              <a:rPr lang="en-GB" dirty="0" smtClean="0"/>
              <a:t>Source of funding – Federal Government</a:t>
            </a:r>
          </a:p>
          <a:p>
            <a:pPr lvl="1"/>
            <a:r>
              <a:rPr lang="en-GB" dirty="0" smtClean="0"/>
              <a:t>student </a:t>
            </a:r>
            <a:r>
              <a:rPr lang="en-GB" dirty="0"/>
              <a:t>fees / levies, grants, </a:t>
            </a:r>
            <a:endParaRPr lang="en-GB" dirty="0" smtClean="0"/>
          </a:p>
          <a:p>
            <a:pPr lvl="1"/>
            <a:r>
              <a:rPr lang="en-GB" dirty="0" smtClean="0"/>
              <a:t>private </a:t>
            </a:r>
            <a:r>
              <a:rPr lang="en-GB" dirty="0"/>
              <a:t>sector contributions (e.g. endowments, gifts and donations </a:t>
            </a:r>
            <a:r>
              <a:rPr lang="en-GB" dirty="0" err="1"/>
              <a:t>etc</a:t>
            </a:r>
            <a:r>
              <a:rPr lang="en-GB" dirty="0"/>
              <a:t>) </a:t>
            </a:r>
            <a:endParaRPr lang="en-GB" dirty="0" smtClean="0"/>
          </a:p>
          <a:p>
            <a:pPr lvl="1"/>
            <a:r>
              <a:rPr lang="en-GB" dirty="0" smtClean="0"/>
              <a:t>commercial </a:t>
            </a:r>
            <a:r>
              <a:rPr lang="en-GB" dirty="0"/>
              <a:t>activities/consultancy and other diverse initiatives such as ventures in water making, bread baking and Agricultural products value-add.</a:t>
            </a:r>
          </a:p>
          <a:p>
            <a:pPr lvl="1"/>
            <a:endParaRPr lang="en-GB" dirty="0"/>
          </a:p>
        </p:txBody>
      </p:sp>
    </p:spTree>
    <p:extLst>
      <p:ext uri="{BB962C8B-B14F-4D97-AF65-F5344CB8AC3E}">
        <p14:creationId xmlns:p14="http://schemas.microsoft.com/office/powerpoint/2010/main" xmlns="" val="686790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Agricultural </a:t>
            </a:r>
            <a:r>
              <a:rPr lang="en-GB" b="1" dirty="0" smtClean="0"/>
              <a:t>Development</a:t>
            </a:r>
            <a:endParaRPr lang="en-GB" dirty="0"/>
          </a:p>
        </p:txBody>
      </p:sp>
      <p:sp>
        <p:nvSpPr>
          <p:cNvPr id="3" name="Content Placeholder 2"/>
          <p:cNvSpPr>
            <a:spLocks noGrp="1"/>
          </p:cNvSpPr>
          <p:nvPr>
            <p:ph idx="1"/>
          </p:nvPr>
        </p:nvSpPr>
        <p:spPr/>
        <p:txBody>
          <a:bodyPr>
            <a:normAutofit lnSpcReduction="10000"/>
          </a:bodyPr>
          <a:lstStyle/>
          <a:p>
            <a:r>
              <a:rPr lang="en-GB" dirty="0"/>
              <a:t>In rural states, more than two-thirds or more of the people live in rural areas and their main occupation is agriculture. </a:t>
            </a:r>
            <a:endParaRPr lang="en-GB" dirty="0" smtClean="0"/>
          </a:p>
          <a:p>
            <a:r>
              <a:rPr lang="en-GB" dirty="0" smtClean="0"/>
              <a:t>Constraints</a:t>
            </a:r>
          </a:p>
          <a:p>
            <a:pPr lvl="1"/>
            <a:r>
              <a:rPr lang="en-GB" dirty="0"/>
              <a:t>Unproductive, </a:t>
            </a:r>
            <a:endParaRPr lang="en-GB" sz="2000" dirty="0"/>
          </a:p>
          <a:p>
            <a:pPr lvl="1"/>
            <a:r>
              <a:rPr lang="en-GB" dirty="0"/>
              <a:t>Carried out in old-fashion, obsolete and outdated methods of </a:t>
            </a:r>
            <a:r>
              <a:rPr lang="en-GB" dirty="0" smtClean="0"/>
              <a:t>production</a:t>
            </a:r>
          </a:p>
          <a:p>
            <a:pPr lvl="1"/>
            <a:r>
              <a:rPr lang="en-GB" dirty="0"/>
              <a:t>The average land holding is low and the yield from the land is precariously low and the peasants continue to live at a bare subsistence.</a:t>
            </a:r>
          </a:p>
          <a:p>
            <a:pPr lvl="1"/>
            <a:endParaRPr lang="en-GB" dirty="0"/>
          </a:p>
        </p:txBody>
      </p:sp>
    </p:spTree>
    <p:extLst>
      <p:ext uri="{BB962C8B-B14F-4D97-AF65-F5344CB8AC3E}">
        <p14:creationId xmlns:p14="http://schemas.microsoft.com/office/powerpoint/2010/main" xmlns="" val="150440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GB" dirty="0"/>
              <a:t>Agriculture is central to the economy of the country, hence the clamour for inclusive agriculture; which is the growth in the agricultural sector in a way that access to opportunities are provided for the majority, especially rural poor, while protecting the weak. To this end, the university is better placed primarily because of its location, to act in this capacity as there is an inherent belief that what comes out of the university(</a:t>
            </a:r>
            <a:r>
              <a:rPr lang="en-GB" dirty="0" err="1"/>
              <a:t>ies</a:t>
            </a:r>
            <a:r>
              <a:rPr lang="en-GB" dirty="0"/>
              <a:t>) is better than what people can get from the outside world. This in turn will help fuel the research going into commercialisation of the agro allied business within the institution and help the developmental stages for the progression of the commercial viability of the institution.</a:t>
            </a:r>
          </a:p>
          <a:p>
            <a:endParaRPr lang="en-GB" dirty="0"/>
          </a:p>
        </p:txBody>
      </p:sp>
    </p:spTree>
    <p:extLst>
      <p:ext uri="{BB962C8B-B14F-4D97-AF65-F5344CB8AC3E}">
        <p14:creationId xmlns:p14="http://schemas.microsoft.com/office/powerpoint/2010/main" xmlns="" val="1699923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Opportunities</a:t>
            </a:r>
            <a:endParaRPr lang="en-GB" dirty="0"/>
          </a:p>
        </p:txBody>
      </p:sp>
      <p:sp>
        <p:nvSpPr>
          <p:cNvPr id="3" name="Content Placeholder 2"/>
          <p:cNvSpPr>
            <a:spLocks noGrp="1"/>
          </p:cNvSpPr>
          <p:nvPr>
            <p:ph idx="1"/>
          </p:nvPr>
        </p:nvSpPr>
        <p:spPr/>
        <p:txBody>
          <a:bodyPr>
            <a:normAutofit fontScale="77500" lnSpcReduction="20000"/>
          </a:bodyPr>
          <a:lstStyle/>
          <a:p>
            <a:r>
              <a:rPr lang="en-GB" dirty="0"/>
              <a:t>Investment opportunities arising from the Teaching and Research farm are numerous and can be harnessed into a proper commercial venture without compromising the research aspect of the institution for as long as there is a clear cut demarcation between what is research and what is investment and the two treated as such.</a:t>
            </a:r>
          </a:p>
          <a:p>
            <a:r>
              <a:rPr lang="en-GB" dirty="0"/>
              <a:t>It is the intention of the IGR to address the shortfall in revenue accruing from the funding to the universities</a:t>
            </a:r>
          </a:p>
          <a:p>
            <a:r>
              <a:rPr lang="en-GB" dirty="0"/>
              <a:t>To this end, the opportunities available from within the university in terms of agricultural ventures can be divided into crop production, Animal production and Improvement management as well as the commercialisation of ventures that add value to the production and processing of these two areas.</a:t>
            </a:r>
          </a:p>
          <a:p>
            <a:endParaRPr lang="en-GB" dirty="0"/>
          </a:p>
        </p:txBody>
      </p:sp>
    </p:spTree>
    <p:extLst>
      <p:ext uri="{BB962C8B-B14F-4D97-AF65-F5344CB8AC3E}">
        <p14:creationId xmlns:p14="http://schemas.microsoft.com/office/powerpoint/2010/main" xmlns="" val="3728054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145435"/>
          </a:xfrm>
        </p:spPr>
        <p:txBody>
          <a:bodyPr>
            <a:normAutofit fontScale="62500" lnSpcReduction="20000"/>
          </a:bodyPr>
          <a:lstStyle/>
          <a:p>
            <a:r>
              <a:rPr lang="en-GB" dirty="0"/>
              <a:t>At the moment, it is my understanding that the University has the following crops in production; cassava, Plantain and mostly oil palm but not at the level that will sustain commercial viability due to the constraint of land and human resources. </a:t>
            </a:r>
          </a:p>
          <a:p>
            <a:r>
              <a:rPr lang="en-GB" dirty="0"/>
              <a:t>In terms of animal production, the following animals are presently being raised in the university farm; cattle (10-20), sheep and goat, pigs, poultry comprising mainly of layer birds. It is important to note that of all of the animals produced; the poultry is still by far the most advanced in terms of revenue generation but has not been optimised due to the constraint of space and conversion of existing building to other forms of activities.</a:t>
            </a:r>
          </a:p>
          <a:p>
            <a:r>
              <a:rPr lang="en-GB" dirty="0"/>
              <a:t>Both the crop and animal production are presently geared towards just teaching and research. This implies that the university is spending most of its resources in this area but not getting anything back in return. </a:t>
            </a:r>
            <a:endParaRPr lang="en-GB" dirty="0" smtClean="0"/>
          </a:p>
          <a:p>
            <a:r>
              <a:rPr lang="en-GB" dirty="0"/>
              <a:t>Teaching and research is very important to the development of any institution and should rightly be funded as such. The issue is that there must be a concerted effort to support the T&amp;R from funds internally generated in these areas to aid continuity and improved research outcomes.</a:t>
            </a:r>
          </a:p>
          <a:p>
            <a:endParaRPr lang="en-GB" dirty="0"/>
          </a:p>
          <a:p>
            <a:endParaRPr lang="en-GB" dirty="0"/>
          </a:p>
        </p:txBody>
      </p:sp>
    </p:spTree>
    <p:extLst>
      <p:ext uri="{BB962C8B-B14F-4D97-AF65-F5344CB8AC3E}">
        <p14:creationId xmlns:p14="http://schemas.microsoft.com/office/powerpoint/2010/main" xmlns="" val="4144797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Jo Daniels Farms Limited</a:t>
            </a:r>
            <a:endParaRPr lang="en-GB" dirty="0"/>
          </a:p>
        </p:txBody>
      </p:sp>
      <p:sp>
        <p:nvSpPr>
          <p:cNvPr id="3" name="Content Placeholder 2"/>
          <p:cNvSpPr>
            <a:spLocks noGrp="1"/>
          </p:cNvSpPr>
          <p:nvPr>
            <p:ph idx="1"/>
          </p:nvPr>
        </p:nvSpPr>
        <p:spPr/>
        <p:txBody>
          <a:bodyPr>
            <a:normAutofit fontScale="62500" lnSpcReduction="20000"/>
          </a:bodyPr>
          <a:lstStyle/>
          <a:p>
            <a:r>
              <a:rPr lang="en-GB" sz="3400" dirty="0"/>
              <a:t>Our company, aside being a farm that has invested a huge sum of money in the setup of an agro allied business, has also advised a number of farms on the technical areas to better utilize the resources available to them to produce better results. Our consultancy arm deals with both individuals and institutions alike.</a:t>
            </a:r>
          </a:p>
          <a:p>
            <a:r>
              <a:rPr lang="en-GB" sz="3400" dirty="0"/>
              <a:t>We have also been involved with the University of Ibadan’s teaching and research farm since 2012 in advisory capacity and as technical consultants in the piggery unit.</a:t>
            </a:r>
          </a:p>
          <a:p>
            <a:r>
              <a:rPr lang="en-GB" sz="3400" dirty="0"/>
              <a:t>Our farm is presently working with CCPZ which has been given a grant of $6.4 million to combat transmission of diseases both in human and animals. We are presently working to implement a GPS solution to pig farms in Oyo state to map out their location, proximity from each other and road network within the state as it relates to the pig farms. This is to help situation should there be a contagious disease outbreak.</a:t>
            </a:r>
          </a:p>
          <a:p>
            <a:endParaRPr lang="en-GB" dirty="0"/>
          </a:p>
        </p:txBody>
      </p:sp>
    </p:spTree>
    <p:extLst>
      <p:ext uri="{BB962C8B-B14F-4D97-AF65-F5344CB8AC3E}">
        <p14:creationId xmlns:p14="http://schemas.microsoft.com/office/powerpoint/2010/main" xmlns="" val="355508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Cont’d</a:t>
            </a:r>
            <a:endParaRPr lang="en-GB" dirty="0"/>
          </a:p>
        </p:txBody>
      </p:sp>
      <p:sp>
        <p:nvSpPr>
          <p:cNvPr id="3" name="Content Placeholder 2"/>
          <p:cNvSpPr>
            <a:spLocks noGrp="1"/>
          </p:cNvSpPr>
          <p:nvPr>
            <p:ph idx="1"/>
          </p:nvPr>
        </p:nvSpPr>
        <p:spPr/>
        <p:txBody>
          <a:bodyPr/>
          <a:lstStyle/>
          <a:p>
            <a:r>
              <a:rPr lang="en-GB" dirty="0" smtClean="0"/>
              <a:t>We have also consulted for IAR&amp;T in the establishment of its stud farms in Ogun state and Benue state.</a:t>
            </a:r>
          </a:p>
          <a:p>
            <a:r>
              <a:rPr lang="en-GB" dirty="0" smtClean="0"/>
              <a:t>We are presently engaging NACGREB in the creation of gene pool for the swine industry.</a:t>
            </a:r>
          </a:p>
          <a:p>
            <a:r>
              <a:rPr lang="en-GB" dirty="0" smtClean="0"/>
              <a:t>We are presently the only indigenous Nigerian company with a pedigree breed of </a:t>
            </a:r>
            <a:r>
              <a:rPr lang="en-GB" dirty="0" err="1" smtClean="0"/>
              <a:t>Largewhite</a:t>
            </a:r>
            <a:r>
              <a:rPr lang="en-GB" dirty="0" smtClean="0"/>
              <a:t>, Landrace and Duroc Pigs from the UK. </a:t>
            </a:r>
          </a:p>
          <a:p>
            <a:endParaRPr lang="en-GB" dirty="0"/>
          </a:p>
        </p:txBody>
      </p:sp>
    </p:spTree>
    <p:extLst>
      <p:ext uri="{BB962C8B-B14F-4D97-AF65-F5344CB8AC3E}">
        <p14:creationId xmlns:p14="http://schemas.microsoft.com/office/powerpoint/2010/main" xmlns="" val="1445391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Proposals</a:t>
            </a:r>
            <a:endParaRPr lang="en-GB" dirty="0"/>
          </a:p>
        </p:txBody>
      </p:sp>
      <p:sp>
        <p:nvSpPr>
          <p:cNvPr id="3" name="Content Placeholder 2"/>
          <p:cNvSpPr>
            <a:spLocks noGrp="1"/>
          </p:cNvSpPr>
          <p:nvPr>
            <p:ph idx="1"/>
          </p:nvPr>
        </p:nvSpPr>
        <p:spPr/>
        <p:txBody>
          <a:bodyPr>
            <a:normAutofit lnSpcReduction="10000"/>
          </a:bodyPr>
          <a:lstStyle/>
          <a:p>
            <a:r>
              <a:rPr lang="en-GB" dirty="0"/>
              <a:t>Some of the projects we have been a part of and </a:t>
            </a:r>
            <a:r>
              <a:rPr lang="en-GB" dirty="0" smtClean="0"/>
              <a:t>successfully </a:t>
            </a:r>
            <a:r>
              <a:rPr lang="en-GB" dirty="0"/>
              <a:t>established include; </a:t>
            </a:r>
          </a:p>
          <a:p>
            <a:r>
              <a:rPr lang="en-GB" dirty="0"/>
              <a:t>Poultry farms, </a:t>
            </a:r>
          </a:p>
          <a:p>
            <a:r>
              <a:rPr lang="en-GB" dirty="0"/>
              <a:t>Fish farms</a:t>
            </a:r>
          </a:p>
          <a:p>
            <a:r>
              <a:rPr lang="en-GB" dirty="0"/>
              <a:t>Breeder piggery farms</a:t>
            </a:r>
          </a:p>
          <a:p>
            <a:r>
              <a:rPr lang="en-GB" dirty="0"/>
              <a:t>Pig Stud farm</a:t>
            </a:r>
          </a:p>
          <a:p>
            <a:r>
              <a:rPr lang="en-GB" dirty="0"/>
              <a:t>Cane rat farms</a:t>
            </a:r>
          </a:p>
          <a:p>
            <a:r>
              <a:rPr lang="en-GB" dirty="0"/>
              <a:t>Snail </a:t>
            </a:r>
            <a:r>
              <a:rPr lang="en-GB" dirty="0" smtClean="0"/>
              <a:t>farms</a:t>
            </a:r>
            <a:endParaRPr lang="en-GB" dirty="0"/>
          </a:p>
        </p:txBody>
      </p:sp>
    </p:spTree>
    <p:extLst>
      <p:ext uri="{BB962C8B-B14F-4D97-AF65-F5344CB8AC3E}">
        <p14:creationId xmlns:p14="http://schemas.microsoft.com/office/powerpoint/2010/main" xmlns="" val="286654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Cont’d</a:t>
            </a:r>
            <a:endParaRPr lang="en-GB" dirty="0"/>
          </a:p>
        </p:txBody>
      </p:sp>
      <p:sp>
        <p:nvSpPr>
          <p:cNvPr id="3" name="Content Placeholder 2"/>
          <p:cNvSpPr>
            <a:spLocks noGrp="1"/>
          </p:cNvSpPr>
          <p:nvPr>
            <p:ph idx="1"/>
          </p:nvPr>
        </p:nvSpPr>
        <p:spPr/>
        <p:txBody>
          <a:bodyPr>
            <a:normAutofit fontScale="70000" lnSpcReduction="20000"/>
          </a:bodyPr>
          <a:lstStyle/>
          <a:p>
            <a:pPr marL="0" indent="0">
              <a:buNone/>
            </a:pPr>
            <a:r>
              <a:rPr lang="en-GB" b="1" dirty="0" smtClean="0"/>
              <a:t>Value added ventures</a:t>
            </a:r>
            <a:endParaRPr lang="en-GB" dirty="0" smtClean="0"/>
          </a:p>
          <a:p>
            <a:r>
              <a:rPr lang="en-GB" dirty="0" smtClean="0"/>
              <a:t>Pork</a:t>
            </a:r>
          </a:p>
          <a:p>
            <a:r>
              <a:rPr lang="en-GB" dirty="0" smtClean="0"/>
              <a:t>Beef</a:t>
            </a:r>
          </a:p>
          <a:p>
            <a:r>
              <a:rPr lang="en-GB" dirty="0" smtClean="0"/>
              <a:t>Cassava and </a:t>
            </a:r>
            <a:r>
              <a:rPr lang="en-GB" dirty="0" err="1" smtClean="0"/>
              <a:t>Garri</a:t>
            </a:r>
            <a:r>
              <a:rPr lang="en-GB" dirty="0" smtClean="0"/>
              <a:t> processing unit (</a:t>
            </a:r>
            <a:r>
              <a:rPr lang="en-GB" dirty="0" err="1" smtClean="0"/>
              <a:t>Vit</a:t>
            </a:r>
            <a:r>
              <a:rPr lang="en-GB" dirty="0" smtClean="0"/>
              <a:t> A Cassava chips)</a:t>
            </a:r>
          </a:p>
          <a:p>
            <a:r>
              <a:rPr lang="en-GB" dirty="0" smtClean="0"/>
              <a:t>Plantain chips production</a:t>
            </a:r>
          </a:p>
          <a:p>
            <a:r>
              <a:rPr lang="en-GB" dirty="0" smtClean="0"/>
              <a:t>Pineapple cultivation and processing into pulp for export market </a:t>
            </a:r>
          </a:p>
          <a:p>
            <a:r>
              <a:rPr lang="en-GB" dirty="0" smtClean="0"/>
              <a:t>Smoked fish</a:t>
            </a:r>
          </a:p>
          <a:p>
            <a:r>
              <a:rPr lang="en-GB" dirty="0" smtClean="0"/>
              <a:t>Sourcing and slaughtering of animals for sale to the public.</a:t>
            </a:r>
          </a:p>
          <a:p>
            <a:r>
              <a:rPr lang="en-GB" dirty="0" smtClean="0"/>
              <a:t>Training based programmes in farming to generate revenue </a:t>
            </a:r>
          </a:p>
          <a:p>
            <a:r>
              <a:rPr lang="en-GB" dirty="0" smtClean="0"/>
              <a:t>Other contributions Jo Daniels Farms have made to institutions include training undergraduates during their internship programme, </a:t>
            </a:r>
          </a:p>
          <a:p>
            <a:r>
              <a:rPr lang="en-GB" dirty="0" smtClean="0"/>
              <a:t>Providing short courses to help students understand the basis of entrepreneurship</a:t>
            </a:r>
          </a:p>
          <a:p>
            <a:endParaRPr lang="en-GB" dirty="0" smtClean="0"/>
          </a:p>
          <a:p>
            <a:endParaRPr lang="en-GB" dirty="0"/>
          </a:p>
        </p:txBody>
      </p:sp>
    </p:spTree>
    <p:extLst>
      <p:ext uri="{BB962C8B-B14F-4D97-AF65-F5344CB8AC3E}">
        <p14:creationId xmlns:p14="http://schemas.microsoft.com/office/powerpoint/2010/main" xmlns="" val="1808237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a:t>
            </a:r>
            <a:endParaRPr lang="en-GB" dirty="0"/>
          </a:p>
        </p:txBody>
      </p:sp>
      <p:sp>
        <p:nvSpPr>
          <p:cNvPr id="3" name="Content Placeholder 2"/>
          <p:cNvSpPr>
            <a:spLocks noGrp="1"/>
          </p:cNvSpPr>
          <p:nvPr>
            <p:ph idx="1"/>
          </p:nvPr>
        </p:nvSpPr>
        <p:spPr/>
        <p:txBody>
          <a:bodyPr>
            <a:normAutofit fontScale="77500" lnSpcReduction="20000"/>
          </a:bodyPr>
          <a:lstStyle/>
          <a:p>
            <a:r>
              <a:rPr lang="en-GB" dirty="0"/>
              <a:t>Depending on the direction the university is willing to take, we are prepared and positioned to help steer the university technically to the next level in attaining a commercially viable agric-business.</a:t>
            </a:r>
          </a:p>
          <a:p>
            <a:r>
              <a:rPr lang="en-GB" dirty="0"/>
              <a:t>To become a commercially viable venture, the university needs to establish an office of the T&amp;R farm, headed by someone from the university with business acumen and a passion for farming and its success. The appointed Director will oversee the progress of activities in the establishment of the amalgamated teaching and research farm.</a:t>
            </a:r>
          </a:p>
          <a:p>
            <a:r>
              <a:rPr lang="en-GB" dirty="0"/>
              <a:t>Efforts must be made to gainfully utilise the resources available at the university‘s disposal to optimise the opportunity to commercially setup, run and aid the teaching and research  programme of the institution.</a:t>
            </a:r>
          </a:p>
          <a:p>
            <a:endParaRPr lang="en-GB" dirty="0"/>
          </a:p>
        </p:txBody>
      </p:sp>
    </p:spTree>
    <p:extLst>
      <p:ext uri="{BB962C8B-B14F-4D97-AF65-F5344CB8AC3E}">
        <p14:creationId xmlns:p14="http://schemas.microsoft.com/office/powerpoint/2010/main" xmlns="" val="515969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1061</Words>
  <Application>Microsoft Office PowerPoint</Application>
  <PresentationFormat>On-screen Show (4:3)</PresentationFormat>
  <Paragraphs>54</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Internally Generated Revenue (IGR) and the commercialisation of the Agro Allied Business in Ekiti state University Presented by Oluseye Benson,  Jo Daniels Farms Limited,  Ibadan </vt:lpstr>
      <vt:lpstr>Introduction</vt:lpstr>
      <vt:lpstr>Agricultural Development</vt:lpstr>
      <vt:lpstr>Slide 4</vt:lpstr>
      <vt:lpstr>Opportunities</vt:lpstr>
      <vt:lpstr>Slide 6</vt:lpstr>
      <vt:lpstr>Jo Daniels Farms Limited</vt:lpstr>
      <vt:lpstr>Cont’d</vt:lpstr>
      <vt:lpstr>Proposals</vt:lpstr>
      <vt:lpstr>Cont’d</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Internally Generated Revenue (IGR) and the commercialisation of the Agro Allied Business in Ekiti state University Presented by Oluseye Benson, Jo Daniels Farms Limited, Ibadan</dc:title>
  <dc:creator>Oluseye Benson</dc:creator>
  <cp:lastModifiedBy>Ogundipe Folake</cp:lastModifiedBy>
  <cp:revision>6</cp:revision>
  <dcterms:created xsi:type="dcterms:W3CDTF">2016-01-27T10:16:32Z</dcterms:created>
  <dcterms:modified xsi:type="dcterms:W3CDTF">2016-01-27T11:43:35Z</dcterms:modified>
</cp:coreProperties>
</file>