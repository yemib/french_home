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68"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ECEF32F-0670-435B-9558-54B1C3931396}" type="datetimeFigureOut">
              <a:rPr lang="en-US" smtClean="0"/>
              <a:t>1/27/2016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6291480B-76FE-4786-9F38-2F64FB2130AE}" type="slidenum">
              <a:rPr lang="en-US" smtClean="0"/>
              <a:t>‹#›</a:t>
            </a:fld>
            <a:endParaRPr lang="en-US"/>
          </a:p>
        </p:txBody>
      </p:sp>
    </p:spTree>
    <p:extLst>
      <p:ext uri="{BB962C8B-B14F-4D97-AF65-F5344CB8AC3E}">
        <p14:creationId xmlns:p14="http://schemas.microsoft.com/office/powerpoint/2010/main" val="2981526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291480B-76FE-4786-9F38-2F64FB2130AE}" type="slidenum">
              <a:rPr lang="en-US" smtClean="0"/>
              <a:t>5</a:t>
            </a:fld>
            <a:endParaRPr lang="en-US"/>
          </a:p>
        </p:txBody>
      </p:sp>
    </p:spTree>
    <p:extLst>
      <p:ext uri="{BB962C8B-B14F-4D97-AF65-F5344CB8AC3E}">
        <p14:creationId xmlns:p14="http://schemas.microsoft.com/office/powerpoint/2010/main" val="1757709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5A91669D-6DD5-4562-84FF-DCCA96F5085F}" type="datetimeFigureOut">
              <a:rPr lang="en-US" smtClean="0"/>
              <a:t>1/27/2016</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8EA42993-5250-4F44-989E-6616E4CABC1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5A91669D-6DD5-4562-84FF-DCCA96F5085F}" type="datetimeFigureOut">
              <a:rPr lang="en-US" smtClean="0"/>
              <a:t>1/27/2016</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8EA42993-5250-4F44-989E-6616E4CABC1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5A91669D-6DD5-4562-84FF-DCCA96F5085F}" type="datetimeFigureOut">
              <a:rPr lang="en-US" smtClean="0"/>
              <a:t>1/27/2016</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8EA42993-5250-4F44-989E-6616E4CABC12}"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5A91669D-6DD5-4562-84FF-DCCA96F5085F}" type="datetimeFigureOut">
              <a:rPr lang="en-US" smtClean="0"/>
              <a:t>1/27/2016</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5A91669D-6DD5-4562-84FF-DCCA96F5085F}" type="datetimeFigureOut">
              <a:rPr lang="en-US" smtClean="0"/>
              <a:t>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8EA42993-5250-4F44-989E-6616E4CABC12}"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A91669D-6DD5-4562-84FF-DCCA96F5085F}" type="datetimeFigureOut">
              <a:rPr lang="en-US" smtClean="0"/>
              <a:t>1/27/2016</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1669D-6DD5-4562-84FF-DCCA96F5085F}" type="datetimeFigureOut">
              <a:rPr lang="en-US" smtClean="0"/>
              <a:t>1/27/2016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5A91669D-6DD5-4562-84FF-DCCA96F5085F}" type="datetimeFigureOut">
              <a:rPr lang="en-US" smtClean="0"/>
              <a:t>1/27/2016</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5A91669D-6DD5-4562-84FF-DCCA96F5085F}" type="datetimeFigureOut">
              <a:rPr lang="en-US" smtClean="0"/>
              <a:t>1/27/2016</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8EA42993-5250-4F44-989E-6616E4CABC12}"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A91669D-6DD5-4562-84FF-DCCA96F5085F}" type="datetimeFigureOut">
              <a:rPr lang="en-US" smtClean="0"/>
              <a:t>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A91669D-6DD5-4562-84FF-DCCA96F5085F}" type="datetimeFigureOut">
              <a:rPr lang="en-US" smtClean="0"/>
              <a:t>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5A91669D-6DD5-4562-84FF-DCCA96F5085F}" type="datetimeFigureOut">
              <a:rPr lang="en-US" smtClean="0"/>
              <a:t>1/27/2016</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8EA42993-5250-4F44-989E-6616E4CABC12}"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9906000" cy="3733800"/>
          </a:xfrm>
        </p:spPr>
        <p:txBody>
          <a:bodyPr>
            <a:normAutofit fontScale="90000"/>
          </a:bodyPr>
          <a:lstStyle/>
          <a:p>
            <a:pPr algn="ctr"/>
            <a:r>
              <a:rPr lang="en-US" b="1" dirty="0">
                <a:effectLst/>
                <a:latin typeface="Algerian" pitchFamily="82" charset="0"/>
                <a:cs typeface="Times New Roman" pitchFamily="18" charset="0"/>
              </a:rPr>
              <a:t>A SWOT ANALYSIS </a:t>
            </a:r>
            <a:r>
              <a:rPr lang="en-US" b="1" dirty="0" smtClean="0">
                <a:effectLst/>
                <a:latin typeface="Algerian" pitchFamily="82" charset="0"/>
                <a:cs typeface="Times New Roman" pitchFamily="18" charset="0"/>
              </a:rPr>
              <a:t/>
            </a:r>
            <a:br>
              <a:rPr lang="en-US" b="1" dirty="0" smtClean="0">
                <a:effectLst/>
                <a:latin typeface="Algerian" pitchFamily="82" charset="0"/>
                <a:cs typeface="Times New Roman" pitchFamily="18" charset="0"/>
              </a:rPr>
            </a:br>
            <a:r>
              <a:rPr lang="en-US" b="1" dirty="0" smtClean="0">
                <a:effectLst/>
                <a:latin typeface="Algerian" pitchFamily="82" charset="0"/>
                <a:cs typeface="Times New Roman" pitchFamily="18" charset="0"/>
              </a:rPr>
              <a:t>OF </a:t>
            </a:r>
            <a:br>
              <a:rPr lang="en-US" b="1" dirty="0" smtClean="0">
                <a:effectLst/>
                <a:latin typeface="Algerian" pitchFamily="82" charset="0"/>
                <a:cs typeface="Times New Roman" pitchFamily="18" charset="0"/>
              </a:rPr>
            </a:br>
            <a:r>
              <a:rPr lang="en-US" b="1" dirty="0" smtClean="0">
                <a:effectLst/>
                <a:latin typeface="Algerian" pitchFamily="82" charset="0"/>
                <a:cs typeface="Times New Roman" pitchFamily="18" charset="0"/>
              </a:rPr>
              <a:t>THE </a:t>
            </a:r>
            <a:r>
              <a:rPr lang="en-US" b="1" dirty="0">
                <a:effectLst/>
                <a:latin typeface="Algerian" pitchFamily="82" charset="0"/>
                <a:cs typeface="Times New Roman" pitchFamily="18" charset="0"/>
              </a:rPr>
              <a:t>INSTITUTE </a:t>
            </a:r>
            <a:r>
              <a:rPr lang="en-US" b="1" dirty="0" smtClean="0">
                <a:effectLst/>
                <a:latin typeface="Algerian" pitchFamily="82" charset="0"/>
                <a:cs typeface="Times New Roman" pitchFamily="18" charset="0"/>
              </a:rPr>
              <a:t>OF PEACE</a:t>
            </a:r>
            <a:r>
              <a:rPr lang="en-US" b="1" dirty="0">
                <a:effectLst/>
                <a:latin typeface="Algerian" pitchFamily="82" charset="0"/>
                <a:cs typeface="Times New Roman" pitchFamily="18" charset="0"/>
              </a:rPr>
              <a:t>, SECURITY </a:t>
            </a:r>
            <a:r>
              <a:rPr lang="en-US" b="1" dirty="0" smtClean="0">
                <a:effectLst/>
                <a:latin typeface="Algerian" pitchFamily="82" charset="0"/>
                <a:cs typeface="Times New Roman" pitchFamily="18" charset="0"/>
              </a:rPr>
              <a:t>AND GOVERNANCE </a:t>
            </a:r>
            <a:r>
              <a:rPr lang="en-US" b="1" dirty="0">
                <a:effectLst/>
                <a:latin typeface="Algerian" pitchFamily="82" charset="0"/>
                <a:cs typeface="Times New Roman" pitchFamily="18" charset="0"/>
              </a:rPr>
              <a:t>AND RECOMMENDATIONS FOR PROPELLING WEALTH CREATION FOR THE UNIVERSITY </a:t>
            </a:r>
            <a:r>
              <a:rPr lang="en-US" b="1" dirty="0" smtClean="0">
                <a:effectLst/>
              </a:rPr>
              <a:t/>
            </a:r>
            <a:br>
              <a:rPr lang="en-US" b="1" dirty="0" smtClean="0">
                <a:effectLst/>
              </a:rPr>
            </a:br>
            <a:r>
              <a:rPr lang="en-US" b="1" dirty="0" smtClean="0">
                <a:effectLst/>
              </a:rPr>
              <a:t/>
            </a:r>
            <a:br>
              <a:rPr lang="en-US" b="1" dirty="0" smtClean="0">
                <a:effectLst/>
              </a:rPr>
            </a:br>
            <a:r>
              <a:rPr lang="en-US" b="1" dirty="0" smtClean="0">
                <a:effectLst/>
              </a:rPr>
              <a:t>PRESENTED</a:t>
            </a:r>
            <a:br>
              <a:rPr lang="en-US" b="1" dirty="0" smtClean="0">
                <a:effectLst/>
              </a:rPr>
            </a:br>
            <a:r>
              <a:rPr lang="en-US" b="1" dirty="0" smtClean="0">
                <a:effectLst/>
              </a:rPr>
              <a:t> </a:t>
            </a:r>
            <a:r>
              <a:rPr lang="en-US" b="1" dirty="0">
                <a:effectLst/>
              </a:rPr>
              <a:t>AT THE IGR SUMMIT </a:t>
            </a:r>
            <a:r>
              <a:rPr lang="en-US" b="1" dirty="0" smtClean="0">
                <a:effectLst/>
              </a:rPr>
              <a:t/>
            </a:r>
            <a:br>
              <a:rPr lang="en-US" b="1" dirty="0" smtClean="0">
                <a:effectLst/>
              </a:rPr>
            </a:br>
            <a:r>
              <a:rPr lang="en-US" b="1" dirty="0" smtClean="0">
                <a:effectLst/>
              </a:rPr>
              <a:t>ORGANIZED </a:t>
            </a:r>
            <a:r>
              <a:rPr lang="en-US" b="1" dirty="0">
                <a:effectLst/>
              </a:rPr>
              <a:t>BY EKITI STATE UNIVERSITY</a:t>
            </a:r>
            <a:r>
              <a:rPr lang="en-US" dirty="0">
                <a:effectLst/>
              </a:rPr>
              <a:t/>
            </a:r>
            <a:br>
              <a:rPr lang="en-US" dirty="0">
                <a:effectLst/>
              </a:rPr>
            </a:br>
            <a:endParaRPr lang="en-US" dirty="0"/>
          </a:p>
        </p:txBody>
      </p:sp>
      <p:sp>
        <p:nvSpPr>
          <p:cNvPr id="3" name="Subtitle 2"/>
          <p:cNvSpPr>
            <a:spLocks noGrp="1"/>
          </p:cNvSpPr>
          <p:nvPr>
            <p:ph type="subTitle" idx="1"/>
          </p:nvPr>
        </p:nvSpPr>
        <p:spPr>
          <a:xfrm>
            <a:off x="533400" y="5791200"/>
            <a:ext cx="8458200" cy="914400"/>
          </a:xfrm>
        </p:spPr>
        <p:txBody>
          <a:bodyPr/>
          <a:lstStyle/>
          <a:p>
            <a:pPr algn="r"/>
            <a:r>
              <a:rPr lang="en-US" b="1" dirty="0"/>
              <a:t>Professor </a:t>
            </a:r>
            <a:r>
              <a:rPr lang="en-US" b="1" dirty="0" err="1"/>
              <a:t>Kunle</a:t>
            </a:r>
            <a:r>
              <a:rPr lang="en-US" b="1" dirty="0"/>
              <a:t> </a:t>
            </a:r>
            <a:r>
              <a:rPr lang="en-US" b="1" dirty="0" err="1"/>
              <a:t>Ajayi</a:t>
            </a:r>
            <a:r>
              <a:rPr lang="en-US" b="1" dirty="0"/>
              <a:t>, PhD</a:t>
            </a:r>
          </a:p>
          <a:p>
            <a:pPr algn="r"/>
            <a:r>
              <a:rPr lang="en-US" b="1" dirty="0"/>
              <a:t>Director</a:t>
            </a:r>
          </a:p>
        </p:txBody>
      </p:sp>
    </p:spTree>
    <p:extLst>
      <p:ext uri="{BB962C8B-B14F-4D97-AF65-F5344CB8AC3E}">
        <p14:creationId xmlns:p14="http://schemas.microsoft.com/office/powerpoint/2010/main" val="41280883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686800" cy="838200"/>
          </a:xfrm>
        </p:spPr>
        <p:txBody>
          <a:bodyPr>
            <a:normAutofit fontScale="90000"/>
          </a:bodyPr>
          <a:lstStyle/>
          <a:p>
            <a:r>
              <a:rPr lang="en-US" b="1" dirty="0">
                <a:effectLst/>
              </a:rPr>
              <a:t>BACKGROUND INFORMATION</a:t>
            </a:r>
            <a:r>
              <a:rPr lang="en-US" dirty="0">
                <a:effectLst/>
              </a:rPr>
              <a:t/>
            </a:r>
            <a:br>
              <a:rPr lang="en-US" dirty="0">
                <a:effectLst/>
              </a:rPr>
            </a:br>
            <a:endParaRPr lang="en-US" dirty="0"/>
          </a:p>
        </p:txBody>
      </p:sp>
      <p:sp>
        <p:nvSpPr>
          <p:cNvPr id="3" name="Content Placeholder 2"/>
          <p:cNvSpPr>
            <a:spLocks noGrp="1"/>
          </p:cNvSpPr>
          <p:nvPr>
            <p:ph idx="1"/>
          </p:nvPr>
        </p:nvSpPr>
        <p:spPr/>
        <p:txBody>
          <a:bodyPr/>
          <a:lstStyle/>
          <a:p>
            <a:pPr marL="0" indent="0">
              <a:buNone/>
            </a:pPr>
            <a:r>
              <a:rPr lang="en-US" dirty="0"/>
              <a:t>The Institute of Peace, Security and Governance (IPSG) was established in February, 2014 as a postgraduate-based institute. The first set of students who were 55 in number resumed in January, 2015.</a:t>
            </a:r>
          </a:p>
          <a:p>
            <a:endParaRPr lang="en-US" dirty="0"/>
          </a:p>
        </p:txBody>
      </p:sp>
    </p:spTree>
    <p:extLst>
      <p:ext uri="{BB962C8B-B14F-4D97-AF65-F5344CB8AC3E}">
        <p14:creationId xmlns:p14="http://schemas.microsoft.com/office/powerpoint/2010/main" val="2638826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85800"/>
            <a:ext cx="8686800" cy="838200"/>
          </a:xfrm>
        </p:spPr>
        <p:txBody>
          <a:bodyPr>
            <a:normAutofit fontScale="90000"/>
          </a:bodyPr>
          <a:lstStyle/>
          <a:p>
            <a:r>
              <a:rPr lang="en-US" b="1" dirty="0">
                <a:effectLst/>
              </a:rPr>
              <a:t>STRATEGIC GOALS</a:t>
            </a:r>
            <a:r>
              <a:rPr lang="en-US" dirty="0">
                <a:effectLst/>
              </a:rPr>
              <a:t/>
            </a:r>
            <a:br>
              <a:rPr lang="en-US" dirty="0">
                <a:effectLst/>
              </a:rPr>
            </a:br>
            <a:endParaRPr lang="en-US" dirty="0"/>
          </a:p>
        </p:txBody>
      </p:sp>
      <p:sp>
        <p:nvSpPr>
          <p:cNvPr id="3" name="Content Placeholder 2"/>
          <p:cNvSpPr>
            <a:spLocks noGrp="1"/>
          </p:cNvSpPr>
          <p:nvPr>
            <p:ph idx="1"/>
          </p:nvPr>
        </p:nvSpPr>
        <p:spPr>
          <a:xfrm>
            <a:off x="228600" y="1143000"/>
            <a:ext cx="8686800" cy="5562600"/>
          </a:xfrm>
        </p:spPr>
        <p:txBody>
          <a:bodyPr>
            <a:normAutofit fontScale="70000" lnSpcReduction="20000"/>
          </a:bodyPr>
          <a:lstStyle/>
          <a:p>
            <a:pPr marL="0" indent="0">
              <a:buNone/>
            </a:pPr>
            <a:r>
              <a:rPr lang="en-US" dirty="0"/>
              <a:t>The strategic goals of the Institute are expressed as its mission and vision.</a:t>
            </a:r>
          </a:p>
          <a:p>
            <a:pPr marL="0" indent="0" algn="ctr">
              <a:buNone/>
            </a:pPr>
            <a:r>
              <a:rPr lang="en-US" b="1" u="sng" dirty="0" smtClean="0">
                <a:latin typeface="Times New Roman" pitchFamily="18" charset="0"/>
                <a:cs typeface="Times New Roman" pitchFamily="18" charset="0"/>
              </a:rPr>
              <a:t>MISSION</a:t>
            </a:r>
            <a:endParaRPr lang="en-US" u="sng" dirty="0"/>
          </a:p>
          <a:p>
            <a:pPr marL="0" indent="0" algn="just">
              <a:buNone/>
            </a:pPr>
            <a:r>
              <a:rPr lang="en-US" dirty="0" smtClean="0"/>
              <a:t>To </a:t>
            </a:r>
            <a:r>
              <a:rPr lang="en-US" dirty="0"/>
              <a:t>play a leading role in the repositioning of the State University among the best centers of excellence for the scientific study of the interface between governance, conflict, peace, human security and development nationally and globally.</a:t>
            </a:r>
          </a:p>
          <a:p>
            <a:pPr marL="0" indent="0" algn="ctr">
              <a:buNone/>
            </a:pPr>
            <a:r>
              <a:rPr lang="en-US" b="1" u="sng" dirty="0" smtClean="0">
                <a:latin typeface="Times New Roman" pitchFamily="18" charset="0"/>
                <a:cs typeface="Times New Roman" pitchFamily="18" charset="0"/>
              </a:rPr>
              <a:t>VISION</a:t>
            </a:r>
            <a:endParaRPr lang="en-US" u="sng" dirty="0" smtClean="0"/>
          </a:p>
          <a:p>
            <a:pPr marL="0" indent="0" algn="just">
              <a:lnSpc>
                <a:spcPct val="120000"/>
              </a:lnSpc>
              <a:buNone/>
            </a:pPr>
            <a:r>
              <a:rPr lang="en-US" dirty="0" smtClean="0"/>
              <a:t>To </a:t>
            </a:r>
            <a:r>
              <a:rPr lang="en-US" dirty="0"/>
              <a:t>equip its graduates with specialized knowledge and skills to play effective professional and leadership roles in the public and private sectors for sustainable development</a:t>
            </a:r>
            <a:r>
              <a:rPr lang="en-US" dirty="0" smtClean="0"/>
              <a:t>.</a:t>
            </a:r>
          </a:p>
          <a:p>
            <a:pPr marL="0" indent="0" algn="just">
              <a:buNone/>
            </a:pPr>
            <a:endParaRPr lang="en-US" dirty="0" smtClean="0"/>
          </a:p>
          <a:p>
            <a:pPr marL="0" indent="0" algn="just">
              <a:buNone/>
            </a:pPr>
            <a:r>
              <a:rPr lang="en-US" dirty="0"/>
              <a:t>The Institute currently runs three postgraduate programmes through which it aims to its strategic goals. These are:</a:t>
            </a:r>
          </a:p>
          <a:p>
            <a:pPr marL="0" indent="0" algn="just">
              <a:buNone/>
            </a:pPr>
            <a:r>
              <a:rPr lang="en-US" b="1" dirty="0"/>
              <a:t>1.	M. Sc.  in Public Sector Governance and Administration (PGA)</a:t>
            </a:r>
          </a:p>
          <a:p>
            <a:pPr marL="0" indent="0" algn="just">
              <a:buNone/>
            </a:pPr>
            <a:r>
              <a:rPr lang="en-US" b="1" dirty="0"/>
              <a:t>2.	M. Sc. in Corporate Governance and Management (CGM) </a:t>
            </a:r>
          </a:p>
          <a:p>
            <a:pPr marL="0" indent="0" algn="just">
              <a:buNone/>
            </a:pPr>
            <a:r>
              <a:rPr lang="en-US" b="1" dirty="0"/>
              <a:t>3.	M.Sc. &amp; PhD in Peace and Security Studies (PSS)</a:t>
            </a:r>
          </a:p>
          <a:p>
            <a:pPr marL="0" indent="0" algn="just">
              <a:buNone/>
            </a:pPr>
            <a:endParaRPr lang="en-US" dirty="0" smtClean="0"/>
          </a:p>
          <a:p>
            <a:endParaRPr lang="en-US" dirty="0"/>
          </a:p>
        </p:txBody>
      </p:sp>
    </p:spTree>
    <p:extLst>
      <p:ext uri="{BB962C8B-B14F-4D97-AF65-F5344CB8AC3E}">
        <p14:creationId xmlns:p14="http://schemas.microsoft.com/office/powerpoint/2010/main" val="36100739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rPr>
              <a:t>IMPLEMENTATION STRATEGY AND CHALLENGES USING SWOT ANALYSIS</a:t>
            </a:r>
            <a:r>
              <a:rPr lang="en-US" dirty="0">
                <a:effectLst/>
              </a:rPr>
              <a:t/>
            </a:r>
            <a:br>
              <a:rPr lang="en-US" dirty="0">
                <a:effectLst/>
              </a:rPr>
            </a:br>
            <a:endParaRPr lang="en-US" dirty="0"/>
          </a:p>
        </p:txBody>
      </p:sp>
      <p:sp>
        <p:nvSpPr>
          <p:cNvPr id="3" name="Content Placeholder 2"/>
          <p:cNvSpPr>
            <a:spLocks noGrp="1"/>
          </p:cNvSpPr>
          <p:nvPr>
            <p:ph idx="1"/>
          </p:nvPr>
        </p:nvSpPr>
        <p:spPr>
          <a:xfrm>
            <a:off x="228600" y="1219200"/>
            <a:ext cx="8686800" cy="4525963"/>
          </a:xfrm>
        </p:spPr>
        <p:txBody>
          <a:bodyPr>
            <a:normAutofit fontScale="92500" lnSpcReduction="20000"/>
          </a:bodyPr>
          <a:lstStyle/>
          <a:p>
            <a:pPr marL="0" indent="0" algn="just">
              <a:buNone/>
            </a:pPr>
            <a:r>
              <a:rPr lang="en-US" dirty="0"/>
              <a:t>The implementation of the strategic goals and objectives of the Institute can be expressed by examining the </a:t>
            </a:r>
            <a:r>
              <a:rPr lang="en-US" b="1" dirty="0"/>
              <a:t>SWOT</a:t>
            </a:r>
            <a:r>
              <a:rPr lang="en-US" dirty="0"/>
              <a:t> Analysis of the Institute. This will bring out its possibility capacities and challenges in terms of strength, weaknesses, opportunities and threats.</a:t>
            </a:r>
          </a:p>
          <a:p>
            <a:pPr marL="0" indent="0">
              <a:buNone/>
            </a:pPr>
            <a:r>
              <a:rPr lang="en-US" b="1" dirty="0" smtClean="0"/>
              <a:t>                   S </a:t>
            </a:r>
            <a:r>
              <a:rPr lang="en-US" b="1" dirty="0"/>
              <a:t>- </a:t>
            </a:r>
            <a:r>
              <a:rPr lang="en-US" dirty="0"/>
              <a:t>Strength of the Institute</a:t>
            </a:r>
          </a:p>
          <a:p>
            <a:pPr marL="0" indent="0">
              <a:buNone/>
            </a:pPr>
            <a:r>
              <a:rPr lang="en-US" b="1" dirty="0" smtClean="0"/>
              <a:t>                   W </a:t>
            </a:r>
            <a:r>
              <a:rPr lang="en-US" b="1" dirty="0"/>
              <a:t>- </a:t>
            </a:r>
            <a:r>
              <a:rPr lang="en-US" dirty="0"/>
              <a:t>Weaknesses of the Institute</a:t>
            </a:r>
          </a:p>
          <a:p>
            <a:pPr marL="0" indent="0">
              <a:buNone/>
            </a:pPr>
            <a:r>
              <a:rPr lang="en-US" b="1" dirty="0" smtClean="0"/>
              <a:t>                   O </a:t>
            </a:r>
            <a:r>
              <a:rPr lang="en-US" b="1" dirty="0"/>
              <a:t>- </a:t>
            </a:r>
            <a:r>
              <a:rPr lang="en-US" dirty="0"/>
              <a:t>Opportunities of the Institute</a:t>
            </a:r>
          </a:p>
          <a:p>
            <a:pPr marL="0" indent="0">
              <a:buNone/>
            </a:pPr>
            <a:r>
              <a:rPr lang="en-US" b="1" dirty="0" smtClean="0"/>
              <a:t>                   T </a:t>
            </a:r>
            <a:r>
              <a:rPr lang="en-US" b="1" dirty="0"/>
              <a:t>- </a:t>
            </a:r>
            <a:r>
              <a:rPr lang="en-US" dirty="0"/>
              <a:t>Threats to the Institute</a:t>
            </a:r>
          </a:p>
          <a:p>
            <a:endParaRPr lang="en-US" dirty="0"/>
          </a:p>
        </p:txBody>
      </p:sp>
    </p:spTree>
    <p:extLst>
      <p:ext uri="{BB962C8B-B14F-4D97-AF65-F5344CB8AC3E}">
        <p14:creationId xmlns:p14="http://schemas.microsoft.com/office/powerpoint/2010/main" val="29963002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673" y="102304"/>
            <a:ext cx="8382000" cy="7171194"/>
          </a:xfrm>
          <a:prstGeom prst="rect">
            <a:avLst/>
          </a:prstGeom>
          <a:noFill/>
        </p:spPr>
        <p:txBody>
          <a:bodyPr wrap="square" rtlCol="0">
            <a:spAutoFit/>
          </a:bodyPr>
          <a:lstStyle/>
          <a:p>
            <a:r>
              <a:rPr lang="en-US" sz="2800" b="1" dirty="0"/>
              <a:t>S - Strength of the </a:t>
            </a:r>
            <a:r>
              <a:rPr lang="en-US" sz="2800" b="1" dirty="0" smtClean="0"/>
              <a:t>Institute</a:t>
            </a:r>
          </a:p>
          <a:p>
            <a:endParaRPr lang="en-US" dirty="0"/>
          </a:p>
          <a:p>
            <a:pPr>
              <a:lnSpc>
                <a:spcPct val="150000"/>
              </a:lnSpc>
            </a:pPr>
            <a:r>
              <a:rPr lang="en-US" dirty="0">
                <a:latin typeface="Times New Roman" pitchFamily="18" charset="0"/>
                <a:cs typeface="Times New Roman" pitchFamily="18" charset="0"/>
              </a:rPr>
              <a:t>The major strengths of the Institute are:</a:t>
            </a:r>
          </a:p>
          <a:p>
            <a:pPr marL="342900" lvl="0" indent="-342900" algn="just">
              <a:lnSpc>
                <a:spcPct val="150000"/>
              </a:lnSpc>
              <a:buFont typeface="+mj-lt"/>
              <a:buAutoNum type="arabicParenR"/>
            </a:pPr>
            <a:r>
              <a:rPr lang="en-US" dirty="0">
                <a:latin typeface="Times New Roman" pitchFamily="18" charset="0"/>
                <a:cs typeface="Times New Roman" pitchFamily="18" charset="0"/>
              </a:rPr>
              <a:t>The EKSU’s Institute of Peace, Security and Governance is the only Institute concerned with the running of a combination of three major programmes in Nigeria. Other universities in the country are only concerned with just one of the programmes</a:t>
            </a:r>
            <a:r>
              <a:rPr lang="en-US" dirty="0" smtClean="0">
                <a:latin typeface="Times New Roman" pitchFamily="18" charset="0"/>
                <a:cs typeface="Times New Roman" pitchFamily="18" charset="0"/>
              </a:rPr>
              <a:t>.</a:t>
            </a:r>
          </a:p>
          <a:p>
            <a:pPr lvl="0" algn="just">
              <a:lnSpc>
                <a:spcPct val="150000"/>
              </a:lnSpc>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342900" lvl="0" indent="-342900" algn="just">
              <a:lnSpc>
                <a:spcPct val="150000"/>
              </a:lnSpc>
              <a:buFont typeface="+mj-lt"/>
              <a:buAutoNum type="arabicParenR" startAt="2"/>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multidisciplinary nature of the Institute therefore makes it richer as a comprehensive knowledge provider with the capacity to train scholars and experts in the fields of Peace studies, Conflict studies, Security studies, Public governance studies, and Corporate/Private governance studies</a:t>
            </a:r>
            <a:r>
              <a:rPr lang="en-US" dirty="0" smtClean="0">
                <a:latin typeface="Times New Roman" pitchFamily="18" charset="0"/>
                <a:cs typeface="Times New Roman" pitchFamily="18" charset="0"/>
              </a:rPr>
              <a:t>.</a:t>
            </a:r>
          </a:p>
          <a:p>
            <a:pPr lvl="0" algn="just">
              <a:lnSpc>
                <a:spcPct val="150000"/>
              </a:lnSpc>
            </a:pPr>
            <a:endParaRPr lang="en-US" dirty="0" smtClean="0">
              <a:latin typeface="Times New Roman" pitchFamily="18" charset="0"/>
              <a:cs typeface="Times New Roman" pitchFamily="18" charset="0"/>
            </a:endParaRPr>
          </a:p>
          <a:p>
            <a:pPr marL="342900" indent="-342900" algn="just">
              <a:lnSpc>
                <a:spcPct val="150000"/>
              </a:lnSpc>
              <a:buFont typeface="+mj-lt"/>
              <a:buAutoNum type="arabicParenR" startAt="3"/>
            </a:pPr>
            <a:r>
              <a:rPr lang="en-US" dirty="0">
                <a:latin typeface="Times New Roman" pitchFamily="18" charset="0"/>
                <a:cs typeface="Times New Roman" pitchFamily="18" charset="0"/>
              </a:rPr>
              <a:t>It is well positioned, especially in the Southwest of Nigeria, to serve as a monopoly institution with the advantage of capturing the knowledge-seeking market in terms of those seeking postgraduate admission to read any of the three specialized programmes of the institute.   </a:t>
            </a:r>
          </a:p>
          <a:p>
            <a:pPr lvl="0"/>
            <a:endParaRPr lang="en-US" dirty="0"/>
          </a:p>
          <a:p>
            <a:endParaRPr lang="en-US" dirty="0"/>
          </a:p>
        </p:txBody>
      </p:sp>
    </p:spTree>
    <p:extLst>
      <p:ext uri="{BB962C8B-B14F-4D97-AF65-F5344CB8AC3E}">
        <p14:creationId xmlns:p14="http://schemas.microsoft.com/office/powerpoint/2010/main" val="29115945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81000"/>
            <a:ext cx="8382000" cy="6740307"/>
          </a:xfrm>
          <a:prstGeom prst="rect">
            <a:avLst/>
          </a:prstGeom>
          <a:noFill/>
        </p:spPr>
        <p:txBody>
          <a:bodyPr wrap="square" rtlCol="0">
            <a:spAutoFit/>
          </a:bodyPr>
          <a:lstStyle/>
          <a:p>
            <a:pPr marL="342900" indent="-342900" algn="just">
              <a:lnSpc>
                <a:spcPct val="150000"/>
              </a:lnSpc>
              <a:buFont typeface="+mj-lt"/>
              <a:buAutoNum type="arabicParenR" startAt="4"/>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Institute is a postgraduate study-based </a:t>
            </a:r>
            <a:r>
              <a:rPr lang="en-US" dirty="0" err="1">
                <a:latin typeface="Times New Roman" pitchFamily="18" charset="0"/>
                <a:cs typeface="Times New Roman" pitchFamily="18" charset="0"/>
              </a:rPr>
              <a:t>centre</a:t>
            </a:r>
            <a:r>
              <a:rPr lang="en-US" dirty="0">
                <a:latin typeface="Times New Roman" pitchFamily="18" charset="0"/>
                <a:cs typeface="Times New Roman" pitchFamily="18" charset="0"/>
              </a:rPr>
              <a:t>. The only one of its kind in the country. It therefore has the capacity of capturing the postgraduate market as applicants from all states of the country could tap from this uniqueness and consequently offer more admission spaces than other departments running a combination of undergraduate and postgraduate </a:t>
            </a:r>
            <a:r>
              <a:rPr lang="en-US" dirty="0" smtClean="0">
                <a:latin typeface="Times New Roman" pitchFamily="18" charset="0"/>
                <a:cs typeface="Times New Roman" pitchFamily="18" charset="0"/>
              </a:rPr>
              <a:t>courses.</a:t>
            </a:r>
          </a:p>
          <a:p>
            <a:pPr marL="342900" indent="-342900" algn="just">
              <a:lnSpc>
                <a:spcPct val="150000"/>
              </a:lnSpc>
              <a:buFont typeface="+mj-lt"/>
              <a:buAutoNum type="arabicParenR" startAt="4"/>
            </a:pPr>
            <a:endParaRPr lang="en-US" dirty="0" smtClean="0">
              <a:latin typeface="Times New Roman" pitchFamily="18" charset="0"/>
              <a:cs typeface="Times New Roman" pitchFamily="18" charset="0"/>
            </a:endParaRPr>
          </a:p>
          <a:p>
            <a:pPr marL="342900" indent="-342900" algn="just">
              <a:lnSpc>
                <a:spcPct val="150000"/>
              </a:lnSpc>
              <a:buFont typeface="+mj-lt"/>
              <a:buAutoNum type="arabicParenR" startAt="4"/>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Institute is gradually building a reputation of timeline achievement of its set goals. This is in terms of students graduating without undue delay that characterized some of the PG programmes in the University. </a:t>
            </a:r>
            <a:endParaRPr lang="en-US" dirty="0" smtClean="0">
              <a:latin typeface="Times New Roman" pitchFamily="18" charset="0"/>
              <a:cs typeface="Times New Roman" pitchFamily="18" charset="0"/>
            </a:endParaRPr>
          </a:p>
          <a:p>
            <a:pPr marL="342900" indent="-342900" algn="just">
              <a:lnSpc>
                <a:spcPct val="150000"/>
              </a:lnSpc>
              <a:buFont typeface="+mj-lt"/>
              <a:buAutoNum type="arabicParenR" startAt="4"/>
            </a:pPr>
            <a:endParaRPr lang="en-US" dirty="0" smtClean="0">
              <a:latin typeface="Times New Roman" pitchFamily="18" charset="0"/>
              <a:cs typeface="Times New Roman" pitchFamily="18" charset="0"/>
            </a:endParaRPr>
          </a:p>
          <a:p>
            <a:pPr marL="342900" indent="-342900" algn="just">
              <a:lnSpc>
                <a:spcPct val="150000"/>
              </a:lnSpc>
              <a:buFont typeface="+mj-lt"/>
              <a:buAutoNum type="arabicParenR" startAt="4"/>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Institute is reversing this unenviable tradition by ensuring that course works do not exceed the stipulated period of two semesters. This is achieved through the personal touch of the Director with the lecturers and thereby ceaselessly soliciting for their cooperation on class attendance to teach the students. </a:t>
            </a:r>
          </a:p>
          <a:p>
            <a:pPr marL="342900" indent="-342900">
              <a:buFont typeface="+mj-lt"/>
              <a:buAutoNum type="arabicParenR" startAt="4"/>
            </a:pPr>
            <a:endParaRPr lang="en-US" dirty="0"/>
          </a:p>
          <a:p>
            <a:pPr marL="342900" lvl="0" indent="-342900">
              <a:buFont typeface="+mj-lt"/>
              <a:buAutoNum type="arabicParenR" startAt="4"/>
            </a:pPr>
            <a:endParaRPr lang="en-US" dirty="0"/>
          </a:p>
          <a:p>
            <a:endParaRPr lang="en-US" dirty="0"/>
          </a:p>
        </p:txBody>
      </p:sp>
    </p:spTree>
    <p:extLst>
      <p:ext uri="{BB962C8B-B14F-4D97-AF65-F5344CB8AC3E}">
        <p14:creationId xmlns:p14="http://schemas.microsoft.com/office/powerpoint/2010/main" val="18261774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0782"/>
            <a:ext cx="9144000" cy="7863691"/>
          </a:xfrm>
          <a:prstGeom prst="rect">
            <a:avLst/>
          </a:prstGeom>
          <a:noFill/>
        </p:spPr>
        <p:txBody>
          <a:bodyPr wrap="square" rtlCol="0">
            <a:spAutoFit/>
          </a:bodyPr>
          <a:lstStyle/>
          <a:p>
            <a:r>
              <a:rPr lang="en-US" sz="2800" b="1" dirty="0"/>
              <a:t>W - Weaknesses of the </a:t>
            </a:r>
            <a:r>
              <a:rPr lang="en-US" sz="2800" b="1" dirty="0" smtClean="0"/>
              <a:t>Institute</a:t>
            </a:r>
          </a:p>
          <a:p>
            <a:endParaRPr lang="en-US" dirty="0" smtClean="0"/>
          </a:p>
          <a:p>
            <a:pPr marL="400050" lvl="0" indent="-400050" algn="just">
              <a:lnSpc>
                <a:spcPct val="150000"/>
              </a:lnSpc>
              <a:buFont typeface="+mj-lt"/>
              <a:buAutoNum type="romanLcPeriod"/>
            </a:pPr>
            <a:r>
              <a:rPr lang="en-US" b="1" dirty="0" smtClean="0">
                <a:latin typeface="Times New Roman" pitchFamily="18" charset="0"/>
                <a:cs typeface="Times New Roman" pitchFamily="18" charset="0"/>
              </a:rPr>
              <a:t>No </a:t>
            </a:r>
            <a:r>
              <a:rPr lang="en-US" b="1" dirty="0">
                <a:latin typeface="Times New Roman" pitchFamily="18" charset="0"/>
                <a:cs typeface="Times New Roman" pitchFamily="18" charset="0"/>
              </a:rPr>
              <a:t>substantive Office </a:t>
            </a:r>
            <a:r>
              <a:rPr lang="en-US" b="1" dirty="0" smtClean="0">
                <a:latin typeface="Times New Roman" pitchFamily="18" charset="0"/>
                <a:cs typeface="Times New Roman" pitchFamily="18" charset="0"/>
              </a:rPr>
              <a:t>Accommodation.</a:t>
            </a:r>
          </a:p>
          <a:p>
            <a:pPr lvl="0" algn="just">
              <a:lnSpc>
                <a:spcPct val="150000"/>
              </a:lnSpc>
            </a:pPr>
            <a:endParaRPr lang="en-US" dirty="0" smtClean="0">
              <a:latin typeface="Times New Roman" pitchFamily="18" charset="0"/>
              <a:cs typeface="Times New Roman" pitchFamily="18" charset="0"/>
            </a:endParaRPr>
          </a:p>
          <a:p>
            <a:pPr marL="400050" lvl="0" indent="-400050" algn="just">
              <a:lnSpc>
                <a:spcPct val="150000"/>
              </a:lnSpc>
              <a:buFont typeface="+mj-lt"/>
              <a:buAutoNum type="romanLcPeriod"/>
            </a:pPr>
            <a:r>
              <a:rPr lang="en-US" b="1" dirty="0" smtClean="0">
                <a:latin typeface="Times New Roman" pitchFamily="18" charset="0"/>
                <a:cs typeface="Times New Roman" pitchFamily="18" charset="0"/>
              </a:rPr>
              <a:t>Poor </a:t>
            </a:r>
            <a:r>
              <a:rPr lang="en-US" b="1" dirty="0">
                <a:latin typeface="Times New Roman" pitchFamily="18" charset="0"/>
                <a:cs typeface="Times New Roman" pitchFamily="18" charset="0"/>
              </a:rPr>
              <a:t>functioning of the University website. </a:t>
            </a:r>
          </a:p>
          <a:p>
            <a:pPr algn="just">
              <a:lnSpc>
                <a:spcPct val="150000"/>
              </a:lnSpc>
            </a:pPr>
            <a:r>
              <a:rPr lang="en-US" dirty="0" smtClean="0">
                <a:latin typeface="Times New Roman" pitchFamily="18" charset="0"/>
                <a:cs typeface="Times New Roman" pitchFamily="18" charset="0"/>
              </a:rPr>
              <a:t>    Poor </a:t>
            </a:r>
            <a:r>
              <a:rPr lang="en-US" dirty="0">
                <a:latin typeface="Times New Roman" pitchFamily="18" charset="0"/>
                <a:cs typeface="Times New Roman" pitchFamily="18" charset="0"/>
              </a:rPr>
              <a:t>functioning of the University website in terms of e-payment and e-application processes. Almost four months after placing advertisement on national daily newspapers calling for admission applications, many prospective applicants found it impossible to access the University website at their respective locations across the country, and thereby losing candidates and huge IGR that could have accrued to the University through the sale of </a:t>
            </a:r>
            <a:r>
              <a:rPr lang="en-US" dirty="0" smtClean="0">
                <a:latin typeface="Times New Roman" pitchFamily="18" charset="0"/>
                <a:cs typeface="Times New Roman" pitchFamily="18" charset="0"/>
              </a:rPr>
              <a:t>e-forms.</a:t>
            </a:r>
          </a:p>
          <a:p>
            <a:pPr algn="just">
              <a:lnSpc>
                <a:spcPct val="150000"/>
              </a:lnSpc>
            </a:pPr>
            <a:endParaRPr lang="en-US" dirty="0" smtClean="0">
              <a:latin typeface="Times New Roman" pitchFamily="18" charset="0"/>
              <a:cs typeface="Times New Roman" pitchFamily="18" charset="0"/>
            </a:endParaRPr>
          </a:p>
          <a:p>
            <a:pPr marL="400050" indent="-400050" algn="just">
              <a:lnSpc>
                <a:spcPct val="150000"/>
              </a:lnSpc>
              <a:buFont typeface="+mj-lt"/>
              <a:buAutoNum type="romanLcPeriod" startAt="3"/>
            </a:pPr>
            <a:r>
              <a:rPr lang="en-US" b="1" dirty="0" smtClean="0">
                <a:latin typeface="Times New Roman" pitchFamily="18" charset="0"/>
                <a:cs typeface="Times New Roman" pitchFamily="18" charset="0"/>
              </a:rPr>
              <a:t>No </a:t>
            </a:r>
            <a:r>
              <a:rPr lang="en-US" b="1" dirty="0">
                <a:latin typeface="Times New Roman" pitchFamily="18" charset="0"/>
                <a:cs typeface="Times New Roman" pitchFamily="18" charset="0"/>
              </a:rPr>
              <a:t>employment of substantive lecturers for the Institute. </a:t>
            </a:r>
          </a:p>
          <a:p>
            <a:pPr>
              <a:lnSpc>
                <a:spcPct val="150000"/>
              </a:lnSpc>
            </a:pPr>
            <a:r>
              <a:rPr lang="en-US" dirty="0">
                <a:latin typeface="Times New Roman" pitchFamily="18" charset="0"/>
                <a:cs typeface="Times New Roman" pitchFamily="18" charset="0"/>
              </a:rPr>
              <a:t>The Institute therefore relies on associate professors and lecturers from other Faculties and departments from the University. Most often, these lecturers too busy as they are equally saddled with other official assignments in the Faculties/departments and thereby warranting the personal appeals from the Director of the institute before the concerned lecturers could turn up for lectures. </a:t>
            </a:r>
            <a:endParaRPr lang="en-US" dirty="0" smtClean="0">
              <a:latin typeface="Times New Roman" pitchFamily="18" charset="0"/>
              <a:cs typeface="Times New Roman" pitchFamily="18" charset="0"/>
            </a:endParaRPr>
          </a:p>
          <a:p>
            <a:endParaRPr lang="en-US" dirty="0"/>
          </a:p>
          <a:p>
            <a:pPr marL="342900" lvl="0" indent="-342900">
              <a:buFont typeface="+mj-lt"/>
              <a:buAutoNum type="arabicParenR" startAt="4"/>
            </a:pPr>
            <a:endParaRPr lang="en-US" dirty="0"/>
          </a:p>
          <a:p>
            <a:endParaRPr lang="en-US" dirty="0"/>
          </a:p>
        </p:txBody>
      </p:sp>
    </p:spTree>
    <p:extLst>
      <p:ext uri="{BB962C8B-B14F-4D97-AF65-F5344CB8AC3E}">
        <p14:creationId xmlns:p14="http://schemas.microsoft.com/office/powerpoint/2010/main" val="2250565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457200"/>
            <a:ext cx="8763000" cy="2446824"/>
          </a:xfrm>
          <a:prstGeom prst="rect">
            <a:avLst/>
          </a:prstGeom>
          <a:noFill/>
        </p:spPr>
        <p:txBody>
          <a:bodyPr wrap="square" rtlCol="0">
            <a:spAutoFit/>
          </a:bodyPr>
          <a:lstStyle/>
          <a:p>
            <a:pPr marL="400050" lvl="0" indent="-400050">
              <a:lnSpc>
                <a:spcPct val="150000"/>
              </a:lnSpc>
              <a:buFont typeface="+mj-lt"/>
              <a:buAutoNum type="romanLcPeriod" startAt="4"/>
            </a:pPr>
            <a:r>
              <a:rPr lang="en-US" b="1" dirty="0">
                <a:latin typeface="Times New Roman" pitchFamily="18" charset="0"/>
                <a:cs typeface="Times New Roman" pitchFamily="18" charset="0"/>
              </a:rPr>
              <a:t>Staffed with junior administrative staff. </a:t>
            </a:r>
          </a:p>
          <a:p>
            <a:pPr>
              <a:lnSpc>
                <a:spcPct val="150000"/>
              </a:lnSpc>
            </a:pPr>
            <a:r>
              <a:rPr lang="en-US" dirty="0">
                <a:latin typeface="Times New Roman" pitchFamily="18" charset="0"/>
                <a:cs typeface="Times New Roman" pitchFamily="18" charset="0"/>
              </a:rPr>
              <a:t>One Higher Executive Officer (HEO) is the highest administrative staff posted to the Institute. The Institute has no Administrative Secretary two years after founding it. The administrative staffs in the institute are therefore operating within limited administrative competence.  </a:t>
            </a:r>
          </a:p>
          <a:p>
            <a:endParaRPr lang="en-US" dirty="0"/>
          </a:p>
        </p:txBody>
      </p:sp>
    </p:spTree>
    <p:extLst>
      <p:ext uri="{BB962C8B-B14F-4D97-AF65-F5344CB8AC3E}">
        <p14:creationId xmlns:p14="http://schemas.microsoft.com/office/powerpoint/2010/main" val="655345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304800"/>
            <a:ext cx="8839200" cy="5693866"/>
          </a:xfrm>
          <a:prstGeom prst="rect">
            <a:avLst/>
          </a:prstGeom>
          <a:noFill/>
        </p:spPr>
        <p:txBody>
          <a:bodyPr wrap="square" rtlCol="0">
            <a:spAutoFit/>
          </a:bodyPr>
          <a:lstStyle/>
          <a:p>
            <a:r>
              <a:rPr lang="en-US" sz="2800" b="1" dirty="0"/>
              <a:t>O - Opportunities of the </a:t>
            </a:r>
            <a:r>
              <a:rPr lang="en-US" sz="2800" b="1" dirty="0" smtClean="0"/>
              <a:t>Institute</a:t>
            </a:r>
          </a:p>
          <a:p>
            <a:endParaRPr lang="en-US" dirty="0"/>
          </a:p>
          <a:p>
            <a:pPr marL="400050" lvl="0" indent="-400050">
              <a:buFont typeface="+mj-lt"/>
              <a:buAutoNum type="romanLcPeriod"/>
            </a:pPr>
            <a:r>
              <a:rPr lang="en-US" sz="2000" b="1" dirty="0">
                <a:latin typeface="Times New Roman" pitchFamily="18" charset="0"/>
                <a:cs typeface="Times New Roman" pitchFamily="18" charset="0"/>
              </a:rPr>
              <a:t>The Institute is strategically located in Ekiti State. </a:t>
            </a:r>
            <a:endParaRPr lang="en-US" sz="2000" b="1" dirty="0" smtClean="0">
              <a:latin typeface="Times New Roman" pitchFamily="18" charset="0"/>
              <a:cs typeface="Times New Roman" pitchFamily="18" charset="0"/>
            </a:endParaRPr>
          </a:p>
          <a:p>
            <a:pPr marL="400050" lvl="0" indent="-400050">
              <a:buFont typeface="+mj-lt"/>
              <a:buAutoNum type="romanLcPeriod"/>
            </a:pP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This is in the sense that, there is no other University or institution within reach running the programmes of the Institute. The implication of this is that, die-hard competitions for students will not be a problem. The three Masters programmes the Institute started with are relatively new and innovative, and therefore, would attract a lot of applicants for enrolment with good advertisement and easy access to the University website. </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marL="400050" indent="-400050">
              <a:buFont typeface="+mj-lt"/>
              <a:buAutoNum type="romanLcPeriod" startAt="2"/>
            </a:pPr>
            <a:r>
              <a:rPr lang="en-US" sz="2000" b="1" dirty="0" smtClean="0">
                <a:latin typeface="Times New Roman" pitchFamily="18" charset="0"/>
                <a:cs typeface="Times New Roman" pitchFamily="18" charset="0"/>
              </a:rPr>
              <a:t>New </a:t>
            </a:r>
            <a:r>
              <a:rPr lang="en-US" sz="2000" b="1" dirty="0">
                <a:latin typeface="Times New Roman" pitchFamily="18" charset="0"/>
                <a:cs typeface="Times New Roman" pitchFamily="18" charset="0"/>
              </a:rPr>
              <a:t>Academic Programmes to harvest more students</a:t>
            </a:r>
            <a:r>
              <a:rPr lang="en-US" sz="2000" b="1" dirty="0" smtClean="0">
                <a:latin typeface="Times New Roman" pitchFamily="18" charset="0"/>
                <a:cs typeface="Times New Roman" pitchFamily="18" charset="0"/>
              </a:rPr>
              <a:t>.</a:t>
            </a:r>
          </a:p>
          <a:p>
            <a:pPr marL="400050" indent="-400050">
              <a:buFont typeface="+mj-lt"/>
              <a:buAutoNum type="romanLcPeriod" startAt="2"/>
            </a:pP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In addition to the three major programmes approved for the Institute, it also has a tactical plan bordering on the introduction of Certificate, Diploma, Undergraduate and Postgraduate Diploma courses that will serve the needs of the of lower and middle levels manpower in Ekiti State and in Nigeria in general.  </a:t>
            </a:r>
          </a:p>
          <a:p>
            <a:endParaRPr lang="en-US" dirty="0"/>
          </a:p>
        </p:txBody>
      </p:sp>
    </p:spTree>
    <p:extLst>
      <p:ext uri="{BB962C8B-B14F-4D97-AF65-F5344CB8AC3E}">
        <p14:creationId xmlns:p14="http://schemas.microsoft.com/office/powerpoint/2010/main" val="359595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709"/>
            <a:ext cx="9144000" cy="5786199"/>
          </a:xfrm>
          <a:prstGeom prst="rect">
            <a:avLst/>
          </a:prstGeom>
          <a:noFill/>
        </p:spPr>
        <p:txBody>
          <a:bodyPr wrap="square" rtlCol="0">
            <a:spAutoFit/>
          </a:bodyPr>
          <a:lstStyle/>
          <a:p>
            <a:r>
              <a:rPr lang="en-US" sz="2800" b="1" dirty="0"/>
              <a:t>T - Threats to the </a:t>
            </a:r>
            <a:r>
              <a:rPr lang="en-US" sz="2800" b="1" dirty="0" smtClean="0"/>
              <a:t>Institute</a:t>
            </a:r>
          </a:p>
          <a:p>
            <a:endParaRPr lang="en-US" dirty="0"/>
          </a:p>
          <a:p>
            <a:pPr marL="400050" lvl="0" indent="-400050">
              <a:lnSpc>
                <a:spcPct val="150000"/>
              </a:lnSpc>
              <a:buFont typeface="+mj-lt"/>
              <a:buAutoNum type="romanLcPeriod"/>
            </a:pPr>
            <a:r>
              <a:rPr lang="en-US" b="1" dirty="0">
                <a:latin typeface="Times New Roman" pitchFamily="18" charset="0"/>
                <a:cs typeface="Times New Roman" pitchFamily="18" charset="0"/>
              </a:rPr>
              <a:t>Poor University Website/Internet Facilities</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If the Internet/Web processing of application forms for admission remains unimproved upon, the Institute would lose students. The effect of the current inefficiency in the processing of on-line payments and e-applications is already taking its toll on the enrolment of students in the Institute. The 48 applications (many received off-line) fall short of the over 100 applications received last year. </a:t>
            </a:r>
          </a:p>
          <a:p>
            <a:pPr>
              <a:lnSpc>
                <a:spcPct val="150000"/>
              </a:lnSpc>
            </a:pPr>
            <a:r>
              <a:rPr lang="en-US" dirty="0">
                <a:latin typeface="Times New Roman" pitchFamily="18" charset="0"/>
                <a:cs typeface="Times New Roman" pitchFamily="18" charset="0"/>
              </a:rPr>
              <a:t>We commend the innovations being introduced by the Vice-Chancellor with the goal of improving the university’s ICT system and the Internet service system</a:t>
            </a:r>
            <a:r>
              <a:rPr lang="en-US" dirty="0" smtClean="0">
                <a:latin typeface="Times New Roman" pitchFamily="18" charset="0"/>
                <a:cs typeface="Times New Roman" pitchFamily="18" charset="0"/>
              </a:rPr>
              <a:t>.</a:t>
            </a:r>
          </a:p>
          <a:p>
            <a:pPr>
              <a:lnSpc>
                <a:spcPct val="150000"/>
              </a:lnSpc>
            </a:pPr>
            <a:endParaRPr lang="en-US" dirty="0">
              <a:latin typeface="Times New Roman" pitchFamily="18" charset="0"/>
              <a:cs typeface="Times New Roman" pitchFamily="18" charset="0"/>
            </a:endParaRPr>
          </a:p>
          <a:p>
            <a:pPr marL="400050" lvl="0" indent="-400050">
              <a:lnSpc>
                <a:spcPct val="150000"/>
              </a:lnSpc>
              <a:buFont typeface="+mj-lt"/>
              <a:buAutoNum type="romanLcPeriod" startAt="2"/>
            </a:pPr>
            <a:r>
              <a:rPr lang="en-US" b="1" dirty="0">
                <a:latin typeface="Times New Roman" pitchFamily="18" charset="0"/>
                <a:cs typeface="Times New Roman" pitchFamily="18" charset="0"/>
              </a:rPr>
              <a:t>Continued reliance on associate lecturers is a major threat</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Many of the lecturers being used by the Institute are too busy and therefore find it difficult to devote sufficient time for the lecturing and supervision of the students’ research works. </a:t>
            </a:r>
          </a:p>
        </p:txBody>
      </p:sp>
    </p:spTree>
    <p:extLst>
      <p:ext uri="{BB962C8B-B14F-4D97-AF65-F5344CB8AC3E}">
        <p14:creationId xmlns:p14="http://schemas.microsoft.com/office/powerpoint/2010/main" val="14805768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8534400" cy="3985706"/>
          </a:xfrm>
          <a:prstGeom prst="rect">
            <a:avLst/>
          </a:prstGeom>
          <a:noFill/>
        </p:spPr>
        <p:txBody>
          <a:bodyPr wrap="square" rtlCol="0">
            <a:spAutoFit/>
          </a:bodyPr>
          <a:lstStyle/>
          <a:p>
            <a:r>
              <a:rPr lang="en-US" sz="2800" b="1" dirty="0"/>
              <a:t>CURRENT IGR STATUS OF THE </a:t>
            </a:r>
            <a:r>
              <a:rPr lang="en-US" sz="2800" b="1" dirty="0" smtClean="0"/>
              <a:t>INSTITUTE</a:t>
            </a:r>
          </a:p>
          <a:p>
            <a:endParaRPr lang="en-US" dirty="0"/>
          </a:p>
          <a:p>
            <a:pPr>
              <a:lnSpc>
                <a:spcPct val="150000"/>
              </a:lnSpc>
            </a:pPr>
            <a:r>
              <a:rPr lang="en-US" dirty="0">
                <a:latin typeface="Times New Roman" pitchFamily="18" charset="0"/>
                <a:cs typeface="Times New Roman" pitchFamily="18" charset="0"/>
              </a:rPr>
              <a:t>The Institute generates IGR for the University through the payment of the following fees by applicants and students:</a:t>
            </a:r>
          </a:p>
          <a:p>
            <a:pPr marL="400050" lvl="0" indent="-400050">
              <a:lnSpc>
                <a:spcPct val="150000"/>
              </a:lnSpc>
              <a:buFont typeface="+mj-lt"/>
              <a:buAutoNum type="romanLcPeriod"/>
            </a:pPr>
            <a:r>
              <a:rPr lang="en-US" dirty="0">
                <a:latin typeface="Times New Roman" pitchFamily="18" charset="0"/>
                <a:cs typeface="Times New Roman" pitchFamily="18" charset="0"/>
              </a:rPr>
              <a:t>Application Forms </a:t>
            </a:r>
            <a:endParaRPr lang="en-US" dirty="0" smtClean="0">
              <a:latin typeface="Times New Roman" pitchFamily="18" charset="0"/>
              <a:cs typeface="Times New Roman" pitchFamily="18" charset="0"/>
            </a:endParaRPr>
          </a:p>
          <a:p>
            <a:pPr marL="400050" lvl="0" indent="-400050">
              <a:lnSpc>
                <a:spcPct val="150000"/>
              </a:lnSpc>
              <a:buFont typeface="+mj-lt"/>
              <a:buAutoNum type="romanLcPeriod"/>
            </a:pPr>
            <a:r>
              <a:rPr lang="en-US" dirty="0" smtClean="0">
                <a:latin typeface="Times New Roman" pitchFamily="18" charset="0"/>
                <a:cs typeface="Times New Roman" pitchFamily="18" charset="0"/>
              </a:rPr>
              <a:t>Admission </a:t>
            </a:r>
            <a:r>
              <a:rPr lang="en-US" dirty="0">
                <a:latin typeface="Times New Roman" pitchFamily="18" charset="0"/>
                <a:cs typeface="Times New Roman" pitchFamily="18" charset="0"/>
              </a:rPr>
              <a:t>Checking on the University </a:t>
            </a:r>
            <a:r>
              <a:rPr lang="en-US" dirty="0" smtClean="0">
                <a:latin typeface="Times New Roman" pitchFamily="18" charset="0"/>
                <a:cs typeface="Times New Roman" pitchFamily="18" charset="0"/>
              </a:rPr>
              <a:t>website</a:t>
            </a:r>
          </a:p>
          <a:p>
            <a:pPr marL="400050" lvl="0" indent="-400050">
              <a:lnSpc>
                <a:spcPct val="150000"/>
              </a:lnSpc>
              <a:buFont typeface="+mj-lt"/>
              <a:buAutoNum type="romanLcPeriod"/>
            </a:pPr>
            <a:r>
              <a:rPr lang="en-US" dirty="0" smtClean="0">
                <a:latin typeface="Times New Roman" pitchFamily="18" charset="0"/>
                <a:cs typeface="Times New Roman" pitchFamily="18" charset="0"/>
              </a:rPr>
              <a:t>Acceptance </a:t>
            </a:r>
            <a:r>
              <a:rPr lang="en-US" dirty="0">
                <a:latin typeface="Times New Roman" pitchFamily="18" charset="0"/>
                <a:cs typeface="Times New Roman" pitchFamily="18" charset="0"/>
              </a:rPr>
              <a:t>of </a:t>
            </a:r>
            <a:r>
              <a:rPr lang="en-US" dirty="0" smtClean="0">
                <a:latin typeface="Times New Roman" pitchFamily="18" charset="0"/>
                <a:cs typeface="Times New Roman" pitchFamily="18" charset="0"/>
              </a:rPr>
              <a:t>Admission</a:t>
            </a:r>
          </a:p>
          <a:p>
            <a:pPr marL="400050" lvl="0" indent="-400050">
              <a:lnSpc>
                <a:spcPct val="150000"/>
              </a:lnSpc>
              <a:buFont typeface="+mj-lt"/>
              <a:buAutoNum type="romanLcPeriod"/>
            </a:pPr>
            <a:r>
              <a:rPr lang="en-US" dirty="0" smtClean="0">
                <a:latin typeface="Times New Roman" pitchFamily="18" charset="0"/>
                <a:cs typeface="Times New Roman" pitchFamily="18" charset="0"/>
              </a:rPr>
              <a:t>Tuition fees</a:t>
            </a:r>
          </a:p>
          <a:p>
            <a:pPr marL="400050" lvl="0" indent="-400050">
              <a:lnSpc>
                <a:spcPct val="150000"/>
              </a:lnSpc>
              <a:buFont typeface="+mj-lt"/>
              <a:buAutoNum type="romanLcPeriod"/>
            </a:pPr>
            <a:r>
              <a:rPr lang="en-US" dirty="0" smtClean="0">
                <a:latin typeface="Times New Roman" pitchFamily="18" charset="0"/>
                <a:cs typeface="Times New Roman" pitchFamily="18" charset="0"/>
              </a:rPr>
              <a:t>Programme </a:t>
            </a:r>
            <a:r>
              <a:rPr lang="en-US" dirty="0">
                <a:latin typeface="Times New Roman" pitchFamily="18" charset="0"/>
                <a:cs typeface="Times New Roman" pitchFamily="18" charset="0"/>
              </a:rPr>
              <a:t>Due </a:t>
            </a:r>
          </a:p>
          <a:p>
            <a:endParaRPr lang="en-US" dirty="0"/>
          </a:p>
        </p:txBody>
      </p:sp>
    </p:spTree>
    <p:extLst>
      <p:ext uri="{BB962C8B-B14F-4D97-AF65-F5344CB8AC3E}">
        <p14:creationId xmlns:p14="http://schemas.microsoft.com/office/powerpoint/2010/main" val="2390846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04800"/>
            <a:ext cx="8610600" cy="5186035"/>
          </a:xfrm>
          <a:prstGeom prst="rect">
            <a:avLst/>
          </a:prstGeom>
          <a:noFill/>
        </p:spPr>
        <p:txBody>
          <a:bodyPr wrap="square" rtlCol="0">
            <a:spAutoFit/>
          </a:bodyPr>
          <a:lstStyle/>
          <a:p>
            <a:pPr algn="just"/>
            <a:r>
              <a:rPr lang="en-US" sz="3200" b="1" dirty="0"/>
              <a:t>RECOMMENDATIONS FOR PROPELLING WEALTH CREATION FOR THE UNIVERSITY</a:t>
            </a:r>
            <a:endParaRPr lang="en-US" sz="3200" dirty="0"/>
          </a:p>
          <a:p>
            <a:r>
              <a:rPr lang="en-US" dirty="0"/>
              <a:t> </a:t>
            </a:r>
          </a:p>
          <a:p>
            <a:pPr marL="342900" indent="-342900">
              <a:lnSpc>
                <a:spcPct val="150000"/>
              </a:lnSpc>
              <a:buFont typeface="+mj-lt"/>
              <a:buAutoNum type="alphaUcPeriod"/>
            </a:pPr>
            <a:r>
              <a:rPr lang="en-US" sz="2800" b="1" dirty="0" smtClean="0">
                <a:latin typeface="Times New Roman" pitchFamily="18" charset="0"/>
                <a:cs typeface="Times New Roman" pitchFamily="18" charset="0"/>
              </a:rPr>
              <a:t>General </a:t>
            </a:r>
            <a:r>
              <a:rPr lang="en-US" sz="2800" b="1" dirty="0">
                <a:latin typeface="Times New Roman" pitchFamily="18" charset="0"/>
                <a:cs typeface="Times New Roman" pitchFamily="18" charset="0"/>
              </a:rPr>
              <a:t>Recommendations </a:t>
            </a:r>
            <a:endParaRPr lang="en-US" sz="2800"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The economic fortunes of the University can be improved through outward and inward sourcing windows. The two windows can be combined into what is called </a:t>
            </a:r>
            <a:r>
              <a:rPr lang="en-US" b="1" dirty="0">
                <a:solidFill>
                  <a:srgbClr val="FF0000"/>
                </a:solidFill>
                <a:latin typeface="Times New Roman" pitchFamily="18" charset="0"/>
                <a:cs typeface="Times New Roman" pitchFamily="18" charset="0"/>
              </a:rPr>
              <a:t>PEST </a:t>
            </a:r>
            <a:r>
              <a:rPr lang="en-US" b="1" dirty="0" smtClean="0">
                <a:solidFill>
                  <a:srgbClr val="FF0000"/>
                </a:solidFill>
                <a:latin typeface="Times New Roman" pitchFamily="18" charset="0"/>
                <a:cs typeface="Times New Roman" pitchFamily="18" charset="0"/>
              </a:rPr>
              <a:t>Analysis</a:t>
            </a:r>
            <a:r>
              <a:rPr lang="en-US" dirty="0" smtClean="0">
                <a:latin typeface="Times New Roman" pitchFamily="18" charset="0"/>
                <a:cs typeface="Times New Roman" pitchFamily="18" charset="0"/>
              </a:rPr>
              <a:t>.</a:t>
            </a:r>
          </a:p>
          <a:p>
            <a:pPr>
              <a:lnSpc>
                <a:spcPct val="150000"/>
              </a:lnSpc>
            </a:pPr>
            <a:r>
              <a:rPr lang="en-US" b="1" dirty="0" smtClean="0">
                <a:latin typeface="Times New Roman" pitchFamily="18" charset="0"/>
                <a:cs typeface="Times New Roman" pitchFamily="18" charset="0"/>
              </a:rPr>
              <a:t>            P </a:t>
            </a:r>
            <a:r>
              <a:rPr lang="en-US" b="1" dirty="0">
                <a:latin typeface="Times New Roman" pitchFamily="18" charset="0"/>
                <a:cs typeface="Times New Roman" pitchFamily="18" charset="0"/>
              </a:rPr>
              <a:t>– Political Support</a:t>
            </a:r>
            <a:endParaRPr lang="en-US" dirty="0">
              <a:latin typeface="Times New Roman" pitchFamily="18" charset="0"/>
              <a:cs typeface="Times New Roman" pitchFamily="18" charset="0"/>
            </a:endParaRPr>
          </a:p>
          <a:p>
            <a:pPr>
              <a:lnSpc>
                <a:spcPct val="150000"/>
              </a:lnSpc>
            </a:pPr>
            <a:r>
              <a:rPr lang="en-US" b="1" dirty="0" smtClean="0">
                <a:latin typeface="Times New Roman" pitchFamily="18" charset="0"/>
                <a:cs typeface="Times New Roman" pitchFamily="18" charset="0"/>
              </a:rPr>
              <a:t>            E </a:t>
            </a:r>
            <a:r>
              <a:rPr lang="en-US" b="1" dirty="0">
                <a:latin typeface="Times New Roman" pitchFamily="18" charset="0"/>
                <a:cs typeface="Times New Roman" pitchFamily="18" charset="0"/>
              </a:rPr>
              <a:t>– Economic </a:t>
            </a:r>
            <a:r>
              <a:rPr lang="en-US" b="1" dirty="0" smtClean="0">
                <a:latin typeface="Times New Roman" pitchFamily="18" charset="0"/>
                <a:cs typeface="Times New Roman" pitchFamily="18" charset="0"/>
              </a:rPr>
              <a:t>Investments</a:t>
            </a:r>
          </a:p>
          <a:p>
            <a:pPr>
              <a:lnSpc>
                <a:spcPct val="150000"/>
              </a:lnSpc>
            </a:pPr>
            <a:r>
              <a:rPr lang="en-US" b="1" dirty="0" smtClean="0">
                <a:latin typeface="Times New Roman" pitchFamily="18" charset="0"/>
                <a:cs typeface="Times New Roman" pitchFamily="18" charset="0"/>
              </a:rPr>
              <a:t>            S </a:t>
            </a:r>
            <a:r>
              <a:rPr lang="en-US" b="1" dirty="0">
                <a:latin typeface="Times New Roman" pitchFamily="18" charset="0"/>
                <a:cs typeface="Times New Roman" pitchFamily="18" charset="0"/>
              </a:rPr>
              <a:t>- Socio-cultural Opportunities</a:t>
            </a:r>
            <a:endParaRPr lang="en-US" dirty="0">
              <a:latin typeface="Times New Roman" pitchFamily="18" charset="0"/>
              <a:cs typeface="Times New Roman" pitchFamily="18" charset="0"/>
            </a:endParaRPr>
          </a:p>
          <a:p>
            <a:pPr>
              <a:lnSpc>
                <a:spcPct val="150000"/>
              </a:lnSpc>
            </a:pPr>
            <a:r>
              <a:rPr lang="en-US" b="1" dirty="0" smtClean="0">
                <a:latin typeface="Times New Roman" pitchFamily="18" charset="0"/>
                <a:cs typeface="Times New Roman" pitchFamily="18" charset="0"/>
              </a:rPr>
              <a:t>             T </a:t>
            </a:r>
            <a:r>
              <a:rPr lang="en-US" b="1" dirty="0">
                <a:latin typeface="Times New Roman" pitchFamily="18" charset="0"/>
                <a:cs typeface="Times New Roman" pitchFamily="18" charset="0"/>
              </a:rPr>
              <a:t>- Technological Knowledge Generation &amp; Commercializing </a:t>
            </a:r>
            <a:r>
              <a:rPr lang="en-US" b="1" dirty="0" smtClean="0">
                <a:latin typeface="Times New Roman" pitchFamily="18" charset="0"/>
                <a:cs typeface="Times New Roman" pitchFamily="18" charset="0"/>
              </a:rPr>
              <a:t>Discoveries</a:t>
            </a:r>
            <a:endParaRPr lang="en-US" dirty="0">
              <a:latin typeface="Times New Roman" pitchFamily="18" charset="0"/>
              <a:cs typeface="Times New Roman" pitchFamily="18" charset="0"/>
            </a:endParaRPr>
          </a:p>
          <a:p>
            <a:pPr>
              <a:lnSpc>
                <a:spcPct val="150000"/>
              </a:lnSpc>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This adaptational strategy is explained as follows:</a:t>
            </a:r>
          </a:p>
          <a:p>
            <a:endParaRPr lang="en-US" dirty="0"/>
          </a:p>
        </p:txBody>
      </p:sp>
    </p:spTree>
    <p:extLst>
      <p:ext uri="{BB962C8B-B14F-4D97-AF65-F5344CB8AC3E}">
        <p14:creationId xmlns:p14="http://schemas.microsoft.com/office/powerpoint/2010/main" val="10744499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457200"/>
            <a:ext cx="8763000" cy="6217087"/>
          </a:xfrm>
          <a:prstGeom prst="rect">
            <a:avLst/>
          </a:prstGeom>
          <a:noFill/>
        </p:spPr>
        <p:txBody>
          <a:bodyPr wrap="square" rtlCol="0">
            <a:spAutoFit/>
          </a:bodyPr>
          <a:lstStyle/>
          <a:p>
            <a:r>
              <a:rPr lang="en-US" sz="2800" b="1" dirty="0"/>
              <a:t>P – Political </a:t>
            </a:r>
            <a:r>
              <a:rPr lang="en-US" sz="2800" b="1" dirty="0" smtClean="0"/>
              <a:t>Support</a:t>
            </a:r>
          </a:p>
          <a:p>
            <a:endParaRPr lang="en-US" sz="2800" dirty="0"/>
          </a:p>
          <a:p>
            <a:pPr marL="342900" lvl="0" indent="-342900" algn="just">
              <a:lnSpc>
                <a:spcPct val="150000"/>
              </a:lnSpc>
              <a:buFont typeface="+mj-lt"/>
              <a:buAutoNum type="arabicPeriod"/>
            </a:pPr>
            <a:r>
              <a:rPr lang="en-US" dirty="0">
                <a:latin typeface="Times New Roman" pitchFamily="18" charset="0"/>
                <a:cs typeface="Times New Roman" pitchFamily="18" charset="0"/>
              </a:rPr>
              <a:t>Government continued financial support for the University because, </a:t>
            </a:r>
            <a:r>
              <a:rPr lang="en-US" i="1" dirty="0" err="1">
                <a:latin typeface="Times New Roman" pitchFamily="18" charset="0"/>
                <a:cs typeface="Times New Roman" pitchFamily="18" charset="0"/>
              </a:rPr>
              <a:t>ab</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nitio</a:t>
            </a:r>
            <a:r>
              <a:rPr lang="en-US" dirty="0">
                <a:latin typeface="Times New Roman" pitchFamily="18" charset="0"/>
                <a:cs typeface="Times New Roman" pitchFamily="18" charset="0"/>
              </a:rPr>
              <a:t>, it is its baby. </a:t>
            </a: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State has to increase its subventions to the University on regular basis as to enable it continuous perform well and rise to become a World Class University. </a:t>
            </a: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Apart </a:t>
            </a:r>
            <a:r>
              <a:rPr lang="en-US" dirty="0">
                <a:latin typeface="Times New Roman" pitchFamily="18" charset="0"/>
                <a:cs typeface="Times New Roman" pitchFamily="18" charset="0"/>
              </a:rPr>
              <a:t>from the State Government, Local Government authorities must made to mandatorily support the University </a:t>
            </a:r>
            <a:r>
              <a:rPr lang="en-US" dirty="0" smtClean="0">
                <a:latin typeface="Times New Roman" pitchFamily="18" charset="0"/>
                <a:cs typeface="Times New Roman" pitchFamily="18" charset="0"/>
              </a:rPr>
              <a:t>financially.</a:t>
            </a:r>
          </a:p>
          <a:p>
            <a:pPr marL="342900" lvl="0" indent="-342900" algn="just">
              <a:lnSpc>
                <a:spcPct val="150000"/>
              </a:lnSpc>
              <a:buFont typeface="+mj-lt"/>
              <a:buAutoNum type="arabicPeriod"/>
            </a:pP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Ekiti State House of Assembly should pass a bill approving a mandatory 10% University Support Funds (USF) as contributory deductions from the monthly statutory allocations of the 16 Local Governments in the State.  </a:t>
            </a:r>
          </a:p>
          <a:p>
            <a:endParaRPr lang="en-US" dirty="0"/>
          </a:p>
        </p:txBody>
      </p:sp>
    </p:spTree>
    <p:extLst>
      <p:ext uri="{BB962C8B-B14F-4D97-AF65-F5344CB8AC3E}">
        <p14:creationId xmlns:p14="http://schemas.microsoft.com/office/powerpoint/2010/main" val="19171659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710" y="152400"/>
            <a:ext cx="8610600" cy="7879080"/>
          </a:xfrm>
          <a:prstGeom prst="rect">
            <a:avLst/>
          </a:prstGeom>
          <a:noFill/>
        </p:spPr>
        <p:txBody>
          <a:bodyPr wrap="square" rtlCol="0">
            <a:spAutoFit/>
          </a:bodyPr>
          <a:lstStyle/>
          <a:p>
            <a:r>
              <a:rPr lang="en-US" sz="2800" b="1" dirty="0"/>
              <a:t>E – Economic </a:t>
            </a:r>
            <a:r>
              <a:rPr lang="en-US" sz="2800" b="1" dirty="0" smtClean="0"/>
              <a:t>Investments</a:t>
            </a:r>
          </a:p>
          <a:p>
            <a:endParaRPr lang="en-US" sz="2800" dirty="0"/>
          </a:p>
          <a:p>
            <a:r>
              <a:rPr lang="en-US" dirty="0">
                <a:latin typeface="Times New Roman" pitchFamily="18" charset="0"/>
                <a:cs typeface="Times New Roman" pitchFamily="18" charset="0"/>
              </a:rPr>
              <a:t>The University must initiate opportunities to reduce financial dependence on the State. </a:t>
            </a:r>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it could do through the following means</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marL="342900" lvl="0" indent="-342900">
              <a:buFont typeface="+mj-lt"/>
              <a:buAutoNum type="arabicParenR"/>
            </a:pPr>
            <a:r>
              <a:rPr lang="en-US" b="1" dirty="0">
                <a:latin typeface="Times New Roman" pitchFamily="18" charset="0"/>
                <a:cs typeface="Times New Roman" pitchFamily="18" charset="0"/>
              </a:rPr>
              <a:t>Establishing a Printing </a:t>
            </a:r>
            <a:r>
              <a:rPr lang="en-US" b="1" dirty="0" smtClean="0">
                <a:latin typeface="Times New Roman" pitchFamily="18" charset="0"/>
                <a:cs typeface="Times New Roman" pitchFamily="18" charset="0"/>
              </a:rPr>
              <a:t>Press</a:t>
            </a:r>
          </a:p>
          <a:p>
            <a:pPr marL="342900" lvl="0" indent="-342900">
              <a:buFont typeface="+mj-lt"/>
              <a:buAutoNum type="arabicParenR"/>
            </a:pPr>
            <a:endParaRPr lang="en-US" dirty="0">
              <a:latin typeface="Times New Roman" pitchFamily="18" charset="0"/>
              <a:cs typeface="Times New Roman" pitchFamily="18" charset="0"/>
            </a:endParaRPr>
          </a:p>
          <a:p>
            <a:pPr marL="342900" lvl="0" indent="-342900">
              <a:buFont typeface="+mj-lt"/>
              <a:buAutoNum type="arabicParenR"/>
            </a:pPr>
            <a:r>
              <a:rPr lang="en-US" b="1" dirty="0" smtClean="0">
                <a:latin typeface="Times New Roman" pitchFamily="18" charset="0"/>
                <a:cs typeface="Times New Roman" pitchFamily="18" charset="0"/>
              </a:rPr>
              <a:t>Establishing </a:t>
            </a:r>
            <a:r>
              <a:rPr lang="en-US" b="1" dirty="0">
                <a:latin typeface="Times New Roman" pitchFamily="18" charset="0"/>
                <a:cs typeface="Times New Roman" pitchFamily="18" charset="0"/>
              </a:rPr>
              <a:t>a Sawmill.</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Ekiti State is a timber producing State with limited number of sawmills to process timber into different shapes of wood. The University is located in a forested place, and within  an environment where there is no single sawmill located in the adjourning communities. Where one exists at all, it has become </a:t>
            </a:r>
            <a:r>
              <a:rPr lang="en-US" dirty="0" smtClean="0">
                <a:latin typeface="Times New Roman" pitchFamily="18" charset="0"/>
                <a:cs typeface="Times New Roman" pitchFamily="18" charset="0"/>
              </a:rPr>
              <a:t>moribund.</a:t>
            </a:r>
          </a:p>
          <a:p>
            <a:pPr algn="just"/>
            <a:endParaRPr lang="en-US" dirty="0" smtClean="0">
              <a:latin typeface="Times New Roman" pitchFamily="18" charset="0"/>
              <a:cs typeface="Times New Roman" pitchFamily="18" charset="0"/>
            </a:endParaRPr>
          </a:p>
          <a:p>
            <a:pPr marL="342900" indent="-342900">
              <a:buFont typeface="+mj-lt"/>
              <a:buAutoNum type="arabicParenR" startAt="3"/>
            </a:pPr>
            <a:r>
              <a:rPr lang="en-US" b="1" dirty="0" smtClean="0">
                <a:latin typeface="Times New Roman" pitchFamily="18" charset="0"/>
                <a:cs typeface="Times New Roman" pitchFamily="18" charset="0"/>
              </a:rPr>
              <a:t>Establishing </a:t>
            </a:r>
            <a:r>
              <a:rPr lang="en-US" b="1" dirty="0">
                <a:latin typeface="Times New Roman" pitchFamily="18" charset="0"/>
                <a:cs typeface="Times New Roman" pitchFamily="18" charset="0"/>
              </a:rPr>
              <a:t>Small Scale Agro Processing Industries. </a:t>
            </a:r>
            <a:endParaRPr lang="en-US" dirty="0">
              <a:latin typeface="Times New Roman" pitchFamily="18" charset="0"/>
              <a:cs typeface="Times New Roman" pitchFamily="18" charset="0"/>
            </a:endParaRPr>
          </a:p>
          <a:p>
            <a:pPr marL="400050" lvl="0" indent="-400050" algn="just">
              <a:buFont typeface="+mj-lt"/>
              <a:buAutoNum type="romanLcPeriod"/>
            </a:pPr>
            <a:r>
              <a:rPr lang="en-US" dirty="0">
                <a:latin typeface="Times New Roman" pitchFamily="18" charset="0"/>
                <a:cs typeface="Times New Roman" pitchFamily="18" charset="0"/>
              </a:rPr>
              <a:t>The Faculty of Agricultural Sciences of the University should be enabled to serve as a feeder of raw materials for small scale agro processing industries in the </a:t>
            </a:r>
            <a:r>
              <a:rPr lang="en-US" dirty="0" smtClean="0">
                <a:latin typeface="Times New Roman" pitchFamily="18" charset="0"/>
                <a:cs typeface="Times New Roman" pitchFamily="18" charset="0"/>
              </a:rPr>
              <a:t>University.</a:t>
            </a:r>
          </a:p>
          <a:p>
            <a:pPr marL="400050" lvl="0" indent="-400050" algn="just">
              <a:buFont typeface="+mj-lt"/>
              <a:buAutoNum type="romanLcPeriod"/>
            </a:pPr>
            <a:r>
              <a:rPr lang="en-US" dirty="0" err="1" smtClean="0">
                <a:latin typeface="Times New Roman" pitchFamily="18" charset="0"/>
                <a:cs typeface="Times New Roman" pitchFamily="18" charset="0"/>
              </a:rPr>
              <a:t>Garri</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processing industry, Honey-making industry, Dry Pepper making, Juice making etc. can be established by the University with the Faculty of Agriculture sourcing the necessary raw materials through Faculty and students’ </a:t>
            </a:r>
            <a:r>
              <a:rPr lang="en-US" dirty="0" smtClean="0">
                <a:latin typeface="Times New Roman" pitchFamily="18" charset="0"/>
                <a:cs typeface="Times New Roman" pitchFamily="18" charset="0"/>
              </a:rPr>
              <a:t>farms.</a:t>
            </a:r>
          </a:p>
          <a:p>
            <a:pPr marL="400050" lvl="0" indent="-400050" algn="just">
              <a:buFont typeface="+mj-lt"/>
              <a:buAutoNum type="romanL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University should give the Faculty IGR target to justify investments on it by the </a:t>
            </a:r>
            <a:r>
              <a:rPr lang="en-US" dirty="0" smtClean="0">
                <a:latin typeface="Times New Roman" pitchFamily="18" charset="0"/>
                <a:cs typeface="Times New Roman" pitchFamily="18" charset="0"/>
              </a:rPr>
              <a:t>University.</a:t>
            </a:r>
          </a:p>
          <a:p>
            <a:pPr lvl="0" algn="just"/>
            <a:r>
              <a:rPr lang="en-US" dirty="0" smtClean="0">
                <a:latin typeface="Times New Roman" pitchFamily="18" charset="0"/>
                <a:cs typeface="Times New Roman" pitchFamily="18" charset="0"/>
              </a:rPr>
              <a:t>4) </a:t>
            </a:r>
            <a:r>
              <a:rPr lang="en-US" sz="1600" b="1" dirty="0" smtClean="0">
                <a:latin typeface="Times New Roman" pitchFamily="18" charset="0"/>
                <a:cs typeface="Times New Roman" pitchFamily="18" charset="0"/>
              </a:rPr>
              <a:t>Commercial Land Surveying &amp; Architectural Designs</a:t>
            </a:r>
            <a:endParaRPr lang="en-US" dirty="0" smtClean="0">
              <a:latin typeface="Times New Roman" pitchFamily="18" charset="0"/>
              <a:cs typeface="Times New Roman" pitchFamily="18" charset="0"/>
            </a:endParaRPr>
          </a:p>
          <a:p>
            <a:pPr marL="400050" lvl="0" indent="-400050" algn="just">
              <a:buAutoNum type="romanLcPeriod"/>
            </a:pPr>
            <a:r>
              <a:rPr lang="en-US" dirty="0" smtClean="0">
                <a:latin typeface="Times New Roman" pitchFamily="18" charset="0"/>
                <a:cs typeface="Times New Roman" pitchFamily="18" charset="0"/>
              </a:rPr>
              <a:t>Land Surveying  &amp; Architectural Designs by the </a:t>
            </a:r>
            <a:r>
              <a:rPr lang="en-US" sz="1600" dirty="0" smtClean="0">
                <a:latin typeface="Times New Roman" pitchFamily="18" charset="0"/>
                <a:cs typeface="Times New Roman" pitchFamily="18" charset="0"/>
              </a:rPr>
              <a:t>Department </a:t>
            </a:r>
            <a:r>
              <a:rPr lang="en-US" sz="1600" dirty="0">
                <a:latin typeface="Times New Roman" pitchFamily="18" charset="0"/>
                <a:cs typeface="Times New Roman" pitchFamily="18" charset="0"/>
              </a:rPr>
              <a:t>of Geography &amp; Planning and University Planning Unit.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0" algn="just"/>
            <a:endParaRPr lang="en-US" dirty="0" smtClean="0">
              <a:latin typeface="Times New Roman" pitchFamily="18" charset="0"/>
              <a:cs typeface="Times New Roman" pitchFamily="18" charset="0"/>
            </a:endParaRPr>
          </a:p>
          <a:p>
            <a:pPr marL="400050" lvl="0" indent="-400050" algn="just">
              <a:buFont typeface="+mj-lt"/>
              <a:buAutoNum type="romanLcPeriod"/>
            </a:pPr>
            <a:endParaRPr lang="en-US" dirty="0" smtClean="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2181024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6927"/>
            <a:ext cx="9067800" cy="7709803"/>
          </a:xfrm>
          <a:prstGeom prst="rect">
            <a:avLst/>
          </a:prstGeom>
          <a:noFill/>
        </p:spPr>
        <p:txBody>
          <a:bodyPr wrap="square" rtlCol="0">
            <a:spAutoFit/>
          </a:bodyPr>
          <a:lstStyle/>
          <a:p>
            <a:pPr marL="342900" lvl="0" indent="-342900">
              <a:buFont typeface="+mj-lt"/>
              <a:buAutoNum type="arabicParenR" startAt="4"/>
            </a:pPr>
            <a:r>
              <a:rPr lang="en-US" b="1" dirty="0" smtClean="0">
                <a:latin typeface="Times New Roman" pitchFamily="18" charset="0"/>
                <a:cs typeface="Times New Roman" pitchFamily="18" charset="0"/>
              </a:rPr>
              <a:t>Founding a Bakery</a:t>
            </a: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Bread is a popular diet in Nigeria and Ekiti State. Bread making and bread merchandizing cannot therefore be failed enterprises if well managed. </a:t>
            </a:r>
          </a:p>
          <a:p>
            <a:pPr algn="just">
              <a:lnSpc>
                <a:spcPct val="150000"/>
              </a:lnSpc>
            </a:pPr>
            <a:r>
              <a:rPr lang="en-US" dirty="0" smtClean="0">
                <a:latin typeface="Times New Roman" pitchFamily="18" charset="0"/>
                <a:cs typeface="Times New Roman" pitchFamily="18" charset="0"/>
              </a:rPr>
              <a:t>The University should establish its own bakery. If this is done, it will not take long before the illegal bread market at the gate will collapse. </a:t>
            </a:r>
            <a:endParaRPr lang="en-US" b="1" dirty="0">
              <a:latin typeface="Times New Roman" pitchFamily="18" charset="0"/>
              <a:cs typeface="Times New Roman" pitchFamily="18" charset="0"/>
            </a:endParaRPr>
          </a:p>
          <a:p>
            <a:pPr marL="342900" lvl="0" indent="-342900">
              <a:lnSpc>
                <a:spcPct val="150000"/>
              </a:lnSpc>
              <a:buFont typeface="+mj-lt"/>
              <a:buAutoNum type="arabicParenR" startAt="5"/>
            </a:pPr>
            <a:r>
              <a:rPr lang="en-US" b="1" dirty="0" smtClean="0">
                <a:latin typeface="Times New Roman" pitchFamily="18" charset="0"/>
                <a:cs typeface="Times New Roman" pitchFamily="18" charset="0"/>
              </a:rPr>
              <a:t>Establishing </a:t>
            </a:r>
            <a:r>
              <a:rPr lang="en-US" b="1" dirty="0">
                <a:latin typeface="Times New Roman" pitchFamily="18" charset="0"/>
                <a:cs typeface="Times New Roman" pitchFamily="18" charset="0"/>
              </a:rPr>
              <a:t>a Petrol Station in Town</a:t>
            </a:r>
            <a:endParaRPr lang="en-US"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Petroleum business has become a viable and sustained source of wealth in Nigeria if not mismanaged. </a:t>
            </a:r>
          </a:p>
          <a:p>
            <a:pPr algn="just">
              <a:lnSpc>
                <a:spcPct val="150000"/>
              </a:lnSpc>
            </a:pPr>
            <a:r>
              <a:rPr lang="en-US" dirty="0">
                <a:latin typeface="Times New Roman" pitchFamily="18" charset="0"/>
                <a:cs typeface="Times New Roman" pitchFamily="18" charset="0"/>
              </a:rPr>
              <a:t>No petroleum product can ever become unsold or </a:t>
            </a:r>
            <a:r>
              <a:rPr lang="en-US" dirty="0" smtClean="0">
                <a:latin typeface="Times New Roman" pitchFamily="18" charset="0"/>
                <a:cs typeface="Times New Roman" pitchFamily="18" charset="0"/>
              </a:rPr>
              <a:t>un-patronized </a:t>
            </a:r>
            <a:r>
              <a:rPr lang="en-US" dirty="0">
                <a:latin typeface="Times New Roman" pitchFamily="18" charset="0"/>
                <a:cs typeface="Times New Roman" pitchFamily="18" charset="0"/>
              </a:rPr>
              <a:t>in terms of consumption by the public. </a:t>
            </a:r>
            <a:endParaRPr lang="en-US" dirty="0" smtClean="0">
              <a:latin typeface="Times New Roman" pitchFamily="18" charset="0"/>
              <a:cs typeface="Times New Roman" pitchFamily="18" charset="0"/>
            </a:endParaRPr>
          </a:p>
          <a:p>
            <a:pPr marL="342900" indent="-342900">
              <a:lnSpc>
                <a:spcPct val="150000"/>
              </a:lnSpc>
              <a:buFont typeface="+mj-lt"/>
              <a:buAutoNum type="arabicParenR" startAt="6"/>
            </a:pPr>
            <a:r>
              <a:rPr lang="en-US" b="1" dirty="0" smtClean="0">
                <a:latin typeface="Times New Roman" pitchFamily="18" charset="0"/>
                <a:cs typeface="Times New Roman" pitchFamily="18" charset="0"/>
              </a:rPr>
              <a:t>Production </a:t>
            </a:r>
            <a:r>
              <a:rPr lang="en-US" b="1" dirty="0">
                <a:latin typeface="Times New Roman" pitchFamily="18" charset="0"/>
                <a:cs typeface="Times New Roman" pitchFamily="18" charset="0"/>
              </a:rPr>
              <a:t>of GSM Credit </a:t>
            </a:r>
            <a:r>
              <a:rPr lang="en-US" b="1" dirty="0" smtClean="0">
                <a:latin typeface="Times New Roman" pitchFamily="18" charset="0"/>
                <a:cs typeface="Times New Roman" pitchFamily="18" charset="0"/>
              </a:rPr>
              <a:t>Cards by the ICT Unit &amp; Dept of Computer (Maths).</a:t>
            </a:r>
            <a:endParaRPr lang="en-US"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Some businesses look small but yield huge profits. GSM credit card production is one of them. The University should obtain the production license from the MTN, GLO, Airtel and others. The University population alone is enough market for such enterprise to break even and make profits</a:t>
            </a:r>
            <a:r>
              <a:rPr lang="en-US" dirty="0" smtClean="0">
                <a:latin typeface="Times New Roman" pitchFamily="18" charset="0"/>
                <a:cs typeface="Times New Roman" pitchFamily="18" charset="0"/>
              </a:rPr>
              <a:t>.</a:t>
            </a:r>
          </a:p>
          <a:p>
            <a:pPr algn="just">
              <a:lnSpc>
                <a:spcPct val="150000"/>
              </a:lnSpc>
            </a:pPr>
            <a:r>
              <a:rPr lang="en-US" dirty="0" smtClean="0">
                <a:latin typeface="Times New Roman" pitchFamily="18" charset="0"/>
                <a:cs typeface="Times New Roman" pitchFamily="18" charset="0"/>
              </a:rPr>
              <a:t>7) Building a Campus Shopping Complex &amp; Row of retail shops, preferably along the road.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lvl="0">
              <a:lnSpc>
                <a:spcPct val="150000"/>
              </a:lnSpc>
            </a:pPr>
            <a:r>
              <a:rPr lang="en-US" b="1" dirty="0" smtClean="0">
                <a:latin typeface="Times New Roman" pitchFamily="18" charset="0"/>
                <a:cs typeface="Times New Roman" pitchFamily="18" charset="0"/>
              </a:rPr>
              <a:t>8) Externalizing </a:t>
            </a:r>
            <a:r>
              <a:rPr lang="en-US" b="1" dirty="0" smtClean="0">
                <a:latin typeface="Times New Roman" pitchFamily="18" charset="0"/>
                <a:cs typeface="Times New Roman" pitchFamily="18" charset="0"/>
              </a:rPr>
              <a:t>Apprenticeship of the Directorate of </a:t>
            </a:r>
            <a:r>
              <a:rPr lang="en-US" b="1" dirty="0" smtClean="0"/>
              <a:t>Entrepreneurship with fees paid.</a:t>
            </a:r>
          </a:p>
          <a:p>
            <a:pPr lvl="0">
              <a:lnSpc>
                <a:spcPct val="150000"/>
              </a:lnSpc>
            </a:pPr>
            <a:r>
              <a:rPr lang="en-US" smtClean="0"/>
              <a:t>9) </a:t>
            </a:r>
            <a:r>
              <a:rPr lang="en-US" b="1" smtClean="0">
                <a:latin typeface="Times New Roman" pitchFamily="18" charset="0"/>
                <a:cs typeface="Times New Roman" pitchFamily="18" charset="0"/>
              </a:rPr>
              <a:t>Other </a:t>
            </a:r>
            <a:r>
              <a:rPr lang="en-US" b="1" dirty="0">
                <a:latin typeface="Times New Roman" pitchFamily="18" charset="0"/>
                <a:cs typeface="Times New Roman" pitchFamily="18" charset="0"/>
              </a:rPr>
              <a:t>suggested commercial initiatives</a:t>
            </a:r>
            <a:r>
              <a:rPr lang="en-US" dirty="0">
                <a:latin typeface="Times New Roman" pitchFamily="18" charset="0"/>
                <a:cs typeface="Times New Roman" pitchFamily="18" charset="0"/>
              </a:rPr>
              <a:t> are: </a:t>
            </a:r>
            <a:r>
              <a:rPr lang="en-US" dirty="0" smtClean="0">
                <a:latin typeface="Times New Roman" pitchFamily="18" charset="0"/>
                <a:cs typeface="Times New Roman" pitchFamily="18" charset="0"/>
              </a:rPr>
              <a:t>Weekend </a:t>
            </a:r>
            <a:r>
              <a:rPr lang="en-US" dirty="0">
                <a:latin typeface="Times New Roman" pitchFamily="18" charset="0"/>
                <a:cs typeface="Times New Roman" pitchFamily="18" charset="0"/>
              </a:rPr>
              <a:t>Video/ Film </a:t>
            </a:r>
            <a:r>
              <a:rPr lang="en-US" dirty="0" smtClean="0">
                <a:latin typeface="Times New Roman" pitchFamily="18" charset="0"/>
                <a:cs typeface="Times New Roman" pitchFamily="18" charset="0"/>
              </a:rPr>
              <a:t>Shows/DSTV Football Centres </a:t>
            </a:r>
            <a:r>
              <a:rPr lang="en-US" dirty="0">
                <a:latin typeface="Times New Roman" pitchFamily="18" charset="0"/>
                <a:cs typeface="Times New Roman" pitchFamily="18" charset="0"/>
              </a:rPr>
              <a:t>on campus.</a:t>
            </a:r>
          </a:p>
          <a:p>
            <a:endParaRPr lang="en-US" dirty="0"/>
          </a:p>
        </p:txBody>
      </p:sp>
    </p:spTree>
    <p:extLst>
      <p:ext uri="{BB962C8B-B14F-4D97-AF65-F5344CB8AC3E}">
        <p14:creationId xmlns:p14="http://schemas.microsoft.com/office/powerpoint/2010/main" val="9950797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7620000" cy="6063198"/>
          </a:xfrm>
          <a:prstGeom prst="rect">
            <a:avLst/>
          </a:prstGeom>
          <a:noFill/>
        </p:spPr>
        <p:txBody>
          <a:bodyPr wrap="square" rtlCol="0">
            <a:spAutoFit/>
          </a:bodyPr>
          <a:lstStyle/>
          <a:p>
            <a:r>
              <a:rPr lang="en-US" sz="2800" b="1" dirty="0"/>
              <a:t>S - Socio-cultural </a:t>
            </a:r>
            <a:r>
              <a:rPr lang="en-US" sz="2800" b="1" dirty="0" smtClean="0"/>
              <a:t>Opportunities</a:t>
            </a:r>
          </a:p>
          <a:p>
            <a:endParaRPr lang="en-US" dirty="0"/>
          </a:p>
          <a:p>
            <a:pPr algn="just">
              <a:lnSpc>
                <a:spcPct val="150000"/>
              </a:lnSpc>
            </a:pPr>
            <a:r>
              <a:rPr lang="en-US" dirty="0">
                <a:latin typeface="Times New Roman" pitchFamily="18" charset="0"/>
                <a:cs typeface="Times New Roman" pitchFamily="18" charset="0"/>
              </a:rPr>
              <a:t>Converting opportunities that abound in the socio-cultural environment to economic advantage. </a:t>
            </a:r>
          </a:p>
          <a:p>
            <a:pPr algn="just">
              <a:lnSpc>
                <a:spcPct val="150000"/>
              </a:lnSpc>
            </a:pPr>
            <a:r>
              <a:rPr lang="en-US" dirty="0">
                <a:latin typeface="Times New Roman" pitchFamily="18" charset="0"/>
                <a:cs typeface="Times New Roman" pitchFamily="18" charset="0"/>
              </a:rPr>
              <a:t>Ekiti State is rich in culture and tradition, including those associated with Wedding and Burial ceremonies, Towns Annual Day Celebrations, traditional Festivals and other celebrations. All these can be converted to economic benefits by the University. </a:t>
            </a:r>
          </a:p>
          <a:p>
            <a:pPr algn="just">
              <a:lnSpc>
                <a:spcPct val="150000"/>
              </a:lnSpc>
            </a:pPr>
            <a:r>
              <a:rPr lang="en-US" dirty="0">
                <a:latin typeface="Times New Roman" pitchFamily="18" charset="0"/>
                <a:cs typeface="Times New Roman" pitchFamily="18" charset="0"/>
              </a:rPr>
              <a:t>This can be achieved through the following: </a:t>
            </a:r>
          </a:p>
          <a:p>
            <a:pPr marL="342900" lvl="0" indent="-342900" algn="just">
              <a:lnSpc>
                <a:spcPct val="150000"/>
              </a:lnSpc>
              <a:buFont typeface="+mj-lt"/>
              <a:buAutoNum type="arabicPeriod"/>
            </a:pPr>
            <a:r>
              <a:rPr lang="en-US" dirty="0">
                <a:latin typeface="Times New Roman" pitchFamily="18" charset="0"/>
                <a:cs typeface="Times New Roman" pitchFamily="18" charset="0"/>
              </a:rPr>
              <a:t>Re-Equipping &amp; Commercializing the University Musical </a:t>
            </a:r>
            <a:r>
              <a:rPr lang="en-US" dirty="0" smtClean="0">
                <a:latin typeface="Times New Roman" pitchFamily="18" charset="0"/>
                <a:cs typeface="Times New Roman" pitchFamily="18" charset="0"/>
              </a:rPr>
              <a:t>Band</a:t>
            </a: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Re-organizing</a:t>
            </a:r>
            <a:r>
              <a:rPr lang="en-US" dirty="0">
                <a:latin typeface="Times New Roman" pitchFamily="18" charset="0"/>
                <a:cs typeface="Times New Roman" pitchFamily="18" charset="0"/>
              </a:rPr>
              <a:t>, Equipping &amp; Commercializing the University Choir Band </a:t>
            </a: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Re-Equipping </a:t>
            </a:r>
            <a:r>
              <a:rPr lang="en-US" dirty="0">
                <a:latin typeface="Times New Roman" pitchFamily="18" charset="0"/>
                <a:cs typeface="Times New Roman" pitchFamily="18" charset="0"/>
              </a:rPr>
              <a:t>and Commercializing the University theatre Troupe </a:t>
            </a:r>
            <a:endParaRPr lang="en-US" dirty="0" smtClean="0">
              <a:latin typeface="Times New Roman" pitchFamily="18" charset="0"/>
              <a:cs typeface="Times New Roman" pitchFamily="18" charset="0"/>
            </a:endParaRPr>
          </a:p>
          <a:p>
            <a:pPr marL="342900" lvl="0" indent="-342900" algn="just">
              <a:lnSpc>
                <a:spcPct val="150000"/>
              </a:lnSpc>
              <a:buFont typeface="+mj-lt"/>
              <a:buAutoNum type="arabicPeriod"/>
            </a:pPr>
            <a:r>
              <a:rPr lang="en-US" dirty="0" smtClean="0">
                <a:latin typeface="Times New Roman" pitchFamily="18" charset="0"/>
                <a:cs typeface="Times New Roman" pitchFamily="18" charset="0"/>
              </a:rPr>
              <a:t>Giving </a:t>
            </a:r>
            <a:r>
              <a:rPr lang="en-US" dirty="0">
                <a:latin typeface="Times New Roman" pitchFamily="18" charset="0"/>
                <a:cs typeface="Times New Roman" pitchFamily="18" charset="0"/>
              </a:rPr>
              <a:t>each of the groups above IGR targets to justify investments on them by the University.</a:t>
            </a:r>
          </a:p>
          <a:p>
            <a:endParaRPr lang="en-US" dirty="0"/>
          </a:p>
        </p:txBody>
      </p:sp>
    </p:spTree>
    <p:extLst>
      <p:ext uri="{BB962C8B-B14F-4D97-AF65-F5344CB8AC3E}">
        <p14:creationId xmlns:p14="http://schemas.microsoft.com/office/powerpoint/2010/main" val="2542182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381000"/>
            <a:ext cx="8915400" cy="6494085"/>
          </a:xfrm>
          <a:prstGeom prst="rect">
            <a:avLst/>
          </a:prstGeom>
          <a:noFill/>
        </p:spPr>
        <p:txBody>
          <a:bodyPr wrap="square" rtlCol="0">
            <a:spAutoFit/>
          </a:bodyPr>
          <a:lstStyle/>
          <a:p>
            <a:r>
              <a:rPr lang="en-US" sz="2800" b="1" dirty="0"/>
              <a:t>T - Technological Knowledge Generation &amp; Commercializing Discoveries (Faculty of </a:t>
            </a:r>
            <a:r>
              <a:rPr lang="en-US" sz="2800" b="1" dirty="0" smtClean="0"/>
              <a:t> Engineering)</a:t>
            </a:r>
          </a:p>
          <a:p>
            <a:endParaRPr lang="en-US" dirty="0"/>
          </a:p>
          <a:p>
            <a:pPr marL="342900" lvl="0" indent="-342900" algn="just">
              <a:lnSpc>
                <a:spcPct val="150000"/>
              </a:lnSpc>
              <a:buFont typeface="+mj-lt"/>
              <a:buAutoNum type="arabicParenR"/>
            </a:pPr>
            <a:r>
              <a:rPr lang="en-US" dirty="0">
                <a:latin typeface="Times New Roman" pitchFamily="18" charset="0"/>
                <a:cs typeface="Times New Roman" pitchFamily="18" charset="0"/>
              </a:rPr>
              <a:t>Enormous wealth is being wasted through the non-utility of discoveries by the University staff and students, especially in the Faculty of Engineering of the University. Ground-breaking research findings and innovations are turned out yearly but which always die like that without being encouraged to convert such findings into commercial status. </a:t>
            </a:r>
          </a:p>
          <a:p>
            <a:pPr algn="just">
              <a:lnSpc>
                <a:spcPct val="150000"/>
              </a:lnSpc>
            </a:pPr>
            <a:r>
              <a:rPr lang="en-US" dirty="0">
                <a:latin typeface="Times New Roman" pitchFamily="18" charset="0"/>
                <a:cs typeface="Times New Roman" pitchFamily="18" charset="0"/>
              </a:rPr>
              <a:t>The University should therefore set up a committee on how engineering innovations can be encouraged to generate IGR for the University and at the same time project the image of the </a:t>
            </a:r>
            <a:r>
              <a:rPr lang="en-US" dirty="0" smtClean="0">
                <a:latin typeface="Times New Roman" pitchFamily="18" charset="0"/>
                <a:cs typeface="Times New Roman" pitchFamily="18" charset="0"/>
              </a:rPr>
              <a:t>University.</a:t>
            </a:r>
          </a:p>
          <a:p>
            <a:pPr algn="just">
              <a:lnSpc>
                <a:spcPct val="150000"/>
              </a:lnSpc>
            </a:pPr>
            <a:endParaRPr lang="en-US" dirty="0" smtClean="0">
              <a:latin typeface="Times New Roman" pitchFamily="18" charset="0"/>
              <a:cs typeface="Times New Roman" pitchFamily="18" charset="0"/>
            </a:endParaRPr>
          </a:p>
          <a:p>
            <a:pPr marL="342900" indent="-342900" algn="just">
              <a:lnSpc>
                <a:spcPct val="150000"/>
              </a:lnSpc>
              <a:buFont typeface="+mj-lt"/>
              <a:buAutoNum type="arabicParenR" startAt="2"/>
            </a:pPr>
            <a:r>
              <a:rPr lang="en-US" dirty="0" smtClean="0">
                <a:latin typeface="Times New Roman" pitchFamily="18" charset="0"/>
                <a:cs typeface="Times New Roman" pitchFamily="18" charset="0"/>
              </a:rPr>
              <a:t>Manufacturing/Fabricating </a:t>
            </a:r>
            <a:r>
              <a:rPr lang="en-US" dirty="0">
                <a:latin typeface="Times New Roman" pitchFamily="18" charset="0"/>
                <a:cs typeface="Times New Roman" pitchFamily="18" charset="0"/>
              </a:rPr>
              <a:t>Small Scale/Simple  Farming Mechanical Devices.</a:t>
            </a:r>
          </a:p>
          <a:p>
            <a:pPr algn="just">
              <a:lnSpc>
                <a:spcPct val="150000"/>
              </a:lnSpc>
            </a:pPr>
            <a:r>
              <a:rPr lang="en-US" dirty="0">
                <a:latin typeface="Times New Roman" pitchFamily="18" charset="0"/>
                <a:cs typeface="Times New Roman" pitchFamily="18" charset="0"/>
              </a:rPr>
              <a:t>Such as hand propelling Maize Shelling machine that can be sold to rural farmers at low </a:t>
            </a:r>
            <a:r>
              <a:rPr lang="en-US" dirty="0" smtClean="0">
                <a:latin typeface="Times New Roman" pitchFamily="18" charset="0"/>
                <a:cs typeface="Times New Roman" pitchFamily="18" charset="0"/>
              </a:rPr>
              <a:t>costs;.  </a:t>
            </a:r>
            <a:endParaRPr lang="en-US"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Solar power devices.</a:t>
            </a:r>
            <a:endParaRPr lang="en-US" dirty="0">
              <a:latin typeface="Times New Roman" pitchFamily="18" charset="0"/>
              <a:cs typeface="Times New Roman" pitchFamily="18" charset="0"/>
            </a:endParaRPr>
          </a:p>
          <a:p>
            <a:pPr marL="342900" lvl="0" indent="-342900" algn="just">
              <a:lnSpc>
                <a:spcPct val="150000"/>
              </a:lnSpc>
              <a:buFont typeface="+mj-lt"/>
              <a:buAutoNum type="arabicParenR" startAt="3"/>
            </a:pPr>
            <a:r>
              <a:rPr lang="en-US" dirty="0">
                <a:solidFill>
                  <a:srgbClr val="FF0000"/>
                </a:solidFill>
                <a:latin typeface="Times New Roman" pitchFamily="18" charset="0"/>
                <a:cs typeface="Times New Roman" pitchFamily="18" charset="0"/>
              </a:rPr>
              <a:t>University to give the Faculty IGR target to justify investments on it by the University</a:t>
            </a: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3847947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304800"/>
            <a:ext cx="8915400" cy="5786199"/>
          </a:xfrm>
          <a:prstGeom prst="rect">
            <a:avLst/>
          </a:prstGeom>
          <a:noFill/>
        </p:spPr>
        <p:txBody>
          <a:bodyPr wrap="square" rtlCol="0">
            <a:spAutoFit/>
          </a:bodyPr>
          <a:lstStyle/>
          <a:p>
            <a:r>
              <a:rPr lang="en-US" sz="2800" b="1" dirty="0" smtClean="0">
                <a:latin typeface="Times New Roman" pitchFamily="18" charset="0"/>
                <a:cs typeface="Times New Roman" pitchFamily="18" charset="0"/>
              </a:rPr>
              <a:t>B:Specific </a:t>
            </a:r>
            <a:r>
              <a:rPr lang="en-US" sz="2800" b="1" dirty="0" smtClean="0">
                <a:latin typeface="Times New Roman" pitchFamily="18" charset="0"/>
                <a:cs typeface="Times New Roman" pitchFamily="18" charset="0"/>
              </a:rPr>
              <a:t>New IGR </a:t>
            </a:r>
            <a:r>
              <a:rPr lang="en-US" sz="2800" b="1" dirty="0" smtClean="0">
                <a:latin typeface="Times New Roman" pitchFamily="18" charset="0"/>
                <a:cs typeface="Times New Roman" pitchFamily="18" charset="0"/>
              </a:rPr>
              <a:t>Avenues by the Institute</a:t>
            </a:r>
          </a:p>
          <a:p>
            <a:endParaRPr lang="en-US" b="1" dirty="0" smtClean="0"/>
          </a:p>
          <a:p>
            <a:r>
              <a:rPr lang="en-US" dirty="0">
                <a:latin typeface="Times New Roman" pitchFamily="18" charset="0"/>
                <a:cs typeface="Times New Roman" pitchFamily="18" charset="0"/>
              </a:rPr>
              <a:t>The Institute can particularly generate substantial IGR for the University through the following means</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marL="342900" lvl="0" indent="-342900">
              <a:buFont typeface="+mj-lt"/>
              <a:buAutoNum type="arabicParenR"/>
            </a:pPr>
            <a:r>
              <a:rPr lang="en-US" b="1" dirty="0">
                <a:latin typeface="Times New Roman" pitchFamily="18" charset="0"/>
                <a:cs typeface="Times New Roman" pitchFamily="18" charset="0"/>
              </a:rPr>
              <a:t>Floating new Academic Programmes, namely: </a:t>
            </a:r>
            <a:endParaRPr lang="en-US" b="1" dirty="0" smtClean="0">
              <a:latin typeface="Times New Roman" pitchFamily="18" charset="0"/>
              <a:cs typeface="Times New Roman" pitchFamily="18" charset="0"/>
            </a:endParaRPr>
          </a:p>
          <a:p>
            <a:pPr lvl="0"/>
            <a:endParaRPr lang="en-US" dirty="0">
              <a:latin typeface="Times New Roman" pitchFamily="18" charset="0"/>
              <a:cs typeface="Times New Roman" pitchFamily="18" charset="0"/>
            </a:endParaRPr>
          </a:p>
          <a:p>
            <a:pPr marL="400050" lvl="0" indent="-400050">
              <a:buFont typeface="+mj-lt"/>
              <a:buAutoNum type="romanLcPeriod"/>
            </a:pPr>
            <a:r>
              <a:rPr lang="en-US" dirty="0">
                <a:latin typeface="Times New Roman" pitchFamily="18" charset="0"/>
                <a:cs typeface="Times New Roman" pitchFamily="18" charset="0"/>
              </a:rPr>
              <a:t>Short- term Certificate Programmes in all the 3 Programmes and others such as: Peace &amp; Conflict Management; Security Alertness; Intelligence &amp; Counter-Intelligence; Community Policing; Urban Policing; Small Arms Proliferation &amp; Control; Cyber Crimes; </a:t>
            </a:r>
            <a:r>
              <a:rPr lang="en-US" dirty="0" smtClean="0">
                <a:latin typeface="Times New Roman" pitchFamily="18" charset="0"/>
                <a:cs typeface="Times New Roman" pitchFamily="18" charset="0"/>
              </a:rPr>
              <a:t>Conflict Management &amp; Diplomacy; Peace-making &amp; Third Party Interventions;  etc.</a:t>
            </a:r>
          </a:p>
          <a:p>
            <a:pPr marL="400050" lvl="0" indent="-400050">
              <a:buFont typeface="+mj-lt"/>
              <a:buAutoNum type="romanLcPeriod"/>
            </a:pPr>
            <a:r>
              <a:rPr lang="en-US" dirty="0" smtClean="0">
                <a:latin typeface="Times New Roman" pitchFamily="18" charset="0"/>
                <a:cs typeface="Times New Roman" pitchFamily="18" charset="0"/>
              </a:rPr>
              <a:t>Diploma </a:t>
            </a:r>
            <a:r>
              <a:rPr lang="en-US" dirty="0">
                <a:latin typeface="Times New Roman" pitchFamily="18" charset="0"/>
                <a:cs typeface="Times New Roman" pitchFamily="18" charset="0"/>
              </a:rPr>
              <a:t>Certificates in the three programmes </a:t>
            </a:r>
            <a:endParaRPr lang="en-US" dirty="0" smtClean="0">
              <a:latin typeface="Times New Roman" pitchFamily="18" charset="0"/>
              <a:cs typeface="Times New Roman" pitchFamily="18" charset="0"/>
            </a:endParaRPr>
          </a:p>
          <a:p>
            <a:pPr marL="400050" lvl="0" indent="-400050">
              <a:buFont typeface="+mj-lt"/>
              <a:buAutoNum type="romanLcPeriod"/>
            </a:pPr>
            <a:r>
              <a:rPr lang="en-US" dirty="0" smtClean="0">
                <a:latin typeface="Times New Roman" pitchFamily="18" charset="0"/>
                <a:cs typeface="Times New Roman" pitchFamily="18" charset="0"/>
              </a:rPr>
              <a:t>Postgraduate </a:t>
            </a:r>
            <a:r>
              <a:rPr lang="en-US" dirty="0">
                <a:latin typeface="Times New Roman" pitchFamily="18" charset="0"/>
                <a:cs typeface="Times New Roman" pitchFamily="18" charset="0"/>
              </a:rPr>
              <a:t>Diploma in the three </a:t>
            </a:r>
            <a:r>
              <a:rPr lang="en-US" dirty="0" smtClean="0">
                <a:latin typeface="Times New Roman" pitchFamily="18" charset="0"/>
                <a:cs typeface="Times New Roman" pitchFamily="18" charset="0"/>
              </a:rPr>
              <a:t>programmes</a:t>
            </a:r>
          </a:p>
          <a:p>
            <a:pPr marL="400050" lvl="0" indent="-400050">
              <a:buFont typeface="+mj-lt"/>
              <a:buAutoNum type="romanLcPeriod"/>
            </a:pPr>
            <a:r>
              <a:rPr lang="en-US" dirty="0" smtClean="0">
                <a:latin typeface="Times New Roman" pitchFamily="18" charset="0"/>
                <a:cs typeface="Times New Roman" pitchFamily="18" charset="0"/>
              </a:rPr>
              <a:t>Short-term </a:t>
            </a:r>
            <a:r>
              <a:rPr lang="en-US" dirty="0">
                <a:latin typeface="Times New Roman" pitchFamily="18" charset="0"/>
                <a:cs typeface="Times New Roman" pitchFamily="18" charset="0"/>
              </a:rPr>
              <a:t>Executive Master in PGA, CGM &amp; PSS with higher school </a:t>
            </a:r>
            <a:r>
              <a:rPr lang="en-US" dirty="0" smtClean="0">
                <a:latin typeface="Times New Roman" pitchFamily="18" charset="0"/>
                <a:cs typeface="Times New Roman" pitchFamily="18" charset="0"/>
              </a:rPr>
              <a:t>fees.</a:t>
            </a:r>
          </a:p>
          <a:p>
            <a:pPr marL="400050" lvl="0" indent="-400050">
              <a:buFont typeface="+mj-lt"/>
              <a:buAutoNum type="romanLcPeriod"/>
            </a:pPr>
            <a:r>
              <a:rPr lang="en-US" dirty="0" smtClean="0">
                <a:latin typeface="Times New Roman" pitchFamily="18" charset="0"/>
                <a:cs typeface="Times New Roman" pitchFamily="18" charset="0"/>
              </a:rPr>
              <a:t>Designing </a:t>
            </a:r>
            <a:r>
              <a:rPr lang="en-US" dirty="0">
                <a:latin typeface="Times New Roman" pitchFamily="18" charset="0"/>
                <a:cs typeface="Times New Roman" pitchFamily="18" charset="0"/>
              </a:rPr>
              <a:t>M. Phil &amp; PhD degree programmes for the three programmes.  </a:t>
            </a:r>
            <a:endParaRPr lang="en-US" dirty="0" smtClean="0">
              <a:latin typeface="Times New Roman" pitchFamily="18" charset="0"/>
              <a:cs typeface="Times New Roman" pitchFamily="18" charset="0"/>
            </a:endParaRPr>
          </a:p>
          <a:p>
            <a:pPr marL="400050" lvl="0" indent="-400050">
              <a:buFont typeface="+mj-lt"/>
              <a:buAutoNum type="romanLcPeriod"/>
            </a:pPr>
            <a:r>
              <a:rPr lang="en-US" dirty="0" smtClean="0">
                <a:latin typeface="Times New Roman" pitchFamily="18" charset="0"/>
                <a:cs typeface="Times New Roman" pitchFamily="18" charset="0"/>
              </a:rPr>
              <a:t>Floating a Private Security Outfit (in collaboration with the University Security Unit) to provide private &amp; corporate security for – public offices, banks, schools, hotels, construction sites, churches, mosques, event centres,  during ceremonies &amp; private homes.</a:t>
            </a:r>
            <a:endParaRPr lang="en-US" dirty="0">
              <a:latin typeface="Times New Roman" pitchFamily="18" charset="0"/>
              <a:cs typeface="Times New Roman" pitchFamily="18" charset="0"/>
            </a:endParaRPr>
          </a:p>
          <a:p>
            <a:endParaRPr lang="en-US" dirty="0"/>
          </a:p>
          <a:p>
            <a:endParaRPr lang="en-US" dirty="0"/>
          </a:p>
        </p:txBody>
      </p:sp>
    </p:spTree>
    <p:extLst>
      <p:ext uri="{BB962C8B-B14F-4D97-AF65-F5344CB8AC3E}">
        <p14:creationId xmlns:p14="http://schemas.microsoft.com/office/powerpoint/2010/main" val="1905405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915400" cy="8125301"/>
          </a:xfrm>
          <a:prstGeom prst="rect">
            <a:avLst/>
          </a:prstGeom>
          <a:noFill/>
        </p:spPr>
        <p:txBody>
          <a:bodyPr wrap="square" rtlCol="0">
            <a:spAutoFit/>
          </a:bodyPr>
          <a:lstStyle/>
          <a:p>
            <a:pPr marL="342900" lvl="0" indent="-342900">
              <a:buFont typeface="+mj-lt"/>
              <a:buAutoNum type="arabicParenR" startAt="2"/>
            </a:pPr>
            <a:r>
              <a:rPr lang="en-US" b="1" dirty="0">
                <a:latin typeface="Times New Roman" pitchFamily="18" charset="0"/>
                <a:cs typeface="Times New Roman" pitchFamily="18" charset="0"/>
              </a:rPr>
              <a:t>Holding Professional/Academic Workshops at Regular Intervals with fees. </a:t>
            </a:r>
          </a:p>
          <a:p>
            <a:pPr algn="just">
              <a:lnSpc>
                <a:spcPct val="15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Holding well-advertised Professional/Academic Workshops at regular intervals by the  </a:t>
            </a:r>
            <a:r>
              <a:rPr lang="en-US" dirty="0" smtClean="0">
                <a:latin typeface="Times New Roman" pitchFamily="18" charset="0"/>
                <a:cs typeface="Times New Roman" pitchFamily="18" charset="0"/>
              </a:rPr>
              <a:t>Institute </a:t>
            </a:r>
            <a:r>
              <a:rPr lang="en-US" dirty="0">
                <a:latin typeface="Times New Roman" pitchFamily="18" charset="0"/>
                <a:cs typeface="Times New Roman" pitchFamily="18" charset="0"/>
              </a:rPr>
              <a:t>will serve as complementary avenues of IGR for the University. </a:t>
            </a:r>
            <a:r>
              <a:rPr lang="en-US" dirty="0" smtClean="0">
                <a:latin typeface="Times New Roman" pitchFamily="18" charset="0"/>
                <a:cs typeface="Times New Roman" pitchFamily="18" charset="0"/>
              </a:rPr>
              <a:t>This will include </a:t>
            </a:r>
            <a:r>
              <a:rPr lang="en-US" dirty="0">
                <a:latin typeface="Times New Roman" pitchFamily="18" charset="0"/>
                <a:cs typeface="Times New Roman" pitchFamily="18" charset="0"/>
              </a:rPr>
              <a:t>workshops for:</a:t>
            </a:r>
          </a:p>
          <a:p>
            <a:pPr marL="400050" lvl="0" indent="-400050">
              <a:lnSpc>
                <a:spcPct val="150000"/>
              </a:lnSpc>
              <a:buFont typeface="+mj-lt"/>
              <a:buAutoNum type="romanLcPeriod"/>
            </a:pPr>
            <a:r>
              <a:rPr lang="en-US" dirty="0">
                <a:latin typeface="Times New Roman" pitchFamily="18" charset="0"/>
                <a:cs typeface="Times New Roman" pitchFamily="18" charset="0"/>
              </a:rPr>
              <a:t>Members of the Security Forces – Soldiers, Police, </a:t>
            </a:r>
            <a:r>
              <a:rPr lang="en-US" dirty="0" smtClean="0">
                <a:latin typeface="Times New Roman" pitchFamily="18" charset="0"/>
                <a:cs typeface="Times New Roman" pitchFamily="18" charset="0"/>
              </a:rPr>
              <a:t>Nigeria Security &amp;Civil Defence Corps, </a:t>
            </a:r>
            <a:r>
              <a:rPr lang="en-US" dirty="0">
                <a:latin typeface="Times New Roman" pitchFamily="18" charset="0"/>
                <a:cs typeface="Times New Roman" pitchFamily="18" charset="0"/>
              </a:rPr>
              <a:t>DSS, Prisons Service officials, Immigration etc. on topics such as  Peace &amp; Conflict Management; Security Alertness; Intelligence &amp; Counter-Intelligence; Community Policing; Urban Policing; Small Arms Proliferation &amp; Control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dirty="0" smtClean="0">
                <a:latin typeface="Times New Roman" pitchFamily="18" charset="0"/>
                <a:cs typeface="Times New Roman" pitchFamily="18" charset="0"/>
              </a:rPr>
              <a:t>Local </a:t>
            </a:r>
            <a:r>
              <a:rPr lang="en-US" dirty="0">
                <a:latin typeface="Times New Roman" pitchFamily="18" charset="0"/>
                <a:cs typeface="Times New Roman" pitchFamily="18" charset="0"/>
              </a:rPr>
              <a:t>Government Officials – on Revenue collection, Projects Monitoring &amp; Evaluation, Financial Management &amp; Corruption Control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dirty="0" smtClean="0">
                <a:latin typeface="Times New Roman" pitchFamily="18" charset="0"/>
                <a:cs typeface="Times New Roman" pitchFamily="18" charset="0"/>
              </a:rPr>
              <a:t>Banks </a:t>
            </a:r>
            <a:r>
              <a:rPr lang="en-US" dirty="0">
                <a:latin typeface="Times New Roman" pitchFamily="18" charset="0"/>
                <a:cs typeface="Times New Roman" pitchFamily="18" charset="0"/>
              </a:rPr>
              <a:t>&amp; Bankers – on Corporate Governance, Financial management; Audit Control &amp; Corruption Management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dirty="0" smtClean="0">
                <a:latin typeface="Times New Roman" pitchFamily="18" charset="0"/>
                <a:cs typeface="Times New Roman" pitchFamily="18" charset="0"/>
              </a:rPr>
              <a:t>Traditional </a:t>
            </a:r>
            <a:r>
              <a:rPr lang="en-US" dirty="0">
                <a:latin typeface="Times New Roman" pitchFamily="18" charset="0"/>
                <a:cs typeface="Times New Roman" pitchFamily="18" charset="0"/>
              </a:rPr>
              <a:t>Rulers &amp; Chiefs – on Alternative Dispute </a:t>
            </a:r>
            <a:r>
              <a:rPr lang="en-US" dirty="0" smtClean="0">
                <a:latin typeface="Times New Roman" pitchFamily="18" charset="0"/>
                <a:cs typeface="Times New Roman" pitchFamily="18" charset="0"/>
              </a:rPr>
              <a:t>Management</a:t>
            </a:r>
          </a:p>
          <a:p>
            <a:pPr marL="400050" lvl="0" indent="-400050">
              <a:lnSpc>
                <a:spcPct val="150000"/>
              </a:lnSpc>
              <a:buFont typeface="+mj-lt"/>
              <a:buAutoNum type="romanLcPeriod"/>
            </a:pPr>
            <a:r>
              <a:rPr lang="en-US" dirty="0" smtClean="0">
                <a:latin typeface="Times New Roman" pitchFamily="18" charset="0"/>
                <a:cs typeface="Times New Roman" pitchFamily="18" charset="0"/>
              </a:rPr>
              <a:t>Electoral </a:t>
            </a:r>
            <a:r>
              <a:rPr lang="en-US" dirty="0">
                <a:latin typeface="Times New Roman" pitchFamily="18" charset="0"/>
                <a:cs typeface="Times New Roman" pitchFamily="18" charset="0"/>
              </a:rPr>
              <a:t>Officials, Police, Civil Servants &amp; Civil Society NGOs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dirty="0" smtClean="0">
                <a:latin typeface="Times New Roman" pitchFamily="18" charset="0"/>
                <a:cs typeface="Times New Roman" pitchFamily="18" charset="0"/>
              </a:rPr>
              <a:t>NEMA </a:t>
            </a:r>
            <a:r>
              <a:rPr lang="en-US" dirty="0">
                <a:latin typeface="Times New Roman" pitchFamily="18" charset="0"/>
                <a:cs typeface="Times New Roman" pitchFamily="18" charset="0"/>
              </a:rPr>
              <a:t>&amp; SEPA officials, Police, Civil Defence, Social Workers, NGOs </a:t>
            </a:r>
            <a:r>
              <a:rPr lang="en-US" dirty="0" err="1">
                <a:latin typeface="Times New Roman" pitchFamily="18" charset="0"/>
                <a:cs typeface="Times New Roman" pitchFamily="18" charset="0"/>
              </a:rPr>
              <a:t>etc</a:t>
            </a:r>
            <a:r>
              <a:rPr lang="en-US" dirty="0">
                <a:latin typeface="Times New Roman" pitchFamily="18" charset="0"/>
                <a:cs typeface="Times New Roman" pitchFamily="18" charset="0"/>
              </a:rPr>
              <a:t> – on  Humanitarian Disasters management &amp; Early Warning System, on Refugees &amp; IDPs management.  </a:t>
            </a:r>
            <a:r>
              <a:rPr lang="en-US" dirty="0" smtClean="0">
                <a:latin typeface="Times New Roman" pitchFamily="18" charset="0"/>
                <a:cs typeface="Times New Roman" pitchFamily="18" charset="0"/>
              </a:rPr>
              <a:t>Vii. Leadership, Change &amp; Development. Vii.Training Private Security outfits in collaboration with the University Security Unit. </a:t>
            </a:r>
          </a:p>
          <a:p>
            <a:pPr marL="400050" lvl="0" indent="-400050">
              <a:lnSpc>
                <a:spcPct val="150000"/>
              </a:lnSpc>
              <a:buFont typeface="+mj-lt"/>
              <a:buAutoNum type="romanLcPeriod"/>
            </a:pP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727596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0"/>
            <a:ext cx="9067800" cy="7755969"/>
          </a:xfrm>
          <a:prstGeom prst="rect">
            <a:avLst/>
          </a:prstGeom>
          <a:noFill/>
        </p:spPr>
        <p:txBody>
          <a:bodyPr wrap="square" rtlCol="0">
            <a:spAutoFit/>
          </a:bodyPr>
          <a:lstStyle/>
          <a:p>
            <a:r>
              <a:rPr lang="en-US" sz="2800" b="1" dirty="0">
                <a:latin typeface="Times New Roman" pitchFamily="18" charset="0"/>
                <a:cs typeface="Times New Roman" pitchFamily="18" charset="0"/>
              </a:rPr>
              <a:t>C: What is to be done and what steps to be taken by the University to Facilitate Achieving the above Recommendations? </a:t>
            </a:r>
            <a:endParaRPr lang="en-US" sz="2800" dirty="0">
              <a:latin typeface="Times New Roman" pitchFamily="18" charset="0"/>
              <a:cs typeface="Times New Roman" pitchFamily="18" charset="0"/>
            </a:endParaRPr>
          </a:p>
          <a:p>
            <a:r>
              <a:rPr lang="en-US" b="1" dirty="0"/>
              <a:t> </a:t>
            </a:r>
            <a:endParaRPr lang="en-US" dirty="0"/>
          </a:p>
          <a:p>
            <a:r>
              <a:rPr lang="en-US" b="1" dirty="0">
                <a:solidFill>
                  <a:srgbClr val="FF0000"/>
                </a:solidFill>
                <a:latin typeface="Times New Roman" pitchFamily="18" charset="0"/>
                <a:cs typeface="Times New Roman" pitchFamily="18" charset="0"/>
              </a:rPr>
              <a:t>GAP Analysis to the Rescue.</a:t>
            </a:r>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342900" lvl="0" indent="-342900">
              <a:buFont typeface="+mj-lt"/>
              <a:buAutoNum type="arabicParenR"/>
            </a:pPr>
            <a:r>
              <a:rPr lang="en-US" dirty="0">
                <a:latin typeface="Times New Roman" pitchFamily="18" charset="0"/>
                <a:cs typeface="Times New Roman" pitchFamily="18" charset="0"/>
              </a:rPr>
              <a:t>The University needs to provide the enabling environment and conditions that will make efforts at achieving improved possible. </a:t>
            </a:r>
            <a:endParaRPr lang="en-US" dirty="0" smtClean="0">
              <a:latin typeface="Times New Roman" pitchFamily="18" charset="0"/>
              <a:cs typeface="Times New Roman" pitchFamily="18" charset="0"/>
            </a:endParaRPr>
          </a:p>
          <a:p>
            <a:pPr marL="342900" lvl="0" indent="-342900">
              <a:buFont typeface="+mj-lt"/>
              <a:buAutoNum type="arabicParenR"/>
            </a:pPr>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discussing the required enabling conditions, we need to adopt the use of </a:t>
            </a:r>
            <a:r>
              <a:rPr lang="en-US" b="1" dirty="0">
                <a:latin typeface="Times New Roman" pitchFamily="18" charset="0"/>
                <a:cs typeface="Times New Roman" pitchFamily="18" charset="0"/>
              </a:rPr>
              <a:t>GAP Analysis</a:t>
            </a:r>
            <a:r>
              <a:rPr lang="en-US" dirty="0">
                <a:latin typeface="Times New Roman" pitchFamily="18" charset="0"/>
                <a:cs typeface="Times New Roman" pitchFamily="18" charset="0"/>
              </a:rPr>
              <a:t>. Gap Analysis evaluates the objective conditions on ground and identifies the missing gaps to be </a:t>
            </a:r>
            <a:r>
              <a:rPr lang="en-US" dirty="0" smtClean="0">
                <a:latin typeface="Times New Roman" pitchFamily="18" charset="0"/>
                <a:cs typeface="Times New Roman" pitchFamily="18" charset="0"/>
              </a:rPr>
              <a:t>filled.</a:t>
            </a:r>
          </a:p>
          <a:p>
            <a:pPr marL="342900" lvl="0" indent="-342900">
              <a:buFont typeface="+mj-lt"/>
              <a:buAutoNum type="arabicParenR"/>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Missing Gaps today in the University </a:t>
            </a:r>
            <a:r>
              <a:rPr lang="en-US" dirty="0" smtClean="0">
                <a:latin typeface="Times New Roman" pitchFamily="18" charset="0"/>
                <a:cs typeface="Times New Roman" pitchFamily="18" charset="0"/>
              </a:rPr>
              <a:t>include:</a:t>
            </a:r>
          </a:p>
          <a:p>
            <a:pPr lvl="0"/>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Poor Electricity Supply</a:t>
            </a:r>
          </a:p>
          <a:p>
            <a:pPr lvl="0"/>
            <a:r>
              <a:rPr lang="en-US" dirty="0" smtClean="0">
                <a:latin typeface="Times New Roman" pitchFamily="18" charset="0"/>
                <a:cs typeface="Times New Roman" pitchFamily="18" charset="0"/>
              </a:rPr>
              <a:t>                                ii.    Poor </a:t>
            </a:r>
            <a:r>
              <a:rPr lang="en-US" dirty="0">
                <a:latin typeface="Times New Roman" pitchFamily="18" charset="0"/>
                <a:cs typeface="Times New Roman" pitchFamily="18" charset="0"/>
              </a:rPr>
              <a:t>Water </a:t>
            </a:r>
            <a:r>
              <a:rPr lang="en-US" dirty="0" smtClean="0">
                <a:latin typeface="Times New Roman" pitchFamily="18" charset="0"/>
                <a:cs typeface="Times New Roman" pitchFamily="18" charset="0"/>
              </a:rPr>
              <a:t>Supply</a:t>
            </a:r>
          </a:p>
          <a:p>
            <a:pPr lvl="0"/>
            <a:r>
              <a:rPr lang="en-US" dirty="0" smtClean="0">
                <a:latin typeface="Times New Roman" pitchFamily="18" charset="0"/>
                <a:cs typeface="Times New Roman" pitchFamily="18" charset="0"/>
              </a:rPr>
              <a:t>                                iii.   Poor </a:t>
            </a:r>
            <a:r>
              <a:rPr lang="en-US" dirty="0">
                <a:latin typeface="Times New Roman" pitchFamily="18" charset="0"/>
                <a:cs typeface="Times New Roman" pitchFamily="18" charset="0"/>
              </a:rPr>
              <a:t>Internet System/lack of functional </a:t>
            </a:r>
            <a:r>
              <a:rPr lang="en-US" dirty="0" smtClean="0">
                <a:latin typeface="Times New Roman" pitchFamily="18" charset="0"/>
                <a:cs typeface="Times New Roman" pitchFamily="18" charset="0"/>
              </a:rPr>
              <a:t>web</a:t>
            </a:r>
          </a:p>
          <a:p>
            <a:pPr lvl="0"/>
            <a:r>
              <a:rPr lang="en-US" dirty="0" smtClean="0">
                <a:latin typeface="Times New Roman" pitchFamily="18" charset="0"/>
                <a:cs typeface="Times New Roman" pitchFamily="18" charset="0"/>
              </a:rPr>
              <a:t>                                iv.    Inadequate/Lack </a:t>
            </a:r>
            <a:r>
              <a:rPr lang="en-US" dirty="0">
                <a:latin typeface="Times New Roman" pitchFamily="18" charset="0"/>
                <a:cs typeface="Times New Roman" pitchFamily="18" charset="0"/>
              </a:rPr>
              <a:t>of Requisite Learning </a:t>
            </a:r>
            <a:r>
              <a:rPr lang="en-US" dirty="0" smtClean="0">
                <a:latin typeface="Times New Roman" pitchFamily="18" charset="0"/>
                <a:cs typeface="Times New Roman" pitchFamily="18" charset="0"/>
              </a:rPr>
              <a:t>Facilities</a:t>
            </a:r>
          </a:p>
          <a:p>
            <a:pPr lvl="0"/>
            <a:r>
              <a:rPr lang="en-US" dirty="0" smtClean="0">
                <a:latin typeface="Times New Roman" pitchFamily="18" charset="0"/>
                <a:cs typeface="Times New Roman" pitchFamily="18" charset="0"/>
              </a:rPr>
              <a:t>                                 v.    Staff </a:t>
            </a:r>
            <a:r>
              <a:rPr lang="en-US" dirty="0">
                <a:latin typeface="Times New Roman" pitchFamily="18" charset="0"/>
                <a:cs typeface="Times New Roman" pitchFamily="18" charset="0"/>
              </a:rPr>
              <a:t>Welfare – Regular payment of salaries &amp; </a:t>
            </a:r>
            <a:r>
              <a:rPr lang="en-US" dirty="0" smtClean="0">
                <a:latin typeface="Times New Roman" pitchFamily="18" charset="0"/>
                <a:cs typeface="Times New Roman" pitchFamily="18" charset="0"/>
              </a:rPr>
              <a:t>allowances</a:t>
            </a:r>
          </a:p>
          <a:p>
            <a:pPr lvl="0"/>
            <a:r>
              <a:rPr lang="en-US" dirty="0" smtClean="0">
                <a:latin typeface="Times New Roman" pitchFamily="18" charset="0"/>
                <a:cs typeface="Times New Roman" pitchFamily="18" charset="0"/>
              </a:rPr>
              <a:t>                                 vi.   Irregular </a:t>
            </a:r>
            <a:r>
              <a:rPr lang="en-US" dirty="0">
                <a:latin typeface="Times New Roman" pitchFamily="18" charset="0"/>
                <a:cs typeface="Times New Roman" pitchFamily="18" charset="0"/>
              </a:rPr>
              <a:t>Annual Leave System for the Academic </a:t>
            </a:r>
            <a:r>
              <a:rPr lang="en-US" dirty="0" smtClean="0">
                <a:latin typeface="Times New Roman" pitchFamily="18" charset="0"/>
                <a:cs typeface="Times New Roman" pitchFamily="18" charset="0"/>
              </a:rPr>
              <a:t>Staff</a:t>
            </a:r>
          </a:p>
          <a:p>
            <a:pPr lvl="0"/>
            <a:r>
              <a:rPr lang="en-US" dirty="0" smtClean="0">
                <a:latin typeface="Times New Roman" pitchFamily="18" charset="0"/>
                <a:cs typeface="Times New Roman" pitchFamily="18" charset="0"/>
              </a:rPr>
              <a:t>                                 vii.  Low </a:t>
            </a:r>
            <a:r>
              <a:rPr lang="en-US" dirty="0">
                <a:latin typeface="Times New Roman" pitchFamily="18" charset="0"/>
                <a:cs typeface="Times New Roman" pitchFamily="18" charset="0"/>
              </a:rPr>
              <a:t>votes for Training &amp; Re-training; </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                                 viii. Inadequate </a:t>
            </a:r>
            <a:r>
              <a:rPr lang="en-US" dirty="0">
                <a:latin typeface="Times New Roman" pitchFamily="18" charset="0"/>
                <a:cs typeface="Times New Roman" pitchFamily="18" charset="0"/>
              </a:rPr>
              <a:t>Research Grants</a:t>
            </a:r>
          </a:p>
          <a:p>
            <a:r>
              <a:rPr lang="en-US" dirty="0">
                <a:latin typeface="Times New Roman" pitchFamily="18" charset="0"/>
                <a:cs typeface="Times New Roman" pitchFamily="18" charset="0"/>
              </a:rPr>
              <a:t>All existing lacunas, as identified above &amp; others need to be speedily fixed by the University to enable staff and students contribute their quotas to the improved IGR drive of the University</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Commendation</a:t>
            </a:r>
            <a:r>
              <a:rPr lang="en-US" dirty="0" smtClean="0">
                <a:latin typeface="Times New Roman" pitchFamily="18" charset="0"/>
                <a:cs typeface="Times New Roman" pitchFamily="18" charset="0"/>
              </a:rPr>
              <a:t>: Thanking the VC for living up to his promise of paying salaries on the 25</a:t>
            </a:r>
            <a:r>
              <a:rPr lang="en-US" baseline="30000" dirty="0" smtClean="0">
                <a:latin typeface="Times New Roman" pitchFamily="18" charset="0"/>
                <a:cs typeface="Times New Roman" pitchFamily="18" charset="0"/>
              </a:rPr>
              <a:t>th</a:t>
            </a:r>
            <a:r>
              <a:rPr lang="en-US" dirty="0" smtClean="0">
                <a:latin typeface="Times New Roman" pitchFamily="18" charset="0"/>
                <a:cs typeface="Times New Roman" pitchFamily="18" charset="0"/>
              </a:rPr>
              <a:t> of every month as </a:t>
            </a:r>
            <a:r>
              <a:rPr lang="en-US" dirty="0">
                <a:latin typeface="Times New Roman" pitchFamily="18" charset="0"/>
                <a:cs typeface="Times New Roman" pitchFamily="18" charset="0"/>
              </a:rPr>
              <a:t>J</a:t>
            </a:r>
            <a:r>
              <a:rPr lang="en-US" dirty="0" smtClean="0">
                <a:latin typeface="Times New Roman" pitchFamily="18" charset="0"/>
                <a:cs typeface="Times New Roman" pitchFamily="18" charset="0"/>
              </a:rPr>
              <a:t>anuary salary has truly been paid.</a:t>
            </a:r>
            <a:endParaRPr lang="en-US" dirty="0">
              <a:latin typeface="Times New Roman" pitchFamily="18" charset="0"/>
              <a:cs typeface="Times New Roman" pitchFamily="18" charset="0"/>
            </a:endParaRPr>
          </a:p>
          <a:p>
            <a:r>
              <a:rPr lang="en-US" dirty="0"/>
              <a:t> </a:t>
            </a:r>
          </a:p>
          <a:p>
            <a:endParaRPr lang="en-US" dirty="0"/>
          </a:p>
        </p:txBody>
      </p:sp>
    </p:spTree>
    <p:extLst>
      <p:ext uri="{BB962C8B-B14F-4D97-AF65-F5344CB8AC3E}">
        <p14:creationId xmlns:p14="http://schemas.microsoft.com/office/powerpoint/2010/main" val="35412335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228600"/>
            <a:ext cx="9067800" cy="5247590"/>
          </a:xfrm>
          <a:prstGeom prst="rect">
            <a:avLst/>
          </a:prstGeom>
          <a:noFill/>
        </p:spPr>
        <p:txBody>
          <a:bodyPr wrap="square" rtlCol="0">
            <a:spAutoFit/>
          </a:bodyPr>
          <a:lstStyle/>
          <a:p>
            <a:r>
              <a:rPr lang="en-US" sz="2800" b="1" dirty="0">
                <a:latin typeface="Times New Roman" pitchFamily="18" charset="0"/>
                <a:cs typeface="Times New Roman" pitchFamily="18" charset="0"/>
              </a:rPr>
              <a:t>D: Instituting a Culture of Transparency &amp; Accountability to Block IGR Leakages</a:t>
            </a:r>
            <a:r>
              <a:rPr lang="en-US" sz="2800" b="1"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All Colleges, Faculties, Directorates, Departments and Units of the University should be made to imbibe the culture of Transparency &amp; Accountability through the following</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400050" lvl="0" indent="-400050">
              <a:lnSpc>
                <a:spcPct val="150000"/>
              </a:lnSpc>
              <a:buFont typeface="+mj-lt"/>
              <a:buAutoNum type="romanLcPeriod"/>
            </a:pPr>
            <a:r>
              <a:rPr lang="en-US" dirty="0">
                <a:latin typeface="Times New Roman" pitchFamily="18" charset="0"/>
                <a:cs typeface="Times New Roman" pitchFamily="18" charset="0"/>
              </a:rPr>
              <a:t>Regular rendering of their financial accounts to the Vice-Chancellor on monthly or quarterly basis. Lacuna </a:t>
            </a:r>
            <a:endParaRPr lang="en-US" dirty="0" smtClean="0">
              <a:latin typeface="Times New Roman" pitchFamily="18" charset="0"/>
              <a:cs typeface="Times New Roman" pitchFamily="18" charset="0"/>
            </a:endParaRPr>
          </a:p>
          <a:p>
            <a:pPr marL="400050" lvl="0" indent="-400050">
              <a:lnSpc>
                <a:spcPct val="150000"/>
              </a:lnSpc>
              <a:buFont typeface="+mj-lt"/>
              <a:buAutoNum type="romanL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Vice-Chancellor should assume the role of Chief Executive Accounting Officer and Chief Executive Auditor for over-sight supervision/monitoring of </a:t>
            </a:r>
            <a:r>
              <a:rPr lang="en-US" dirty="0" smtClean="0">
                <a:latin typeface="Times New Roman" pitchFamily="18" charset="0"/>
                <a:cs typeface="Times New Roman" pitchFamily="18" charset="0"/>
              </a:rPr>
              <a:t>accounts.</a:t>
            </a:r>
          </a:p>
          <a:p>
            <a:pPr marL="400050" lvl="0" indent="-400050">
              <a:lnSpc>
                <a:spcPct val="150000"/>
              </a:lnSpc>
              <a:buFont typeface="+mj-lt"/>
              <a:buAutoNum type="romanLcPeriod"/>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VC should set up a </a:t>
            </a:r>
            <a:r>
              <a:rPr lang="en-US" b="1" dirty="0">
                <a:latin typeface="Times New Roman" pitchFamily="18" charset="0"/>
                <a:cs typeface="Times New Roman" pitchFamily="18" charset="0"/>
              </a:rPr>
              <a:t>University Subsidiary Accounts </a:t>
            </a:r>
            <a:r>
              <a:rPr lang="en-US" b="1" dirty="0" smtClean="0">
                <a:latin typeface="Times New Roman" pitchFamily="18" charset="0"/>
                <a:cs typeface="Times New Roman" pitchFamily="18" charset="0"/>
              </a:rPr>
              <a:t>Monitoring Committee </a:t>
            </a:r>
            <a:r>
              <a:rPr lang="en-US" b="1" dirty="0">
                <a:latin typeface="Times New Roman" pitchFamily="18" charset="0"/>
                <a:cs typeface="Times New Roman" pitchFamily="18" charset="0"/>
              </a:rPr>
              <a:t>(SAC) </a:t>
            </a:r>
            <a:r>
              <a:rPr lang="en-US" dirty="0">
                <a:latin typeface="Times New Roman" pitchFamily="18" charset="0"/>
                <a:cs typeface="Times New Roman" pitchFamily="18" charset="0"/>
              </a:rPr>
              <a:t>to monitor the IGR and expenditure behaviour of all University units to detect leakages at the early stage. </a:t>
            </a:r>
          </a:p>
          <a:p>
            <a:endParaRPr lang="en-US" dirty="0"/>
          </a:p>
        </p:txBody>
      </p:sp>
    </p:spTree>
    <p:extLst>
      <p:ext uri="{BB962C8B-B14F-4D97-AF65-F5344CB8AC3E}">
        <p14:creationId xmlns:p14="http://schemas.microsoft.com/office/powerpoint/2010/main" val="33169878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590800"/>
            <a:ext cx="8458200" cy="1222375"/>
          </a:xfrm>
        </p:spPr>
        <p:txBody>
          <a:bodyPr>
            <a:noAutofit/>
          </a:bodyPr>
          <a:lstStyle/>
          <a:p>
            <a:r>
              <a:rPr lang="en-US" sz="9600" b="1" dirty="0" smtClean="0">
                <a:latin typeface="Algerian" pitchFamily="82" charset="0"/>
              </a:rPr>
              <a:t>THANK YOU</a:t>
            </a:r>
            <a:endParaRPr lang="en-US" sz="9600" b="1" dirty="0">
              <a:latin typeface="Algerian" pitchFamily="82" charset="0"/>
            </a:endParaRPr>
          </a:p>
        </p:txBody>
      </p:sp>
    </p:spTree>
    <p:extLst>
      <p:ext uri="{BB962C8B-B14F-4D97-AF65-F5344CB8AC3E}">
        <p14:creationId xmlns:p14="http://schemas.microsoft.com/office/powerpoint/2010/main" val="87112586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149</TotalTime>
  <Words>2339</Words>
  <Application>Microsoft Office PowerPoint</Application>
  <PresentationFormat>On-screen Show (4:3)</PresentationFormat>
  <Paragraphs>182</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Trek</vt:lpstr>
      <vt:lpstr>A SWOT ANALYSIS  OF  THE INSTITUTE OF PEACE, SECURITY AND GOVERNANCE AND RECOMMENDATIONS FOR PROPELLING WEALTH CREATION FOR THE UNIVERSITY   PRESENTED  AT THE IGR SUMMIT  ORGANIZED BY EKITI STATE UNIVERSITY </vt:lpstr>
      <vt:lpstr>BACKGROUND INFORMATION </vt:lpstr>
      <vt:lpstr>STRATEGIC GOALS </vt:lpstr>
      <vt:lpstr>IMPLEMENTATION STRATEGY AND CHALLENGES USING SWOT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SWOT ANALYSIS  OF  THE INSTITUTE OF PEACE, SECURITY AND GOVERNANCE AND RECOMMENDATIONS FOR PROPELLING WEALTH CREATION FOR THE UNIVERSITY   PRESENTED  AT THE IGR SUMMIT  ORGANIZED BY EKITI STATE UNIVERSITY</dc:title>
  <dc:creator>Test</dc:creator>
  <cp:lastModifiedBy>KUNLE AJAYI</cp:lastModifiedBy>
  <cp:revision>34</cp:revision>
  <cp:lastPrinted>2016-01-27T08:20:17Z</cp:lastPrinted>
  <dcterms:created xsi:type="dcterms:W3CDTF">2016-01-26T05:38:23Z</dcterms:created>
  <dcterms:modified xsi:type="dcterms:W3CDTF">2016-01-27T08:21:49Z</dcterms:modified>
</cp:coreProperties>
</file>