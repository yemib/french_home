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9" r:id="rId1"/>
  </p:sldMasterIdLst>
  <p:notesMasterIdLst>
    <p:notesMasterId r:id="rId27"/>
  </p:notesMasterIdLst>
  <p:sldIdLst>
    <p:sldId id="256" r:id="rId2"/>
    <p:sldId id="259" r:id="rId3"/>
    <p:sldId id="275" r:id="rId4"/>
    <p:sldId id="276" r:id="rId5"/>
    <p:sldId id="277" r:id="rId6"/>
    <p:sldId id="278" r:id="rId7"/>
    <p:sldId id="257" r:id="rId8"/>
    <p:sldId id="279" r:id="rId9"/>
    <p:sldId id="280" r:id="rId10"/>
    <p:sldId id="281" r:id="rId11"/>
    <p:sldId id="258" r:id="rId12"/>
    <p:sldId id="261" r:id="rId13"/>
    <p:sldId id="262" r:id="rId14"/>
    <p:sldId id="263" r:id="rId15"/>
    <p:sldId id="266" r:id="rId16"/>
    <p:sldId id="264" r:id="rId17"/>
    <p:sldId id="265" r:id="rId18"/>
    <p:sldId id="268" r:id="rId19"/>
    <p:sldId id="272" r:id="rId20"/>
    <p:sldId id="273" r:id="rId21"/>
    <p:sldId id="267" r:id="rId22"/>
    <p:sldId id="269" r:id="rId23"/>
    <p:sldId id="270" r:id="rId24"/>
    <p:sldId id="271" r:id="rId25"/>
    <p:sldId id="274"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81323" autoAdjust="0"/>
  </p:normalViewPr>
  <p:slideViewPr>
    <p:cSldViewPr snapToGrid="0">
      <p:cViewPr>
        <p:scale>
          <a:sx n="60" d="100"/>
          <a:sy n="60" d="100"/>
        </p:scale>
        <p:origin x="488"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78E9FF-A07B-4F98-87C9-6553C7556A10}" type="datetimeFigureOut">
              <a:rPr lang="en-US" smtClean="0"/>
              <a:t>26-Jan-16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9B4825-B770-4CD7-B517-222459D2CB93}" type="slidenum">
              <a:rPr lang="en-US" smtClean="0"/>
              <a:t>‹#›</a:t>
            </a:fld>
            <a:endParaRPr lang="en-US"/>
          </a:p>
        </p:txBody>
      </p:sp>
    </p:spTree>
    <p:extLst>
      <p:ext uri="{BB962C8B-B14F-4D97-AF65-F5344CB8AC3E}">
        <p14:creationId xmlns:p14="http://schemas.microsoft.com/office/powerpoint/2010/main" val="25906137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9B4825-B770-4CD7-B517-222459D2CB93}" type="slidenum">
              <a:rPr lang="en-US" smtClean="0"/>
              <a:t>20</a:t>
            </a:fld>
            <a:endParaRPr lang="en-US"/>
          </a:p>
        </p:txBody>
      </p:sp>
    </p:spTree>
    <p:extLst>
      <p:ext uri="{BB962C8B-B14F-4D97-AF65-F5344CB8AC3E}">
        <p14:creationId xmlns:p14="http://schemas.microsoft.com/office/powerpoint/2010/main" val="42561199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Telemedicine has been broadly described as ‘the delivery of healthcare services, where distance is a critical factor, by all healthcare professionals using information and communication technologies for the exchange of valid information for diagnosis and prevention of diseases and injuries, research and evaluation, and for continuing education of healthcare providers, all in the interest of advancing the health of individuals and their communities’.</a:t>
            </a:r>
          </a:p>
          <a:p>
            <a:endParaRPr lang="en-US" dirty="0"/>
          </a:p>
        </p:txBody>
      </p:sp>
      <p:sp>
        <p:nvSpPr>
          <p:cNvPr id="4" name="Slide Number Placeholder 3"/>
          <p:cNvSpPr>
            <a:spLocks noGrp="1"/>
          </p:cNvSpPr>
          <p:nvPr>
            <p:ph type="sldNum" sz="quarter" idx="10"/>
          </p:nvPr>
        </p:nvSpPr>
        <p:spPr/>
        <p:txBody>
          <a:bodyPr/>
          <a:lstStyle/>
          <a:p>
            <a:fld id="{139B4825-B770-4CD7-B517-222459D2CB93}" type="slidenum">
              <a:rPr lang="en-US" smtClean="0"/>
              <a:t>21</a:t>
            </a:fld>
            <a:endParaRPr lang="en-US"/>
          </a:p>
        </p:txBody>
      </p:sp>
    </p:spTree>
    <p:extLst>
      <p:ext uri="{BB962C8B-B14F-4D97-AF65-F5344CB8AC3E}">
        <p14:creationId xmlns:p14="http://schemas.microsoft.com/office/powerpoint/2010/main" val="17900804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9B4825-B770-4CD7-B517-222459D2CB93}" type="slidenum">
              <a:rPr lang="en-US" smtClean="0"/>
              <a:t>22</a:t>
            </a:fld>
            <a:endParaRPr lang="en-US"/>
          </a:p>
        </p:txBody>
      </p:sp>
    </p:spTree>
    <p:extLst>
      <p:ext uri="{BB962C8B-B14F-4D97-AF65-F5344CB8AC3E}">
        <p14:creationId xmlns:p14="http://schemas.microsoft.com/office/powerpoint/2010/main" val="7108879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9B4825-B770-4CD7-B517-222459D2CB93}" type="slidenum">
              <a:rPr lang="en-US" smtClean="0"/>
              <a:t>23</a:t>
            </a:fld>
            <a:endParaRPr lang="en-US"/>
          </a:p>
        </p:txBody>
      </p:sp>
    </p:spTree>
    <p:extLst>
      <p:ext uri="{BB962C8B-B14F-4D97-AF65-F5344CB8AC3E}">
        <p14:creationId xmlns:p14="http://schemas.microsoft.com/office/powerpoint/2010/main" val="29147492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9B4825-B770-4CD7-B517-222459D2CB93}" type="slidenum">
              <a:rPr lang="en-US" smtClean="0"/>
              <a:t>24</a:t>
            </a:fld>
            <a:endParaRPr lang="en-US"/>
          </a:p>
        </p:txBody>
      </p:sp>
    </p:spTree>
    <p:extLst>
      <p:ext uri="{BB962C8B-B14F-4D97-AF65-F5344CB8AC3E}">
        <p14:creationId xmlns:p14="http://schemas.microsoft.com/office/powerpoint/2010/main" val="12527770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39B4825-B770-4CD7-B517-222459D2CB93}" type="slidenum">
              <a:rPr lang="en-US" smtClean="0"/>
              <a:t>25</a:t>
            </a:fld>
            <a:endParaRPr lang="en-US"/>
          </a:p>
        </p:txBody>
      </p:sp>
    </p:spTree>
    <p:extLst>
      <p:ext uri="{BB962C8B-B14F-4D97-AF65-F5344CB8AC3E}">
        <p14:creationId xmlns:p14="http://schemas.microsoft.com/office/powerpoint/2010/main" val="187937747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7AFFB9B-9FB8-469E-96F9-4D32314110B6}" type="datetimeFigureOut">
              <a:rPr lang="en-US" smtClean="0"/>
              <a:t>26-Jan-16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pic>
        <p:nvPicPr>
          <p:cNvPr id="7" name="Picture 6"/>
          <p:cNvPicPr>
            <a:picLocks noChangeAspect="1"/>
          </p:cNvPicPr>
          <p:nvPr userDrawn="1"/>
        </p:nvPicPr>
        <p:blipFill>
          <a:blip r:embed="rId2"/>
          <a:stretch>
            <a:fillRect/>
          </a:stretch>
        </p:blipFill>
        <p:spPr>
          <a:xfrm>
            <a:off x="10334965" y="5158490"/>
            <a:ext cx="1743723" cy="1714292"/>
          </a:xfrm>
          <a:prstGeom prst="rect">
            <a:avLst/>
          </a:prstGeom>
        </p:spPr>
      </p:pic>
      <p:pic>
        <p:nvPicPr>
          <p:cNvPr id="8" name="Picture 7"/>
          <p:cNvPicPr>
            <a:picLocks noChangeAspect="1"/>
          </p:cNvPicPr>
          <p:nvPr userDrawn="1"/>
        </p:nvPicPr>
        <p:blipFill>
          <a:blip r:embed="rId3"/>
          <a:stretch>
            <a:fillRect/>
          </a:stretch>
        </p:blipFill>
        <p:spPr>
          <a:xfrm>
            <a:off x="-9574" y="5158490"/>
            <a:ext cx="1742954" cy="1689937"/>
          </a:xfrm>
          <a:prstGeom prst="rect">
            <a:avLst/>
          </a:prstGeom>
        </p:spPr>
      </p:pic>
    </p:spTree>
    <p:extLst>
      <p:ext uri="{BB962C8B-B14F-4D97-AF65-F5344CB8AC3E}">
        <p14:creationId xmlns:p14="http://schemas.microsoft.com/office/powerpoint/2010/main" val="30024681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EFBDC27-E420-4878-9EE6-7B9656D6442A}" type="datetimeFigureOut">
              <a:rPr lang="en-US" smtClean="0"/>
              <a:t>26-Jan-16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pic>
        <p:nvPicPr>
          <p:cNvPr id="7" name="Picture 6"/>
          <p:cNvPicPr>
            <a:picLocks noChangeAspect="1"/>
          </p:cNvPicPr>
          <p:nvPr userDrawn="1"/>
        </p:nvPicPr>
        <p:blipFill>
          <a:blip r:embed="rId2"/>
          <a:stretch>
            <a:fillRect/>
          </a:stretch>
        </p:blipFill>
        <p:spPr>
          <a:xfrm>
            <a:off x="11188589" y="5863111"/>
            <a:ext cx="1003411" cy="986475"/>
          </a:xfrm>
          <a:prstGeom prst="rect">
            <a:avLst/>
          </a:prstGeom>
        </p:spPr>
      </p:pic>
      <p:pic>
        <p:nvPicPr>
          <p:cNvPr id="8" name="Picture 7"/>
          <p:cNvPicPr>
            <a:picLocks noChangeAspect="1"/>
          </p:cNvPicPr>
          <p:nvPr userDrawn="1"/>
        </p:nvPicPr>
        <p:blipFill>
          <a:blip r:embed="rId3"/>
          <a:stretch>
            <a:fillRect/>
          </a:stretch>
        </p:blipFill>
        <p:spPr>
          <a:xfrm>
            <a:off x="0" y="5816540"/>
            <a:ext cx="1113489" cy="1079619"/>
          </a:xfrm>
          <a:prstGeom prst="rect">
            <a:avLst/>
          </a:prstGeom>
        </p:spPr>
      </p:pic>
    </p:spTree>
    <p:extLst>
      <p:ext uri="{BB962C8B-B14F-4D97-AF65-F5344CB8AC3E}">
        <p14:creationId xmlns:p14="http://schemas.microsoft.com/office/powerpoint/2010/main" val="16444762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F7F47CF-67C9-420C-80A5-E2069FF0C2DF}" type="datetimeFigureOut">
              <a:rPr lang="en-US" smtClean="0"/>
              <a:t>26-Jan-16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5733392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E22DC73-F065-42F5-A9F2-D90B2E42A0B3}" type="datetimeFigureOut">
              <a:rPr lang="en-US" smtClean="0"/>
              <a:t>26-Jan-16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pic>
        <p:nvPicPr>
          <p:cNvPr id="8" name="Picture 7"/>
          <p:cNvPicPr>
            <a:picLocks noChangeAspect="1"/>
          </p:cNvPicPr>
          <p:nvPr userDrawn="1"/>
        </p:nvPicPr>
        <p:blipFill>
          <a:blip r:embed="rId2"/>
          <a:stretch>
            <a:fillRect/>
          </a:stretch>
        </p:blipFill>
        <p:spPr>
          <a:xfrm>
            <a:off x="0" y="5816540"/>
            <a:ext cx="1113489" cy="1079619"/>
          </a:xfrm>
          <a:prstGeom prst="rect">
            <a:avLst/>
          </a:prstGeom>
        </p:spPr>
      </p:pic>
      <p:pic>
        <p:nvPicPr>
          <p:cNvPr id="9" name="Picture 8"/>
          <p:cNvPicPr>
            <a:picLocks noChangeAspect="1"/>
          </p:cNvPicPr>
          <p:nvPr userDrawn="1"/>
        </p:nvPicPr>
        <p:blipFill>
          <a:blip r:embed="rId3"/>
          <a:stretch>
            <a:fillRect/>
          </a:stretch>
        </p:blipFill>
        <p:spPr>
          <a:xfrm>
            <a:off x="11188589" y="5863111"/>
            <a:ext cx="1003411" cy="986475"/>
          </a:xfrm>
          <a:prstGeom prst="rect">
            <a:avLst/>
          </a:prstGeom>
        </p:spPr>
      </p:pic>
    </p:spTree>
    <p:extLst>
      <p:ext uri="{BB962C8B-B14F-4D97-AF65-F5344CB8AC3E}">
        <p14:creationId xmlns:p14="http://schemas.microsoft.com/office/powerpoint/2010/main" val="38211013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6BEA702-9B29-41CC-9BCC-3DF8A0D379FE}" type="datetimeFigureOut">
              <a:rPr lang="en-US" smtClean="0"/>
              <a:t>26-Jan-16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pic>
        <p:nvPicPr>
          <p:cNvPr id="10" name="Picture 9"/>
          <p:cNvPicPr>
            <a:picLocks noChangeAspect="1"/>
          </p:cNvPicPr>
          <p:nvPr userDrawn="1"/>
        </p:nvPicPr>
        <p:blipFill>
          <a:blip r:embed="rId2"/>
          <a:stretch>
            <a:fillRect/>
          </a:stretch>
        </p:blipFill>
        <p:spPr>
          <a:xfrm>
            <a:off x="11188589" y="5863111"/>
            <a:ext cx="1003411" cy="986475"/>
          </a:xfrm>
          <a:prstGeom prst="rect">
            <a:avLst/>
          </a:prstGeom>
        </p:spPr>
      </p:pic>
      <p:pic>
        <p:nvPicPr>
          <p:cNvPr id="11" name="Picture 10"/>
          <p:cNvPicPr>
            <a:picLocks noChangeAspect="1"/>
          </p:cNvPicPr>
          <p:nvPr userDrawn="1"/>
        </p:nvPicPr>
        <p:blipFill>
          <a:blip r:embed="rId3"/>
          <a:stretch>
            <a:fillRect/>
          </a:stretch>
        </p:blipFill>
        <p:spPr>
          <a:xfrm>
            <a:off x="0" y="5816540"/>
            <a:ext cx="1113489" cy="1079619"/>
          </a:xfrm>
          <a:prstGeom prst="rect">
            <a:avLst/>
          </a:prstGeom>
        </p:spPr>
      </p:pic>
    </p:spTree>
    <p:extLst>
      <p:ext uri="{BB962C8B-B14F-4D97-AF65-F5344CB8AC3E}">
        <p14:creationId xmlns:p14="http://schemas.microsoft.com/office/powerpoint/2010/main" val="41427874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97649AC-CB8F-4FF1-9A34-5861C74DD0A7}" type="datetimeFigureOut">
              <a:rPr lang="en-US" smtClean="0"/>
              <a:t>26-Jan-16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8550718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C5CECA-2D3A-4680-9B49-752200DE467C}" type="datetimeFigureOut">
              <a:rPr lang="en-US" smtClean="0"/>
              <a:t>26-Jan-16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9336521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0C3BFE2-83B7-4B0A-B9D3-AB28331082B3}" type="datetimeFigureOut">
              <a:rPr lang="en-US" smtClean="0"/>
              <a:t>26-Jan-16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090722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2EF78E3-FDA3-4D28-AAA2-0B81F349A39D}" type="datetimeFigureOut">
              <a:rPr lang="en-US" smtClean="0"/>
              <a:t>26-Jan-16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3272040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9FF1211-4E0C-4AB3-B04F-585959BDAFE8}" type="datetimeFigureOut">
              <a:rPr lang="en-US" smtClean="0"/>
              <a:t>26-Jan-16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8947330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8BDECAF-D3BE-4069-9C78-642ECCD01477}" type="datetimeFigureOut">
              <a:rPr lang="en-US" smtClean="0"/>
              <a:t>26-Jan-16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7377105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5BB1C6-BF8F-4481-8AB2-603A1C8A906A}" type="datetimeFigureOut">
              <a:rPr lang="en-US" smtClean="0"/>
              <a:t>26-Jan-16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767354476"/>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05786" y="1122363"/>
            <a:ext cx="9562214" cy="2387600"/>
          </a:xfrm>
        </p:spPr>
        <p:txBody>
          <a:bodyPr>
            <a:noAutofit/>
          </a:bodyPr>
          <a:lstStyle/>
          <a:p>
            <a:r>
              <a:rPr lang="en-US" sz="4400" b="1" dirty="0" smtClean="0"/>
              <a:t>REVIEW OF  EXISTING IGR DRIVES, THEIR IMPACT ON THE UNIVERSITY ANDPANS TO PROPEL EKSU IGR INITIATIVES:</a:t>
            </a:r>
            <a:br>
              <a:rPr lang="en-US" sz="4400" b="1" dirty="0" smtClean="0"/>
            </a:br>
            <a:r>
              <a:rPr lang="en-US" sz="4400" b="1" dirty="0" smtClean="0">
                <a:solidFill>
                  <a:srgbClr val="FF0000"/>
                </a:solidFill>
                <a:effectLst>
                  <a:outerShdw blurRad="38100" dist="38100" dir="2700000" algn="tl">
                    <a:srgbClr val="000000">
                      <a:alpha val="43137"/>
                    </a:srgbClr>
                  </a:outerShdw>
                </a:effectLst>
              </a:rPr>
              <a:t>POSITION OF THE COLLEGE OF MEDICINE</a:t>
            </a:r>
            <a:endParaRPr lang="en-US" sz="4400"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p:txBody>
          <a:bodyPr/>
          <a:lstStyle/>
          <a:p>
            <a:r>
              <a:rPr lang="en-US" dirty="0" smtClean="0"/>
              <a:t>Prof Oluwadiya Kehinde</a:t>
            </a:r>
          </a:p>
          <a:p>
            <a:r>
              <a:rPr lang="en-US" dirty="0" smtClean="0"/>
              <a:t>Provost, College of Medicine</a:t>
            </a:r>
            <a:br>
              <a:rPr lang="en-US" dirty="0" smtClean="0"/>
            </a:br>
            <a:r>
              <a:rPr lang="en-US" dirty="0" smtClean="0"/>
              <a:t>Ekiti State University, Ado-Ekiti</a:t>
            </a:r>
            <a:endParaRPr lang="en-US" dirty="0"/>
          </a:p>
        </p:txBody>
      </p:sp>
      <p:pic>
        <p:nvPicPr>
          <p:cNvPr id="4" name="Picture 3"/>
          <p:cNvPicPr>
            <a:picLocks noChangeAspect="1"/>
          </p:cNvPicPr>
          <p:nvPr/>
        </p:nvPicPr>
        <p:blipFill>
          <a:blip r:embed="rId2"/>
          <a:stretch>
            <a:fillRect/>
          </a:stretch>
        </p:blipFill>
        <p:spPr>
          <a:xfrm>
            <a:off x="4105766" y="4761647"/>
            <a:ext cx="3911184" cy="1864209"/>
          </a:xfrm>
          <a:prstGeom prst="rect">
            <a:avLst/>
          </a:prstGeom>
        </p:spPr>
      </p:pic>
    </p:spTree>
    <p:extLst>
      <p:ext uri="{BB962C8B-B14F-4D97-AF65-F5344CB8AC3E}">
        <p14:creationId xmlns:p14="http://schemas.microsoft.com/office/powerpoint/2010/main" val="28996843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Introduction</a:t>
            </a:r>
            <a:endParaRPr lang="en-US" b="1" dirty="0"/>
          </a:p>
        </p:txBody>
      </p:sp>
      <p:sp>
        <p:nvSpPr>
          <p:cNvPr id="3" name="Content Placeholder 2"/>
          <p:cNvSpPr>
            <a:spLocks noGrp="1"/>
          </p:cNvSpPr>
          <p:nvPr>
            <p:ph idx="1"/>
          </p:nvPr>
        </p:nvSpPr>
        <p:spPr/>
        <p:txBody>
          <a:bodyPr/>
          <a:lstStyle/>
          <a:p>
            <a:r>
              <a:rPr lang="en-US" dirty="0" smtClean="0"/>
              <a:t>College of Medicine  is expensive to setup and run</a:t>
            </a:r>
          </a:p>
          <a:p>
            <a:r>
              <a:rPr lang="en-US" dirty="0" smtClean="0"/>
              <a:t>Colleges of medicine are usually funded directly by the government and transferred to the University</a:t>
            </a:r>
          </a:p>
          <a:p>
            <a:r>
              <a:rPr lang="en-GB" dirty="0"/>
              <a:t>EKSU College of Medicine bucks this trend, as most of the buildings were built from the IGR of the </a:t>
            </a:r>
            <a:r>
              <a:rPr lang="en-GB" dirty="0" smtClean="0"/>
              <a:t>University</a:t>
            </a:r>
          </a:p>
          <a:p>
            <a:r>
              <a:rPr lang="en-GB" dirty="0" smtClean="0"/>
              <a:t>This has put some undue strain on the University’s finances</a:t>
            </a:r>
            <a:endParaRPr lang="en-US" dirty="0"/>
          </a:p>
        </p:txBody>
      </p:sp>
      <p:pic>
        <p:nvPicPr>
          <p:cNvPr id="4" name="Picture 3"/>
          <p:cNvPicPr>
            <a:picLocks noChangeAspect="1"/>
          </p:cNvPicPr>
          <p:nvPr/>
        </p:nvPicPr>
        <p:blipFill>
          <a:blip r:embed="rId2"/>
          <a:stretch>
            <a:fillRect/>
          </a:stretch>
        </p:blipFill>
        <p:spPr>
          <a:xfrm>
            <a:off x="3780555" y="4934631"/>
            <a:ext cx="3907875" cy="1865538"/>
          </a:xfrm>
          <a:prstGeom prst="rect">
            <a:avLst/>
          </a:prstGeom>
        </p:spPr>
      </p:pic>
    </p:spTree>
    <p:extLst>
      <p:ext uri="{BB962C8B-B14F-4D97-AF65-F5344CB8AC3E}">
        <p14:creationId xmlns:p14="http://schemas.microsoft.com/office/powerpoint/2010/main" val="37320083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College of Medicine: A Brief SWOT Analysis</a:t>
            </a:r>
            <a:endParaRPr lang="en-US" dirty="0"/>
          </a:p>
        </p:txBody>
      </p:sp>
      <p:sp>
        <p:nvSpPr>
          <p:cNvPr id="5" name="Content Placeholder 4"/>
          <p:cNvSpPr>
            <a:spLocks noGrp="1"/>
          </p:cNvSpPr>
          <p:nvPr>
            <p:ph sz="half" idx="2"/>
          </p:nvPr>
        </p:nvSpPr>
        <p:spPr>
          <a:xfrm>
            <a:off x="6172200" y="1825625"/>
            <a:ext cx="5637028" cy="4351338"/>
          </a:xfrm>
        </p:spPr>
        <p:txBody>
          <a:bodyPr>
            <a:normAutofit fontScale="92500"/>
          </a:bodyPr>
          <a:lstStyle/>
          <a:p>
            <a:r>
              <a:rPr lang="en-US" sz="4800" dirty="0" smtClean="0"/>
              <a:t>Human Resources</a:t>
            </a:r>
          </a:p>
          <a:p>
            <a:r>
              <a:rPr lang="en-US" sz="4800" dirty="0" smtClean="0"/>
              <a:t>The Teaching Hospital</a:t>
            </a:r>
          </a:p>
          <a:p>
            <a:r>
              <a:rPr lang="en-US" sz="4800" dirty="0" smtClean="0"/>
              <a:t>Supportive University Management</a:t>
            </a:r>
          </a:p>
          <a:p>
            <a:r>
              <a:rPr lang="en-US" sz="4800" dirty="0" smtClean="0"/>
              <a:t>Young and vibrant </a:t>
            </a:r>
            <a:r>
              <a:rPr lang="en-US" sz="4800" dirty="0"/>
              <a:t>a</a:t>
            </a:r>
            <a:r>
              <a:rPr lang="en-US" sz="4800" dirty="0" smtClean="0"/>
              <a:t>cademic staff</a:t>
            </a:r>
            <a:endParaRPr lang="en-US" sz="4800" dirty="0"/>
          </a:p>
        </p:txBody>
      </p:sp>
      <p:sp>
        <p:nvSpPr>
          <p:cNvPr id="6" name="TextBox 5"/>
          <p:cNvSpPr txBox="1"/>
          <p:nvPr/>
        </p:nvSpPr>
        <p:spPr>
          <a:xfrm rot="19282737">
            <a:off x="320526" y="3098470"/>
            <a:ext cx="5604523" cy="1569660"/>
          </a:xfrm>
          <a:prstGeom prst="rect">
            <a:avLst/>
          </a:prstGeom>
        </p:spPr>
        <p:style>
          <a:lnRef idx="0">
            <a:schemeClr val="dk1"/>
          </a:lnRef>
          <a:fillRef idx="3">
            <a:schemeClr val="dk1"/>
          </a:fillRef>
          <a:effectRef idx="3">
            <a:schemeClr val="dk1"/>
          </a:effectRef>
          <a:fontRef idx="minor">
            <a:schemeClr val="lt1"/>
          </a:fontRef>
        </p:style>
        <p:txBody>
          <a:bodyPr wrap="square" rtlCol="0">
            <a:spAutoFit/>
          </a:bodyPr>
          <a:lstStyle/>
          <a:p>
            <a:r>
              <a:rPr lang="en-US" sz="9600" dirty="0" smtClean="0">
                <a:solidFill>
                  <a:srgbClr val="FF0000"/>
                </a:solidFill>
              </a:rPr>
              <a:t>STRENGTH</a:t>
            </a:r>
            <a:endParaRPr lang="en-US" sz="9600" dirty="0">
              <a:solidFill>
                <a:srgbClr val="FF0000"/>
              </a:solidFill>
            </a:endParaRPr>
          </a:p>
        </p:txBody>
      </p:sp>
    </p:spTree>
    <p:extLst>
      <p:ext uri="{BB962C8B-B14F-4D97-AF65-F5344CB8AC3E}">
        <p14:creationId xmlns:p14="http://schemas.microsoft.com/office/powerpoint/2010/main" val="13346746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College of Medicine: A Brief SWOT Analysis</a:t>
            </a:r>
            <a:endParaRPr lang="en-US" dirty="0"/>
          </a:p>
        </p:txBody>
      </p:sp>
      <p:sp>
        <p:nvSpPr>
          <p:cNvPr id="5" name="Content Placeholder 4"/>
          <p:cNvSpPr>
            <a:spLocks noGrp="1"/>
          </p:cNvSpPr>
          <p:nvPr>
            <p:ph sz="half" idx="2"/>
          </p:nvPr>
        </p:nvSpPr>
        <p:spPr/>
        <p:txBody>
          <a:bodyPr>
            <a:normAutofit/>
          </a:bodyPr>
          <a:lstStyle/>
          <a:p>
            <a:r>
              <a:rPr lang="en-US" sz="4800" dirty="0" smtClean="0"/>
              <a:t>One Programme</a:t>
            </a:r>
          </a:p>
          <a:p>
            <a:r>
              <a:rPr lang="en-US" sz="4800" dirty="0" smtClean="0"/>
              <a:t>Insufficient Infrastructure</a:t>
            </a:r>
          </a:p>
          <a:p>
            <a:r>
              <a:rPr lang="en-US" sz="4800" dirty="0" smtClean="0"/>
              <a:t>Two more accreditations</a:t>
            </a:r>
            <a:endParaRPr lang="en-US" sz="4800" dirty="0"/>
          </a:p>
        </p:txBody>
      </p:sp>
      <p:sp>
        <p:nvSpPr>
          <p:cNvPr id="6" name="TextBox 5"/>
          <p:cNvSpPr txBox="1"/>
          <p:nvPr/>
        </p:nvSpPr>
        <p:spPr>
          <a:xfrm rot="19282737">
            <a:off x="67068" y="3187282"/>
            <a:ext cx="5889101" cy="1569660"/>
          </a:xfrm>
          <a:prstGeom prst="rect">
            <a:avLst/>
          </a:prstGeom>
        </p:spPr>
        <p:style>
          <a:lnRef idx="0">
            <a:schemeClr val="dk1"/>
          </a:lnRef>
          <a:fillRef idx="3">
            <a:schemeClr val="dk1"/>
          </a:fillRef>
          <a:effectRef idx="3">
            <a:schemeClr val="dk1"/>
          </a:effectRef>
          <a:fontRef idx="minor">
            <a:schemeClr val="lt1"/>
          </a:fontRef>
        </p:style>
        <p:txBody>
          <a:bodyPr wrap="square" rtlCol="0">
            <a:spAutoFit/>
          </a:bodyPr>
          <a:lstStyle/>
          <a:p>
            <a:r>
              <a:rPr lang="en-US" sz="9600" dirty="0" smtClean="0">
                <a:solidFill>
                  <a:srgbClr val="FF0000"/>
                </a:solidFill>
              </a:rPr>
              <a:t>WEAKNESS</a:t>
            </a:r>
            <a:endParaRPr lang="en-US" sz="9600" dirty="0">
              <a:solidFill>
                <a:srgbClr val="FF0000"/>
              </a:solidFill>
            </a:endParaRPr>
          </a:p>
        </p:txBody>
      </p:sp>
    </p:spTree>
    <p:extLst>
      <p:ext uri="{BB962C8B-B14F-4D97-AF65-F5344CB8AC3E}">
        <p14:creationId xmlns:p14="http://schemas.microsoft.com/office/powerpoint/2010/main" val="28906556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College of Medicine: A Brief SWOT Analysis</a:t>
            </a:r>
            <a:endParaRPr lang="en-US" dirty="0"/>
          </a:p>
        </p:txBody>
      </p:sp>
      <p:sp>
        <p:nvSpPr>
          <p:cNvPr id="5" name="Content Placeholder 4"/>
          <p:cNvSpPr>
            <a:spLocks noGrp="1"/>
          </p:cNvSpPr>
          <p:nvPr>
            <p:ph sz="half" idx="2"/>
          </p:nvPr>
        </p:nvSpPr>
        <p:spPr>
          <a:xfrm>
            <a:off x="6172200" y="1825625"/>
            <a:ext cx="5689242" cy="4351338"/>
          </a:xfrm>
        </p:spPr>
        <p:txBody>
          <a:bodyPr>
            <a:normAutofit fontScale="85000" lnSpcReduction="20000"/>
          </a:bodyPr>
          <a:lstStyle/>
          <a:p>
            <a:r>
              <a:rPr lang="en-US" sz="4400" dirty="0" smtClean="0"/>
              <a:t>Young academics</a:t>
            </a:r>
          </a:p>
          <a:p>
            <a:r>
              <a:rPr lang="en-US" sz="4400" dirty="0" smtClean="0"/>
              <a:t>Attractive Course (s)</a:t>
            </a:r>
          </a:p>
          <a:p>
            <a:r>
              <a:rPr lang="en-US" sz="4400" dirty="0" smtClean="0"/>
              <a:t>Large pool of potential clients</a:t>
            </a:r>
          </a:p>
          <a:p>
            <a:r>
              <a:rPr lang="en-US" sz="4400" dirty="0" smtClean="0"/>
              <a:t>Only government Med School in the state</a:t>
            </a:r>
          </a:p>
          <a:p>
            <a:r>
              <a:rPr lang="en-US" sz="4400" dirty="0" smtClean="0"/>
              <a:t>Virgin territory for medical researches</a:t>
            </a:r>
          </a:p>
          <a:p>
            <a:r>
              <a:rPr lang="en-US" sz="4400" dirty="0" smtClean="0"/>
              <a:t>Institutes </a:t>
            </a:r>
          </a:p>
          <a:p>
            <a:endParaRPr lang="en-US" sz="4400" dirty="0" smtClean="0"/>
          </a:p>
          <a:p>
            <a:endParaRPr lang="en-US" sz="4400" dirty="0"/>
          </a:p>
        </p:txBody>
      </p:sp>
      <p:sp>
        <p:nvSpPr>
          <p:cNvPr id="6" name="TextBox 5"/>
          <p:cNvSpPr txBox="1"/>
          <p:nvPr/>
        </p:nvSpPr>
        <p:spPr>
          <a:xfrm rot="19282737">
            <a:off x="-322894" y="3221059"/>
            <a:ext cx="6729662" cy="1323439"/>
          </a:xfrm>
          <a:prstGeom prst="rect">
            <a:avLst/>
          </a:prstGeom>
        </p:spPr>
        <p:style>
          <a:lnRef idx="0">
            <a:schemeClr val="dk1"/>
          </a:lnRef>
          <a:fillRef idx="3">
            <a:schemeClr val="dk1"/>
          </a:fillRef>
          <a:effectRef idx="3">
            <a:schemeClr val="dk1"/>
          </a:effectRef>
          <a:fontRef idx="minor">
            <a:schemeClr val="lt1"/>
          </a:fontRef>
        </p:style>
        <p:txBody>
          <a:bodyPr wrap="square" rtlCol="0">
            <a:spAutoFit/>
          </a:bodyPr>
          <a:lstStyle/>
          <a:p>
            <a:r>
              <a:rPr lang="en-US" sz="8000" dirty="0" smtClean="0">
                <a:solidFill>
                  <a:srgbClr val="FF0000"/>
                </a:solidFill>
              </a:rPr>
              <a:t>OPPORTUNITY</a:t>
            </a:r>
            <a:endParaRPr lang="en-US" sz="8000" dirty="0">
              <a:solidFill>
                <a:srgbClr val="FF0000"/>
              </a:solidFill>
            </a:endParaRPr>
          </a:p>
        </p:txBody>
      </p:sp>
    </p:spTree>
    <p:extLst>
      <p:ext uri="{BB962C8B-B14F-4D97-AF65-F5344CB8AC3E}">
        <p14:creationId xmlns:p14="http://schemas.microsoft.com/office/powerpoint/2010/main" val="22481878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College of Medicine: A Brief SWOT Analysis</a:t>
            </a:r>
            <a:endParaRPr lang="en-US" dirty="0"/>
          </a:p>
        </p:txBody>
      </p:sp>
      <p:sp>
        <p:nvSpPr>
          <p:cNvPr id="5" name="Content Placeholder 4"/>
          <p:cNvSpPr>
            <a:spLocks noGrp="1"/>
          </p:cNvSpPr>
          <p:nvPr>
            <p:ph sz="half" idx="2"/>
          </p:nvPr>
        </p:nvSpPr>
        <p:spPr>
          <a:xfrm>
            <a:off x="6172200" y="1825625"/>
            <a:ext cx="5689242" cy="4351338"/>
          </a:xfrm>
        </p:spPr>
        <p:txBody>
          <a:bodyPr>
            <a:normAutofit fontScale="92500" lnSpcReduction="20000"/>
          </a:bodyPr>
          <a:lstStyle/>
          <a:p>
            <a:r>
              <a:rPr lang="en-US" sz="4400" dirty="0" smtClean="0"/>
              <a:t>The other medical school in Ado</a:t>
            </a:r>
          </a:p>
          <a:p>
            <a:r>
              <a:rPr lang="en-US" sz="4400" dirty="0" smtClean="0"/>
              <a:t>Inability to attract professorial grade academics</a:t>
            </a:r>
          </a:p>
          <a:p>
            <a:r>
              <a:rPr lang="en-US" sz="4400" dirty="0" smtClean="0"/>
              <a:t>MDCN Accreditation</a:t>
            </a:r>
          </a:p>
          <a:p>
            <a:r>
              <a:rPr lang="en-US" sz="4400" dirty="0" smtClean="0"/>
              <a:t>Poor funding from owner state</a:t>
            </a:r>
          </a:p>
          <a:p>
            <a:endParaRPr lang="en-US" sz="4400" dirty="0" smtClean="0"/>
          </a:p>
          <a:p>
            <a:endParaRPr lang="en-US" sz="4400" dirty="0"/>
          </a:p>
        </p:txBody>
      </p:sp>
      <p:sp>
        <p:nvSpPr>
          <p:cNvPr id="6" name="TextBox 5"/>
          <p:cNvSpPr txBox="1"/>
          <p:nvPr/>
        </p:nvSpPr>
        <p:spPr>
          <a:xfrm rot="19282737">
            <a:off x="422666" y="3414967"/>
            <a:ext cx="4622701" cy="1323439"/>
          </a:xfrm>
          <a:prstGeom prst="rect">
            <a:avLst/>
          </a:prstGeom>
        </p:spPr>
        <p:style>
          <a:lnRef idx="0">
            <a:schemeClr val="dk1"/>
          </a:lnRef>
          <a:fillRef idx="3">
            <a:schemeClr val="dk1"/>
          </a:fillRef>
          <a:effectRef idx="3">
            <a:schemeClr val="dk1"/>
          </a:effectRef>
          <a:fontRef idx="minor">
            <a:schemeClr val="lt1"/>
          </a:fontRef>
        </p:style>
        <p:txBody>
          <a:bodyPr wrap="square" rtlCol="0">
            <a:spAutoFit/>
          </a:bodyPr>
          <a:lstStyle/>
          <a:p>
            <a:r>
              <a:rPr lang="en-US" sz="8000" dirty="0" smtClean="0">
                <a:solidFill>
                  <a:srgbClr val="FF0000"/>
                </a:solidFill>
              </a:rPr>
              <a:t>THREATH</a:t>
            </a:r>
            <a:endParaRPr lang="en-US" sz="8000" dirty="0">
              <a:solidFill>
                <a:srgbClr val="FF0000"/>
              </a:solidFill>
            </a:endParaRPr>
          </a:p>
        </p:txBody>
      </p:sp>
    </p:spTree>
    <p:extLst>
      <p:ext uri="{BB962C8B-B14F-4D97-AF65-F5344CB8AC3E}">
        <p14:creationId xmlns:p14="http://schemas.microsoft.com/office/powerpoint/2010/main" val="9462712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effectLst>
                  <a:outerShdw blurRad="38100" dist="38100" dir="2700000" algn="tl">
                    <a:srgbClr val="000000">
                      <a:alpha val="43137"/>
                    </a:srgbClr>
                  </a:outerShdw>
                </a:effectLst>
              </a:rPr>
              <a:t>Improving the IGR Drive in the College</a:t>
            </a:r>
            <a:endParaRPr lang="en-US" b="1" dirty="0">
              <a:effectLst>
                <a:outerShdw blurRad="38100" dist="38100" dir="2700000" algn="tl">
                  <a:srgbClr val="000000">
                    <a:alpha val="43137"/>
                  </a:srgbClr>
                </a:outerShdw>
              </a:effectLst>
            </a:endParaRPr>
          </a:p>
        </p:txBody>
      </p:sp>
      <p:sp>
        <p:nvSpPr>
          <p:cNvPr id="4" name="Text Placeholder 3"/>
          <p:cNvSpPr>
            <a:spLocks noGrp="1"/>
          </p:cNvSpPr>
          <p:nvPr>
            <p:ph type="body" idx="1"/>
          </p:nvPr>
        </p:nvSpPr>
        <p:spPr/>
        <p:txBody>
          <a:bodyPr>
            <a:normAutofit/>
          </a:bodyPr>
          <a:lstStyle/>
          <a:p>
            <a:r>
              <a:rPr lang="en-US" sz="3600" dirty="0" smtClean="0"/>
              <a:t>WHERE WE ARE</a:t>
            </a:r>
            <a:endParaRPr lang="en-US" sz="3600" dirty="0"/>
          </a:p>
        </p:txBody>
      </p:sp>
      <p:sp>
        <p:nvSpPr>
          <p:cNvPr id="5" name="Text Placeholder 4"/>
          <p:cNvSpPr>
            <a:spLocks noGrp="1"/>
          </p:cNvSpPr>
          <p:nvPr>
            <p:ph type="body" sz="quarter" idx="3"/>
          </p:nvPr>
        </p:nvSpPr>
        <p:spPr>
          <a:xfrm>
            <a:off x="6084887" y="1971709"/>
            <a:ext cx="5183188" cy="521124"/>
          </a:xfrm>
        </p:spPr>
        <p:txBody>
          <a:bodyPr>
            <a:noAutofit/>
          </a:bodyPr>
          <a:lstStyle/>
          <a:p>
            <a:r>
              <a:rPr lang="en-US" sz="3600" dirty="0" smtClean="0"/>
              <a:t>WHERE WE CAN BE…</a:t>
            </a:r>
            <a:endParaRPr lang="en-US" sz="3600" dirty="0"/>
          </a:p>
        </p:txBody>
      </p:sp>
      <p:pic>
        <p:nvPicPr>
          <p:cNvPr id="8" name="Content Placeholder 7"/>
          <p:cNvPicPr>
            <a:picLocks noGrp="1" noChangeAspect="1"/>
          </p:cNvPicPr>
          <p:nvPr>
            <p:ph sz="quarter" idx="4"/>
          </p:nvPr>
        </p:nvPicPr>
        <p:blipFill rotWithShape="1">
          <a:blip r:embed="rId2"/>
          <a:srcRect l="65005"/>
          <a:stretch/>
        </p:blipFill>
        <p:spPr>
          <a:xfrm>
            <a:off x="2859111" y="2671141"/>
            <a:ext cx="1386626" cy="290169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Content Placeholder 6"/>
          <p:cNvSpPr txBox="1">
            <a:spLocks noGrp="1"/>
          </p:cNvSpPr>
          <p:nvPr>
            <p:ph sz="half" idx="2"/>
          </p:nvPr>
        </p:nvSpPr>
        <p:spPr>
          <a:xfrm>
            <a:off x="550015" y="3458111"/>
            <a:ext cx="2309096" cy="1200329"/>
          </a:xfrm>
          <a:prstGeom prst="rect">
            <a:avLst/>
          </a:prstGeom>
        </p:spPr>
        <p:style>
          <a:lnRef idx="0">
            <a:schemeClr val="dk1"/>
          </a:lnRef>
          <a:fillRef idx="3">
            <a:schemeClr val="dk1"/>
          </a:fillRef>
          <a:effectRef idx="3">
            <a:schemeClr val="dk1"/>
          </a:effectRef>
          <a:fontRef idx="minor">
            <a:schemeClr val="lt1"/>
          </a:fontRef>
        </p:style>
        <p:txBody>
          <a:bodyPr wrap="square" rtlCol="0">
            <a:spAutoFit/>
          </a:bodyPr>
          <a:lstStyle/>
          <a:p>
            <a:pPr marL="0" indent="0">
              <a:buNone/>
            </a:pPr>
            <a:r>
              <a:rPr lang="en-US" sz="8000" dirty="0" smtClean="0">
                <a:solidFill>
                  <a:srgbClr val="FF0000"/>
                </a:solidFill>
              </a:rPr>
              <a:t>zero</a:t>
            </a:r>
            <a:endParaRPr lang="en-US" sz="8000" dirty="0">
              <a:solidFill>
                <a:srgbClr val="FF0000"/>
              </a:solidFill>
            </a:endParaRPr>
          </a:p>
        </p:txBody>
      </p:sp>
      <p:sp>
        <p:nvSpPr>
          <p:cNvPr id="9" name="Content Placeholder 6"/>
          <p:cNvSpPr txBox="1">
            <a:spLocks/>
          </p:cNvSpPr>
          <p:nvPr/>
        </p:nvSpPr>
        <p:spPr>
          <a:xfrm>
            <a:off x="6454698" y="3294979"/>
            <a:ext cx="2309096" cy="1200329"/>
          </a:xfrm>
          <a:prstGeom prst="rect">
            <a:avLst/>
          </a:prstGeom>
        </p:spPr>
        <p:style>
          <a:lnRef idx="0">
            <a:schemeClr val="dk1"/>
          </a:lnRef>
          <a:fillRef idx="3">
            <a:schemeClr val="dk1"/>
          </a:fillRef>
          <a:effectRef idx="3">
            <a:schemeClr val="dk1"/>
          </a:effectRef>
          <a:fontRef idx="minor">
            <a:schemeClr val="lt1"/>
          </a:fontRef>
        </p:style>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buFont typeface="Arial" panose="020B0604020202020204" pitchFamily="34" charset="0"/>
              <a:buNone/>
            </a:pPr>
            <a:r>
              <a:rPr lang="en-US" sz="8000" dirty="0" smtClean="0">
                <a:solidFill>
                  <a:srgbClr val="FF0000"/>
                </a:solidFill>
              </a:rPr>
              <a:t>Hero</a:t>
            </a:r>
            <a:endParaRPr lang="en-US" sz="8000" dirty="0">
              <a:solidFill>
                <a:srgbClr val="FF0000"/>
              </a:solidFill>
            </a:endParaRPr>
          </a:p>
        </p:txBody>
      </p:sp>
      <p:pic>
        <p:nvPicPr>
          <p:cNvPr id="10" name="Picture 9"/>
          <p:cNvPicPr>
            <a:picLocks noChangeAspect="1"/>
          </p:cNvPicPr>
          <p:nvPr/>
        </p:nvPicPr>
        <p:blipFill rotWithShape="1">
          <a:blip r:embed="rId2"/>
          <a:srcRect r="63900"/>
          <a:stretch/>
        </p:blipFill>
        <p:spPr>
          <a:xfrm>
            <a:off x="8693239" y="2444295"/>
            <a:ext cx="1513269" cy="290169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1" name="TextBox 10"/>
          <p:cNvSpPr txBox="1"/>
          <p:nvPr/>
        </p:nvSpPr>
        <p:spPr>
          <a:xfrm>
            <a:off x="5005707" y="3060160"/>
            <a:ext cx="689020" cy="2123658"/>
          </a:xfrm>
          <a:prstGeom prst="rect">
            <a:avLst/>
          </a:prstGeom>
        </p:spPr>
        <p:style>
          <a:lnRef idx="3">
            <a:schemeClr val="lt1"/>
          </a:lnRef>
          <a:fillRef idx="1">
            <a:schemeClr val="accent6"/>
          </a:fillRef>
          <a:effectRef idx="1">
            <a:schemeClr val="accent6"/>
          </a:effectRef>
          <a:fontRef idx="minor">
            <a:schemeClr val="lt1"/>
          </a:fontRef>
        </p:style>
        <p:txBody>
          <a:bodyPr wrap="square" rtlCol="0">
            <a:spAutoFit/>
          </a:bodyPr>
          <a:lstStyle/>
          <a:p>
            <a:r>
              <a:rPr lang="en-US" sz="6600" dirty="0" smtClean="0"/>
              <a:t>TO</a:t>
            </a:r>
            <a:endParaRPr lang="en-US" sz="6600" dirty="0"/>
          </a:p>
        </p:txBody>
      </p:sp>
    </p:spTree>
    <p:extLst>
      <p:ext uri="{BB962C8B-B14F-4D97-AF65-F5344CB8AC3E}">
        <p14:creationId xmlns:p14="http://schemas.microsoft.com/office/powerpoint/2010/main" val="29571298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effectLst>
                  <a:outerShdw blurRad="38100" dist="38100" dir="2700000" algn="tl">
                    <a:srgbClr val="000000">
                      <a:alpha val="43137"/>
                    </a:srgbClr>
                  </a:outerShdw>
                </a:effectLst>
              </a:rPr>
              <a:t>Improving the IGR Drive in the College</a:t>
            </a:r>
            <a:endParaRPr lang="en-US" b="1" dirty="0">
              <a:effectLst>
                <a:outerShdw blurRad="38100" dist="38100" dir="2700000" algn="tl">
                  <a:srgbClr val="000000">
                    <a:alpha val="43137"/>
                  </a:srgbClr>
                </a:outerShdw>
              </a:effectLst>
            </a:endParaRPr>
          </a:p>
        </p:txBody>
      </p:sp>
      <p:sp>
        <p:nvSpPr>
          <p:cNvPr id="4" name="Text Placeholder 3"/>
          <p:cNvSpPr>
            <a:spLocks noGrp="1"/>
          </p:cNvSpPr>
          <p:nvPr>
            <p:ph type="body" idx="1"/>
          </p:nvPr>
        </p:nvSpPr>
        <p:spPr/>
        <p:txBody>
          <a:bodyPr>
            <a:normAutofit/>
          </a:bodyPr>
          <a:lstStyle/>
          <a:p>
            <a:r>
              <a:rPr lang="en-US" sz="3600" dirty="0" smtClean="0"/>
              <a:t>WHERE WE ARE</a:t>
            </a:r>
            <a:endParaRPr lang="en-US" sz="3600" dirty="0"/>
          </a:p>
        </p:txBody>
      </p:sp>
      <p:sp>
        <p:nvSpPr>
          <p:cNvPr id="5" name="Text Placeholder 4"/>
          <p:cNvSpPr>
            <a:spLocks noGrp="1"/>
          </p:cNvSpPr>
          <p:nvPr>
            <p:ph type="body" sz="quarter" idx="3"/>
          </p:nvPr>
        </p:nvSpPr>
        <p:spPr>
          <a:xfrm>
            <a:off x="6084887" y="1971709"/>
            <a:ext cx="5183188" cy="521124"/>
          </a:xfrm>
        </p:spPr>
        <p:txBody>
          <a:bodyPr>
            <a:noAutofit/>
          </a:bodyPr>
          <a:lstStyle/>
          <a:p>
            <a:r>
              <a:rPr lang="en-US" sz="3600" dirty="0" smtClean="0"/>
              <a:t>WHERE WE CAN BE…</a:t>
            </a:r>
            <a:endParaRPr lang="en-US" sz="3600" dirty="0"/>
          </a:p>
        </p:txBody>
      </p:sp>
      <p:sp>
        <p:nvSpPr>
          <p:cNvPr id="3" name="Content Placeholder 2"/>
          <p:cNvSpPr>
            <a:spLocks noGrp="1"/>
          </p:cNvSpPr>
          <p:nvPr>
            <p:ph sz="quarter" idx="4"/>
          </p:nvPr>
        </p:nvSpPr>
        <p:spPr>
          <a:xfrm>
            <a:off x="6172200" y="2542168"/>
            <a:ext cx="5183188" cy="3684588"/>
          </a:xfrm>
        </p:spPr>
        <p:txBody>
          <a:bodyPr>
            <a:normAutofit fontScale="92500" lnSpcReduction="10000"/>
          </a:bodyPr>
          <a:lstStyle/>
          <a:p>
            <a:pPr marL="0" indent="0">
              <a:buNone/>
            </a:pPr>
            <a:r>
              <a:rPr lang="en-US" sz="3200" b="1" dirty="0" smtClean="0"/>
              <a:t>UCH Model</a:t>
            </a:r>
          </a:p>
          <a:p>
            <a:r>
              <a:rPr lang="en-US" sz="3200" dirty="0" smtClean="0"/>
              <a:t>Seven Undergraduate Courses</a:t>
            </a:r>
          </a:p>
          <a:p>
            <a:r>
              <a:rPr lang="en-US" sz="3200" dirty="0" smtClean="0"/>
              <a:t>Vibrant PG Courses</a:t>
            </a:r>
            <a:endParaRPr lang="en-US" sz="3200" dirty="0" smtClean="0"/>
          </a:p>
          <a:p>
            <a:r>
              <a:rPr lang="en-US" sz="3200" dirty="0" smtClean="0"/>
              <a:t>More than one thousand students</a:t>
            </a:r>
          </a:p>
          <a:p>
            <a:r>
              <a:rPr lang="en-US" sz="3200" dirty="0" smtClean="0"/>
              <a:t>Two Research Institutes</a:t>
            </a:r>
          </a:p>
          <a:p>
            <a:r>
              <a:rPr lang="en-US" sz="3200" dirty="0" smtClean="0"/>
              <a:t>Medical Hostel (Close to 1000 bed spaces)</a:t>
            </a:r>
          </a:p>
          <a:p>
            <a:endParaRPr lang="en-US" dirty="0" smtClean="0"/>
          </a:p>
          <a:p>
            <a:endParaRPr lang="en-US" dirty="0"/>
          </a:p>
        </p:txBody>
      </p:sp>
      <p:sp>
        <p:nvSpPr>
          <p:cNvPr id="6" name="Content Placeholder 5"/>
          <p:cNvSpPr>
            <a:spLocks noGrp="1"/>
          </p:cNvSpPr>
          <p:nvPr>
            <p:ph sz="half" idx="2"/>
          </p:nvPr>
        </p:nvSpPr>
        <p:spPr>
          <a:xfrm>
            <a:off x="665163" y="2505075"/>
            <a:ext cx="5157787" cy="3684588"/>
          </a:xfrm>
        </p:spPr>
        <p:txBody>
          <a:bodyPr>
            <a:normAutofit/>
          </a:bodyPr>
          <a:lstStyle/>
          <a:p>
            <a:r>
              <a:rPr lang="en-US" sz="3600" dirty="0" smtClean="0"/>
              <a:t>Animal House Generated about 120,000 naira </a:t>
            </a:r>
          </a:p>
          <a:p>
            <a:r>
              <a:rPr lang="en-US" sz="3600" dirty="0" smtClean="0"/>
              <a:t>About 250 students</a:t>
            </a:r>
          </a:p>
          <a:p>
            <a:r>
              <a:rPr lang="en-US" sz="3600" dirty="0" smtClean="0"/>
              <a:t>Medical Student Hostel (144 bed spaces)</a:t>
            </a:r>
            <a:endParaRPr lang="en-US" sz="3600" dirty="0"/>
          </a:p>
        </p:txBody>
      </p:sp>
    </p:spTree>
    <p:extLst>
      <p:ext uri="{BB962C8B-B14F-4D97-AF65-F5344CB8AC3E}">
        <p14:creationId xmlns:p14="http://schemas.microsoft.com/office/powerpoint/2010/main" val="31255590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IMPORTANT…..</a:t>
            </a:r>
            <a:endParaRPr lang="en-US" dirty="0"/>
          </a:p>
        </p:txBody>
      </p:sp>
      <p:sp>
        <p:nvSpPr>
          <p:cNvPr id="3" name="Text Placeholder 2"/>
          <p:cNvSpPr>
            <a:spLocks noGrp="1"/>
          </p:cNvSpPr>
          <p:nvPr>
            <p:ph type="body" idx="1"/>
          </p:nvPr>
        </p:nvSpPr>
        <p:spPr/>
        <p:txBody>
          <a:bodyPr>
            <a:normAutofit/>
          </a:bodyPr>
          <a:lstStyle/>
          <a:p>
            <a:r>
              <a:rPr lang="en-US" sz="4800" dirty="0" smtClean="0"/>
              <a:t>ATTITUDE</a:t>
            </a:r>
            <a:endParaRPr lang="en-US" sz="4800" dirty="0"/>
          </a:p>
        </p:txBody>
      </p:sp>
      <p:pic>
        <p:nvPicPr>
          <p:cNvPr id="7" name="Content Placeholder 6"/>
          <p:cNvPicPr>
            <a:picLocks noGrp="1" noChangeAspect="1"/>
          </p:cNvPicPr>
          <p:nvPr>
            <p:ph sz="half" idx="2"/>
          </p:nvPr>
        </p:nvPicPr>
        <p:blipFill rotWithShape="1">
          <a:blip r:embed="rId2"/>
          <a:srcRect l="37828" r="36332"/>
          <a:stretch/>
        </p:blipFill>
        <p:spPr>
          <a:xfrm>
            <a:off x="8332631" y="2632504"/>
            <a:ext cx="1023870" cy="2901696"/>
          </a:xfrm>
        </p:spPr>
      </p:pic>
      <p:pic>
        <p:nvPicPr>
          <p:cNvPr id="8" name="Content Placeholder 7"/>
          <p:cNvPicPr>
            <a:picLocks noGrp="1" noChangeAspect="1"/>
          </p:cNvPicPr>
          <p:nvPr>
            <p:ph sz="quarter" idx="4"/>
          </p:nvPr>
        </p:nvPicPr>
        <p:blipFill>
          <a:blip r:embed="rId3"/>
          <a:stretch>
            <a:fillRect/>
          </a:stretch>
        </p:blipFill>
        <p:spPr>
          <a:xfrm>
            <a:off x="664325" y="2759780"/>
            <a:ext cx="4762500" cy="3162300"/>
          </a:xfrm>
        </p:spPr>
      </p:pic>
      <p:sp>
        <p:nvSpPr>
          <p:cNvPr id="9" name="TextBox 8"/>
          <p:cNvSpPr txBox="1"/>
          <p:nvPr/>
        </p:nvSpPr>
        <p:spPr>
          <a:xfrm>
            <a:off x="9428927" y="3039944"/>
            <a:ext cx="2279560" cy="2246769"/>
          </a:xfrm>
          <a:prstGeom prst="rect">
            <a:avLst/>
          </a:prstGeom>
          <a:noFill/>
        </p:spPr>
        <p:txBody>
          <a:bodyPr wrap="square" rtlCol="0">
            <a:spAutoFit/>
          </a:bodyPr>
          <a:lstStyle/>
          <a:p>
            <a:r>
              <a:rPr lang="en-US" sz="2800" b="1" dirty="0" smtClean="0"/>
              <a:t>👍👍HALF FULL</a:t>
            </a:r>
          </a:p>
          <a:p>
            <a:endParaRPr lang="en-US" sz="2800" b="1" dirty="0" smtClean="0"/>
          </a:p>
          <a:p>
            <a:r>
              <a:rPr lang="en-US" sz="2800" b="1" dirty="0" smtClean="0"/>
              <a:t>👎👎NOT HALF EMPTY</a:t>
            </a:r>
            <a:endParaRPr lang="en-US" sz="2800" b="1" dirty="0"/>
          </a:p>
        </p:txBody>
      </p:sp>
    </p:spTree>
    <p:extLst>
      <p:ext uri="{BB962C8B-B14F-4D97-AF65-F5344CB8AC3E}">
        <p14:creationId xmlns:p14="http://schemas.microsoft.com/office/powerpoint/2010/main" val="14641139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b="1" dirty="0" smtClean="0">
                <a:effectLst>
                  <a:outerShdw blurRad="38100" dist="38100" dir="2700000" algn="tl">
                    <a:srgbClr val="000000">
                      <a:alpha val="43137"/>
                    </a:srgbClr>
                  </a:outerShdw>
                </a:effectLst>
              </a:rPr>
              <a:t>OVERVIEW of College’s IGR Drive</a:t>
            </a:r>
            <a:endParaRPr lang="en-US" b="1" dirty="0">
              <a:effectLst>
                <a:outerShdw blurRad="38100" dist="38100" dir="2700000" algn="tl">
                  <a:srgbClr val="000000">
                    <a:alpha val="43137"/>
                  </a:srgbClr>
                </a:outerShdw>
              </a:effectLst>
            </a:endParaRPr>
          </a:p>
        </p:txBody>
      </p:sp>
      <p:sp>
        <p:nvSpPr>
          <p:cNvPr id="8" name="Content Placeholder 7"/>
          <p:cNvSpPr>
            <a:spLocks noGrp="1"/>
          </p:cNvSpPr>
          <p:nvPr>
            <p:ph idx="1"/>
          </p:nvPr>
        </p:nvSpPr>
        <p:spPr/>
        <p:txBody>
          <a:bodyPr>
            <a:normAutofit/>
          </a:bodyPr>
          <a:lstStyle/>
          <a:p>
            <a:r>
              <a:rPr lang="en-US" sz="4000" b="1" dirty="0"/>
              <a:t>What is Starting </a:t>
            </a:r>
            <a:r>
              <a:rPr lang="en-US" sz="4000" b="1" dirty="0" smtClean="0"/>
              <a:t>Soon…within weeks</a:t>
            </a:r>
            <a:endParaRPr lang="en-US" sz="4000" b="1" dirty="0"/>
          </a:p>
          <a:p>
            <a:endParaRPr lang="en-US" sz="4000" dirty="0"/>
          </a:p>
          <a:p>
            <a:r>
              <a:rPr lang="en-US" sz="4000" b="1" dirty="0" smtClean="0"/>
              <a:t>What has been set in motion</a:t>
            </a:r>
          </a:p>
          <a:p>
            <a:endParaRPr lang="en-US" sz="4000" b="1" dirty="0"/>
          </a:p>
          <a:p>
            <a:r>
              <a:rPr lang="en-US" sz="4000" b="1" dirty="0" smtClean="0"/>
              <a:t>Future Plans</a:t>
            </a:r>
            <a:endParaRPr lang="en-US" sz="4000" dirty="0"/>
          </a:p>
        </p:txBody>
      </p:sp>
    </p:spTree>
    <p:extLst>
      <p:ext uri="{BB962C8B-B14F-4D97-AF65-F5344CB8AC3E}">
        <p14:creationId xmlns:p14="http://schemas.microsoft.com/office/powerpoint/2010/main" val="17582665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a:t>
            </a:r>
            <a:r>
              <a:rPr lang="en-US" b="1" dirty="0" smtClean="0"/>
              <a:t>mproving the College IGR: </a:t>
            </a:r>
            <a:r>
              <a:rPr lang="en-US" b="1" dirty="0" smtClean="0"/>
              <a:t>What is about to commence</a:t>
            </a:r>
            <a:endParaRPr lang="en-US" b="1" dirty="0"/>
          </a:p>
        </p:txBody>
      </p:sp>
      <p:sp>
        <p:nvSpPr>
          <p:cNvPr id="3" name="Content Placeholder 2"/>
          <p:cNvSpPr>
            <a:spLocks noGrp="1"/>
          </p:cNvSpPr>
          <p:nvPr>
            <p:ph idx="1"/>
          </p:nvPr>
        </p:nvSpPr>
        <p:spPr/>
        <p:txBody>
          <a:bodyPr>
            <a:normAutofit fontScale="92500" lnSpcReduction="10000"/>
          </a:bodyPr>
          <a:lstStyle/>
          <a:p>
            <a:r>
              <a:rPr lang="en-US" dirty="0" smtClean="0"/>
              <a:t>At its August 2015 meeting, the College Academic Board raised a Committee to advise it on ways of improving the College IGR.</a:t>
            </a:r>
          </a:p>
          <a:p>
            <a:r>
              <a:rPr lang="en-US" dirty="0" smtClean="0"/>
              <a:t>Their findings are as follows: </a:t>
            </a:r>
          </a:p>
          <a:p>
            <a:r>
              <a:rPr lang="en-US" b="1" dirty="0" smtClean="0">
                <a:solidFill>
                  <a:srgbClr val="FF0000"/>
                </a:solidFill>
              </a:rPr>
              <a:t>INTERNAL SOURCES</a:t>
            </a:r>
          </a:p>
          <a:p>
            <a:pPr marL="0" indent="0">
              <a:buNone/>
            </a:pPr>
            <a:r>
              <a:rPr lang="en-US" b="1" dirty="0" smtClean="0"/>
              <a:t>       Department of Anatomy</a:t>
            </a:r>
          </a:p>
          <a:p>
            <a:pPr marL="1431925" lvl="0" indent="-571500">
              <a:buFont typeface="+mj-lt"/>
              <a:buAutoNum type="romanUcPeriod"/>
            </a:pPr>
            <a:r>
              <a:rPr lang="en-US" dirty="0" smtClean="0"/>
              <a:t> A fully commercialized and self-sustaining a</a:t>
            </a:r>
            <a:r>
              <a:rPr lang="en-US" dirty="0" smtClean="0"/>
              <a:t>mbulance and Embalming services. It is projected that if only 10 bodies are stored per month, N480,000 can generated. The plan is for this to start off by March this year. </a:t>
            </a:r>
          </a:p>
          <a:p>
            <a:pPr marL="1431925" lvl="0" indent="-571500">
              <a:buFont typeface="+mj-lt"/>
              <a:buAutoNum type="romanUcPeriod"/>
            </a:pPr>
            <a:r>
              <a:rPr lang="en-US" dirty="0" smtClean="0"/>
              <a:t>Conduct corona case postmortem in conjunction with the Department of Anatomic Pathology  </a:t>
            </a:r>
          </a:p>
          <a:p>
            <a:endParaRPr lang="en-US" dirty="0"/>
          </a:p>
        </p:txBody>
      </p:sp>
    </p:spTree>
    <p:extLst>
      <p:ext uri="{BB962C8B-B14F-4D97-AF65-F5344CB8AC3E}">
        <p14:creationId xmlns:p14="http://schemas.microsoft.com/office/powerpoint/2010/main" val="6325270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ANIMAL HOUSE</a:t>
            </a:r>
            <a:r>
              <a:rPr lang="en-US" dirty="0" smtClean="0"/>
              <a:t/>
            </a:r>
            <a:br>
              <a:rPr lang="en-US" dirty="0" smtClean="0"/>
            </a:br>
            <a:endParaRPr lang="en-US" dirty="0"/>
          </a:p>
        </p:txBody>
      </p:sp>
      <p:sp>
        <p:nvSpPr>
          <p:cNvPr id="3" name="Content Placeholder 2"/>
          <p:cNvSpPr>
            <a:spLocks noGrp="1"/>
          </p:cNvSpPr>
          <p:nvPr>
            <p:ph idx="1"/>
          </p:nvPr>
        </p:nvSpPr>
        <p:spPr/>
        <p:txBody>
          <a:bodyPr/>
          <a:lstStyle/>
          <a:p>
            <a:r>
              <a:rPr lang="en-US" dirty="0" smtClean="0"/>
              <a:t>The Animal House has made about N120,000 since its inception. </a:t>
            </a:r>
          </a:p>
          <a:p>
            <a:r>
              <a:rPr lang="en-US" dirty="0" smtClean="0"/>
              <a:t>Plans to broaden this include: </a:t>
            </a:r>
          </a:p>
          <a:p>
            <a:pPr marL="1371600" indent="-571500">
              <a:buFont typeface="+mj-lt"/>
              <a:buAutoNum type="romanLcPeriod"/>
            </a:pPr>
            <a:r>
              <a:rPr lang="en-US" dirty="0" smtClean="0"/>
              <a:t> Advertising the animals available at the animal house on the University website and social medial platforms</a:t>
            </a:r>
          </a:p>
          <a:p>
            <a:pPr marL="1371600" indent="-571500">
              <a:buFont typeface="+mj-lt"/>
              <a:buAutoNum type="romanLcPeriod"/>
            </a:pPr>
            <a:r>
              <a:rPr lang="en-US" dirty="0" smtClean="0"/>
              <a:t>Broaden the horizon of the animal house to include other animals</a:t>
            </a:r>
          </a:p>
          <a:p>
            <a:pPr marL="1371600" indent="-571500">
              <a:buFont typeface="+mj-lt"/>
              <a:buAutoNum type="romanLcPeriod"/>
            </a:pPr>
            <a:r>
              <a:rPr lang="en-US" dirty="0" smtClean="0"/>
              <a:t>Our target is to start generating at least N30,000 per month by April this year.</a:t>
            </a:r>
          </a:p>
          <a:p>
            <a:endParaRPr lang="en-US" dirty="0" smtClean="0"/>
          </a:p>
          <a:p>
            <a:endParaRPr lang="en-US" dirty="0"/>
          </a:p>
        </p:txBody>
      </p:sp>
      <p:pic>
        <p:nvPicPr>
          <p:cNvPr id="4" name="Picture 3"/>
          <p:cNvPicPr>
            <a:picLocks noChangeAspect="1"/>
          </p:cNvPicPr>
          <p:nvPr/>
        </p:nvPicPr>
        <p:blipFill rotWithShape="1">
          <a:blip r:embed="rId2"/>
          <a:srcRect r="20578"/>
          <a:stretch/>
        </p:blipFill>
        <p:spPr>
          <a:xfrm>
            <a:off x="5351721" y="5250457"/>
            <a:ext cx="3905693" cy="1533942"/>
          </a:xfrm>
          <a:prstGeom prst="rect">
            <a:avLst/>
          </a:prstGeom>
        </p:spPr>
      </p:pic>
    </p:spTree>
    <p:extLst>
      <p:ext uri="{BB962C8B-B14F-4D97-AF65-F5344CB8AC3E}">
        <p14:creationId xmlns:p14="http://schemas.microsoft.com/office/powerpoint/2010/main" val="20714935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36901"/>
          </a:xfrm>
        </p:spPr>
        <p:txBody>
          <a:bodyPr>
            <a:normAutofit fontScale="90000"/>
          </a:bodyPr>
          <a:lstStyle/>
          <a:p>
            <a:pPr lvl="0"/>
            <a:r>
              <a:rPr lang="en-US" b="1" dirty="0" smtClean="0"/>
              <a:t>CAFETERIA/BUTTERY</a:t>
            </a:r>
            <a:br>
              <a:rPr lang="en-US" b="1" dirty="0" smtClean="0"/>
            </a:br>
            <a:endParaRPr lang="en-US" b="1" dirty="0"/>
          </a:p>
        </p:txBody>
      </p:sp>
      <p:sp>
        <p:nvSpPr>
          <p:cNvPr id="3" name="Content Placeholder 2"/>
          <p:cNvSpPr>
            <a:spLocks noGrp="1"/>
          </p:cNvSpPr>
          <p:nvPr>
            <p:ph idx="1"/>
          </p:nvPr>
        </p:nvSpPr>
        <p:spPr/>
        <p:txBody>
          <a:bodyPr/>
          <a:lstStyle/>
          <a:p>
            <a:r>
              <a:rPr lang="en-US" dirty="0" smtClean="0"/>
              <a:t>A cafeteria has been established in the College, and is being run on a PPP basis.</a:t>
            </a:r>
          </a:p>
          <a:p>
            <a:r>
              <a:rPr lang="en-US" dirty="0" smtClean="0"/>
              <a:t>This will be expanded as the College population increases</a:t>
            </a:r>
          </a:p>
          <a:p>
            <a:pPr marL="0" indent="0">
              <a:buNone/>
            </a:pPr>
            <a:r>
              <a:rPr lang="en-US" dirty="0" smtClean="0"/>
              <a:t/>
            </a:r>
            <a:br>
              <a:rPr lang="en-US" dirty="0" smtClean="0"/>
            </a:br>
            <a:endParaRPr lang="en-US" dirty="0"/>
          </a:p>
        </p:txBody>
      </p:sp>
    </p:spTree>
    <p:extLst>
      <p:ext uri="{BB962C8B-B14F-4D97-AF65-F5344CB8AC3E}">
        <p14:creationId xmlns:p14="http://schemas.microsoft.com/office/powerpoint/2010/main" val="17506314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Improving the College IGR: What has been set in motion</a:t>
            </a:r>
            <a:endParaRPr lang="en-US" dirty="0"/>
          </a:p>
        </p:txBody>
      </p:sp>
      <p:sp>
        <p:nvSpPr>
          <p:cNvPr id="3" name="Content Placeholder 2"/>
          <p:cNvSpPr>
            <a:spLocks noGrp="1"/>
          </p:cNvSpPr>
          <p:nvPr>
            <p:ph idx="1"/>
          </p:nvPr>
        </p:nvSpPr>
        <p:spPr/>
        <p:txBody>
          <a:bodyPr>
            <a:noAutofit/>
          </a:bodyPr>
          <a:lstStyle/>
          <a:p>
            <a:pPr marL="0" indent="0">
              <a:buNone/>
            </a:pPr>
            <a:r>
              <a:rPr lang="en-US" b="1" dirty="0" smtClean="0"/>
              <a:t>1. New Programs</a:t>
            </a:r>
          </a:p>
          <a:p>
            <a:pPr marL="0" indent="0">
              <a:buNone/>
            </a:pPr>
            <a:r>
              <a:rPr lang="en-US" b="1" dirty="0" smtClean="0"/>
              <a:t>	UNDERGRADUATE</a:t>
            </a:r>
          </a:p>
          <a:p>
            <a:pPr marL="1600200" indent="-577850">
              <a:buFont typeface="+mj-lt"/>
              <a:buAutoNum type="romanUcPeriod"/>
            </a:pPr>
            <a:r>
              <a:rPr lang="en-US" dirty="0" smtClean="0"/>
              <a:t>B.N. Sc. Nursing program</a:t>
            </a:r>
          </a:p>
          <a:p>
            <a:pPr marL="1600200" indent="-577850">
              <a:buFont typeface="+mj-lt"/>
              <a:buAutoNum type="romanUcPeriod"/>
            </a:pPr>
            <a:r>
              <a:rPr lang="en-US" dirty="0" smtClean="0"/>
              <a:t>B. Sc. Anatomy </a:t>
            </a:r>
          </a:p>
          <a:p>
            <a:pPr marL="1600200" indent="-577850">
              <a:buFont typeface="+mj-lt"/>
              <a:buAutoNum type="romanUcPeriod"/>
            </a:pPr>
            <a:r>
              <a:rPr lang="en-US" dirty="0" smtClean="0"/>
              <a:t>B. Sc. Physiology</a:t>
            </a:r>
          </a:p>
          <a:p>
            <a:pPr marL="1600200" indent="-577850">
              <a:buFont typeface="+mj-lt"/>
              <a:buAutoNum type="romanUcPeriod"/>
            </a:pPr>
            <a:r>
              <a:rPr lang="en-US" dirty="0" smtClean="0"/>
              <a:t>Diploma in Mortuary Services</a:t>
            </a:r>
          </a:p>
          <a:p>
            <a:pPr marL="1600200" indent="-577850">
              <a:buFont typeface="+mj-lt"/>
              <a:buAutoNum type="romanUcPeriod"/>
            </a:pPr>
            <a:r>
              <a:rPr lang="en-US" dirty="0" smtClean="0"/>
              <a:t>Diploma in Anatomical Services</a:t>
            </a:r>
          </a:p>
          <a:p>
            <a:pPr marL="0" indent="0">
              <a:buNone/>
            </a:pPr>
            <a:r>
              <a:rPr lang="en-US" b="1" dirty="0" smtClean="0"/>
              <a:t>	POST GRADUATE</a:t>
            </a:r>
          </a:p>
          <a:p>
            <a:pPr marL="1719263" indent="-571500">
              <a:buFont typeface="+mj-lt"/>
              <a:buAutoNum type="romanUcPeriod"/>
            </a:pPr>
            <a:r>
              <a:rPr lang="en-US" dirty="0" smtClean="0"/>
              <a:t>Master of Public Health (Regular)</a:t>
            </a:r>
          </a:p>
          <a:p>
            <a:pPr marL="1719263" indent="-571500">
              <a:buFont typeface="+mj-lt"/>
              <a:buAutoNum type="romanUcPeriod"/>
            </a:pPr>
            <a:r>
              <a:rPr lang="en-US" dirty="0" smtClean="0"/>
              <a:t>Master of Public Health (Executive)</a:t>
            </a:r>
          </a:p>
          <a:p>
            <a:pPr marL="0" indent="0">
              <a:buNone/>
            </a:pPr>
            <a:endParaRPr lang="en-US" dirty="0" smtClean="0"/>
          </a:p>
        </p:txBody>
      </p:sp>
    </p:spTree>
    <p:extLst>
      <p:ext uri="{BB962C8B-B14F-4D97-AF65-F5344CB8AC3E}">
        <p14:creationId xmlns:p14="http://schemas.microsoft.com/office/powerpoint/2010/main" val="1909023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Improving the College IGR: What has been commenced</a:t>
            </a:r>
            <a:endParaRPr lang="en-US" dirty="0"/>
          </a:p>
        </p:txBody>
      </p:sp>
      <p:sp>
        <p:nvSpPr>
          <p:cNvPr id="3" name="Content Placeholder 2"/>
          <p:cNvSpPr>
            <a:spLocks noGrp="1"/>
          </p:cNvSpPr>
          <p:nvPr>
            <p:ph idx="1"/>
          </p:nvPr>
        </p:nvSpPr>
        <p:spPr/>
        <p:txBody>
          <a:bodyPr/>
          <a:lstStyle/>
          <a:p>
            <a:pPr marL="0" indent="0">
              <a:buNone/>
            </a:pPr>
            <a:r>
              <a:rPr lang="en-US" b="1" dirty="0" smtClean="0"/>
              <a:t>COLLEGE CONSULTANCY SERVICES</a:t>
            </a:r>
          </a:p>
          <a:p>
            <a:r>
              <a:rPr lang="en-US" dirty="0" smtClean="0"/>
              <a:t> Aimed at harnessing the human &amp; material resources of the College</a:t>
            </a:r>
          </a:p>
          <a:p>
            <a:r>
              <a:rPr lang="en-US" dirty="0"/>
              <a:t> </a:t>
            </a:r>
            <a:r>
              <a:rPr lang="en-US" dirty="0" smtClean="0"/>
              <a:t>A self-sustaining commercial venture</a:t>
            </a:r>
          </a:p>
          <a:p>
            <a:r>
              <a:rPr lang="en-US" dirty="0"/>
              <a:t> </a:t>
            </a:r>
            <a:r>
              <a:rPr lang="en-US" dirty="0" smtClean="0"/>
              <a:t>An advisory committee headed by Prof Oladele P. O , the Dean, Faculty of Management Sciences was setup to advise the College</a:t>
            </a:r>
          </a:p>
          <a:p>
            <a:r>
              <a:rPr lang="en-US" dirty="0" smtClean="0"/>
              <a:t>Report has been submitted and presented at the College Academic Board meeting</a:t>
            </a:r>
            <a:endParaRPr lang="en-US" dirty="0"/>
          </a:p>
          <a:p>
            <a:endParaRPr lang="en-US" dirty="0"/>
          </a:p>
        </p:txBody>
      </p:sp>
    </p:spTree>
    <p:extLst>
      <p:ext uri="{BB962C8B-B14F-4D97-AF65-F5344CB8AC3E}">
        <p14:creationId xmlns:p14="http://schemas.microsoft.com/office/powerpoint/2010/main" val="5003008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Improving the College IGR: What has been set in motion</a:t>
            </a:r>
            <a:endParaRPr lang="en-US" dirty="0"/>
          </a:p>
        </p:txBody>
      </p:sp>
      <p:sp>
        <p:nvSpPr>
          <p:cNvPr id="3" name="Content Placeholder 2"/>
          <p:cNvSpPr>
            <a:spLocks noGrp="1"/>
          </p:cNvSpPr>
          <p:nvPr>
            <p:ph idx="1"/>
          </p:nvPr>
        </p:nvSpPr>
        <p:spPr/>
        <p:txBody>
          <a:bodyPr>
            <a:normAutofit fontScale="92500" lnSpcReduction="10000"/>
          </a:bodyPr>
          <a:lstStyle/>
          <a:p>
            <a:pPr marL="0" indent="0">
              <a:buNone/>
            </a:pPr>
            <a:r>
              <a:rPr lang="en-US" dirty="0" smtClean="0"/>
              <a:t>Committee’s Recommendations: </a:t>
            </a:r>
          </a:p>
          <a:p>
            <a:pPr lvl="0"/>
            <a:r>
              <a:rPr lang="en-US" dirty="0"/>
              <a:t>that the consultancy outfit should be registered with the Corporate Affairs Commission as a Limited Liability Company with the  University as stakeholder.</a:t>
            </a:r>
          </a:p>
          <a:p>
            <a:pPr lvl="0"/>
            <a:r>
              <a:rPr lang="en-US" dirty="0"/>
              <a:t>that a Board and a Management Team should be constituted for the College Consultancy Services</a:t>
            </a:r>
            <a:r>
              <a:rPr lang="en-US" dirty="0" smtClean="0"/>
              <a:t>.</a:t>
            </a:r>
          </a:p>
          <a:p>
            <a:pPr lvl="0"/>
            <a:r>
              <a:rPr lang="en-US" dirty="0"/>
              <a:t>that the College should recruit a business driven person as the Project Manager. The Project Manager will be saddled with the responsibility of driving the business and marketing its services.</a:t>
            </a:r>
          </a:p>
          <a:p>
            <a:pPr lvl="0"/>
            <a:r>
              <a:rPr lang="en-US" dirty="0"/>
              <a:t>that the proposed Management Team suggested above should constitute the implementation Committee</a:t>
            </a:r>
          </a:p>
          <a:p>
            <a:pPr lvl="0"/>
            <a:endParaRPr lang="en-US" dirty="0"/>
          </a:p>
          <a:p>
            <a:pPr marL="0" indent="0">
              <a:buNone/>
            </a:pPr>
            <a:endParaRPr lang="en-US" dirty="0"/>
          </a:p>
        </p:txBody>
      </p:sp>
    </p:spTree>
    <p:extLst>
      <p:ext uri="{BB962C8B-B14F-4D97-AF65-F5344CB8AC3E}">
        <p14:creationId xmlns:p14="http://schemas.microsoft.com/office/powerpoint/2010/main" val="42769635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Improving the College IGR: What has been set in motion</a:t>
            </a:r>
            <a:endParaRPr lang="en-US" dirty="0"/>
          </a:p>
        </p:txBody>
      </p:sp>
      <p:sp>
        <p:nvSpPr>
          <p:cNvPr id="3" name="Content Placeholder 2"/>
          <p:cNvSpPr>
            <a:spLocks noGrp="1"/>
          </p:cNvSpPr>
          <p:nvPr>
            <p:ph idx="1"/>
          </p:nvPr>
        </p:nvSpPr>
        <p:spPr/>
        <p:txBody>
          <a:bodyPr/>
          <a:lstStyle/>
          <a:p>
            <a:pPr lvl="0"/>
            <a:r>
              <a:rPr lang="en-US" dirty="0"/>
              <a:t>that provisions should be made for adequate funding for its take </a:t>
            </a:r>
            <a:r>
              <a:rPr lang="en-US" dirty="0" smtClean="0"/>
              <a:t>off </a:t>
            </a:r>
          </a:p>
          <a:p>
            <a:pPr lvl="0"/>
            <a:r>
              <a:rPr lang="en-US" dirty="0" smtClean="0"/>
              <a:t>that members of the Implementation Committee should be encouraged to visit </a:t>
            </a:r>
            <a:r>
              <a:rPr lang="en-US" dirty="0" err="1" smtClean="0"/>
              <a:t>neighbouring</a:t>
            </a:r>
            <a:r>
              <a:rPr lang="en-US" dirty="0" smtClean="0"/>
              <a:t> institutions who are operating successful Consultancy services such as Obafemi Awolowo University, Ile – Ife, Lagos University Teaching Hospital, </a:t>
            </a:r>
            <a:r>
              <a:rPr lang="en-US" dirty="0" err="1" smtClean="0"/>
              <a:t>Idiaraba</a:t>
            </a:r>
            <a:r>
              <a:rPr lang="en-US" dirty="0" smtClean="0"/>
              <a:t>, Lagos, University Teaching Hospital, Ibadan and Ladoke Akintola University of Technology, </a:t>
            </a:r>
            <a:r>
              <a:rPr lang="en-US" dirty="0" err="1" smtClean="0"/>
              <a:t>Ogbomoso</a:t>
            </a:r>
            <a:r>
              <a:rPr lang="en-US" dirty="0" smtClean="0"/>
              <a:t>.</a:t>
            </a:r>
          </a:p>
          <a:p>
            <a:endParaRPr lang="en-US" dirty="0"/>
          </a:p>
        </p:txBody>
      </p:sp>
    </p:spTree>
    <p:extLst>
      <p:ext uri="{BB962C8B-B14F-4D97-AF65-F5344CB8AC3E}">
        <p14:creationId xmlns:p14="http://schemas.microsoft.com/office/powerpoint/2010/main" val="24490795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b="1" dirty="0" smtClean="0"/>
              <a:t>Improving the College IGR: What has been set in motion</a:t>
            </a:r>
            <a:endParaRPr lang="en-US" dirty="0"/>
          </a:p>
        </p:txBody>
      </p:sp>
      <p:sp>
        <p:nvSpPr>
          <p:cNvPr id="3" name="Content Placeholder 2"/>
          <p:cNvSpPr>
            <a:spLocks noGrp="1"/>
          </p:cNvSpPr>
          <p:nvPr>
            <p:ph idx="1"/>
          </p:nvPr>
        </p:nvSpPr>
        <p:spPr/>
        <p:txBody>
          <a:bodyPr>
            <a:normAutofit lnSpcReduction="10000"/>
          </a:bodyPr>
          <a:lstStyle/>
          <a:p>
            <a:r>
              <a:rPr lang="en-US" sz="3600" b="1" dirty="0" smtClean="0"/>
              <a:t>SEMINARS AND WORKSHOPS for Corporate Entities</a:t>
            </a:r>
          </a:p>
          <a:p>
            <a:r>
              <a:rPr lang="en-US" sz="3600" dirty="0" smtClean="0"/>
              <a:t>The </a:t>
            </a:r>
            <a:r>
              <a:rPr lang="en-US" sz="3600" dirty="0"/>
              <a:t>Faculty could organize workshops/ seminars on preventive life style modifications involving all Departments, and that the seminar should be packaged  in a way to attract the patronage of corporate bodies such as Banks, State and the National Assemblies etc. and also that the Faculty could originate proposals for sale to these corporate bodies.</a:t>
            </a:r>
          </a:p>
          <a:p>
            <a:endParaRPr lang="en-US" dirty="0"/>
          </a:p>
        </p:txBody>
      </p:sp>
    </p:spTree>
    <p:extLst>
      <p:ext uri="{BB962C8B-B14F-4D97-AF65-F5344CB8AC3E}">
        <p14:creationId xmlns:p14="http://schemas.microsoft.com/office/powerpoint/2010/main" val="29133471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b="1" dirty="0" smtClean="0"/>
              <a:t>Improving the College IGR: What has been set in motion</a:t>
            </a:r>
            <a:endParaRPr lang="en-US" dirty="0"/>
          </a:p>
        </p:txBody>
      </p:sp>
      <p:sp>
        <p:nvSpPr>
          <p:cNvPr id="3" name="Content Placeholder 2"/>
          <p:cNvSpPr>
            <a:spLocks noGrp="1"/>
          </p:cNvSpPr>
          <p:nvPr>
            <p:ph idx="1"/>
          </p:nvPr>
        </p:nvSpPr>
        <p:spPr/>
        <p:txBody>
          <a:bodyPr>
            <a:normAutofit/>
          </a:bodyPr>
          <a:lstStyle/>
          <a:p>
            <a:pPr marL="0" indent="0">
              <a:buNone/>
            </a:pPr>
            <a:r>
              <a:rPr lang="en-US" sz="3600" b="1" dirty="0" smtClean="0"/>
              <a:t>DIASPORA FUND RAISING</a:t>
            </a:r>
          </a:p>
          <a:p>
            <a:r>
              <a:rPr lang="en-US" sz="3600" dirty="0" smtClean="0"/>
              <a:t>To raise funding through Ekiti indigene in diaspora</a:t>
            </a:r>
          </a:p>
          <a:p>
            <a:r>
              <a:rPr lang="en-US" sz="3600" dirty="0" smtClean="0"/>
              <a:t>Has been set in motion with the active participation of the Chairman of the Council and some other Council members</a:t>
            </a:r>
            <a:endParaRPr lang="en-US" sz="3600" dirty="0"/>
          </a:p>
          <a:p>
            <a:endParaRPr lang="en-US" dirty="0"/>
          </a:p>
        </p:txBody>
      </p:sp>
    </p:spTree>
    <p:extLst>
      <p:ext uri="{BB962C8B-B14F-4D97-AF65-F5344CB8AC3E}">
        <p14:creationId xmlns:p14="http://schemas.microsoft.com/office/powerpoint/2010/main" val="19946204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Improving the College IGR: What has been set in motion</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pPr marL="0" lvl="0" indent="0">
              <a:buNone/>
            </a:pPr>
            <a:r>
              <a:rPr lang="en-US" b="1" dirty="0" smtClean="0"/>
              <a:t>COLLABORATION BETWEEN COLLEGE OF MEDICINE AND FACULTY OF MANAGEMENT SCIENCES</a:t>
            </a:r>
          </a:p>
          <a:p>
            <a:pPr lvl="0"/>
            <a:r>
              <a:rPr lang="en-US" dirty="0" smtClean="0"/>
              <a:t> This is to run a Postgraduate </a:t>
            </a:r>
            <a:r>
              <a:rPr lang="en-US" dirty="0"/>
              <a:t>Diploma course in Hospital and Health Services Management </a:t>
            </a:r>
            <a:endParaRPr lang="en-US" dirty="0" smtClean="0"/>
          </a:p>
          <a:p>
            <a:pPr lvl="0"/>
            <a:r>
              <a:rPr lang="en-US" dirty="0" smtClean="0"/>
              <a:t>Master </a:t>
            </a:r>
            <a:r>
              <a:rPr lang="en-US" dirty="0"/>
              <a:t>of Business Administration in the same </a:t>
            </a:r>
            <a:r>
              <a:rPr lang="en-US" dirty="0" smtClean="0"/>
              <a:t>field</a:t>
            </a:r>
          </a:p>
          <a:p>
            <a:pPr lvl="0"/>
            <a:r>
              <a:rPr lang="en-US" dirty="0" smtClean="0"/>
              <a:t>Target clients include health </a:t>
            </a:r>
            <a:r>
              <a:rPr lang="en-US" dirty="0"/>
              <a:t>workers e.g. Consultants, Medical Officers, Nurses, Community Health Officers and Health Information Managers etc.</a:t>
            </a:r>
            <a:endParaRPr lang="en-US" sz="2800" dirty="0"/>
          </a:p>
        </p:txBody>
      </p:sp>
    </p:spTree>
    <p:extLst>
      <p:ext uri="{BB962C8B-B14F-4D97-AF65-F5344CB8AC3E}">
        <p14:creationId xmlns:p14="http://schemas.microsoft.com/office/powerpoint/2010/main" val="1933314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Improving the College IGR: Future Plans</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pPr marL="0" indent="0">
              <a:buNone/>
            </a:pPr>
            <a:r>
              <a:rPr lang="en-US" b="1" dirty="0" smtClean="0"/>
              <a:t>TELEMEDICINE</a:t>
            </a:r>
          </a:p>
          <a:p>
            <a:pPr marL="971550" lvl="1" indent="-514350">
              <a:buFont typeface="+mj-lt"/>
              <a:buAutoNum type="romanUcPeriod"/>
            </a:pPr>
            <a:r>
              <a:rPr lang="en-US" dirty="0" smtClean="0"/>
              <a:t>Mobile </a:t>
            </a:r>
            <a:r>
              <a:rPr lang="en-US" dirty="0"/>
              <a:t>telemedicine which includes teleconsultation, </a:t>
            </a:r>
            <a:r>
              <a:rPr lang="en-US" dirty="0" err="1"/>
              <a:t>telediagnosis</a:t>
            </a:r>
            <a:r>
              <a:rPr lang="en-US" dirty="0"/>
              <a:t>, </a:t>
            </a:r>
            <a:r>
              <a:rPr lang="en-US" dirty="0" err="1"/>
              <a:t>teleeducation</a:t>
            </a:r>
            <a:r>
              <a:rPr lang="en-US" dirty="0"/>
              <a:t>, </a:t>
            </a:r>
            <a:r>
              <a:rPr lang="en-US" dirty="0" err="1"/>
              <a:t>telementoring</a:t>
            </a:r>
            <a:r>
              <a:rPr lang="en-US" dirty="0"/>
              <a:t> and </a:t>
            </a:r>
            <a:r>
              <a:rPr lang="en-US" dirty="0" err="1"/>
              <a:t>telemonitoring</a:t>
            </a:r>
            <a:r>
              <a:rPr lang="en-US" dirty="0"/>
              <a:t>. This can be through </a:t>
            </a:r>
            <a:r>
              <a:rPr lang="en-US" dirty="0" err="1"/>
              <a:t>sms</a:t>
            </a:r>
            <a:r>
              <a:rPr lang="en-US" dirty="0"/>
              <a:t> and mms.</a:t>
            </a:r>
            <a:endParaRPr lang="en-US" sz="2000" dirty="0"/>
          </a:p>
          <a:p>
            <a:pPr marL="971550" lvl="1" indent="-514350">
              <a:buFont typeface="+mj-lt"/>
              <a:buAutoNum type="romanUcPeriod"/>
            </a:pPr>
            <a:r>
              <a:rPr lang="en-US" dirty="0"/>
              <a:t>Online telemedicine deployed through the internet on the University website and users can subscribe to it.</a:t>
            </a:r>
            <a:endParaRPr lang="en-US" sz="2000" dirty="0"/>
          </a:p>
          <a:p>
            <a:endParaRPr lang="en-US" dirty="0"/>
          </a:p>
        </p:txBody>
      </p:sp>
    </p:spTree>
    <p:extLst>
      <p:ext uri="{BB962C8B-B14F-4D97-AF65-F5344CB8AC3E}">
        <p14:creationId xmlns:p14="http://schemas.microsoft.com/office/powerpoint/2010/main" val="23934118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Improving the College IGR: Future Plans</a:t>
            </a:r>
            <a:endParaRPr lang="en-US" dirty="0"/>
          </a:p>
        </p:txBody>
      </p:sp>
      <p:sp>
        <p:nvSpPr>
          <p:cNvPr id="3" name="Content Placeholder 2"/>
          <p:cNvSpPr>
            <a:spLocks noGrp="1"/>
          </p:cNvSpPr>
          <p:nvPr>
            <p:ph idx="1"/>
          </p:nvPr>
        </p:nvSpPr>
        <p:spPr/>
        <p:txBody>
          <a:bodyPr>
            <a:normAutofit/>
          </a:bodyPr>
          <a:lstStyle/>
          <a:p>
            <a:pPr marL="0" lvl="0" indent="0">
              <a:buNone/>
            </a:pPr>
            <a:r>
              <a:rPr lang="en-US" b="1" dirty="0" smtClean="0"/>
              <a:t>COLLABORATION WITH THE TEACHING HOSPITAL. </a:t>
            </a:r>
            <a:endParaRPr lang="en-US" dirty="0" smtClean="0"/>
          </a:p>
          <a:p>
            <a:r>
              <a:rPr lang="en-US" dirty="0" smtClean="0"/>
              <a:t>The </a:t>
            </a:r>
            <a:r>
              <a:rPr lang="en-US" dirty="0"/>
              <a:t>Teaching Hospital is the laboratory of the College. As such, both institutions need to explore areas where they can jointly deploy their joint expertise to improve their IGR. These areas include, but are not limited to:</a:t>
            </a:r>
          </a:p>
          <a:p>
            <a:pPr lvl="2"/>
            <a:r>
              <a:rPr lang="en-US" sz="2800" dirty="0"/>
              <a:t>Telemedicine</a:t>
            </a:r>
          </a:p>
          <a:p>
            <a:pPr lvl="2"/>
            <a:r>
              <a:rPr lang="en-US" sz="2800" dirty="0"/>
              <a:t>Public Health Monitoring</a:t>
            </a:r>
          </a:p>
          <a:p>
            <a:pPr lvl="2"/>
            <a:r>
              <a:rPr lang="en-US" sz="2800" dirty="0"/>
              <a:t>Health Education</a:t>
            </a:r>
          </a:p>
        </p:txBody>
      </p:sp>
    </p:spTree>
    <p:extLst>
      <p:ext uri="{BB962C8B-B14F-4D97-AF65-F5344CB8AC3E}">
        <p14:creationId xmlns:p14="http://schemas.microsoft.com/office/powerpoint/2010/main" val="14048875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Improving the College IGR: Future Plans</a:t>
            </a:r>
            <a:endParaRPr lang="en-US" dirty="0"/>
          </a:p>
        </p:txBody>
      </p:sp>
      <p:sp>
        <p:nvSpPr>
          <p:cNvPr id="3" name="Content Placeholder 2"/>
          <p:cNvSpPr>
            <a:spLocks noGrp="1"/>
          </p:cNvSpPr>
          <p:nvPr>
            <p:ph idx="1"/>
          </p:nvPr>
        </p:nvSpPr>
        <p:spPr/>
        <p:txBody>
          <a:bodyPr>
            <a:normAutofit/>
          </a:bodyPr>
          <a:lstStyle/>
          <a:p>
            <a:pPr lvl="0"/>
            <a:r>
              <a:rPr lang="en-US" b="1" dirty="0" smtClean="0"/>
              <a:t>FRIENDS OF THE COLLEGE</a:t>
            </a:r>
            <a:r>
              <a:rPr lang="en-US" dirty="0" smtClean="0"/>
              <a:t>: </a:t>
            </a:r>
            <a:br>
              <a:rPr lang="en-US" dirty="0" smtClean="0"/>
            </a:br>
            <a:r>
              <a:rPr lang="en-US" dirty="0" smtClean="0"/>
              <a:t>Expansion </a:t>
            </a:r>
            <a:r>
              <a:rPr lang="en-US" dirty="0"/>
              <a:t>of names of friends of the College to include non-partisan, reputable people from Ekiti State and beyond. E.g. </a:t>
            </a:r>
          </a:p>
          <a:p>
            <a:pPr marL="1033463" lvl="0"/>
            <a:r>
              <a:rPr lang="en-US" dirty="0"/>
              <a:t>Chief Ade </a:t>
            </a:r>
            <a:r>
              <a:rPr lang="en-US" dirty="0" err="1"/>
              <a:t>Ojo</a:t>
            </a:r>
            <a:r>
              <a:rPr lang="en-US" dirty="0"/>
              <a:t> of </a:t>
            </a:r>
            <a:r>
              <a:rPr lang="en-US" dirty="0" err="1"/>
              <a:t>Elizade</a:t>
            </a:r>
            <a:r>
              <a:rPr lang="en-US" dirty="0"/>
              <a:t> group of Company </a:t>
            </a:r>
          </a:p>
          <a:p>
            <a:pPr marL="1033463" lvl="0"/>
            <a:r>
              <a:rPr lang="en-US" dirty="0"/>
              <a:t>Chief </a:t>
            </a:r>
            <a:r>
              <a:rPr lang="en-US" dirty="0" err="1"/>
              <a:t>Jimoh</a:t>
            </a:r>
            <a:r>
              <a:rPr lang="en-US" dirty="0"/>
              <a:t> Ibrahim of Global Fleet Group of Companies</a:t>
            </a:r>
          </a:p>
          <a:p>
            <a:pPr marL="1033463"/>
            <a:r>
              <a:rPr lang="en-US" dirty="0"/>
              <a:t>Sir (</a:t>
            </a:r>
            <a:r>
              <a:rPr lang="en-US" dirty="0" err="1"/>
              <a:t>Engr</a:t>
            </a:r>
            <a:r>
              <a:rPr lang="en-US" dirty="0"/>
              <a:t>) </a:t>
            </a:r>
            <a:r>
              <a:rPr lang="en-US" dirty="0" err="1"/>
              <a:t>Oyedeji</a:t>
            </a:r>
            <a:r>
              <a:rPr lang="en-US" dirty="0"/>
              <a:t> </a:t>
            </a:r>
            <a:r>
              <a:rPr lang="en-US" dirty="0" err="1"/>
              <a:t>Olajubu</a:t>
            </a:r>
            <a:r>
              <a:rPr lang="en-US" dirty="0"/>
              <a:t>, Managing Director Three </a:t>
            </a:r>
            <a:r>
              <a:rPr lang="en-US" dirty="0" err="1"/>
              <a:t>Os</a:t>
            </a:r>
            <a:r>
              <a:rPr lang="en-US" dirty="0"/>
              <a:t> Construction Company Nig. Ltd.</a:t>
            </a:r>
            <a:endParaRPr lang="en-US" sz="2800" dirty="0"/>
          </a:p>
        </p:txBody>
      </p:sp>
    </p:spTree>
    <p:extLst>
      <p:ext uri="{BB962C8B-B14F-4D97-AF65-F5344CB8AC3E}">
        <p14:creationId xmlns:p14="http://schemas.microsoft.com/office/powerpoint/2010/main" val="40421783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Improving the College IGR: Future Plans</a:t>
            </a:r>
            <a:endParaRPr lang="en-US" dirty="0"/>
          </a:p>
        </p:txBody>
      </p:sp>
      <p:sp>
        <p:nvSpPr>
          <p:cNvPr id="3" name="Content Placeholder 2"/>
          <p:cNvSpPr>
            <a:spLocks noGrp="1"/>
          </p:cNvSpPr>
          <p:nvPr>
            <p:ph idx="1"/>
          </p:nvPr>
        </p:nvSpPr>
        <p:spPr/>
        <p:txBody>
          <a:bodyPr>
            <a:normAutofit/>
          </a:bodyPr>
          <a:lstStyle/>
          <a:p>
            <a:pPr lvl="0"/>
            <a:r>
              <a:rPr lang="en-US" b="1" dirty="0" smtClean="0"/>
              <a:t>COLLEGE FUND RAISING DINNER</a:t>
            </a:r>
            <a:r>
              <a:rPr lang="en-US" dirty="0" smtClean="0"/>
              <a:t>: </a:t>
            </a:r>
            <a:br>
              <a:rPr lang="en-US" dirty="0" smtClean="0"/>
            </a:br>
            <a:r>
              <a:rPr lang="en-US" dirty="0" smtClean="0"/>
              <a:t>This has been discussed with the Chairman of the Council.</a:t>
            </a:r>
          </a:p>
          <a:p>
            <a:pPr lvl="0"/>
            <a:r>
              <a:rPr lang="en-US" dirty="0" smtClean="0"/>
              <a:t>Participants will be eminent personalities from within and without Ekiti</a:t>
            </a:r>
            <a:endParaRPr lang="en-US" sz="2800" dirty="0"/>
          </a:p>
        </p:txBody>
      </p:sp>
    </p:spTree>
    <p:extLst>
      <p:ext uri="{BB962C8B-B14F-4D97-AF65-F5344CB8AC3E}">
        <p14:creationId xmlns:p14="http://schemas.microsoft.com/office/powerpoint/2010/main" val="17633869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396949" y="192917"/>
            <a:ext cx="11625241" cy="5640241"/>
          </a:xfrm>
          <a:prstGeom prst="rect">
            <a:avLst/>
          </a:prstGeom>
        </p:spPr>
      </p:pic>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1922721" y="4546987"/>
            <a:ext cx="6597502" cy="1286171"/>
          </a:xfrm>
        </p:spPr>
        <p:style>
          <a:lnRef idx="2">
            <a:schemeClr val="accent4"/>
          </a:lnRef>
          <a:fillRef idx="1">
            <a:schemeClr val="lt1"/>
          </a:fillRef>
          <a:effectRef idx="0">
            <a:schemeClr val="accent4"/>
          </a:effectRef>
          <a:fontRef idx="minor">
            <a:schemeClr val="dk1"/>
          </a:fontRef>
        </p:style>
        <p:txBody>
          <a:bodyPr>
            <a:normAutofit fontScale="92500" lnSpcReduction="10000"/>
          </a:bodyPr>
          <a:lstStyle/>
          <a:p>
            <a:pPr marL="0" indent="0">
              <a:buNone/>
            </a:pPr>
            <a:r>
              <a:rPr lang="en-US" sz="9600" dirty="0" smtClean="0"/>
              <a:t>THANK YOU</a:t>
            </a:r>
            <a:endParaRPr lang="en-US" sz="9600" dirty="0"/>
          </a:p>
        </p:txBody>
      </p:sp>
    </p:spTree>
    <p:extLst>
      <p:ext uri="{BB962C8B-B14F-4D97-AF65-F5344CB8AC3E}">
        <p14:creationId xmlns:p14="http://schemas.microsoft.com/office/powerpoint/2010/main" val="5360622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1124</TotalTime>
  <Words>1125</Words>
  <Application>Microsoft Office PowerPoint</Application>
  <PresentationFormat>Widescreen</PresentationFormat>
  <Paragraphs>143</Paragraphs>
  <Slides>25</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Calibri Light</vt:lpstr>
      <vt:lpstr>Office Theme</vt:lpstr>
      <vt:lpstr>REVIEW OF  EXISTING IGR DRIVES, THEIR IMPACT ON THE UNIVERSITY ANDPANS TO PROPEL EKSU IGR INITIATIVES: POSITION OF THE COLLEGE OF MEDICINE</vt:lpstr>
      <vt:lpstr>Introduction</vt:lpstr>
      <vt:lpstr>College of Medicine: A Brief SWOT Analysis</vt:lpstr>
      <vt:lpstr>College of Medicine: A Brief SWOT Analysis</vt:lpstr>
      <vt:lpstr>College of Medicine: A Brief SWOT Analysis</vt:lpstr>
      <vt:lpstr>College of Medicine: A Brief SWOT Analysis</vt:lpstr>
      <vt:lpstr>Improving the IGR Drive in the College</vt:lpstr>
      <vt:lpstr>Improving the IGR Drive in the College</vt:lpstr>
      <vt:lpstr>WHAT IS IMPORTANT…..</vt:lpstr>
      <vt:lpstr>OVERVIEW of College’s IGR Drive</vt:lpstr>
      <vt:lpstr>Improving the College IGR: What is about to commence</vt:lpstr>
      <vt:lpstr>ANIMAL HOUSE </vt:lpstr>
      <vt:lpstr>CAFETERIA/BUTTERY </vt:lpstr>
      <vt:lpstr>Improving the College IGR: What has been set in motion</vt:lpstr>
      <vt:lpstr>Improving the College IGR: What has been commenced</vt:lpstr>
      <vt:lpstr>Improving the College IGR: What has been set in motion</vt:lpstr>
      <vt:lpstr>Improving the College IGR: What has been set in motion</vt:lpstr>
      <vt:lpstr>Improving the College IGR: What has been set in motion</vt:lpstr>
      <vt:lpstr>Improving the College IGR: What has been set in motion</vt:lpstr>
      <vt:lpstr>Improving the College IGR: What has been set in motion</vt:lpstr>
      <vt:lpstr>Improving the College IGR: Future Plans</vt:lpstr>
      <vt:lpstr>Improving the College IGR: Future Plans</vt:lpstr>
      <vt:lpstr>Improving the College IGR: Future Plans</vt:lpstr>
      <vt:lpstr>Improving the College IGR: Future Plans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Kehinde Oluwadiya</dc:creator>
  <cp:lastModifiedBy>Kehinde Oluwadiya</cp:lastModifiedBy>
  <cp:revision>26</cp:revision>
  <dcterms:created xsi:type="dcterms:W3CDTF">2016-01-26T14:29:27Z</dcterms:created>
  <dcterms:modified xsi:type="dcterms:W3CDTF">2016-01-27T09:13:50Z</dcterms:modified>
</cp:coreProperties>
</file>