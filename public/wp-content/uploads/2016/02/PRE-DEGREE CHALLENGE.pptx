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59" r:id="rId4"/>
    <p:sldId id="260" r:id="rId5"/>
    <p:sldId id="273" r:id="rId6"/>
    <p:sldId id="261" r:id="rId7"/>
    <p:sldId id="262" r:id="rId8"/>
    <p:sldId id="263" r:id="rId9"/>
    <p:sldId id="274" r:id="rId10"/>
    <p:sldId id="275" r:id="rId11"/>
    <p:sldId id="279" r:id="rId12"/>
    <p:sldId id="276" r:id="rId13"/>
    <p:sldId id="277" r:id="rId14"/>
    <p:sldId id="278" r:id="rId15"/>
    <p:sldId id="280" r:id="rId16"/>
    <p:sldId id="281" r:id="rId17"/>
    <p:sldId id="264" r:id="rId18"/>
    <p:sldId id="265" r:id="rId19"/>
    <p:sldId id="266" r:id="rId20"/>
    <p:sldId id="267" r:id="rId21"/>
    <p:sldId id="269" r:id="rId22"/>
    <p:sldId id="270" r:id="rId23"/>
    <p:sldId id="271" r:id="rId24"/>
    <p:sldId id="282" r:id="rId25"/>
    <p:sldId id="283" r:id="rId26"/>
    <p:sldId id="272" r:id="rId27"/>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A7E05E56-62C1-44FA-A56B-6AF1B1CBA25C}" type="datetimeFigureOut">
              <a:rPr lang="en-GB" smtClean="0"/>
              <a:t>03/02/2016</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DD9AF68D-C5A4-4366-B10D-4E1BB97E2095}" type="slidenum">
              <a:rPr lang="en-GB" smtClean="0"/>
              <a:t>‹#›</a:t>
            </a:fld>
            <a:endParaRPr lang="en-GB"/>
          </a:p>
        </p:txBody>
      </p:sp>
    </p:spTree>
    <p:extLst>
      <p:ext uri="{BB962C8B-B14F-4D97-AF65-F5344CB8AC3E}">
        <p14:creationId xmlns:p14="http://schemas.microsoft.com/office/powerpoint/2010/main" val="1685808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	</a:t>
            </a:r>
            <a:endParaRPr lang="en-GB" dirty="0"/>
          </a:p>
        </p:txBody>
      </p:sp>
      <p:sp>
        <p:nvSpPr>
          <p:cNvPr id="4" name="Slide Number Placeholder 3"/>
          <p:cNvSpPr>
            <a:spLocks noGrp="1"/>
          </p:cNvSpPr>
          <p:nvPr>
            <p:ph type="sldNum" sz="quarter" idx="10"/>
          </p:nvPr>
        </p:nvSpPr>
        <p:spPr/>
        <p:txBody>
          <a:bodyPr/>
          <a:lstStyle/>
          <a:p>
            <a:fld id="{D3763CFE-3507-4905-9424-7BAB1842ABBA}" type="slidenum">
              <a:rPr lang="en-GB" smtClean="0"/>
              <a:t>1</a:t>
            </a:fld>
            <a:endParaRPr lang="en-GB"/>
          </a:p>
        </p:txBody>
      </p:sp>
    </p:spTree>
    <p:extLst>
      <p:ext uri="{BB962C8B-B14F-4D97-AF65-F5344CB8AC3E}">
        <p14:creationId xmlns:p14="http://schemas.microsoft.com/office/powerpoint/2010/main" val="1282950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763CFE-3507-4905-9424-7BAB1842ABBA}" type="slidenum">
              <a:rPr lang="en-GB" smtClean="0"/>
              <a:t>2</a:t>
            </a:fld>
            <a:endParaRPr lang="en-GB"/>
          </a:p>
        </p:txBody>
      </p:sp>
    </p:spTree>
    <p:extLst>
      <p:ext uri="{BB962C8B-B14F-4D97-AF65-F5344CB8AC3E}">
        <p14:creationId xmlns:p14="http://schemas.microsoft.com/office/powerpoint/2010/main" val="4077299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smtClean="0"/>
          </a:p>
          <a:p>
            <a:endParaRPr lang="en-GB" dirty="0" smtClean="0"/>
          </a:p>
          <a:p>
            <a:r>
              <a:rPr lang="en-GB" dirty="0" smtClean="0"/>
              <a:t> </a:t>
            </a:r>
            <a:endParaRPr lang="en-GB" dirty="0"/>
          </a:p>
        </p:txBody>
      </p:sp>
      <p:sp>
        <p:nvSpPr>
          <p:cNvPr id="4" name="Slide Number Placeholder 3"/>
          <p:cNvSpPr>
            <a:spLocks noGrp="1"/>
          </p:cNvSpPr>
          <p:nvPr>
            <p:ph type="sldNum" sz="quarter" idx="10"/>
          </p:nvPr>
        </p:nvSpPr>
        <p:spPr/>
        <p:txBody>
          <a:bodyPr/>
          <a:lstStyle/>
          <a:p>
            <a:fld id="{D3763CFE-3507-4905-9424-7BAB1842ABBA}" type="slidenum">
              <a:rPr lang="en-GB" smtClean="0"/>
              <a:t>18</a:t>
            </a:fld>
            <a:endParaRPr lang="en-GB"/>
          </a:p>
        </p:txBody>
      </p:sp>
    </p:spTree>
    <p:extLst>
      <p:ext uri="{BB962C8B-B14F-4D97-AF65-F5344CB8AC3E}">
        <p14:creationId xmlns:p14="http://schemas.microsoft.com/office/powerpoint/2010/main" val="3240696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a:t>
            </a:r>
            <a:endParaRPr lang="en-GB" dirty="0"/>
          </a:p>
        </p:txBody>
      </p:sp>
      <p:sp>
        <p:nvSpPr>
          <p:cNvPr id="4" name="Slide Number Placeholder 3"/>
          <p:cNvSpPr>
            <a:spLocks noGrp="1"/>
          </p:cNvSpPr>
          <p:nvPr>
            <p:ph type="sldNum" sz="quarter" idx="10"/>
          </p:nvPr>
        </p:nvSpPr>
        <p:spPr/>
        <p:txBody>
          <a:bodyPr/>
          <a:lstStyle/>
          <a:p>
            <a:fld id="{D3763CFE-3507-4905-9424-7BAB1842ABBA}" type="slidenum">
              <a:rPr lang="en-GB" smtClean="0"/>
              <a:t>21</a:t>
            </a:fld>
            <a:endParaRPr lang="en-GB"/>
          </a:p>
        </p:txBody>
      </p:sp>
    </p:spTree>
    <p:extLst>
      <p:ext uri="{BB962C8B-B14F-4D97-AF65-F5344CB8AC3E}">
        <p14:creationId xmlns:p14="http://schemas.microsoft.com/office/powerpoint/2010/main" val="303135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1C3AC8E-6D33-4471-9C02-A07EEE356883}" type="datetimeFigureOut">
              <a:rPr lang="en-GB" smtClean="0"/>
              <a:t>03/02/2016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2233598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1C3AC8E-6D33-4471-9C02-A07EEE356883}" type="datetimeFigureOut">
              <a:rPr lang="en-GB" smtClean="0"/>
              <a:t>03/02/2016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2816940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C3AC8E-6D33-4471-9C02-A07EEE356883}" type="datetimeFigureOut">
              <a:rPr lang="en-GB" smtClean="0"/>
              <a:t>03/02/2016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2772404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1C3AC8E-6D33-4471-9C02-A07EEE356883}" type="datetimeFigureOut">
              <a:rPr lang="en-GB" smtClean="0"/>
              <a:t>03/02/2016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3737313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1C3AC8E-6D33-4471-9C02-A07EEE356883}" type="datetimeFigureOut">
              <a:rPr lang="en-GB" smtClean="0"/>
              <a:t>03/02/2016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332663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1C3AC8E-6D33-4471-9C02-A07EEE356883}" type="datetimeFigureOut">
              <a:rPr lang="en-GB" smtClean="0"/>
              <a:t>03/02/2016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406751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C3AC8E-6D33-4471-9C02-A07EEE356883}" type="datetimeFigureOut">
              <a:rPr lang="en-GB" smtClean="0"/>
              <a:t>03/02/2016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3817638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C3AC8E-6D33-4471-9C02-A07EEE356883}" type="datetimeFigureOut">
              <a:rPr lang="en-GB" smtClean="0"/>
              <a:t>03/02/2016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373298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C3AC8E-6D33-4471-9C02-A07EEE356883}" type="datetimeFigureOut">
              <a:rPr lang="en-GB" smtClean="0"/>
              <a:t>03/02/2016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3979100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1C3AC8E-6D33-4471-9C02-A07EEE356883}" type="datetimeFigureOut">
              <a:rPr lang="en-GB" smtClean="0"/>
              <a:t>03/02/2016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1890997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1C3AC8E-6D33-4471-9C02-A07EEE356883}" type="datetimeFigureOut">
              <a:rPr lang="en-GB" smtClean="0"/>
              <a:t>03/02/2016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0BF6D9-07A2-4031-A6F0-FE20EC22FF05}" type="slidenum">
              <a:rPr lang="en-GB" smtClean="0"/>
              <a:t>‹#›</a:t>
            </a:fld>
            <a:endParaRPr lang="en-GB"/>
          </a:p>
        </p:txBody>
      </p:sp>
    </p:spTree>
    <p:extLst>
      <p:ext uri="{BB962C8B-B14F-4D97-AF65-F5344CB8AC3E}">
        <p14:creationId xmlns:p14="http://schemas.microsoft.com/office/powerpoint/2010/main" val="1792747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C3AC8E-6D33-4471-9C02-A07EEE356883}" type="datetimeFigureOut">
              <a:rPr lang="en-GB" smtClean="0"/>
              <a:t>03/02/2016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0BF6D9-07A2-4031-A6F0-FE20EC22FF05}" type="slidenum">
              <a:rPr lang="en-GB" smtClean="0"/>
              <a:t>‹#›</a:t>
            </a:fld>
            <a:endParaRPr lang="en-GB"/>
          </a:p>
        </p:txBody>
      </p:sp>
    </p:spTree>
    <p:extLst>
      <p:ext uri="{BB962C8B-B14F-4D97-AF65-F5344CB8AC3E}">
        <p14:creationId xmlns:p14="http://schemas.microsoft.com/office/powerpoint/2010/main" val="2625268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smtClean="0"/>
              <a:t/>
            </a:r>
            <a:br>
              <a:rPr lang="en-GB" dirty="0" smtClean="0"/>
            </a:br>
            <a:r>
              <a:rPr lang="en-GB" dirty="0"/>
              <a:t/>
            </a:r>
            <a:br>
              <a:rPr lang="en-GB" dirty="0"/>
            </a:br>
            <a:r>
              <a:rPr lang="en-GB" dirty="0" smtClean="0"/>
              <a:t/>
            </a:r>
            <a:br>
              <a:rPr lang="en-GB" dirty="0" smtClean="0"/>
            </a:br>
            <a:r>
              <a:rPr lang="en-GB" dirty="0" smtClean="0"/>
              <a:t/>
            </a:r>
            <a:br>
              <a:rPr lang="en-GB" dirty="0" smtClean="0"/>
            </a:br>
            <a:r>
              <a:rPr lang="en-GB" dirty="0"/>
              <a:t/>
            </a:r>
            <a:br>
              <a:rPr lang="en-GB" dirty="0"/>
            </a:br>
            <a:r>
              <a:rPr lang="en-GB" sz="3600" b="1" dirty="0" smtClean="0"/>
              <a:t>“Position on Academic Programmes Viability, Accommodation, Classroom, Accreditation, Examination, Result Processing, Challenges and way forward to Propel EKSU to </a:t>
            </a:r>
            <a:r>
              <a:rPr lang="en-GB" sz="3600" b="1" dirty="0" smtClean="0"/>
              <a:t>World </a:t>
            </a:r>
            <a:r>
              <a:rPr lang="en-GB" sz="3600" b="1" dirty="0"/>
              <a:t>C</a:t>
            </a:r>
            <a:r>
              <a:rPr lang="en-GB" sz="3600" b="1" dirty="0" smtClean="0"/>
              <a:t>lass </a:t>
            </a:r>
            <a:r>
              <a:rPr lang="en-GB" sz="3600" b="1" dirty="0" smtClean="0"/>
              <a:t>University”</a:t>
            </a:r>
            <a:br>
              <a:rPr lang="en-GB" sz="3600" b="1" dirty="0" smtClean="0"/>
            </a:br>
            <a:r>
              <a:rPr lang="en-GB" sz="3600" b="1" dirty="0" smtClean="0"/>
              <a:t/>
            </a:r>
            <a:br>
              <a:rPr lang="en-GB" sz="3600" b="1" dirty="0" smtClean="0"/>
            </a:br>
            <a:r>
              <a:rPr lang="en-GB" sz="3100" b="1" dirty="0" smtClean="0"/>
              <a:t>A Paper Presented by</a:t>
            </a:r>
            <a:br>
              <a:rPr lang="en-GB" sz="3100" b="1" dirty="0" smtClean="0"/>
            </a:br>
            <a:r>
              <a:rPr lang="en-GB" sz="3100" b="1" dirty="0"/>
              <a:t/>
            </a:r>
            <a:br>
              <a:rPr lang="en-GB" sz="3100" b="1" dirty="0"/>
            </a:br>
            <a:r>
              <a:rPr lang="en-GB" sz="2700" b="1" dirty="0" err="1" smtClean="0"/>
              <a:t>Prof.</a:t>
            </a:r>
            <a:r>
              <a:rPr lang="en-GB" sz="2700" b="1" dirty="0" smtClean="0"/>
              <a:t> E. </a:t>
            </a:r>
            <a:r>
              <a:rPr lang="en-GB" sz="2700" b="1" dirty="0"/>
              <a:t>B</a:t>
            </a:r>
            <a:r>
              <a:rPr lang="en-GB" sz="2700" b="1" dirty="0" smtClean="0"/>
              <a:t>. </a:t>
            </a:r>
            <a:r>
              <a:rPr lang="en-GB" sz="2700" b="1" dirty="0" err="1" smtClean="0"/>
              <a:t>Kolawole</a:t>
            </a:r>
            <a:r>
              <a:rPr lang="en-GB" sz="2700" b="1" dirty="0" smtClean="0"/>
              <a:t> (FMAN, FNIER, FNICEMA)</a:t>
            </a:r>
            <a:br>
              <a:rPr lang="en-GB" sz="2700" b="1" dirty="0" smtClean="0"/>
            </a:br>
            <a:r>
              <a:rPr lang="en-GB" sz="2700" b="1" dirty="0" smtClean="0"/>
              <a:t>Director, Pre-Degree Programmes  </a:t>
            </a:r>
            <a:br>
              <a:rPr lang="en-GB" sz="2700" b="1" dirty="0" smtClean="0"/>
            </a:br>
            <a:r>
              <a:rPr lang="en-GB" sz="2700" b="1" dirty="0" err="1" smtClean="0"/>
              <a:t>Ekiti</a:t>
            </a:r>
            <a:r>
              <a:rPr lang="en-GB" sz="2700" b="1" dirty="0" smtClean="0"/>
              <a:t> State University,</a:t>
            </a:r>
            <a:br>
              <a:rPr lang="en-GB" sz="2700" b="1" dirty="0" smtClean="0"/>
            </a:br>
            <a:r>
              <a:rPr lang="en-GB" sz="2700" b="1" dirty="0" smtClean="0"/>
              <a:t>Ado-</a:t>
            </a:r>
            <a:r>
              <a:rPr lang="en-GB" sz="2700" b="1" dirty="0" err="1" smtClean="0"/>
              <a:t>Ekiti</a:t>
            </a:r>
            <a:r>
              <a:rPr lang="en-GB" sz="2700" b="1" dirty="0" smtClean="0"/>
              <a:t>.</a:t>
            </a:r>
            <a:br>
              <a:rPr lang="en-GB" sz="2700" b="1" dirty="0" smtClean="0"/>
            </a:br>
            <a:r>
              <a:rPr lang="en-GB" sz="2700" b="1" dirty="0" smtClean="0"/>
              <a:t/>
            </a:r>
            <a:br>
              <a:rPr lang="en-GB" sz="2700" b="1" dirty="0" smtClean="0"/>
            </a:br>
            <a:r>
              <a:rPr lang="en-GB" sz="3100" b="1" dirty="0" smtClean="0"/>
              <a:t>@</a:t>
            </a:r>
            <a:br>
              <a:rPr lang="en-GB" sz="3100" b="1" dirty="0" smtClean="0"/>
            </a:br>
            <a:r>
              <a:rPr lang="en-GB" sz="2700" b="1" dirty="0" smtClean="0"/>
              <a:t>The EKSU Academic Summit</a:t>
            </a:r>
            <a:br>
              <a:rPr lang="en-GB" sz="2700" b="1" dirty="0" smtClean="0"/>
            </a:br>
            <a:r>
              <a:rPr lang="en-GB" sz="2700" b="1" dirty="0" smtClean="0"/>
              <a:t>On Wednesday 3</a:t>
            </a:r>
            <a:r>
              <a:rPr lang="en-GB" sz="2700" b="1" baseline="30000" dirty="0" smtClean="0"/>
              <a:t>rd</a:t>
            </a:r>
            <a:r>
              <a:rPr lang="en-GB" sz="2700" b="1" dirty="0" smtClean="0"/>
              <a:t> February, 2016</a:t>
            </a:r>
            <a:br>
              <a:rPr lang="en-GB" sz="2700" b="1" dirty="0" smtClean="0"/>
            </a:br>
            <a:r>
              <a:rPr lang="en-GB" sz="2700" b="1" dirty="0"/>
              <a:t/>
            </a:r>
            <a:br>
              <a:rPr lang="en-GB" sz="2700" b="1" dirty="0"/>
            </a:br>
            <a:r>
              <a:rPr lang="en-GB" sz="4000" b="1" dirty="0" smtClean="0"/>
              <a:t/>
            </a:r>
            <a:br>
              <a:rPr lang="en-GB" sz="4000" b="1" dirty="0" smtClean="0"/>
            </a:br>
            <a:r>
              <a:rPr lang="en-GB" sz="4000" b="1" dirty="0"/>
              <a:t/>
            </a:r>
            <a:br>
              <a:rPr lang="en-GB" sz="4000" b="1" dirty="0"/>
            </a:br>
            <a:endParaRPr lang="en-GB" sz="4000" b="1" dirty="0"/>
          </a:p>
        </p:txBody>
      </p:sp>
      <p:sp>
        <p:nvSpPr>
          <p:cNvPr id="3" name="Subtitle 2"/>
          <p:cNvSpPr>
            <a:spLocks noGrp="1"/>
          </p:cNvSpPr>
          <p:nvPr>
            <p:ph type="subTitle" idx="1"/>
          </p:nvPr>
        </p:nvSpPr>
        <p:spPr>
          <a:xfrm>
            <a:off x="1475656" y="3356992"/>
            <a:ext cx="6328792" cy="1728192"/>
          </a:xfrm>
        </p:spPr>
        <p:txBody>
          <a:bodyPr/>
          <a:lstStyle/>
          <a:p>
            <a:r>
              <a:rPr lang="en-GB" dirty="0" smtClean="0"/>
              <a:t/>
            </a:r>
            <a:br>
              <a:rPr lang="en-GB" dirty="0" smtClean="0"/>
            </a:br>
            <a:r>
              <a:rPr lang="en-GB" dirty="0" smtClean="0"/>
              <a:t/>
            </a:r>
            <a:br>
              <a:rPr lang="en-GB" dirty="0" smtClean="0"/>
            </a:br>
            <a:endParaRPr lang="en-GB" dirty="0"/>
          </a:p>
        </p:txBody>
      </p:sp>
    </p:spTree>
    <p:extLst>
      <p:ext uri="{BB962C8B-B14F-4D97-AF65-F5344CB8AC3E}">
        <p14:creationId xmlns:p14="http://schemas.microsoft.com/office/powerpoint/2010/main" val="2876018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A BRIEF HISTORY OF THE PRE-DEGREE PROGRAMMES</a:t>
            </a:r>
          </a:p>
        </p:txBody>
      </p:sp>
      <p:sp>
        <p:nvSpPr>
          <p:cNvPr id="3" name="Content Placeholder 2"/>
          <p:cNvSpPr>
            <a:spLocks noGrp="1"/>
          </p:cNvSpPr>
          <p:nvPr>
            <p:ph idx="1"/>
          </p:nvPr>
        </p:nvSpPr>
        <p:spPr>
          <a:xfrm>
            <a:off x="457200" y="1600200"/>
            <a:ext cx="8435280" cy="6005264"/>
          </a:xfrm>
        </p:spPr>
        <p:txBody>
          <a:bodyPr>
            <a:normAutofit/>
          </a:bodyPr>
          <a:lstStyle/>
          <a:p>
            <a:r>
              <a:rPr lang="en-GB" dirty="0" smtClean="0"/>
              <a:t>The Pre-Degree Programme (formerly known as Remedial Programme) commenced in 1983 to cater for candidates in Faculty of Science who</a:t>
            </a:r>
            <a:r>
              <a:rPr lang="en-GB" baseline="0" dirty="0" smtClean="0"/>
              <a:t> were not privileged to secure admission directly through JAMB.  </a:t>
            </a:r>
          </a:p>
          <a:p>
            <a:r>
              <a:rPr lang="en-GB" dirty="0" smtClean="0"/>
              <a:t>  </a:t>
            </a:r>
            <a:r>
              <a:rPr lang="en-GB" b="1" dirty="0" smtClean="0"/>
              <a:t>1995/1996:  </a:t>
            </a:r>
            <a:r>
              <a:rPr lang="en-GB" dirty="0" smtClean="0"/>
              <a:t>Remedial Programmed transformed to Pre-Degree Science.</a:t>
            </a:r>
          </a:p>
          <a:p>
            <a:r>
              <a:rPr lang="en-GB" dirty="0" smtClean="0"/>
              <a:t>   </a:t>
            </a:r>
            <a:r>
              <a:rPr lang="en-GB" b="1" dirty="0" smtClean="0"/>
              <a:t>1999/2000:  </a:t>
            </a:r>
            <a:r>
              <a:rPr lang="en-GB" dirty="0" smtClean="0"/>
              <a:t>Pre-Degree Education Programme was established. </a:t>
            </a:r>
          </a:p>
          <a:p>
            <a:pPr algn="ctr"/>
            <a:endParaRPr lang="en-GB" dirty="0"/>
          </a:p>
          <a:p>
            <a:pPr algn="ctr"/>
            <a:endParaRPr lang="en-GB" dirty="0" smtClean="0"/>
          </a:p>
          <a:p>
            <a:pPr algn="ctr"/>
            <a:endParaRPr lang="en-GB" dirty="0"/>
          </a:p>
          <a:p>
            <a:pPr algn="ctr"/>
            <a:endParaRPr lang="en-GB" dirty="0" smtClean="0"/>
          </a:p>
          <a:p>
            <a:pPr algn="ctr"/>
            <a:endParaRPr lang="en-GB" dirty="0"/>
          </a:p>
          <a:p>
            <a:pPr algn="ctr"/>
            <a:endParaRPr lang="en-GB" dirty="0" smtClean="0"/>
          </a:p>
          <a:p>
            <a:pPr algn="ctr"/>
            <a:endParaRPr lang="en-GB" dirty="0"/>
          </a:p>
          <a:p>
            <a:pPr algn="ctr"/>
            <a:endParaRPr lang="en-GB" dirty="0" smtClean="0"/>
          </a:p>
          <a:p>
            <a:pPr algn="ctr"/>
            <a:endParaRPr lang="en-GB" dirty="0"/>
          </a:p>
          <a:p>
            <a:pPr algn="ctr"/>
            <a:endParaRPr lang="en-GB" dirty="0" smtClean="0"/>
          </a:p>
          <a:p>
            <a:pPr algn="ctr"/>
            <a:endParaRPr lang="en-GB" dirty="0"/>
          </a:p>
          <a:p>
            <a:pPr algn="ctr"/>
            <a:endParaRPr lang="en-GB" dirty="0" smtClean="0"/>
          </a:p>
          <a:p>
            <a:pPr algn="ctr"/>
            <a:endParaRPr lang="en-GB" dirty="0" smtClean="0"/>
          </a:p>
          <a:p>
            <a:endParaRPr lang="en-GB" dirty="0"/>
          </a:p>
        </p:txBody>
      </p:sp>
    </p:spTree>
    <p:extLst>
      <p:ext uri="{BB962C8B-B14F-4D97-AF65-F5344CB8AC3E}">
        <p14:creationId xmlns:p14="http://schemas.microsoft.com/office/powerpoint/2010/main" val="3073133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endParaRPr lang="en-GB" dirty="0"/>
          </a:p>
        </p:txBody>
      </p:sp>
      <p:sp>
        <p:nvSpPr>
          <p:cNvPr id="3" name="Content Placeholder 2"/>
          <p:cNvSpPr>
            <a:spLocks noGrp="1"/>
          </p:cNvSpPr>
          <p:nvPr>
            <p:ph idx="1"/>
          </p:nvPr>
        </p:nvSpPr>
        <p:spPr>
          <a:xfrm>
            <a:off x="467544" y="1196752"/>
            <a:ext cx="8229600" cy="4525963"/>
          </a:xfrm>
        </p:spPr>
        <p:txBody>
          <a:bodyPr/>
          <a:lstStyle/>
          <a:p>
            <a:r>
              <a:rPr lang="en-GB" b="1" dirty="0" smtClean="0"/>
              <a:t>2001/2002:   </a:t>
            </a:r>
            <a:r>
              <a:rPr lang="en-GB" dirty="0" smtClean="0"/>
              <a:t>Pre-Degree Art tacked Pre-Degree Humanities was established.</a:t>
            </a:r>
          </a:p>
          <a:p>
            <a:r>
              <a:rPr lang="en-GB" dirty="0" smtClean="0"/>
              <a:t> </a:t>
            </a:r>
            <a:r>
              <a:rPr lang="en-GB" b="1" dirty="0" smtClean="0"/>
              <a:t>2005/2006:  </a:t>
            </a:r>
            <a:r>
              <a:rPr lang="en-GB" dirty="0" smtClean="0"/>
              <a:t>The Directorate of Pre-Degree Programmes comprising Education, Humanities and Science was established headed by Directors assisted by Assistant Directors of the three units, no Secretary but each unit has administrative Secretary.</a:t>
            </a:r>
          </a:p>
          <a:p>
            <a:endParaRPr lang="en-GB" dirty="0"/>
          </a:p>
        </p:txBody>
      </p:sp>
    </p:spTree>
    <p:extLst>
      <p:ext uri="{BB962C8B-B14F-4D97-AF65-F5344CB8AC3E}">
        <p14:creationId xmlns:p14="http://schemas.microsoft.com/office/powerpoint/2010/main" val="1366640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fontScale="92500" lnSpcReduction="20000"/>
          </a:bodyPr>
          <a:lstStyle/>
          <a:p>
            <a:r>
              <a:rPr lang="en-GB" b="1" dirty="0" smtClean="0"/>
              <a:t>2012/2013:  </a:t>
            </a:r>
            <a:r>
              <a:rPr lang="en-GB" dirty="0" smtClean="0"/>
              <a:t>The Programme was enlarged to embrace all academic programmes in the University with four options: Arts, Biological Sciences, Physical Sciences and Social Sciences.  Each option is headed by Assistant Director, the Management Team includes: Director, 4 Assistant Directors, Secretary, </a:t>
            </a:r>
            <a:r>
              <a:rPr lang="en-GB" dirty="0"/>
              <a:t>Administrative </a:t>
            </a:r>
            <a:r>
              <a:rPr lang="en-GB" dirty="0" smtClean="0"/>
              <a:t>Secretaries, and Directorate Account. </a:t>
            </a:r>
          </a:p>
          <a:p>
            <a:r>
              <a:rPr lang="en-GB" dirty="0" smtClean="0"/>
              <a:t>2015/2016: Resuscitation of Pre-Degree Education and Establishment of Pre-Degree Agricultural Science.</a:t>
            </a:r>
            <a:endParaRPr lang="en-GB" dirty="0"/>
          </a:p>
        </p:txBody>
      </p:sp>
    </p:spTree>
    <p:extLst>
      <p:ext uri="{BB962C8B-B14F-4D97-AF65-F5344CB8AC3E}">
        <p14:creationId xmlns:p14="http://schemas.microsoft.com/office/powerpoint/2010/main" val="45736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PHILOSPHY OF THE PROGRAMME</a:t>
            </a:r>
            <a:r>
              <a:rPr lang="en-GB" dirty="0"/>
              <a:t/>
            </a:r>
            <a:br>
              <a:rPr lang="en-GB" dirty="0"/>
            </a:br>
            <a:endParaRPr lang="en-GB" dirty="0"/>
          </a:p>
        </p:txBody>
      </p:sp>
      <p:sp>
        <p:nvSpPr>
          <p:cNvPr id="3" name="Content Placeholder 2"/>
          <p:cNvSpPr>
            <a:spLocks noGrp="1"/>
          </p:cNvSpPr>
          <p:nvPr>
            <p:ph idx="1"/>
          </p:nvPr>
        </p:nvSpPr>
        <p:spPr/>
        <p:txBody>
          <a:bodyPr/>
          <a:lstStyle/>
          <a:p>
            <a:r>
              <a:rPr lang="en-US" dirty="0" smtClean="0"/>
              <a:t>The </a:t>
            </a:r>
            <a:r>
              <a:rPr lang="en-US" dirty="0"/>
              <a:t>Vision is to evolve a Directorate of Pre-Degree </a:t>
            </a:r>
            <a:r>
              <a:rPr lang="en-US" dirty="0" err="1"/>
              <a:t>Programmes</a:t>
            </a:r>
            <a:r>
              <a:rPr lang="en-US" dirty="0"/>
              <a:t> that is a self- financing and resource-</a:t>
            </a:r>
            <a:r>
              <a:rPr lang="en-US" dirty="0" err="1"/>
              <a:t>centred</a:t>
            </a:r>
            <a:r>
              <a:rPr lang="en-US" dirty="0"/>
              <a:t> noted for academic excellence of global relevance in accordance with the vision statement of the University.</a:t>
            </a:r>
            <a:endParaRPr lang="en-GB" dirty="0"/>
          </a:p>
          <a:p>
            <a:endParaRPr lang="en-GB" dirty="0"/>
          </a:p>
        </p:txBody>
      </p:sp>
    </p:spTree>
    <p:extLst>
      <p:ext uri="{BB962C8B-B14F-4D97-AF65-F5344CB8AC3E}">
        <p14:creationId xmlns:p14="http://schemas.microsoft.com/office/powerpoint/2010/main" val="1228644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b="1" dirty="0" smtClean="0"/>
              <a:t>MISSION OF THE PROGRAMME</a:t>
            </a:r>
            <a:br>
              <a:rPr lang="en-GB" sz="3600" b="1" dirty="0" smtClean="0"/>
            </a:br>
            <a:r>
              <a:rPr lang="en-GB" sz="3600" b="1" dirty="0" smtClean="0"/>
              <a:t>The missions of the Programme are to:</a:t>
            </a:r>
            <a:endParaRPr lang="en-GB" sz="3600" b="1" dirty="0"/>
          </a:p>
        </p:txBody>
      </p:sp>
      <p:sp>
        <p:nvSpPr>
          <p:cNvPr id="3" name="Content Placeholder 2"/>
          <p:cNvSpPr>
            <a:spLocks noGrp="1"/>
          </p:cNvSpPr>
          <p:nvPr>
            <p:ph idx="1"/>
          </p:nvPr>
        </p:nvSpPr>
        <p:spPr/>
        <p:txBody>
          <a:bodyPr>
            <a:normAutofit/>
          </a:bodyPr>
          <a:lstStyle/>
          <a:p>
            <a:r>
              <a:rPr lang="en-GB" sz="3000" dirty="0" smtClean="0"/>
              <a:t>Source quality students for the University’s degree Programme and reduce the rate of dropouts from the University.</a:t>
            </a:r>
          </a:p>
          <a:p>
            <a:r>
              <a:rPr lang="en-GB" sz="3000" dirty="0" smtClean="0"/>
              <a:t>Ensure adequate preparation of eligible high school graduate for degree Programmes.</a:t>
            </a:r>
          </a:p>
          <a:p>
            <a:r>
              <a:rPr lang="en-GB" sz="3000" dirty="0" smtClean="0"/>
              <a:t>Create opportunity for prospective students who could not be admitted into degree Programmes in the University through the Unified Tertiary Matriculation Examination (UTME).</a:t>
            </a:r>
          </a:p>
          <a:p>
            <a:pPr marL="571500" indent="-571500">
              <a:buAutoNum type="romanLcPeriod"/>
            </a:pPr>
            <a:endParaRPr lang="en-GB" dirty="0"/>
          </a:p>
        </p:txBody>
      </p:sp>
    </p:spTree>
    <p:extLst>
      <p:ext uri="{BB962C8B-B14F-4D97-AF65-F5344CB8AC3E}">
        <p14:creationId xmlns:p14="http://schemas.microsoft.com/office/powerpoint/2010/main" val="236422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endParaRPr lang="en-GB" dirty="0"/>
          </a:p>
        </p:txBody>
      </p:sp>
      <p:sp>
        <p:nvSpPr>
          <p:cNvPr id="3" name="Content Placeholder 2"/>
          <p:cNvSpPr>
            <a:spLocks noGrp="1"/>
          </p:cNvSpPr>
          <p:nvPr>
            <p:ph idx="1"/>
          </p:nvPr>
        </p:nvSpPr>
        <p:spPr>
          <a:xfrm>
            <a:off x="467544" y="1268760"/>
            <a:ext cx="8229600" cy="4525963"/>
          </a:xfrm>
        </p:spPr>
        <p:txBody>
          <a:bodyPr/>
          <a:lstStyle/>
          <a:p>
            <a:r>
              <a:rPr lang="en-GB" dirty="0" smtClean="0"/>
              <a:t> Ensure the intellectual development of the students in the areas of critical thinking, Oral and Writing skills.</a:t>
            </a:r>
          </a:p>
          <a:p>
            <a:r>
              <a:rPr lang="en-GB" dirty="0" smtClean="0"/>
              <a:t>Set up the Programme as self financing and a revenue generating academic unit of the University.</a:t>
            </a:r>
            <a:endParaRPr lang="en-GB" dirty="0"/>
          </a:p>
        </p:txBody>
      </p:sp>
    </p:spTree>
    <p:extLst>
      <p:ext uri="{BB962C8B-B14F-4D97-AF65-F5344CB8AC3E}">
        <p14:creationId xmlns:p14="http://schemas.microsoft.com/office/powerpoint/2010/main" val="92694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1143000"/>
          </a:xfrm>
        </p:spPr>
        <p:txBody>
          <a:bodyPr/>
          <a:lstStyle/>
          <a:p>
            <a:r>
              <a:rPr lang="en-GB" b="1" dirty="0" smtClean="0"/>
              <a:t>CORE VALUES</a:t>
            </a:r>
            <a:endParaRPr lang="en-GB" b="1" dirty="0"/>
          </a:p>
        </p:txBody>
      </p:sp>
      <p:sp>
        <p:nvSpPr>
          <p:cNvPr id="3" name="Content Placeholder 2"/>
          <p:cNvSpPr>
            <a:spLocks noGrp="1"/>
          </p:cNvSpPr>
          <p:nvPr>
            <p:ph idx="1"/>
          </p:nvPr>
        </p:nvSpPr>
        <p:spPr>
          <a:xfrm>
            <a:off x="539552" y="1124744"/>
            <a:ext cx="8229600" cy="4525963"/>
          </a:xfrm>
        </p:spPr>
        <p:txBody>
          <a:bodyPr/>
          <a:lstStyle/>
          <a:p>
            <a:r>
              <a:rPr lang="en-GB" dirty="0" smtClean="0"/>
              <a:t>Harmonious staff – student relationship</a:t>
            </a:r>
          </a:p>
          <a:p>
            <a:r>
              <a:rPr lang="en-GB" dirty="0" smtClean="0"/>
              <a:t>Academic integrity</a:t>
            </a:r>
          </a:p>
          <a:p>
            <a:r>
              <a:rPr lang="en-GB" dirty="0" smtClean="0"/>
              <a:t>Open administration</a:t>
            </a:r>
          </a:p>
          <a:p>
            <a:r>
              <a:rPr lang="en-GB" dirty="0" smtClean="0"/>
              <a:t>Accountability and probity</a:t>
            </a:r>
          </a:p>
          <a:p>
            <a:r>
              <a:rPr lang="en-GB" dirty="0" smtClean="0"/>
              <a:t>Respect for natural endowment</a:t>
            </a:r>
          </a:p>
          <a:p>
            <a:r>
              <a:rPr lang="en-GB" dirty="0" smtClean="0"/>
              <a:t>Effective resource management</a:t>
            </a:r>
          </a:p>
          <a:p>
            <a:r>
              <a:rPr lang="en-GB" dirty="0" smtClean="0"/>
              <a:t>Effective staff and student welfare.</a:t>
            </a:r>
          </a:p>
          <a:p>
            <a:pPr marL="0" indent="0">
              <a:buNone/>
            </a:pPr>
            <a:endParaRPr lang="en-GB" dirty="0"/>
          </a:p>
        </p:txBody>
      </p:sp>
    </p:spTree>
    <p:extLst>
      <p:ext uri="{BB962C8B-B14F-4D97-AF65-F5344CB8AC3E}">
        <p14:creationId xmlns:p14="http://schemas.microsoft.com/office/powerpoint/2010/main" val="122480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smtClean="0"/>
              <a:t>Organogram</a:t>
            </a:r>
            <a:endParaRPr lang="en-US" dirty="0"/>
          </a:p>
          <a:p>
            <a:pPr marL="0" indent="0">
              <a:buNone/>
            </a:pPr>
            <a:endParaRPr lang="en-US" dirty="0"/>
          </a:p>
          <a:p>
            <a:pPr marL="0" indent="0">
              <a:buNone/>
            </a:pPr>
            <a:endParaRPr lang="en-GB" dirty="0"/>
          </a:p>
        </p:txBody>
      </p:sp>
      <p:sp>
        <p:nvSpPr>
          <p:cNvPr id="24" name="Flowchart: Process 23"/>
          <p:cNvSpPr/>
          <p:nvPr/>
        </p:nvSpPr>
        <p:spPr>
          <a:xfrm>
            <a:off x="3275856" y="1772816"/>
            <a:ext cx="2376264"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Governing Board</a:t>
            </a:r>
            <a:endParaRPr lang="en-GB" dirty="0"/>
          </a:p>
        </p:txBody>
      </p:sp>
      <p:sp>
        <p:nvSpPr>
          <p:cNvPr id="20" name="Flowchart: Process 19"/>
          <p:cNvSpPr/>
          <p:nvPr/>
        </p:nvSpPr>
        <p:spPr>
          <a:xfrm>
            <a:off x="1331640" y="3645024"/>
            <a:ext cx="6480720"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Director</a:t>
            </a:r>
            <a:endParaRPr lang="en-GB" dirty="0"/>
          </a:p>
        </p:txBody>
      </p:sp>
      <p:sp>
        <p:nvSpPr>
          <p:cNvPr id="12" name="Flowchart: Process 11"/>
          <p:cNvSpPr/>
          <p:nvPr/>
        </p:nvSpPr>
        <p:spPr>
          <a:xfrm>
            <a:off x="3275855" y="2752119"/>
            <a:ext cx="2313175" cy="50405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Academic Board</a:t>
            </a:r>
            <a:endParaRPr lang="en-GB" dirty="0"/>
          </a:p>
        </p:txBody>
      </p:sp>
      <p:sp>
        <p:nvSpPr>
          <p:cNvPr id="2" name="Title 1"/>
          <p:cNvSpPr>
            <a:spLocks noGrp="1"/>
          </p:cNvSpPr>
          <p:nvPr>
            <p:ph type="title"/>
          </p:nvPr>
        </p:nvSpPr>
        <p:spPr>
          <a:xfrm>
            <a:off x="395536" y="404664"/>
            <a:ext cx="8229600" cy="1080120"/>
          </a:xfrm>
        </p:spPr>
        <p:txBody>
          <a:bodyPr>
            <a:normAutofit fontScale="90000"/>
          </a:bodyPr>
          <a:lstStyle/>
          <a:p>
            <a:r>
              <a:rPr lang="en-US" b="1" dirty="0" smtClean="0"/>
              <a:t/>
            </a:r>
            <a:br>
              <a:rPr lang="en-US" b="1" dirty="0" smtClean="0"/>
            </a:br>
            <a:r>
              <a:rPr lang="en-US" sz="3100" b="1" dirty="0" smtClean="0"/>
              <a:t>ADMINISTRATIVE </a:t>
            </a:r>
            <a:r>
              <a:rPr lang="en-US" sz="3100" b="1" dirty="0"/>
              <a:t>STRUCTURE OF THE DIRECTORATE OF </a:t>
            </a:r>
            <a:r>
              <a:rPr lang="en-US" sz="3100" b="1" dirty="0" smtClean="0"/>
              <a:t>PRE-DEGREE </a:t>
            </a:r>
            <a:r>
              <a:rPr lang="en-US" sz="3100" b="1" dirty="0"/>
              <a:t>PROGRAMMES</a:t>
            </a:r>
            <a:r>
              <a:rPr lang="en-GB" sz="3100" dirty="0"/>
              <a:t/>
            </a:r>
            <a:br>
              <a:rPr lang="en-GB" sz="3100" dirty="0"/>
            </a:br>
            <a:endParaRPr lang="en-GB" sz="3100" dirty="0"/>
          </a:p>
        </p:txBody>
      </p:sp>
      <p:cxnSp>
        <p:nvCxnSpPr>
          <p:cNvPr id="22" name="Straight Arrow Connector 21"/>
          <p:cNvCxnSpPr/>
          <p:nvPr/>
        </p:nvCxnSpPr>
        <p:spPr>
          <a:xfrm>
            <a:off x="4391980" y="4221088"/>
            <a:ext cx="0" cy="317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Flowchart: Process 22"/>
          <p:cNvSpPr/>
          <p:nvPr/>
        </p:nvSpPr>
        <p:spPr>
          <a:xfrm>
            <a:off x="971600" y="4538882"/>
            <a:ext cx="1944216" cy="4320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smtClean="0"/>
              <a:t>      Secretary</a:t>
            </a:r>
            <a:endParaRPr lang="en-US" dirty="0"/>
          </a:p>
        </p:txBody>
      </p:sp>
      <p:sp>
        <p:nvSpPr>
          <p:cNvPr id="10" name="Flowchart: Process 9"/>
          <p:cNvSpPr/>
          <p:nvPr/>
        </p:nvSpPr>
        <p:spPr>
          <a:xfrm>
            <a:off x="3491880" y="4538882"/>
            <a:ext cx="2160240" cy="4320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smtClean="0"/>
              <a:t> Assistant   Directors</a:t>
            </a:r>
            <a:endParaRPr lang="en-US" dirty="0"/>
          </a:p>
        </p:txBody>
      </p:sp>
      <p:sp>
        <p:nvSpPr>
          <p:cNvPr id="13" name="Flowchart: Process 12"/>
          <p:cNvSpPr/>
          <p:nvPr/>
        </p:nvSpPr>
        <p:spPr>
          <a:xfrm>
            <a:off x="6381716" y="4538882"/>
            <a:ext cx="1944216" cy="4320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Accountant</a:t>
            </a:r>
            <a:endParaRPr lang="en-US" dirty="0"/>
          </a:p>
        </p:txBody>
      </p:sp>
      <p:sp>
        <p:nvSpPr>
          <p:cNvPr id="14" name="Flowchart: Process 13"/>
          <p:cNvSpPr/>
          <p:nvPr/>
        </p:nvSpPr>
        <p:spPr>
          <a:xfrm>
            <a:off x="5292080" y="5404048"/>
            <a:ext cx="1944216" cy="4320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      Instructors</a:t>
            </a:r>
            <a:endParaRPr lang="en-US" dirty="0"/>
          </a:p>
        </p:txBody>
      </p:sp>
      <p:sp>
        <p:nvSpPr>
          <p:cNvPr id="15" name="Flowchart: Process 14"/>
          <p:cNvSpPr/>
          <p:nvPr/>
        </p:nvSpPr>
        <p:spPr>
          <a:xfrm>
            <a:off x="971600" y="5404048"/>
            <a:ext cx="2880320" cy="4320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Administrative Staff</a:t>
            </a:r>
            <a:endParaRPr lang="en-US" dirty="0"/>
          </a:p>
        </p:txBody>
      </p:sp>
      <p:cxnSp>
        <p:nvCxnSpPr>
          <p:cNvPr id="16" name="Straight Arrow Connector 15"/>
          <p:cNvCxnSpPr/>
          <p:nvPr/>
        </p:nvCxnSpPr>
        <p:spPr>
          <a:xfrm>
            <a:off x="4391980" y="3256175"/>
            <a:ext cx="0" cy="3888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696780" y="4525888"/>
            <a:ext cx="0" cy="317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849180" y="4678288"/>
            <a:ext cx="0" cy="317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508104" y="4941168"/>
            <a:ext cx="0" cy="46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635896" y="4970930"/>
            <a:ext cx="0" cy="4566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696780" y="4525888"/>
            <a:ext cx="0" cy="317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691680" y="4941168"/>
            <a:ext cx="0" cy="46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391980" y="2348880"/>
            <a:ext cx="0" cy="4032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264094" y="4221088"/>
            <a:ext cx="0" cy="317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1929943" y="4236891"/>
            <a:ext cx="0" cy="317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73662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altLang="en-US" sz="2800" b="1" dirty="0">
                <a:solidFill>
                  <a:srgbClr val="333333"/>
                </a:solidFill>
                <a:latin typeface="Arial" pitchFamily="34" charset="0"/>
                <a:ea typeface="Times New Roman" pitchFamily="18" charset="0"/>
                <a:cs typeface="Arial" pitchFamily="34" charset="0"/>
              </a:rPr>
              <a:t>GENERAL INFORMATION ON SERVICE REQUIREMENTS AND OPERATIONS</a:t>
            </a:r>
            <a:r>
              <a:rPr lang="en-GB" altLang="en-US" sz="2800" dirty="0">
                <a:latin typeface="Arial" pitchFamily="34" charset="0"/>
                <a:cs typeface="Arial" pitchFamily="34" charset="0"/>
              </a:rPr>
              <a:t/>
            </a:r>
            <a:br>
              <a:rPr lang="en-GB" altLang="en-US" sz="2800" dirty="0">
                <a:latin typeface="Arial" pitchFamily="34" charset="0"/>
                <a:cs typeface="Arial" pitchFamily="34" charset="0"/>
              </a:rPr>
            </a:br>
            <a:endParaRPr lang="en-GB" sz="2800" dirty="0"/>
          </a:p>
        </p:txBody>
      </p:sp>
      <p:sp>
        <p:nvSpPr>
          <p:cNvPr id="5" name="Rectangle 1"/>
          <p:cNvSpPr>
            <a:spLocks noChangeArrowheads="1"/>
          </p:cNvSpPr>
          <p:nvPr/>
        </p:nvSpPr>
        <p:spPr bwMode="auto">
          <a:xfrm>
            <a:off x="611561" y="2370814"/>
            <a:ext cx="40324479"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333333"/>
              </a:solidFill>
              <a:effectLst/>
              <a:latin typeface="Arial" pitchFamily="34" charset="0"/>
              <a:ea typeface="Times New Roman" pitchFamily="18" charset="0"/>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333333"/>
              </a:solidFill>
              <a:ea typeface="Times New Roman"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333333"/>
              </a:solidFill>
              <a:effectLst/>
              <a:latin typeface="Arial" pitchFamily="34" charset="0"/>
              <a:ea typeface="Times New Roman" pitchFamily="18" charset="0"/>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333333"/>
              </a:solidFill>
              <a:ea typeface="Times New Roman"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333333"/>
              </a:solidFill>
              <a:effectLst/>
              <a:latin typeface="Arial" pitchFamily="34" charset="0"/>
              <a:ea typeface="Times New Roman" pitchFamily="18" charset="0"/>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Content Placeholder 5"/>
          <p:cNvSpPr>
            <a:spLocks noGrp="1"/>
          </p:cNvSpPr>
          <p:nvPr>
            <p:ph idx="1"/>
          </p:nvPr>
        </p:nvSpPr>
        <p:spPr>
          <a:xfrm>
            <a:off x="467544" y="1268760"/>
            <a:ext cx="8229600" cy="4525963"/>
          </a:xfrm>
        </p:spPr>
        <p:txBody>
          <a:bodyPr>
            <a:normAutofit fontScale="25000" lnSpcReduction="20000"/>
          </a:bodyPr>
          <a:lstStyle/>
          <a:p>
            <a:pPr marL="0" indent="0">
              <a:buNone/>
            </a:pPr>
            <a:r>
              <a:rPr lang="en-US" dirty="0"/>
              <a:t> </a:t>
            </a:r>
            <a:endParaRPr lang="en-GB" dirty="0"/>
          </a:p>
          <a:p>
            <a:r>
              <a:rPr lang="en-US" sz="11200" dirty="0"/>
              <a:t>The Pre-Degree </a:t>
            </a:r>
            <a:r>
              <a:rPr lang="en-US" sz="11200" dirty="0" err="1"/>
              <a:t>programme</a:t>
            </a:r>
            <a:r>
              <a:rPr lang="en-US" sz="11200" dirty="0"/>
              <a:t> aims at preparing high school graduates for degree </a:t>
            </a:r>
            <a:r>
              <a:rPr lang="en-US" sz="11200" dirty="0" err="1"/>
              <a:t>programmes</a:t>
            </a:r>
            <a:r>
              <a:rPr lang="en-US" sz="11200" dirty="0"/>
              <a:t> through an intensive coaching curriculum.  The </a:t>
            </a:r>
            <a:r>
              <a:rPr lang="en-US" sz="11200" dirty="0" err="1"/>
              <a:t>programme</a:t>
            </a:r>
            <a:r>
              <a:rPr lang="en-US" sz="11200" dirty="0"/>
              <a:t> will offer courses of study in Unified Tertiary Matriculation Examination (UTME) subjects.  These include English Language which is compulsory for all students, Physics, Chemistry, Biology, Mathematics, Economics, Geography, Government, English Literature and Religious Studies.  Students will be required to choose three subjects in addition to English Language.  There will be two contact periods of 15 weeks each, with four contact hours per week for each subject.  Between the first and second contact periods, there will be a break.  At the end of each contact period, there will be an examination.</a:t>
            </a:r>
            <a:endParaRPr lang="en-GB" sz="11200" dirty="0"/>
          </a:p>
          <a:p>
            <a:pPr marL="0" indent="0">
              <a:buNone/>
            </a:pPr>
            <a:r>
              <a:rPr lang="en-US" sz="11200" b="1" dirty="0"/>
              <a:t> </a:t>
            </a:r>
            <a:endParaRPr lang="en-GB" sz="11200" dirty="0"/>
          </a:p>
          <a:p>
            <a:endParaRPr lang="en-GB" dirty="0"/>
          </a:p>
        </p:txBody>
      </p:sp>
    </p:spTree>
    <p:extLst>
      <p:ext uri="{BB962C8B-B14F-4D97-AF65-F5344CB8AC3E}">
        <p14:creationId xmlns:p14="http://schemas.microsoft.com/office/powerpoint/2010/main" val="2731176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43408"/>
            <a:ext cx="8229600" cy="1143000"/>
          </a:xfrm>
        </p:spPr>
        <p:txBody>
          <a:bodyPr/>
          <a:lstStyle/>
          <a:p>
            <a:endParaRPr lang="en-GB" dirty="0"/>
          </a:p>
        </p:txBody>
      </p:sp>
      <p:sp>
        <p:nvSpPr>
          <p:cNvPr id="3" name="Content Placeholder 2"/>
          <p:cNvSpPr>
            <a:spLocks noGrp="1"/>
          </p:cNvSpPr>
          <p:nvPr>
            <p:ph idx="1"/>
          </p:nvPr>
        </p:nvSpPr>
        <p:spPr>
          <a:xfrm>
            <a:off x="539552" y="692696"/>
            <a:ext cx="8229600" cy="4525963"/>
          </a:xfrm>
        </p:spPr>
        <p:txBody>
          <a:bodyPr>
            <a:noAutofit/>
          </a:bodyPr>
          <a:lstStyle/>
          <a:p>
            <a:pPr marL="0" indent="0">
              <a:buNone/>
            </a:pPr>
            <a:r>
              <a:rPr lang="en-US" sz="2400" b="1" dirty="0"/>
              <a:t>Admission Requirements and Entry Qualification</a:t>
            </a:r>
            <a:endParaRPr lang="en-GB" sz="2400" dirty="0"/>
          </a:p>
          <a:p>
            <a:r>
              <a:rPr lang="en-US" sz="2400" dirty="0"/>
              <a:t>Applicants seeking admission into the Pre-Degree </a:t>
            </a:r>
            <a:r>
              <a:rPr lang="en-US" sz="2400" dirty="0" err="1"/>
              <a:t>programme</a:t>
            </a:r>
            <a:r>
              <a:rPr lang="en-US" sz="2400" dirty="0"/>
              <a:t> must possess a minimum of five </a:t>
            </a:r>
            <a:r>
              <a:rPr lang="en-US" sz="2400" dirty="0" err="1"/>
              <a:t>O’Level</a:t>
            </a:r>
            <a:r>
              <a:rPr lang="en-US" sz="2400" dirty="0"/>
              <a:t> Credits at not more than two sittings,  including English Language; Credits in Mathematics and three other Science subjects for all the science based courses; credits in Mathematics and at least two Social Science subjects for all Social Science based courses; and at least three Arts subjects for all Arts based courses.  </a:t>
            </a:r>
            <a:endParaRPr lang="en-GB" sz="2400" dirty="0"/>
          </a:p>
          <a:p>
            <a:r>
              <a:rPr lang="en-US" sz="2400" dirty="0"/>
              <a:t>A qualifying examination will be conducted to select eligible candidates for admission into the </a:t>
            </a:r>
            <a:r>
              <a:rPr lang="en-US" sz="2400" dirty="0" err="1"/>
              <a:t>programme</a:t>
            </a:r>
            <a:r>
              <a:rPr lang="en-US" sz="2400" dirty="0"/>
              <a:t>.</a:t>
            </a:r>
            <a:endParaRPr lang="en-GB" sz="2400" dirty="0"/>
          </a:p>
          <a:p>
            <a:r>
              <a:rPr lang="en-US" sz="2400" b="1" dirty="0" smtClean="0"/>
              <a:t>Registration </a:t>
            </a:r>
            <a:r>
              <a:rPr lang="en-US" sz="2400" b="1" dirty="0"/>
              <a:t>for Courses, Enrolment, and Duration of Study</a:t>
            </a:r>
            <a:endParaRPr lang="en-GB" sz="2400" dirty="0"/>
          </a:p>
          <a:p>
            <a:r>
              <a:rPr lang="en-US" sz="2400" dirty="0"/>
              <a:t>The </a:t>
            </a:r>
            <a:r>
              <a:rPr lang="en-US" sz="2400" dirty="0" err="1"/>
              <a:t>Programme</a:t>
            </a:r>
            <a:r>
              <a:rPr lang="en-US" sz="2400" dirty="0"/>
              <a:t> shall normally run for two contact periods within the academic calendar of the University for degree </a:t>
            </a:r>
            <a:r>
              <a:rPr lang="en-US" sz="2400" dirty="0" err="1"/>
              <a:t>programmes</a:t>
            </a:r>
            <a:r>
              <a:rPr lang="en-US" sz="2400" dirty="0"/>
              <a:t>. </a:t>
            </a:r>
            <a:endParaRPr lang="en-GB" sz="2400" dirty="0"/>
          </a:p>
          <a:p>
            <a:pPr marL="0" indent="0">
              <a:buNone/>
            </a:pPr>
            <a:r>
              <a:rPr lang="en-US" sz="2400" dirty="0"/>
              <a:t> </a:t>
            </a:r>
            <a:endParaRPr lang="en-GB" sz="2400" dirty="0"/>
          </a:p>
          <a:p>
            <a:endParaRPr lang="en-GB" sz="700" dirty="0"/>
          </a:p>
        </p:txBody>
      </p:sp>
    </p:spTree>
    <p:extLst>
      <p:ext uri="{BB962C8B-B14F-4D97-AF65-F5344CB8AC3E}">
        <p14:creationId xmlns:p14="http://schemas.microsoft.com/office/powerpoint/2010/main" val="2127318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43408"/>
            <a:ext cx="8229600" cy="1143000"/>
          </a:xfrm>
        </p:spPr>
        <p:txBody>
          <a:bodyPr>
            <a:normAutofit fontScale="90000"/>
          </a:bodyPr>
          <a:lstStyle/>
          <a:p>
            <a:pPr lvl="0"/>
            <a:r>
              <a:rPr lang="en-US" altLang="en-US" b="1" dirty="0" smtClean="0">
                <a:solidFill>
                  <a:srgbClr val="333333"/>
                </a:solidFill>
                <a:latin typeface="Arial" pitchFamily="34" charset="0"/>
                <a:ea typeface="Times New Roman" pitchFamily="18" charset="0"/>
                <a:cs typeface="Arial" pitchFamily="34" charset="0"/>
              </a:rPr>
              <a:t/>
            </a:r>
            <a:br>
              <a:rPr lang="en-US" altLang="en-US" b="1" dirty="0" smtClean="0">
                <a:solidFill>
                  <a:srgbClr val="333333"/>
                </a:solidFill>
                <a:latin typeface="Arial" pitchFamily="34" charset="0"/>
                <a:ea typeface="Times New Roman" pitchFamily="18" charset="0"/>
                <a:cs typeface="Arial" pitchFamily="34" charset="0"/>
              </a:rPr>
            </a:br>
            <a:r>
              <a:rPr lang="en-US" altLang="en-US" b="1" dirty="0">
                <a:solidFill>
                  <a:srgbClr val="333333"/>
                </a:solidFill>
                <a:latin typeface="Arial" pitchFamily="34" charset="0"/>
                <a:ea typeface="Times New Roman" pitchFamily="18" charset="0"/>
                <a:cs typeface="Arial" pitchFamily="34" charset="0"/>
              </a:rPr>
              <a:t/>
            </a:r>
            <a:br>
              <a:rPr lang="en-US" altLang="en-US" b="1" dirty="0">
                <a:solidFill>
                  <a:srgbClr val="333333"/>
                </a:solidFill>
                <a:latin typeface="Arial" pitchFamily="34" charset="0"/>
                <a:ea typeface="Times New Roman" pitchFamily="18" charset="0"/>
                <a:cs typeface="Arial" pitchFamily="34" charset="0"/>
              </a:rPr>
            </a:br>
            <a:r>
              <a:rPr lang="en-US" altLang="en-US" b="1" dirty="0" smtClean="0">
                <a:solidFill>
                  <a:srgbClr val="333333"/>
                </a:solidFill>
                <a:latin typeface="Arial" pitchFamily="34" charset="0"/>
                <a:ea typeface="Times New Roman" pitchFamily="18" charset="0"/>
                <a:cs typeface="Arial" pitchFamily="34" charset="0"/>
              </a:rPr>
              <a:t/>
            </a:r>
            <a:br>
              <a:rPr lang="en-US" altLang="en-US" b="1" dirty="0" smtClean="0">
                <a:solidFill>
                  <a:srgbClr val="333333"/>
                </a:solidFill>
                <a:latin typeface="Arial" pitchFamily="34" charset="0"/>
                <a:ea typeface="Times New Roman" pitchFamily="18" charset="0"/>
                <a:cs typeface="Arial" pitchFamily="34" charset="0"/>
              </a:rPr>
            </a:br>
            <a:r>
              <a:rPr lang="en-US" altLang="en-US" sz="3100" b="1" dirty="0" smtClean="0">
                <a:solidFill>
                  <a:srgbClr val="333333"/>
                </a:solidFill>
                <a:latin typeface="Arial" pitchFamily="34" charset="0"/>
                <a:ea typeface="Times New Roman" pitchFamily="18" charset="0"/>
                <a:cs typeface="Arial" pitchFamily="34" charset="0"/>
              </a:rPr>
              <a:t>Requirements </a:t>
            </a:r>
            <a:r>
              <a:rPr lang="en-US" altLang="en-US" sz="3100" b="1" dirty="0">
                <a:solidFill>
                  <a:srgbClr val="333333"/>
                </a:solidFill>
                <a:latin typeface="Arial" pitchFamily="34" charset="0"/>
                <a:ea typeface="Times New Roman" pitchFamily="18" charset="0"/>
                <a:cs typeface="Arial" pitchFamily="34" charset="0"/>
              </a:rPr>
              <a:t>for Course Work and Minimum Units to proceed to Undergraduate Courses in the University</a:t>
            </a:r>
            <a:r>
              <a:rPr lang="en-GB" altLang="en-US" sz="1300" dirty="0">
                <a:latin typeface="Arial" pitchFamily="34" charset="0"/>
                <a:cs typeface="Arial" pitchFamily="34" charset="0"/>
              </a:rPr>
              <a:t/>
            </a:r>
            <a:br>
              <a:rPr lang="en-GB" altLang="en-US" sz="1300" dirty="0">
                <a:latin typeface="Arial" pitchFamily="34" charset="0"/>
                <a:cs typeface="Arial" pitchFamily="34" charset="0"/>
              </a:rPr>
            </a:br>
            <a:endParaRPr lang="en-GB" sz="3100" dirty="0"/>
          </a:p>
        </p:txBody>
      </p:sp>
      <p:sp>
        <p:nvSpPr>
          <p:cNvPr id="3" name="Content Placeholder 2"/>
          <p:cNvSpPr>
            <a:spLocks noGrp="1"/>
          </p:cNvSpPr>
          <p:nvPr>
            <p:ph idx="1"/>
          </p:nvPr>
        </p:nvSpPr>
        <p:spPr/>
        <p:txBody>
          <a:bodyPr>
            <a:normAutofit fontScale="92500" lnSpcReduction="20000"/>
          </a:bodyPr>
          <a:lstStyle/>
          <a:p>
            <a:pPr marL="0" lvl="0" indent="457200" eaLnBrk="0" fontAlgn="base" hangingPunct="0">
              <a:spcBef>
                <a:spcPct val="0"/>
              </a:spcBef>
              <a:spcAft>
                <a:spcPct val="0"/>
              </a:spcAft>
              <a:buNone/>
            </a:pPr>
            <a:endParaRPr lang="en-US" altLang="en-US" b="1" dirty="0">
              <a:solidFill>
                <a:srgbClr val="333333"/>
              </a:solidFill>
              <a:latin typeface="Arial" pitchFamily="34" charset="0"/>
              <a:ea typeface="Times New Roman" pitchFamily="18" charset="0"/>
              <a:cs typeface="Arial" pitchFamily="34" charset="0"/>
            </a:endParaRPr>
          </a:p>
          <a:p>
            <a:pPr marL="0" lvl="0" indent="457200" eaLnBrk="0" fontAlgn="base" hangingPunct="0">
              <a:spcBef>
                <a:spcPct val="0"/>
              </a:spcBef>
              <a:spcAft>
                <a:spcPct val="0"/>
              </a:spcAft>
              <a:buNone/>
            </a:pPr>
            <a:r>
              <a:rPr lang="en-US" altLang="en-US" sz="2400" b="1" dirty="0" smtClean="0">
                <a:solidFill>
                  <a:srgbClr val="333333"/>
                </a:solidFill>
                <a:latin typeface="Arial" pitchFamily="34" charset="0"/>
                <a:ea typeface="Times New Roman" pitchFamily="18" charset="0"/>
                <a:cs typeface="Arial" pitchFamily="34" charset="0"/>
              </a:rPr>
              <a:t>Options </a:t>
            </a:r>
            <a:r>
              <a:rPr lang="en-US" altLang="en-US" sz="2400" b="1" dirty="0">
                <a:solidFill>
                  <a:srgbClr val="333333"/>
                </a:solidFill>
                <a:latin typeface="Arial" pitchFamily="34" charset="0"/>
                <a:ea typeface="Times New Roman" pitchFamily="18" charset="0"/>
                <a:cs typeface="Arial" pitchFamily="34" charset="0"/>
              </a:rPr>
              <a:t>and Subject Combinations</a:t>
            </a:r>
            <a:endParaRPr lang="en-GB" altLang="en-US" sz="1100" dirty="0">
              <a:latin typeface="Arial" pitchFamily="34" charset="0"/>
              <a:cs typeface="Arial" pitchFamily="34" charset="0"/>
            </a:endParaRPr>
          </a:p>
          <a:p>
            <a:pPr marL="0" lvl="0" indent="457200" eaLnBrk="0" fontAlgn="base" hangingPunct="0">
              <a:spcBef>
                <a:spcPct val="0"/>
              </a:spcBef>
              <a:spcAft>
                <a:spcPct val="0"/>
              </a:spcAft>
              <a:buNone/>
            </a:pPr>
            <a:r>
              <a:rPr lang="en-US" altLang="en-US" sz="2000" dirty="0">
                <a:solidFill>
                  <a:srgbClr val="333333"/>
                </a:solidFill>
                <a:latin typeface="Arial" pitchFamily="34" charset="0"/>
                <a:ea typeface="Times New Roman" pitchFamily="18" charset="0"/>
                <a:cs typeface="Arial" pitchFamily="34" charset="0"/>
              </a:rPr>
              <a:t>Students will be admitted under the following options and subject </a:t>
            </a:r>
            <a:r>
              <a:rPr lang="en-US" altLang="en-US" sz="2000" dirty="0" smtClean="0">
                <a:solidFill>
                  <a:srgbClr val="333333"/>
                </a:solidFill>
                <a:latin typeface="Arial" pitchFamily="34" charset="0"/>
                <a:ea typeface="Times New Roman" pitchFamily="18" charset="0"/>
                <a:cs typeface="Arial" pitchFamily="34" charset="0"/>
              </a:rPr>
              <a:t>combinations</a:t>
            </a:r>
          </a:p>
          <a:p>
            <a:pPr marL="0" lvl="0" indent="457200" eaLnBrk="0" fontAlgn="base" hangingPunct="0">
              <a:spcBef>
                <a:spcPct val="0"/>
              </a:spcBef>
              <a:spcAft>
                <a:spcPct val="0"/>
              </a:spcAft>
              <a:buNone/>
            </a:pPr>
            <a:endParaRPr lang="en-US" sz="2000" dirty="0" smtClean="0">
              <a:solidFill>
                <a:srgbClr val="333333"/>
              </a:solidFill>
              <a:latin typeface="Arial" pitchFamily="34" charset="0"/>
              <a:cs typeface="Arial" pitchFamily="34" charset="0"/>
            </a:endParaRPr>
          </a:p>
          <a:p>
            <a:pPr marL="0" lvl="0" indent="457200" eaLnBrk="0" fontAlgn="base" hangingPunct="0">
              <a:spcBef>
                <a:spcPct val="0"/>
              </a:spcBef>
              <a:spcAft>
                <a:spcPct val="0"/>
              </a:spcAft>
              <a:buNone/>
            </a:pPr>
            <a:endParaRPr lang="en-US" sz="2000" dirty="0">
              <a:solidFill>
                <a:srgbClr val="333333"/>
              </a:solidFill>
              <a:latin typeface="Arial" pitchFamily="34" charset="0"/>
              <a:cs typeface="Arial" pitchFamily="34" charset="0"/>
            </a:endParaRPr>
          </a:p>
          <a:p>
            <a:pPr marL="0" lvl="0" indent="457200" eaLnBrk="0" fontAlgn="base" hangingPunct="0">
              <a:spcBef>
                <a:spcPct val="0"/>
              </a:spcBef>
              <a:spcAft>
                <a:spcPct val="0"/>
              </a:spcAft>
              <a:buNone/>
            </a:pPr>
            <a:endParaRPr lang="en-US" sz="2000" dirty="0">
              <a:solidFill>
                <a:srgbClr val="333333"/>
              </a:solidFill>
              <a:latin typeface="Arial" pitchFamily="34" charset="0"/>
              <a:cs typeface="Arial" pitchFamily="34" charset="0"/>
            </a:endParaRPr>
          </a:p>
          <a:p>
            <a:pPr marL="0" indent="0" fontAlgn="t">
              <a:buNone/>
            </a:pPr>
            <a:r>
              <a:rPr lang="en-US" sz="2000" b="1" dirty="0" smtClean="0"/>
              <a:t> </a:t>
            </a:r>
          </a:p>
          <a:p>
            <a:pPr marL="0" indent="0" fontAlgn="t">
              <a:buNone/>
            </a:pPr>
            <a:endParaRPr lang="en-US" sz="2000" b="1" dirty="0"/>
          </a:p>
          <a:p>
            <a:pPr marL="0" indent="0" fontAlgn="t">
              <a:buNone/>
            </a:pPr>
            <a:endParaRPr lang="en-US" sz="2000" b="1" dirty="0" smtClean="0"/>
          </a:p>
          <a:p>
            <a:pPr marL="0" indent="0" fontAlgn="t">
              <a:buNone/>
            </a:pPr>
            <a:endParaRPr lang="en-US" sz="2000" b="1" dirty="0"/>
          </a:p>
          <a:p>
            <a:pPr marL="0" indent="0" fontAlgn="t">
              <a:buNone/>
            </a:pPr>
            <a:endParaRPr lang="en-US" sz="2000" b="1" dirty="0" smtClean="0"/>
          </a:p>
          <a:p>
            <a:pPr marL="0" indent="0" fontAlgn="t">
              <a:buNone/>
            </a:pPr>
            <a:r>
              <a:rPr lang="en-US" sz="2000" b="1" dirty="0" smtClean="0"/>
              <a:t>	</a:t>
            </a:r>
            <a:r>
              <a:rPr lang="en-US" sz="2000" dirty="0" smtClean="0"/>
              <a:t>             </a:t>
            </a:r>
            <a:r>
              <a:rPr lang="en-US" sz="800" dirty="0" smtClean="0"/>
              <a:t>	</a:t>
            </a:r>
            <a:endParaRPr lang="en-GB" dirty="0"/>
          </a:p>
          <a:p>
            <a:pPr marL="0" indent="0" fontAlgn="t">
              <a:buNone/>
            </a:pPr>
            <a:r>
              <a:rPr lang="en-US" sz="2000" dirty="0" smtClean="0"/>
              <a:t>c.</a:t>
            </a:r>
            <a:r>
              <a:rPr lang="en-GB" sz="2000" dirty="0"/>
              <a:t> </a:t>
            </a:r>
            <a:r>
              <a:rPr lang="en-GB" sz="2000" dirty="0" smtClean="0"/>
              <a:t>     </a:t>
            </a:r>
            <a:r>
              <a:rPr lang="en-US" sz="2000" dirty="0" smtClean="0"/>
              <a:t>Physical Sciences</a:t>
            </a:r>
            <a:r>
              <a:rPr lang="en-GB" sz="2000" dirty="0"/>
              <a:t>	</a:t>
            </a:r>
            <a:r>
              <a:rPr lang="en-US" sz="1900" dirty="0" smtClean="0"/>
              <a:t>Chemistry/Mathematics/Physics</a:t>
            </a:r>
            <a:endParaRPr lang="en-GB" sz="1900" dirty="0"/>
          </a:p>
          <a:p>
            <a:pPr marL="2743200" lvl="6" indent="0" fontAlgn="t">
              <a:buNone/>
            </a:pPr>
            <a:endParaRPr lang="en-GB" sz="1900" dirty="0"/>
          </a:p>
          <a:p>
            <a:pPr marL="0" indent="0" fontAlgn="t">
              <a:buNone/>
            </a:pPr>
            <a:r>
              <a:rPr lang="en-GB" sz="2000" dirty="0"/>
              <a:t>	</a:t>
            </a:r>
          </a:p>
        </p:txBody>
      </p:sp>
      <p:graphicFrame>
        <p:nvGraphicFramePr>
          <p:cNvPr id="5" name="Table 4"/>
          <p:cNvGraphicFramePr>
            <a:graphicFrameLocks noGrp="1"/>
          </p:cNvGraphicFramePr>
          <p:nvPr>
            <p:extLst>
              <p:ext uri="{D42A27DB-BD31-4B8C-83A1-F6EECF244321}">
                <p14:modId xmlns:p14="http://schemas.microsoft.com/office/powerpoint/2010/main" val="3366492399"/>
              </p:ext>
            </p:extLst>
          </p:nvPr>
        </p:nvGraphicFramePr>
        <p:xfrm>
          <a:off x="323528" y="2492896"/>
          <a:ext cx="8424937" cy="3718560"/>
        </p:xfrm>
        <a:graphic>
          <a:graphicData uri="http://schemas.openxmlformats.org/drawingml/2006/table">
            <a:tbl>
              <a:tblPr firstRow="1" bandRow="1">
                <a:tableStyleId>{5C22544A-7EE6-4342-B048-85BDC9FD1C3A}</a:tableStyleId>
              </a:tblPr>
              <a:tblGrid>
                <a:gridCol w="517321"/>
                <a:gridCol w="1995380"/>
                <a:gridCol w="5912236"/>
              </a:tblGrid>
              <a:tr h="370840">
                <a:tc>
                  <a:txBody>
                    <a:bodyPr/>
                    <a:lstStyle/>
                    <a:p>
                      <a:endParaRPr lang="en-GB" dirty="0"/>
                    </a:p>
                  </a:txBody>
                  <a:tcPr/>
                </a:tc>
                <a:tc>
                  <a:txBody>
                    <a:bodyPr/>
                    <a:lstStyle/>
                    <a:p>
                      <a:r>
                        <a:rPr lang="en-US" sz="1800" b="1" dirty="0" smtClean="0"/>
                        <a:t>OPTIONS</a:t>
                      </a:r>
                      <a:r>
                        <a:rPr lang="en-GB" sz="1800" dirty="0" smtClean="0"/>
                        <a:t>	</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SUBJECT COMBINATION</a:t>
                      </a:r>
                      <a:endParaRPr lang="en-GB" sz="1800" b="1" dirty="0" smtClean="0"/>
                    </a:p>
                    <a:p>
                      <a:endParaRPr lang="en-GB"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 a. </a:t>
                      </a:r>
                      <a:endParaRPr lang="en-GB" dirty="0" smtClean="0"/>
                    </a:p>
                  </a:txBody>
                  <a:tcPr/>
                </a:tc>
                <a:tc>
                  <a:txBody>
                    <a:bodyPr/>
                    <a:lstStyle/>
                    <a:p>
                      <a:pPr marL="0" indent="0" fontAlgn="t">
                        <a:buNone/>
                      </a:pPr>
                      <a:r>
                        <a:rPr lang="en-GB" sz="2000" dirty="0" smtClean="0"/>
                        <a:t>Agricultural Sciences</a:t>
                      </a:r>
                      <a:endParaRPr lang="en-GB"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smtClean="0"/>
                        <a:t>Agricultural Science/Chemistry/Physics/English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GB" sz="1800" dirty="0" smtClean="0"/>
                        <a:t>Biology/Chemistry/Physics/English Language</a:t>
                      </a:r>
                    </a:p>
                  </a:txBody>
                  <a:tcPr/>
                </a:tc>
              </a:tr>
              <a:tr h="370840">
                <a:tc>
                  <a:txBody>
                    <a:bodyPr/>
                    <a:lstStyle/>
                    <a:p>
                      <a:pPr marL="0" indent="0" fontAlgn="t">
                        <a:buNone/>
                      </a:pPr>
                      <a:r>
                        <a:rPr lang="en-US" sz="2000" dirty="0" smtClean="0"/>
                        <a:t>B.</a:t>
                      </a:r>
                      <a:r>
                        <a:rPr lang="en-GB" sz="2000" dirty="0" smtClean="0"/>
                        <a:t> 	</a:t>
                      </a:r>
                      <a:endParaRPr lang="en-GB" dirty="0"/>
                    </a:p>
                  </a:txBody>
                  <a:tcPr/>
                </a:tc>
                <a:tc>
                  <a:txBody>
                    <a:bodyPr/>
                    <a:lstStyle/>
                    <a:p>
                      <a:pPr marL="0" indent="0" fontAlgn="t">
                        <a:buNone/>
                      </a:pPr>
                      <a:r>
                        <a:rPr lang="en-US" sz="1800" dirty="0" smtClean="0"/>
                        <a:t>Arts</a:t>
                      </a:r>
                      <a:endParaRPr lang="en-GB"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GB" sz="1800" dirty="0" smtClean="0"/>
                        <a:t>Economics/Government/Literature</a:t>
                      </a:r>
                      <a:r>
                        <a:rPr lang="en-GB" sz="1800" baseline="0" dirty="0" smtClean="0"/>
                        <a:t> in English/English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GB" sz="1800" baseline="0" dirty="0" smtClean="0"/>
                        <a:t>Government/Literature in English/Religious Studies/English Language</a:t>
                      </a:r>
                      <a:endParaRPr lang="en-GB" dirty="0" smtClean="0"/>
                    </a:p>
                    <a:p>
                      <a:endParaRPr lang="en-GB" dirty="0"/>
                    </a:p>
                  </a:txBody>
                  <a:tcPr/>
                </a:tc>
              </a:tr>
              <a:tr h="370840">
                <a:tc>
                  <a:txBody>
                    <a:bodyPr/>
                    <a:lstStyle/>
                    <a:p>
                      <a:pPr marL="0" indent="0" fontAlgn="t">
                        <a:buNone/>
                      </a:pPr>
                      <a:r>
                        <a:rPr lang="en-GB" smtClean="0"/>
                        <a:t>C.</a:t>
                      </a:r>
                      <a:endParaRPr lang="en-GB" dirty="0"/>
                    </a:p>
                  </a:txBody>
                  <a:tcPr/>
                </a:tc>
                <a:tc>
                  <a:txBody>
                    <a:bodyPr/>
                    <a:lstStyle/>
                    <a:p>
                      <a:pPr marL="0" indent="0" fontAlgn="t">
                        <a:buNone/>
                      </a:pPr>
                      <a:r>
                        <a:rPr lang="en-GB" dirty="0" smtClean="0"/>
                        <a:t>Biological Sciences</a:t>
                      </a:r>
                      <a:endParaRPr lang="en-GB"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smtClean="0"/>
                        <a:t>Agricultural Science/Chemistry/Physics/English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a:tabLst/>
                        <a:defRPr/>
                      </a:pPr>
                      <a:r>
                        <a:rPr lang="en-GB" sz="1800" dirty="0" smtClean="0"/>
                        <a:t>Biology/Chemistry/Physics/English Language</a:t>
                      </a:r>
                    </a:p>
                    <a:p>
                      <a:endParaRPr lang="en-GB" dirty="0"/>
                    </a:p>
                  </a:txBody>
                  <a:tcPr/>
                </a:tc>
              </a:tr>
            </a:tbl>
          </a:graphicData>
        </a:graphic>
      </p:graphicFrame>
    </p:spTree>
    <p:extLst>
      <p:ext uri="{BB962C8B-B14F-4D97-AF65-F5344CB8AC3E}">
        <p14:creationId xmlns:p14="http://schemas.microsoft.com/office/powerpoint/2010/main" val="8158296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lstStyle/>
          <a:p>
            <a:endParaRPr lang="en-GB"/>
          </a:p>
        </p:txBody>
      </p:sp>
      <p:sp>
        <p:nvSpPr>
          <p:cNvPr id="3" name="Content Placeholder 2"/>
          <p:cNvSpPr>
            <a:spLocks noGrp="1"/>
          </p:cNvSpPr>
          <p:nvPr>
            <p:ph idx="1"/>
          </p:nvPr>
        </p:nvSpPr>
        <p:spPr>
          <a:xfrm>
            <a:off x="323528" y="908720"/>
            <a:ext cx="8229600" cy="4525963"/>
          </a:xfrm>
        </p:spPr>
        <p:txBody>
          <a:bodyPr>
            <a:normAutofit/>
          </a:bodyPr>
          <a:lstStyle/>
          <a:p>
            <a:pPr fontAlgn="t"/>
            <a:endParaRPr lang="en-GB" b="1" dirty="0" smtClean="0"/>
          </a:p>
          <a:p>
            <a:pPr fontAlgn="t"/>
            <a:endParaRPr lang="en-GB" b="1" dirty="0" smtClean="0"/>
          </a:p>
        </p:txBody>
      </p:sp>
      <p:graphicFrame>
        <p:nvGraphicFramePr>
          <p:cNvPr id="4" name="Table 3"/>
          <p:cNvGraphicFramePr>
            <a:graphicFrameLocks noGrp="1"/>
          </p:cNvGraphicFramePr>
          <p:nvPr>
            <p:extLst>
              <p:ext uri="{D42A27DB-BD31-4B8C-83A1-F6EECF244321}">
                <p14:modId xmlns:p14="http://schemas.microsoft.com/office/powerpoint/2010/main" val="536316720"/>
              </p:ext>
            </p:extLst>
          </p:nvPr>
        </p:nvGraphicFramePr>
        <p:xfrm>
          <a:off x="827584" y="1632281"/>
          <a:ext cx="7704855" cy="5222240"/>
        </p:xfrm>
        <a:graphic>
          <a:graphicData uri="http://schemas.openxmlformats.org/drawingml/2006/table">
            <a:tbl>
              <a:tblPr firstRow="1" bandRow="1">
                <a:tableStyleId>{5C22544A-7EE6-4342-B048-85BDC9FD1C3A}</a:tableStyleId>
              </a:tblPr>
              <a:tblGrid>
                <a:gridCol w="432048"/>
                <a:gridCol w="1368152"/>
                <a:gridCol w="5904655"/>
              </a:tblGrid>
              <a:tr h="370840">
                <a:tc>
                  <a:txBody>
                    <a:bodyPr/>
                    <a:lstStyle/>
                    <a:p>
                      <a:endParaRPr lang="en-GB" dirty="0"/>
                    </a:p>
                  </a:txBody>
                  <a:tcPr/>
                </a:tc>
                <a:tc>
                  <a:txBody>
                    <a:bodyPr/>
                    <a:lstStyle/>
                    <a:p>
                      <a:endParaRPr lang="en-GB" dirty="0"/>
                    </a:p>
                  </a:txBody>
                  <a:tcPr/>
                </a:tc>
                <a:tc>
                  <a:txBody>
                    <a:bodyPr/>
                    <a:lstStyle/>
                    <a:p>
                      <a:endParaRPr lang="en-GB"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0" dirty="0" smtClean="0"/>
                        <a:t>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0" dirty="0" smtClean="0"/>
                        <a:t>Education</a:t>
                      </a:r>
                    </a:p>
                  </a:txBody>
                  <a:tcPr/>
                </a:tc>
                <a:tc>
                  <a:txBody>
                    <a:bodyPr/>
                    <a:lstStyle/>
                    <a:p>
                      <a:r>
                        <a:rPr lang="en-US" b="0" dirty="0" smtClean="0"/>
                        <a:t>1.  Agricultural Science/Chemistry/Physics/English Language</a:t>
                      </a:r>
                      <a:endParaRPr lang="en-GB" b="0" dirty="0" smtClean="0"/>
                    </a:p>
                    <a:p>
                      <a:pPr marL="342900" indent="-342900">
                        <a:buAutoNum type="arabicPeriod" startAt="2"/>
                      </a:pPr>
                      <a:r>
                        <a:rPr lang="en-GB" b="0" dirty="0" smtClean="0"/>
                        <a:t>Biology/Chemistry/Physics/English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Government/Literature in English/Religious Studies/English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Literature in English/CRS/Government/English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Government/Literature in English/Economics/English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Chemistry/Physics/Geography/English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Mathematics/Chemistry/Physics/English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Geography/Chemistry/Physics/English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r>
                        <a:rPr lang="en-GB" sz="1800" baseline="0" dirty="0" smtClean="0"/>
                        <a:t>Economics/Mathematics/Geography/Government/</a:t>
                      </a:r>
                    </a:p>
                    <a:p>
                      <a:pPr marL="0" marR="0" indent="0" algn="l" defTabSz="914400" rtl="0" eaLnBrk="1" fontAlgn="auto" latinLnBrk="0" hangingPunct="1">
                        <a:lnSpc>
                          <a:spcPct val="100000"/>
                        </a:lnSpc>
                        <a:spcBef>
                          <a:spcPts val="0"/>
                        </a:spcBef>
                        <a:spcAft>
                          <a:spcPts val="0"/>
                        </a:spcAft>
                        <a:buClrTx/>
                        <a:buSzTx/>
                        <a:buFontTx/>
                        <a:buNone/>
                        <a:tabLst/>
                        <a:defRPr/>
                      </a:pPr>
                      <a:r>
                        <a:rPr lang="en-GB" sz="1800" baseline="0" dirty="0" smtClean="0"/>
                        <a:t>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10"/>
                        <a:tabLst/>
                        <a:defRPr/>
                      </a:pPr>
                      <a:r>
                        <a:rPr lang="en-GB" sz="1800" baseline="0" dirty="0" smtClean="0"/>
                        <a:t>Economics/Government/Geography/English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10"/>
                        <a:tabLst/>
                        <a:defRPr/>
                      </a:pPr>
                      <a:r>
                        <a:rPr lang="en-GB" sz="1800" baseline="0" dirty="0" smtClean="0"/>
                        <a:t>Economics/Government/Mathematics/English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10"/>
                        <a:tabLst/>
                        <a:defRPr/>
                      </a:pPr>
                      <a:r>
                        <a:rPr lang="en-GB" sz="1800" baseline="0" dirty="0" smtClean="0"/>
                        <a:t>Mathematics/Geography/Economics/English Language</a:t>
                      </a:r>
                    </a:p>
                    <a:p>
                      <a:pPr marL="342900" marR="0" indent="-342900" algn="l" defTabSz="914400" rtl="0" eaLnBrk="1" fontAlgn="auto" latinLnBrk="0" hangingPunct="1">
                        <a:lnSpc>
                          <a:spcPct val="100000"/>
                        </a:lnSpc>
                        <a:spcBef>
                          <a:spcPts val="0"/>
                        </a:spcBef>
                        <a:spcAft>
                          <a:spcPts val="0"/>
                        </a:spcAft>
                        <a:buClrTx/>
                        <a:buSzTx/>
                        <a:buFontTx/>
                        <a:buAutoNum type="arabicPeriod" startAt="2"/>
                        <a:tabLst/>
                        <a:defRPr/>
                      </a:pPr>
                      <a:endParaRPr lang="en-GB"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0" dirty="0" smtClean="0"/>
                        <a: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b="0" dirty="0" smtClean="0"/>
                    </a:p>
                  </a:txBody>
                  <a:tcPr/>
                </a:tc>
                <a:tc>
                  <a:txBody>
                    <a:bodyPr/>
                    <a:lstStyle/>
                    <a:p>
                      <a:endParaRPr lang="en-GB" b="0" dirty="0" smtClean="0"/>
                    </a:p>
                  </a:txBody>
                  <a:tcPr/>
                </a:tc>
              </a:tr>
            </a:tbl>
          </a:graphicData>
        </a:graphic>
      </p:graphicFrame>
    </p:spTree>
    <p:extLst>
      <p:ext uri="{BB962C8B-B14F-4D97-AF65-F5344CB8AC3E}">
        <p14:creationId xmlns:p14="http://schemas.microsoft.com/office/powerpoint/2010/main" val="12005239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5085001"/>
              </p:ext>
            </p:extLst>
          </p:nvPr>
        </p:nvGraphicFramePr>
        <p:xfrm>
          <a:off x="457200" y="1600200"/>
          <a:ext cx="8229600" cy="1925320"/>
        </p:xfrm>
        <a:graphic>
          <a:graphicData uri="http://schemas.openxmlformats.org/drawingml/2006/table">
            <a:tbl>
              <a:tblPr firstRow="1" bandRow="1">
                <a:tableStyleId>{5C22544A-7EE6-4342-B048-85BDC9FD1C3A}</a:tableStyleId>
              </a:tblPr>
              <a:tblGrid>
                <a:gridCol w="442392"/>
                <a:gridCol w="1728192"/>
                <a:gridCol w="6059016"/>
              </a:tblGrid>
              <a:tr h="370840">
                <a:tc>
                  <a:txBody>
                    <a:bodyPr/>
                    <a:lstStyle/>
                    <a:p>
                      <a:endParaRPr lang="en-GB" dirty="0"/>
                    </a:p>
                  </a:txBody>
                  <a:tcPr/>
                </a:tc>
                <a:tc>
                  <a:txBody>
                    <a:bodyPr/>
                    <a:lstStyle/>
                    <a:p>
                      <a:endParaRPr lang="en-GB"/>
                    </a:p>
                  </a:txBody>
                  <a:tcPr/>
                </a:tc>
                <a:tc>
                  <a:txBody>
                    <a:bodyPr/>
                    <a:lstStyle/>
                    <a:p>
                      <a:endParaRPr lang="en-GB" dirty="0"/>
                    </a:p>
                  </a:txBody>
                  <a:tcPr/>
                </a:tc>
              </a:tr>
              <a:tr h="370840">
                <a:tc>
                  <a:txBody>
                    <a:bodyPr/>
                    <a:lstStyle/>
                    <a:p>
                      <a:r>
                        <a:rPr lang="en-GB" dirty="0" smtClean="0"/>
                        <a:t>E.</a:t>
                      </a:r>
                      <a:endParaRPr lang="en-GB" dirty="0"/>
                    </a:p>
                  </a:txBody>
                  <a:tcPr/>
                </a:tc>
                <a:tc>
                  <a:txBody>
                    <a:bodyPr/>
                    <a:lstStyle/>
                    <a:p>
                      <a:r>
                        <a:rPr lang="en-GB" dirty="0" smtClean="0"/>
                        <a:t>Physics Sciences</a:t>
                      </a:r>
                      <a:endParaRPr lang="en-GB" dirty="0"/>
                    </a:p>
                  </a:txBody>
                  <a:tcPr/>
                </a:tc>
                <a:tc>
                  <a:txBody>
                    <a:bodyPr/>
                    <a:lstStyle/>
                    <a:p>
                      <a:pPr marL="342900" indent="-342900">
                        <a:buAutoNum type="arabicPeriod"/>
                      </a:pPr>
                      <a:r>
                        <a:rPr lang="en-GB" dirty="0" smtClean="0"/>
                        <a:t>Mathematics/Chemistry/Physics/English Language</a:t>
                      </a:r>
                    </a:p>
                    <a:p>
                      <a:pPr marL="342900" indent="-342900">
                        <a:buAutoNum type="arabicPeriod"/>
                      </a:pPr>
                      <a:r>
                        <a:rPr lang="en-GB" dirty="0" smtClean="0"/>
                        <a:t>Geography/Chemistry/Physics/English Language</a:t>
                      </a:r>
                      <a:endParaRPr lang="en-GB" dirty="0"/>
                    </a:p>
                  </a:txBody>
                  <a:tcPr/>
                </a:tc>
              </a:tr>
              <a:tr h="370840">
                <a:tc>
                  <a:txBody>
                    <a:bodyPr/>
                    <a:lstStyle/>
                    <a:p>
                      <a:r>
                        <a:rPr lang="en-GB" dirty="0" smtClean="0"/>
                        <a:t>F.</a:t>
                      </a:r>
                      <a:endParaRPr lang="en-GB" dirty="0"/>
                    </a:p>
                  </a:txBody>
                  <a:tcPr/>
                </a:tc>
                <a:tc>
                  <a:txBody>
                    <a:bodyPr/>
                    <a:lstStyle/>
                    <a:p>
                      <a:r>
                        <a:rPr lang="en-GB" dirty="0" smtClean="0"/>
                        <a:t>Social</a:t>
                      </a:r>
                      <a:r>
                        <a:rPr lang="en-GB" baseline="0" dirty="0" smtClean="0"/>
                        <a:t> Sciences</a:t>
                      </a:r>
                      <a:endParaRPr lang="en-GB" dirty="0"/>
                    </a:p>
                  </a:txBody>
                  <a:tcPr/>
                </a:tc>
                <a:tc>
                  <a:txBody>
                    <a:bodyPr/>
                    <a:lstStyle/>
                    <a:p>
                      <a:pPr marL="342900" indent="-342900">
                        <a:buAutoNum type="arabicPeriod"/>
                      </a:pPr>
                      <a:r>
                        <a:rPr lang="en-GB" dirty="0" smtClean="0"/>
                        <a:t>Economics/Government/Mathematics/English Language</a:t>
                      </a:r>
                    </a:p>
                    <a:p>
                      <a:pPr marL="342900" indent="-342900">
                        <a:buAutoNum type="arabicPeriod"/>
                      </a:pPr>
                      <a:r>
                        <a:rPr lang="en-GB" dirty="0" smtClean="0"/>
                        <a:t>Mathematics/Geography/Economics/English Language</a:t>
                      </a:r>
                    </a:p>
                    <a:p>
                      <a:pPr marL="342900" indent="-342900">
                        <a:buAutoNum type="arabicPeriod"/>
                      </a:pPr>
                      <a:r>
                        <a:rPr lang="en-GB" dirty="0" smtClean="0"/>
                        <a:t>Economics/Government/Geography/English</a:t>
                      </a:r>
                      <a:r>
                        <a:rPr lang="en-GB" baseline="0" dirty="0" smtClean="0"/>
                        <a:t> Language</a:t>
                      </a:r>
                      <a:endParaRPr lang="en-GB" dirty="0"/>
                    </a:p>
                  </a:txBody>
                  <a:tcPr/>
                </a:tc>
              </a:tr>
            </a:tbl>
          </a:graphicData>
        </a:graphic>
      </p:graphicFrame>
    </p:spTree>
    <p:extLst>
      <p:ext uri="{BB962C8B-B14F-4D97-AF65-F5344CB8AC3E}">
        <p14:creationId xmlns:p14="http://schemas.microsoft.com/office/powerpoint/2010/main" val="29643979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a:xfrm>
            <a:off x="395536" y="980728"/>
            <a:ext cx="8229600" cy="4525963"/>
          </a:xfrm>
        </p:spPr>
        <p:txBody>
          <a:bodyPr>
            <a:noAutofit/>
          </a:bodyPr>
          <a:lstStyle/>
          <a:p>
            <a:pPr marL="0" lvl="0" indent="0" algn="ctr">
              <a:buNone/>
            </a:pPr>
            <a:r>
              <a:rPr lang="en-US" sz="2800" b="1" dirty="0"/>
              <a:t>Placement for Admission into Degree </a:t>
            </a:r>
            <a:r>
              <a:rPr lang="en-US" sz="2800" b="1" dirty="0" err="1"/>
              <a:t>Programmes</a:t>
            </a:r>
            <a:endParaRPr lang="en-GB" sz="2800" dirty="0"/>
          </a:p>
          <a:p>
            <a:r>
              <a:rPr lang="en-US" sz="2800" dirty="0"/>
              <a:t>To be qualified for consideration for admission into 100 Level of the relevant degree </a:t>
            </a:r>
            <a:r>
              <a:rPr lang="en-US" sz="2800" dirty="0" err="1"/>
              <a:t>programmes</a:t>
            </a:r>
            <a:r>
              <a:rPr lang="en-US" sz="2800" dirty="0"/>
              <a:t> of the University, an overall score of </a:t>
            </a:r>
            <a:r>
              <a:rPr lang="en-US" sz="2800" u="dbl" dirty="0"/>
              <a:t>60%</a:t>
            </a:r>
            <a:r>
              <a:rPr lang="en-US" sz="2800" dirty="0"/>
              <a:t> and above in the examinations and continuous assessment (comprising regular tests, assignments and end of contact period examinations) is required.  Admission will be strictly based on merit and entry requirements in proportion to the admission quota of the University for the various degree </a:t>
            </a:r>
            <a:r>
              <a:rPr lang="en-US" sz="2800" dirty="0" err="1"/>
              <a:t>programmes</a:t>
            </a:r>
            <a:r>
              <a:rPr lang="en-US" sz="2800" dirty="0"/>
              <a:t>.  In addition, the students must have at least the national minimum cut-off mark for UTME.  </a:t>
            </a:r>
            <a:endParaRPr lang="en-GB" sz="2800" dirty="0"/>
          </a:p>
        </p:txBody>
      </p:sp>
    </p:spTree>
    <p:extLst>
      <p:ext uri="{BB962C8B-B14F-4D97-AF65-F5344CB8AC3E}">
        <p14:creationId xmlns:p14="http://schemas.microsoft.com/office/powerpoint/2010/main" val="26026624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GB" dirty="0"/>
          </a:p>
        </p:txBody>
      </p:sp>
      <p:sp>
        <p:nvSpPr>
          <p:cNvPr id="3" name="Content Placeholder 2"/>
          <p:cNvSpPr>
            <a:spLocks noGrp="1"/>
          </p:cNvSpPr>
          <p:nvPr>
            <p:ph idx="1"/>
          </p:nvPr>
        </p:nvSpPr>
        <p:spPr>
          <a:xfrm>
            <a:off x="467544" y="908720"/>
            <a:ext cx="8229600" cy="5472608"/>
          </a:xfrm>
        </p:spPr>
        <p:txBody>
          <a:bodyPr>
            <a:normAutofit fontScale="25000" lnSpcReduction="20000"/>
          </a:bodyPr>
          <a:lstStyle/>
          <a:p>
            <a:r>
              <a:rPr lang="en-US" sz="8000" dirty="0" smtClean="0"/>
              <a:t>Students </a:t>
            </a:r>
            <a:r>
              <a:rPr lang="en-US" sz="8000" dirty="0"/>
              <a:t>will be placed in line with their choices of degree </a:t>
            </a:r>
            <a:r>
              <a:rPr lang="en-US" sz="8000" dirty="0" err="1"/>
              <a:t>programmes</a:t>
            </a:r>
            <a:r>
              <a:rPr lang="en-US" sz="8000" dirty="0"/>
              <a:t>. In case a student is not qualified for placement into his/her choice of degree </a:t>
            </a:r>
            <a:r>
              <a:rPr lang="en-US" sz="8000" dirty="0" err="1"/>
              <a:t>programmes</a:t>
            </a:r>
            <a:r>
              <a:rPr lang="en-US" sz="8000" dirty="0"/>
              <a:t>, he/she may be placed into another degree </a:t>
            </a:r>
            <a:r>
              <a:rPr lang="en-US" sz="8000" dirty="0" err="1"/>
              <a:t>programme</a:t>
            </a:r>
            <a:r>
              <a:rPr lang="en-US" sz="8000" dirty="0"/>
              <a:t> for which he/she is qualified.</a:t>
            </a:r>
            <a:endParaRPr lang="en-GB" sz="8000" dirty="0"/>
          </a:p>
          <a:p>
            <a:pPr marL="0" indent="0">
              <a:buNone/>
            </a:pPr>
            <a:r>
              <a:rPr lang="en-US" sz="8000" dirty="0"/>
              <a:t> </a:t>
            </a:r>
            <a:r>
              <a:rPr lang="en-US" sz="8000" b="1" dirty="0"/>
              <a:t>	Quality Assurance </a:t>
            </a:r>
            <a:endParaRPr lang="en-GB" sz="8000" dirty="0"/>
          </a:p>
          <a:p>
            <a:r>
              <a:rPr lang="en-US" sz="8000" dirty="0"/>
              <a:t>The following measures will be put in place for quality assurance of the Pre-Degree </a:t>
            </a:r>
            <a:r>
              <a:rPr lang="en-US" sz="8000" dirty="0" err="1"/>
              <a:t>programmes</a:t>
            </a:r>
            <a:r>
              <a:rPr lang="en-US" sz="8000" dirty="0"/>
              <a:t>.</a:t>
            </a:r>
            <a:endParaRPr lang="en-GB" sz="8000" dirty="0"/>
          </a:p>
          <a:p>
            <a:pPr lvl="0"/>
            <a:r>
              <a:rPr lang="en-US" sz="8000" dirty="0"/>
              <a:t>Strict compliance with admission criteria. </a:t>
            </a:r>
            <a:endParaRPr lang="en-GB" sz="8000" dirty="0"/>
          </a:p>
          <a:p>
            <a:pPr lvl="0"/>
            <a:r>
              <a:rPr lang="en-US" sz="8000" dirty="0"/>
              <a:t>Courses will be taught by the academic staff who are specialists in the various subjects.</a:t>
            </a:r>
            <a:endParaRPr lang="en-GB" sz="8000" dirty="0"/>
          </a:p>
          <a:p>
            <a:pPr lvl="0"/>
            <a:r>
              <a:rPr lang="en-US" sz="8000" dirty="0"/>
              <a:t>Frequent verification of students’ identity for tests and examinations.</a:t>
            </a:r>
            <a:endParaRPr lang="en-GB" sz="8000" dirty="0"/>
          </a:p>
          <a:p>
            <a:pPr lvl="0"/>
            <a:r>
              <a:rPr lang="en-US" sz="8000" dirty="0"/>
              <a:t>A minimum of 70% class attendance by the students will be required to be eligible to sit for each contact period examination.</a:t>
            </a:r>
            <a:endParaRPr lang="en-GB" sz="8000" dirty="0"/>
          </a:p>
          <a:p>
            <a:pPr lvl="0"/>
            <a:r>
              <a:rPr lang="en-US" sz="8000" dirty="0"/>
              <a:t>Periodic evaluation of the </a:t>
            </a:r>
            <a:r>
              <a:rPr lang="en-US" sz="8000" dirty="0" err="1"/>
              <a:t>programmes’</a:t>
            </a:r>
            <a:r>
              <a:rPr lang="en-US" sz="8000" dirty="0"/>
              <a:t> effectiveness, including assessment of teaching, learning outcomes and the satisfaction of instructors and students. </a:t>
            </a:r>
            <a:endParaRPr lang="en-GB" sz="8000" dirty="0"/>
          </a:p>
          <a:p>
            <a:pPr lvl="0"/>
            <a:r>
              <a:rPr lang="en-US" sz="8000" dirty="0"/>
              <a:t>Prompt processing and release of results.</a:t>
            </a:r>
            <a:endParaRPr lang="en-GB" sz="8000" dirty="0"/>
          </a:p>
          <a:p>
            <a:pPr marL="0" indent="0">
              <a:buNone/>
            </a:pPr>
            <a:r>
              <a:rPr lang="en-US" sz="8000" b="1" dirty="0"/>
              <a:t> </a:t>
            </a:r>
            <a:endParaRPr lang="en-GB" sz="8000" dirty="0"/>
          </a:p>
          <a:p>
            <a:pPr marL="0" indent="0">
              <a:buNone/>
            </a:pPr>
            <a:r>
              <a:rPr lang="en-US" sz="8000" b="1" dirty="0"/>
              <a:t> </a:t>
            </a:r>
            <a:endParaRPr lang="en-GB" sz="8000" dirty="0"/>
          </a:p>
          <a:p>
            <a:endParaRPr lang="en-GB" dirty="0"/>
          </a:p>
        </p:txBody>
      </p:sp>
    </p:spTree>
    <p:extLst>
      <p:ext uri="{BB962C8B-B14F-4D97-AF65-F5344CB8AC3E}">
        <p14:creationId xmlns:p14="http://schemas.microsoft.com/office/powerpoint/2010/main" val="3840664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STRENGTHS OF THE DIRECTORATE OF PRE-DEGREE PROGRAMMES FROM 2012/2013 SESSION T0 DATE </a:t>
            </a:r>
            <a:endParaRPr lang="en-GB" dirty="0"/>
          </a:p>
        </p:txBody>
      </p:sp>
      <p:sp>
        <p:nvSpPr>
          <p:cNvPr id="3" name="Content Placeholder 2"/>
          <p:cNvSpPr>
            <a:spLocks noGrp="1"/>
          </p:cNvSpPr>
          <p:nvPr>
            <p:ph idx="1"/>
          </p:nvPr>
        </p:nvSpPr>
        <p:spPr/>
        <p:txBody>
          <a:bodyPr>
            <a:normAutofit fontScale="70000" lnSpcReduction="20000"/>
          </a:bodyPr>
          <a:lstStyle/>
          <a:p>
            <a:r>
              <a:rPr lang="en-GB" dirty="0"/>
              <a:t>DPDP Offers all the Programmes in the University give rooms for more prospective candidates for the Programme.</a:t>
            </a:r>
          </a:p>
          <a:p>
            <a:r>
              <a:rPr lang="en-GB" dirty="0"/>
              <a:t>Micro University nature of the Programme i.e. the Programme deals with all the Faculties in the University, the entire University community and the  Country as a whole.</a:t>
            </a:r>
          </a:p>
          <a:p>
            <a:r>
              <a:rPr lang="en-GB" dirty="0"/>
              <a:t>Abundance of human and Physical resources (students, Lecturers, </a:t>
            </a:r>
            <a:r>
              <a:rPr lang="en-GB" dirty="0" err="1"/>
              <a:t>Personnels</a:t>
            </a:r>
            <a:r>
              <a:rPr lang="en-GB" dirty="0"/>
              <a:t> and formidable stakeholders of the programme.</a:t>
            </a:r>
          </a:p>
          <a:p>
            <a:r>
              <a:rPr lang="en-GB" dirty="0"/>
              <a:t>Attractive </a:t>
            </a:r>
            <a:r>
              <a:rPr lang="en-GB" dirty="0" err="1"/>
              <a:t>honourarium</a:t>
            </a:r>
            <a:r>
              <a:rPr lang="en-GB" dirty="0"/>
              <a:t> for the Instructors even though none for the Director and  Assistant Directors and other Stakeholders.</a:t>
            </a:r>
          </a:p>
          <a:p>
            <a:r>
              <a:rPr lang="en-GB" dirty="0" smtClean="0"/>
              <a:t>Excellent performance of </a:t>
            </a:r>
            <a:r>
              <a:rPr lang="en-GB" dirty="0"/>
              <a:t>our students in both internal and external </a:t>
            </a:r>
            <a:r>
              <a:rPr lang="en-GB" dirty="0" smtClean="0"/>
              <a:t>examinations.  </a:t>
            </a:r>
            <a:r>
              <a:rPr lang="en-GB" dirty="0"/>
              <a:t>Most of the time our product is usually the best overall best student for the University.</a:t>
            </a:r>
          </a:p>
          <a:p>
            <a:r>
              <a:rPr lang="en-GB" dirty="0"/>
              <a:t>Admission opportunity for our students into all the Degree Programmes in the University through Unified Tertiary Matriculation Examination (UTME).  </a:t>
            </a:r>
          </a:p>
          <a:p>
            <a:endParaRPr lang="en-GB" dirty="0"/>
          </a:p>
          <a:p>
            <a:endParaRPr lang="en-GB" dirty="0"/>
          </a:p>
          <a:p>
            <a:endParaRPr lang="en-GB" dirty="0"/>
          </a:p>
        </p:txBody>
      </p:sp>
    </p:spTree>
    <p:extLst>
      <p:ext uri="{BB962C8B-B14F-4D97-AF65-F5344CB8AC3E}">
        <p14:creationId xmlns:p14="http://schemas.microsoft.com/office/powerpoint/2010/main" val="25485037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360040"/>
          </a:xfrm>
        </p:spPr>
        <p:txBody>
          <a:bodyPr>
            <a:noAutofit/>
          </a:bodyPr>
          <a:lstStyle/>
          <a:p>
            <a:r>
              <a:rPr lang="en-GB" sz="3200" b="1" dirty="0" smtClean="0"/>
              <a:t> PRE-DEGREE PROGRAMMES  </a:t>
            </a:r>
            <a:endParaRPr lang="en-GB" sz="3200" b="1" dirty="0"/>
          </a:p>
        </p:txBody>
      </p:sp>
      <p:sp>
        <p:nvSpPr>
          <p:cNvPr id="3" name="Content Placeholder 2"/>
          <p:cNvSpPr>
            <a:spLocks noGrp="1"/>
          </p:cNvSpPr>
          <p:nvPr>
            <p:ph idx="1"/>
          </p:nvPr>
        </p:nvSpPr>
        <p:spPr>
          <a:xfrm>
            <a:off x="467544" y="980728"/>
            <a:ext cx="8229600" cy="4525963"/>
          </a:xfrm>
        </p:spPr>
        <p:txBody>
          <a:bodyPr>
            <a:normAutofit/>
          </a:bodyPr>
          <a:lstStyle/>
          <a:p>
            <a:r>
              <a:rPr lang="en-GB" sz="2000" dirty="0" smtClean="0"/>
              <a:t>We run all the undergraduate Programmes in the University made up of 25 teaching subjects at taking care of all the subject combinations at UTME.</a:t>
            </a:r>
          </a:p>
          <a:p>
            <a:r>
              <a:rPr lang="en-GB" sz="2000" dirty="0" smtClean="0"/>
              <a:t>The analysis of the Programmes, Options, Faculties and  Subject combinations is as follows:</a:t>
            </a:r>
          </a:p>
          <a:p>
            <a:pPr marL="0" indent="0">
              <a:buNone/>
            </a:pPr>
            <a:endParaRPr lang="en-GB" sz="2000" dirty="0" smtClean="0"/>
          </a:p>
        </p:txBody>
      </p:sp>
      <p:graphicFrame>
        <p:nvGraphicFramePr>
          <p:cNvPr id="4" name="Table 3"/>
          <p:cNvGraphicFramePr>
            <a:graphicFrameLocks noGrp="1"/>
          </p:cNvGraphicFramePr>
          <p:nvPr>
            <p:extLst>
              <p:ext uri="{D42A27DB-BD31-4B8C-83A1-F6EECF244321}">
                <p14:modId xmlns:p14="http://schemas.microsoft.com/office/powerpoint/2010/main" val="492350898"/>
              </p:ext>
            </p:extLst>
          </p:nvPr>
        </p:nvGraphicFramePr>
        <p:xfrm>
          <a:off x="755576" y="2780928"/>
          <a:ext cx="7272809" cy="4023360"/>
        </p:xfrm>
        <a:graphic>
          <a:graphicData uri="http://schemas.openxmlformats.org/drawingml/2006/table">
            <a:tbl>
              <a:tblPr firstRow="1" bandRow="1">
                <a:tableStyleId>{5C22544A-7EE6-4342-B048-85BDC9FD1C3A}</a:tableStyleId>
              </a:tblPr>
              <a:tblGrid>
                <a:gridCol w="1818202"/>
                <a:gridCol w="2358262"/>
                <a:gridCol w="1440160"/>
                <a:gridCol w="1656185"/>
              </a:tblGrid>
              <a:tr h="288032">
                <a:tc>
                  <a:txBody>
                    <a:bodyPr/>
                    <a:lstStyle/>
                    <a:p>
                      <a:r>
                        <a:rPr lang="en-GB" dirty="0" smtClean="0"/>
                        <a:t>Options</a:t>
                      </a:r>
                      <a:endParaRPr lang="en-GB" dirty="0"/>
                    </a:p>
                  </a:txBody>
                  <a:tcPr/>
                </a:tc>
                <a:tc>
                  <a:txBody>
                    <a:bodyPr/>
                    <a:lstStyle/>
                    <a:p>
                      <a:r>
                        <a:rPr lang="en-GB" dirty="0" smtClean="0"/>
                        <a:t>Faculties</a:t>
                      </a:r>
                      <a:endParaRPr lang="en-GB" dirty="0"/>
                    </a:p>
                  </a:txBody>
                  <a:tcPr/>
                </a:tc>
                <a:tc>
                  <a:txBody>
                    <a:bodyPr/>
                    <a:lstStyle/>
                    <a:p>
                      <a:r>
                        <a:rPr lang="en-GB" dirty="0" smtClean="0"/>
                        <a:t>No of</a:t>
                      </a:r>
                      <a:r>
                        <a:rPr lang="en-GB" baseline="0" dirty="0" smtClean="0"/>
                        <a:t> Programmes</a:t>
                      </a:r>
                      <a:endParaRPr lang="en-GB" dirty="0"/>
                    </a:p>
                  </a:txBody>
                  <a:tcPr/>
                </a:tc>
                <a:tc>
                  <a:txBody>
                    <a:bodyPr/>
                    <a:lstStyle/>
                    <a:p>
                      <a:r>
                        <a:rPr lang="en-GB" dirty="0" smtClean="0"/>
                        <a:t>UTME Subject Combinations</a:t>
                      </a:r>
                      <a:endParaRPr lang="en-GB" dirty="0"/>
                    </a:p>
                  </a:txBody>
                  <a:tcPr/>
                </a:tc>
              </a:tr>
              <a:tr h="288032">
                <a:tc>
                  <a:txBody>
                    <a:bodyPr/>
                    <a:lstStyle/>
                    <a:p>
                      <a:r>
                        <a:rPr lang="en-GB" dirty="0" smtClean="0"/>
                        <a:t>Agricultural</a:t>
                      </a:r>
                      <a:r>
                        <a:rPr lang="en-GB" baseline="0" dirty="0" smtClean="0"/>
                        <a:t> Sciences</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Agricultural</a:t>
                      </a:r>
                      <a:r>
                        <a:rPr lang="en-GB" baseline="0" dirty="0" smtClean="0"/>
                        <a:t> Sciences</a:t>
                      </a:r>
                      <a:endParaRPr lang="en-GB" dirty="0" smtClean="0"/>
                    </a:p>
                  </a:txBody>
                  <a:tcPr/>
                </a:tc>
                <a:tc>
                  <a:txBody>
                    <a:bodyPr/>
                    <a:lstStyle/>
                    <a:p>
                      <a:r>
                        <a:rPr lang="en-GB" dirty="0" smtClean="0"/>
                        <a:t>6</a:t>
                      </a:r>
                      <a:endParaRPr lang="en-GB" dirty="0"/>
                    </a:p>
                  </a:txBody>
                  <a:tcPr/>
                </a:tc>
                <a:tc>
                  <a:txBody>
                    <a:bodyPr/>
                    <a:lstStyle/>
                    <a:p>
                      <a:r>
                        <a:rPr lang="en-GB" dirty="0" smtClean="0"/>
                        <a:t>2</a:t>
                      </a:r>
                      <a:endParaRPr lang="en-GB" dirty="0"/>
                    </a:p>
                  </a:txBody>
                  <a:tcPr/>
                </a:tc>
              </a:tr>
              <a:tr h="288032">
                <a:tc>
                  <a:txBody>
                    <a:bodyPr/>
                    <a:lstStyle/>
                    <a:p>
                      <a:r>
                        <a:rPr lang="en-GB" dirty="0" smtClean="0"/>
                        <a:t>Arts</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Law/Arts</a:t>
                      </a:r>
                    </a:p>
                  </a:txBody>
                  <a:tcPr/>
                </a:tc>
                <a:tc>
                  <a:txBody>
                    <a:bodyPr/>
                    <a:lstStyle/>
                    <a:p>
                      <a:r>
                        <a:rPr lang="en-GB" dirty="0" smtClean="0"/>
                        <a:t>8</a:t>
                      </a:r>
                      <a:endParaRPr lang="en-GB" dirty="0"/>
                    </a:p>
                  </a:txBody>
                  <a:tcPr/>
                </a:tc>
                <a:tc>
                  <a:txBody>
                    <a:bodyPr/>
                    <a:lstStyle/>
                    <a:p>
                      <a:r>
                        <a:rPr lang="en-GB" dirty="0" smtClean="0"/>
                        <a:t>2</a:t>
                      </a:r>
                      <a:endParaRPr lang="en-GB" dirty="0"/>
                    </a:p>
                  </a:txBody>
                  <a:tcPr/>
                </a:tc>
              </a:tr>
              <a:tr h="288032">
                <a:tc>
                  <a:txBody>
                    <a:bodyPr/>
                    <a:lstStyle/>
                    <a:p>
                      <a:r>
                        <a:rPr lang="en-GB" dirty="0" smtClean="0"/>
                        <a:t>Biological Sciences</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Medicine/Sciences</a:t>
                      </a:r>
                    </a:p>
                  </a:txBody>
                  <a:tcPr/>
                </a:tc>
                <a:tc>
                  <a:txBody>
                    <a:bodyPr/>
                    <a:lstStyle/>
                    <a:p>
                      <a:r>
                        <a:rPr lang="en-GB" dirty="0" smtClean="0"/>
                        <a:t>6</a:t>
                      </a:r>
                      <a:endParaRPr lang="en-GB" dirty="0"/>
                    </a:p>
                  </a:txBody>
                  <a:tcPr/>
                </a:tc>
                <a:tc>
                  <a:txBody>
                    <a:bodyPr/>
                    <a:lstStyle/>
                    <a:p>
                      <a:r>
                        <a:rPr lang="en-GB" dirty="0" smtClean="0"/>
                        <a:t>2</a:t>
                      </a:r>
                      <a:endParaRPr lang="en-GB" dirty="0"/>
                    </a:p>
                  </a:txBody>
                  <a:tcPr/>
                </a:tc>
              </a:tr>
              <a:tr h="288032">
                <a:tc>
                  <a:txBody>
                    <a:bodyPr/>
                    <a:lstStyle/>
                    <a:p>
                      <a:r>
                        <a:rPr lang="en-GB" dirty="0" smtClean="0"/>
                        <a:t>Education</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Education</a:t>
                      </a:r>
                    </a:p>
                  </a:txBody>
                  <a:tcPr/>
                </a:tc>
                <a:tc>
                  <a:txBody>
                    <a:bodyPr/>
                    <a:lstStyle/>
                    <a:p>
                      <a:r>
                        <a:rPr lang="en-GB" dirty="0" smtClean="0"/>
                        <a:t>24</a:t>
                      </a:r>
                      <a:endParaRPr lang="en-GB" dirty="0"/>
                    </a:p>
                  </a:txBody>
                  <a:tcPr/>
                </a:tc>
                <a:tc>
                  <a:txBody>
                    <a:bodyPr/>
                    <a:lstStyle/>
                    <a:p>
                      <a:r>
                        <a:rPr lang="en-GB" dirty="0" smtClean="0"/>
                        <a:t>12</a:t>
                      </a:r>
                      <a:endParaRPr lang="en-GB" dirty="0"/>
                    </a:p>
                  </a:txBody>
                  <a:tcPr/>
                </a:tc>
              </a:tr>
              <a:tr h="288032">
                <a:tc>
                  <a:txBody>
                    <a:bodyPr/>
                    <a:lstStyle/>
                    <a:p>
                      <a:r>
                        <a:rPr lang="en-GB" dirty="0" smtClean="0"/>
                        <a:t>Physical</a:t>
                      </a:r>
                      <a:r>
                        <a:rPr lang="en-GB" baseline="0" dirty="0" smtClean="0"/>
                        <a:t> Sciences</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Science/Engineering</a:t>
                      </a:r>
                    </a:p>
                  </a:txBody>
                  <a:tcPr/>
                </a:tc>
                <a:tc>
                  <a:txBody>
                    <a:bodyPr/>
                    <a:lstStyle/>
                    <a:p>
                      <a:r>
                        <a:rPr lang="en-GB" dirty="0" smtClean="0"/>
                        <a:t>9</a:t>
                      </a:r>
                      <a:endParaRPr lang="en-GB" dirty="0"/>
                    </a:p>
                  </a:txBody>
                  <a:tcPr/>
                </a:tc>
                <a:tc>
                  <a:txBody>
                    <a:bodyPr/>
                    <a:lstStyle/>
                    <a:p>
                      <a:r>
                        <a:rPr lang="en-GB" dirty="0" smtClean="0"/>
                        <a:t>2</a:t>
                      </a:r>
                      <a:endParaRPr lang="en-GB" dirty="0"/>
                    </a:p>
                  </a:txBody>
                  <a:tcPr/>
                </a:tc>
              </a:tr>
              <a:tr h="288032">
                <a:tc>
                  <a:txBody>
                    <a:bodyPr/>
                    <a:lstStyle/>
                    <a:p>
                      <a:r>
                        <a:rPr lang="en-GB" dirty="0" smtClean="0"/>
                        <a:t>Social Sciences</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Social Sciences/Management</a:t>
                      </a:r>
                    </a:p>
                  </a:txBody>
                  <a:tcPr/>
                </a:tc>
                <a:tc>
                  <a:txBody>
                    <a:bodyPr/>
                    <a:lstStyle/>
                    <a:p>
                      <a:r>
                        <a:rPr lang="en-GB" dirty="0" smtClean="0"/>
                        <a:t>12</a:t>
                      </a:r>
                      <a:endParaRPr lang="en-GB" dirty="0"/>
                    </a:p>
                  </a:txBody>
                  <a:tcPr/>
                </a:tc>
                <a:tc>
                  <a:txBody>
                    <a:bodyPr/>
                    <a:lstStyle/>
                    <a:p>
                      <a:r>
                        <a:rPr lang="en-GB" dirty="0" smtClean="0"/>
                        <a:t>3</a:t>
                      </a:r>
                      <a:endParaRPr lang="en-GB" dirty="0"/>
                    </a:p>
                  </a:txBody>
                  <a:tcPr/>
                </a:tc>
              </a:tr>
              <a:tr h="288032">
                <a:tc>
                  <a:txBody>
                    <a:bodyPr/>
                    <a:lstStyle/>
                    <a:p>
                      <a:r>
                        <a:rPr lang="en-GB" b="1" dirty="0" smtClean="0"/>
                        <a:t>TOTAL</a:t>
                      </a:r>
                      <a:endParaRPr lang="en-GB"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b="1" dirty="0" smtClean="0"/>
                    </a:p>
                  </a:txBody>
                  <a:tcPr/>
                </a:tc>
                <a:tc>
                  <a:txBody>
                    <a:bodyPr/>
                    <a:lstStyle/>
                    <a:p>
                      <a:r>
                        <a:rPr lang="en-GB" b="1" dirty="0" smtClean="0"/>
                        <a:t>67</a:t>
                      </a:r>
                      <a:endParaRPr lang="en-GB" b="1" dirty="0"/>
                    </a:p>
                  </a:txBody>
                  <a:tcPr/>
                </a:tc>
                <a:tc>
                  <a:txBody>
                    <a:bodyPr/>
                    <a:lstStyle/>
                    <a:p>
                      <a:r>
                        <a:rPr lang="en-GB" b="1" dirty="0" smtClean="0"/>
                        <a:t>23</a:t>
                      </a:r>
                      <a:endParaRPr lang="en-GB" b="1" dirty="0"/>
                    </a:p>
                  </a:txBody>
                  <a:tcPr/>
                </a:tc>
              </a:tr>
            </a:tbl>
          </a:graphicData>
        </a:graphic>
      </p:graphicFrame>
    </p:spTree>
    <p:extLst>
      <p:ext uri="{BB962C8B-B14F-4D97-AF65-F5344CB8AC3E}">
        <p14:creationId xmlns:p14="http://schemas.microsoft.com/office/powerpoint/2010/main" val="27727729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418058"/>
          </a:xfrm>
        </p:spPr>
        <p:txBody>
          <a:bodyPr>
            <a:normAutofit fontScale="90000"/>
          </a:bodyPr>
          <a:lstStyle/>
          <a:p>
            <a:r>
              <a:rPr lang="en-GB" b="1" dirty="0" smtClean="0"/>
              <a:t/>
            </a:r>
            <a:br>
              <a:rPr lang="en-GB" b="1" dirty="0" smtClean="0"/>
            </a:br>
            <a:r>
              <a:rPr lang="en-GB" b="1" dirty="0"/>
              <a:t/>
            </a:r>
            <a:br>
              <a:rPr lang="en-GB" b="1" dirty="0"/>
            </a:br>
            <a:r>
              <a:rPr lang="en-GB" b="1" dirty="0" smtClean="0"/>
              <a:t/>
            </a:r>
            <a:br>
              <a:rPr lang="en-GB" b="1" dirty="0" smtClean="0"/>
            </a:br>
            <a:endParaRPr lang="en-GB" dirty="0"/>
          </a:p>
        </p:txBody>
      </p:sp>
      <p:sp>
        <p:nvSpPr>
          <p:cNvPr id="3" name="Content Placeholder 2"/>
          <p:cNvSpPr>
            <a:spLocks noGrp="1"/>
          </p:cNvSpPr>
          <p:nvPr>
            <p:ph idx="1"/>
          </p:nvPr>
        </p:nvSpPr>
        <p:spPr>
          <a:xfrm>
            <a:off x="179512" y="188640"/>
            <a:ext cx="8301608" cy="6669360"/>
          </a:xfrm>
        </p:spPr>
        <p:txBody>
          <a:bodyPr>
            <a:noAutofit/>
          </a:bodyPr>
          <a:lstStyle/>
          <a:p>
            <a:r>
              <a:rPr lang="en-GB" sz="2400" dirty="0" smtClean="0"/>
              <a:t>Reliable and vibrant DPDP Management team, Academic board  made up of all the Deans of Faculties Directors of Academic Units.  And the Governing Board made up of University Management under the good leadership of the  Vice-Chancellor, the Deans of the Faculties, and the Directors of Academic Units .</a:t>
            </a:r>
          </a:p>
          <a:p>
            <a:r>
              <a:rPr lang="en-GB" sz="2400" dirty="0" smtClean="0"/>
              <a:t>A dividend of over N300 million naira from Pre-Degree students through the University 2 cancelled academic sessions.</a:t>
            </a:r>
          </a:p>
          <a:p>
            <a:r>
              <a:rPr lang="en-GB" sz="2400" dirty="0" smtClean="0"/>
              <a:t>Generating more IGR than expected sessional IGR budget.</a:t>
            </a:r>
          </a:p>
          <a:p>
            <a:r>
              <a:rPr lang="en-GB" sz="2400" dirty="0" smtClean="0"/>
              <a:t>Training of Staff – Induction /training course for all the Instructors and  Assistant Directors on teaching methods, Test Constructions and Principles of Tests and Measurement. </a:t>
            </a:r>
          </a:p>
          <a:p>
            <a:r>
              <a:rPr lang="en-GB" sz="2400" dirty="0" smtClean="0"/>
              <a:t>Directorate of Pre-Degree Programmes holds monthly meetings with the instructors to know the level of coverage of the syllabi or course outlines.</a:t>
            </a:r>
          </a:p>
          <a:p>
            <a:r>
              <a:rPr lang="en-GB" sz="2400" dirty="0" smtClean="0"/>
              <a:t>Daily  interactive section of the Director with the students.</a:t>
            </a:r>
          </a:p>
          <a:p>
            <a:endParaRPr lang="en-GB" sz="2400" dirty="0"/>
          </a:p>
        </p:txBody>
      </p:sp>
    </p:spTree>
    <p:extLst>
      <p:ext uri="{BB962C8B-B14F-4D97-AF65-F5344CB8AC3E}">
        <p14:creationId xmlns:p14="http://schemas.microsoft.com/office/powerpoint/2010/main" val="2888850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0"/>
            <a:ext cx="8229600" cy="1143000"/>
          </a:xfrm>
        </p:spPr>
        <p:txBody>
          <a:bodyPr>
            <a:noAutofit/>
          </a:bodyPr>
          <a:lstStyle/>
          <a:p>
            <a:r>
              <a:rPr lang="en-GB" sz="2000" b="1" dirty="0" smtClean="0"/>
              <a:t>C(SOC)SQUARED MODEL: Challenges, Source of Challenges and Possible way forward to Propel EKSU to World Class Pre-Degree Programmes </a:t>
            </a:r>
            <a:endParaRPr lang="en-GB" sz="20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89909465"/>
              </p:ext>
            </p:extLst>
          </p:nvPr>
        </p:nvGraphicFramePr>
        <p:xfrm>
          <a:off x="467544" y="909320"/>
          <a:ext cx="8229600" cy="594868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b="1" dirty="0" smtClean="0"/>
                        <a:t>Challenges</a:t>
                      </a:r>
                      <a:endParaRPr lang="en-GB" b="1" dirty="0"/>
                    </a:p>
                  </a:txBody>
                  <a:tcPr/>
                </a:tc>
                <a:tc>
                  <a:txBody>
                    <a:bodyPr/>
                    <a:lstStyle/>
                    <a:p>
                      <a:r>
                        <a:rPr lang="en-GB" b="1" dirty="0" smtClean="0"/>
                        <a:t>Source (s) of Challenges</a:t>
                      </a:r>
                      <a:endParaRPr lang="en-GB" b="1" dirty="0"/>
                    </a:p>
                  </a:txBody>
                  <a:tcPr/>
                </a:tc>
                <a:tc>
                  <a:txBody>
                    <a:bodyPr/>
                    <a:lstStyle/>
                    <a:p>
                      <a:r>
                        <a:rPr lang="en-GB" b="1" dirty="0" smtClean="0"/>
                        <a:t>Solution(s) to Challenges</a:t>
                      </a:r>
                      <a:endParaRPr lang="en-GB" b="1" dirty="0"/>
                    </a:p>
                  </a:txBody>
                  <a:tcPr/>
                </a:tc>
              </a:tr>
              <a:tr h="370840">
                <a:tc>
                  <a:txBody>
                    <a:bodyPr/>
                    <a:lstStyle/>
                    <a:p>
                      <a:r>
                        <a:rPr lang="en-GB" sz="1600" dirty="0" smtClean="0"/>
                        <a:t>Poor electricity power supply</a:t>
                      </a:r>
                      <a:endParaRPr lang="en-GB" sz="1600" dirty="0"/>
                    </a:p>
                  </a:txBody>
                  <a:tcPr/>
                </a:tc>
                <a:tc>
                  <a:txBody>
                    <a:bodyPr/>
                    <a:lstStyle/>
                    <a:p>
                      <a:r>
                        <a:rPr lang="en-GB" sz="1600" dirty="0" smtClean="0"/>
                        <a:t>Aged generator servicing</a:t>
                      </a:r>
                      <a:r>
                        <a:rPr lang="en-GB" sz="1600" baseline="0" dirty="0" smtClean="0"/>
                        <a:t> </a:t>
                      </a:r>
                      <a:r>
                        <a:rPr lang="en-GB" sz="1600" baseline="0" dirty="0" err="1" smtClean="0"/>
                        <a:t>Ifaki</a:t>
                      </a:r>
                      <a:r>
                        <a:rPr lang="en-GB" sz="1600" baseline="0" dirty="0" smtClean="0"/>
                        <a:t> Campus</a:t>
                      </a:r>
                    </a:p>
                    <a:p>
                      <a:r>
                        <a:rPr lang="en-GB" sz="1600" baseline="0" dirty="0" smtClean="0"/>
                        <a:t>Works and Services</a:t>
                      </a:r>
                      <a:endParaRPr lang="en-GB" sz="1600" dirty="0"/>
                    </a:p>
                  </a:txBody>
                  <a:tcPr/>
                </a:tc>
                <a:tc>
                  <a:txBody>
                    <a:bodyPr/>
                    <a:lstStyle/>
                    <a:p>
                      <a:r>
                        <a:rPr lang="en-GB" sz="1600" dirty="0" smtClean="0"/>
                        <a:t>1.  Power</a:t>
                      </a:r>
                      <a:r>
                        <a:rPr lang="en-GB" sz="1600" baseline="0" dirty="0" smtClean="0"/>
                        <a:t> and efficient generator</a:t>
                      </a:r>
                    </a:p>
                    <a:p>
                      <a:pPr marL="342900" indent="-342900">
                        <a:buAutoNum type="arabicPeriod" startAt="2"/>
                      </a:pPr>
                      <a:r>
                        <a:rPr lang="en-GB" sz="1600" baseline="0" dirty="0" smtClean="0"/>
                        <a:t>Cum 6 generators to the six Options</a:t>
                      </a:r>
                    </a:p>
                    <a:p>
                      <a:pPr marL="342900" indent="-342900">
                        <a:buAutoNum type="arabicPeriod" startAt="2"/>
                      </a:pPr>
                      <a:r>
                        <a:rPr lang="en-GB" sz="1600" baseline="0" dirty="0" smtClean="0"/>
                        <a:t>Connection of the Campus National grid and efficient services from Works and Services section.</a:t>
                      </a:r>
                      <a:endParaRPr lang="en-GB" sz="1600" dirty="0"/>
                    </a:p>
                  </a:txBody>
                  <a:tcPr/>
                </a:tc>
              </a:tr>
              <a:tr h="370840">
                <a:tc>
                  <a:txBody>
                    <a:bodyPr/>
                    <a:lstStyle/>
                    <a:p>
                      <a:r>
                        <a:rPr lang="en-GB" sz="1600" dirty="0" smtClean="0"/>
                        <a:t>Internet </a:t>
                      </a:r>
                      <a:r>
                        <a:rPr lang="en-GB" sz="1600" baseline="0" dirty="0" smtClean="0"/>
                        <a:t> and CBT Services</a:t>
                      </a:r>
                      <a:endParaRPr lang="en-GB" sz="1600" dirty="0"/>
                    </a:p>
                  </a:txBody>
                  <a:tcPr/>
                </a:tc>
                <a:tc>
                  <a:txBody>
                    <a:bodyPr/>
                    <a:lstStyle/>
                    <a:p>
                      <a:r>
                        <a:rPr lang="en-GB" sz="1600" dirty="0" err="1" smtClean="0"/>
                        <a:t>Unserviced</a:t>
                      </a:r>
                      <a:r>
                        <a:rPr lang="en-GB" sz="1600" baseline="0" dirty="0" smtClean="0"/>
                        <a:t> and  inadequate  </a:t>
                      </a:r>
                      <a:r>
                        <a:rPr lang="en-GB" sz="1600" dirty="0" smtClean="0"/>
                        <a:t>ICT Centre</a:t>
                      </a:r>
                      <a:r>
                        <a:rPr lang="en-GB" sz="1600" baseline="0" dirty="0" smtClean="0"/>
                        <a:t> in the Campus</a:t>
                      </a:r>
                      <a:endParaRPr lang="en-GB" sz="1600" dirty="0"/>
                    </a:p>
                  </a:txBody>
                  <a:tcPr/>
                </a:tc>
                <a:tc>
                  <a:txBody>
                    <a:bodyPr/>
                    <a:lstStyle/>
                    <a:p>
                      <a:r>
                        <a:rPr lang="en-GB" sz="1600" dirty="0" smtClean="0"/>
                        <a:t>Internet room and facilities at </a:t>
                      </a:r>
                      <a:r>
                        <a:rPr lang="en-GB" sz="1600" dirty="0" err="1" smtClean="0"/>
                        <a:t>Ifaki</a:t>
                      </a:r>
                      <a:r>
                        <a:rPr lang="en-GB" sz="1600" dirty="0" smtClean="0"/>
                        <a:t> Campus should be upgraded for the training of Pre-Degree students for proficiency</a:t>
                      </a:r>
                      <a:r>
                        <a:rPr lang="en-GB" sz="1600" baseline="0" dirty="0" smtClean="0"/>
                        <a:t> in computer towards JAMB/UTME/CBT for a token.</a:t>
                      </a:r>
                      <a:endParaRPr lang="en-GB" sz="1600" dirty="0"/>
                    </a:p>
                  </a:txBody>
                  <a:tcPr/>
                </a:tc>
              </a:tr>
              <a:tr h="370840">
                <a:tc>
                  <a:txBody>
                    <a:bodyPr/>
                    <a:lstStyle/>
                    <a:p>
                      <a:r>
                        <a:rPr lang="en-GB" dirty="0" smtClean="0"/>
                        <a:t>Paper/Pencil Examination for qualifying examination  and internal</a:t>
                      </a:r>
                      <a:r>
                        <a:rPr lang="en-GB" baseline="0" dirty="0" smtClean="0"/>
                        <a:t> examinations</a:t>
                      </a:r>
                      <a:endParaRPr lang="en-GB" dirty="0"/>
                    </a:p>
                  </a:txBody>
                  <a:tcPr/>
                </a:tc>
                <a:tc>
                  <a:txBody>
                    <a:bodyPr/>
                    <a:lstStyle/>
                    <a:p>
                      <a:pPr marL="342900" indent="-342900">
                        <a:buAutoNum type="arabicPeriod"/>
                      </a:pPr>
                      <a:r>
                        <a:rPr lang="en-GB" dirty="0" smtClean="0"/>
                        <a:t>Lack of ICT Services in the Campus</a:t>
                      </a:r>
                    </a:p>
                    <a:p>
                      <a:pPr marL="342900" indent="-342900">
                        <a:buAutoNum type="arabicPeriod"/>
                      </a:pPr>
                      <a:r>
                        <a:rPr lang="en-GB" dirty="0" smtClean="0"/>
                        <a:t>DPDP paper and pencil for internal/qualifying</a:t>
                      </a:r>
                      <a:r>
                        <a:rPr lang="en-GB" baseline="0" dirty="0" smtClean="0"/>
                        <a:t> examinations</a:t>
                      </a:r>
                      <a:endParaRPr lang="en-GB" dirty="0" smtClean="0"/>
                    </a:p>
                    <a:p>
                      <a:endParaRPr lang="en-GB" dirty="0"/>
                    </a:p>
                  </a:txBody>
                  <a:tcPr/>
                </a:tc>
                <a:tc>
                  <a:txBody>
                    <a:bodyPr/>
                    <a:lstStyle/>
                    <a:p>
                      <a:r>
                        <a:rPr lang="en-GB" dirty="0" smtClean="0"/>
                        <a:t>ICT centre should take over all  qualifying  and internal examinations .</a:t>
                      </a:r>
                      <a:endParaRPr lang="en-GB" dirty="0"/>
                    </a:p>
                  </a:txBody>
                  <a:tcPr/>
                </a:tc>
              </a:tr>
            </a:tbl>
          </a:graphicData>
        </a:graphic>
      </p:graphicFrame>
    </p:spTree>
    <p:extLst>
      <p:ext uri="{BB962C8B-B14F-4D97-AF65-F5344CB8AC3E}">
        <p14:creationId xmlns:p14="http://schemas.microsoft.com/office/powerpoint/2010/main" val="604263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30257506"/>
              </p:ext>
            </p:extLst>
          </p:nvPr>
        </p:nvGraphicFramePr>
        <p:xfrm>
          <a:off x="395536" y="607224"/>
          <a:ext cx="8568951" cy="6253480"/>
        </p:xfrm>
        <a:graphic>
          <a:graphicData uri="http://schemas.openxmlformats.org/drawingml/2006/table">
            <a:tbl>
              <a:tblPr firstRow="1" bandRow="1">
                <a:tableStyleId>{5C22544A-7EE6-4342-B048-85BDC9FD1C3A}</a:tableStyleId>
              </a:tblPr>
              <a:tblGrid>
                <a:gridCol w="2856317"/>
                <a:gridCol w="2856317"/>
                <a:gridCol w="2856317"/>
              </a:tblGrid>
              <a:tr h="370840">
                <a:tc>
                  <a:txBody>
                    <a:bodyPr/>
                    <a:lstStyle/>
                    <a:p>
                      <a:r>
                        <a:rPr lang="en-GB" b="1" dirty="0" smtClean="0"/>
                        <a:t>Challenges</a:t>
                      </a:r>
                      <a:endParaRPr lang="en-GB" b="1" dirty="0"/>
                    </a:p>
                  </a:txBody>
                  <a:tcPr/>
                </a:tc>
                <a:tc>
                  <a:txBody>
                    <a:bodyPr/>
                    <a:lstStyle/>
                    <a:p>
                      <a:r>
                        <a:rPr lang="en-GB" b="1" dirty="0" smtClean="0"/>
                        <a:t>Source (s) of Challenges</a:t>
                      </a:r>
                      <a:endParaRPr lang="en-GB" b="1" dirty="0"/>
                    </a:p>
                  </a:txBody>
                  <a:tcPr/>
                </a:tc>
                <a:tc>
                  <a:txBody>
                    <a:bodyPr/>
                    <a:lstStyle/>
                    <a:p>
                      <a:r>
                        <a:rPr lang="en-GB" b="1" dirty="0" smtClean="0"/>
                        <a:t>Solution(s) to Challenges</a:t>
                      </a:r>
                      <a:endParaRPr lang="en-GB" b="1" dirty="0"/>
                    </a:p>
                  </a:txBody>
                  <a:tcPr/>
                </a:tc>
              </a:tr>
              <a:tr h="370840">
                <a:tc>
                  <a:txBody>
                    <a:bodyPr/>
                    <a:lstStyle/>
                    <a:p>
                      <a:r>
                        <a:rPr lang="en-GB" sz="1600" dirty="0" smtClean="0"/>
                        <a:t>Registration for UTME</a:t>
                      </a:r>
                      <a:endParaRPr lang="en-GB" sz="1600" dirty="0"/>
                    </a:p>
                  </a:txBody>
                  <a:tcPr/>
                </a:tc>
                <a:tc>
                  <a:txBody>
                    <a:bodyPr/>
                    <a:lstStyle/>
                    <a:p>
                      <a:pPr marL="342900" indent="-342900">
                        <a:buAutoNum type="arabicParenBoth"/>
                      </a:pPr>
                      <a:r>
                        <a:rPr lang="en-GB" sz="1600" baseline="0" dirty="0" smtClean="0"/>
                        <a:t>None registration of Pre-Degree</a:t>
                      </a:r>
                      <a:r>
                        <a:rPr lang="en-GB" sz="1600" dirty="0" smtClean="0"/>
                        <a:t> students by University ICT centre</a:t>
                      </a:r>
                    </a:p>
                    <a:p>
                      <a:pPr marL="342900" indent="-342900">
                        <a:buAutoNum type="arabicParenBoth"/>
                      </a:pPr>
                      <a:r>
                        <a:rPr lang="en-GB" sz="1600" dirty="0" smtClean="0"/>
                        <a:t>ICT centre.</a:t>
                      </a:r>
                      <a:endParaRPr lang="en-GB" sz="1600" dirty="0"/>
                    </a:p>
                  </a:txBody>
                  <a:tcPr/>
                </a:tc>
                <a:tc>
                  <a:txBody>
                    <a:bodyPr/>
                    <a:lstStyle/>
                    <a:p>
                      <a:r>
                        <a:rPr lang="en-GB" sz="1600" dirty="0" smtClean="0"/>
                        <a:t>All  Pre-Degree  students should register for UTME</a:t>
                      </a:r>
                      <a:r>
                        <a:rPr lang="en-GB" sz="1600" baseline="0" dirty="0" smtClean="0"/>
                        <a:t> </a:t>
                      </a:r>
                      <a:r>
                        <a:rPr lang="en-GB" sz="1600" dirty="0" smtClean="0"/>
                        <a:t>from University ICT centre at the normal cost price.</a:t>
                      </a:r>
                      <a:endParaRPr lang="en-GB" sz="1600" dirty="0"/>
                    </a:p>
                  </a:txBody>
                  <a:tcPr/>
                </a:tc>
              </a:tr>
              <a:tr h="370840">
                <a:tc>
                  <a:txBody>
                    <a:bodyPr/>
                    <a:lstStyle/>
                    <a:p>
                      <a:r>
                        <a:rPr lang="en-GB" sz="1600" dirty="0" smtClean="0"/>
                        <a:t>Students Admission</a:t>
                      </a:r>
                      <a:endParaRPr lang="en-GB" sz="1600" dirty="0"/>
                    </a:p>
                  </a:txBody>
                  <a:tcPr/>
                </a:tc>
                <a:tc>
                  <a:txBody>
                    <a:bodyPr/>
                    <a:lstStyle/>
                    <a:p>
                      <a:pPr marL="342900" indent="-342900">
                        <a:buAutoNum type="alphaLcParenBoth"/>
                      </a:pPr>
                      <a:r>
                        <a:rPr lang="en-GB" sz="1600" dirty="0" smtClean="0"/>
                        <a:t>Low inadequate funding to embark on far and wide publicity.</a:t>
                      </a:r>
                    </a:p>
                    <a:p>
                      <a:pPr marL="342900" indent="-342900">
                        <a:buAutoNum type="alphaLcParenBoth"/>
                      </a:pPr>
                      <a:r>
                        <a:rPr lang="en-GB" sz="1600" dirty="0" smtClean="0"/>
                        <a:t>Existence of ABUA/FUOYE Federal Polytechnic, College of Education, School of Nursing etc.</a:t>
                      </a:r>
                    </a:p>
                    <a:p>
                      <a:pPr marL="342900" indent="-342900">
                        <a:buAutoNum type="alphaLcParenBoth"/>
                      </a:pPr>
                      <a:r>
                        <a:rPr lang="en-GB" sz="1600" dirty="0" smtClean="0"/>
                        <a:t>Low patronage</a:t>
                      </a:r>
                      <a:endParaRPr lang="en-GB" sz="1600" dirty="0"/>
                    </a:p>
                  </a:txBody>
                  <a:tcPr/>
                </a:tc>
                <a:tc>
                  <a:txBody>
                    <a:bodyPr/>
                    <a:lstStyle/>
                    <a:p>
                      <a:pPr marL="342900" indent="-342900">
                        <a:buAutoNum type="arabicPeriod"/>
                      </a:pPr>
                      <a:r>
                        <a:rPr lang="en-GB" sz="1600" dirty="0" smtClean="0"/>
                        <a:t>Publicity Drive through Dallies/Television and Radio</a:t>
                      </a:r>
                    </a:p>
                    <a:p>
                      <a:pPr marL="342900" indent="-342900">
                        <a:buAutoNum type="arabicPeriod"/>
                      </a:pPr>
                      <a:r>
                        <a:rPr lang="en-GB" sz="1600" dirty="0" smtClean="0"/>
                        <a:t>Early advertisement of Pre-Degree form immediately after</a:t>
                      </a:r>
                      <a:r>
                        <a:rPr lang="en-GB" sz="1600" baseline="0" dirty="0" smtClean="0"/>
                        <a:t>  the closure of UTME</a:t>
                      </a:r>
                    </a:p>
                    <a:p>
                      <a:pPr marL="342900" indent="-342900">
                        <a:buAutoNum type="arabicPeriod"/>
                      </a:pPr>
                      <a:r>
                        <a:rPr lang="en-GB" sz="1600" baseline="0" dirty="0" smtClean="0"/>
                        <a:t>Pre-Degree Students should be the first batch of admission every year.</a:t>
                      </a:r>
                    </a:p>
                    <a:p>
                      <a:pPr marL="342900" indent="-342900">
                        <a:buAutoNum type="arabicPeriod"/>
                      </a:pPr>
                      <a:r>
                        <a:rPr lang="en-GB" sz="1600" baseline="0" dirty="0" smtClean="0"/>
                        <a:t>Priority should be given to Pre-Degree students in the competitive courses such as Medicine, Law, Economics, Accounting etc.</a:t>
                      </a:r>
                      <a:endParaRPr lang="en-GB" sz="1600" dirty="0" smtClean="0"/>
                    </a:p>
                  </a:txBody>
                  <a:tcPr/>
                </a:tc>
              </a:tr>
              <a:tr h="370840">
                <a:tc>
                  <a:txBody>
                    <a:bodyPr/>
                    <a:lstStyle/>
                    <a:p>
                      <a:r>
                        <a:rPr lang="en-GB" sz="1600" dirty="0" smtClean="0"/>
                        <a:t>Untimely payment.</a:t>
                      </a:r>
                    </a:p>
                    <a:p>
                      <a:r>
                        <a:rPr lang="en-GB" sz="1600" dirty="0" smtClean="0"/>
                        <a:t>School fees.</a:t>
                      </a:r>
                      <a:endParaRPr lang="en-GB" sz="1600" dirty="0"/>
                    </a:p>
                  </a:txBody>
                  <a:tcPr/>
                </a:tc>
                <a:tc>
                  <a:txBody>
                    <a:bodyPr/>
                    <a:lstStyle/>
                    <a:p>
                      <a:pPr marL="0" indent="0">
                        <a:buNone/>
                      </a:pPr>
                      <a:r>
                        <a:rPr lang="en-GB" sz="1600" dirty="0" smtClean="0"/>
                        <a:t>(1)   Low patronage of the students.</a:t>
                      </a:r>
                    </a:p>
                    <a:p>
                      <a:pPr marL="0" indent="0">
                        <a:buNone/>
                      </a:pPr>
                      <a:r>
                        <a:rPr lang="en-GB" sz="1600" dirty="0" smtClean="0"/>
                        <a:t>(2)  High school fees</a:t>
                      </a:r>
                      <a:endParaRPr lang="en-GB" sz="1600" dirty="0"/>
                    </a:p>
                  </a:txBody>
                  <a:tcPr/>
                </a:tc>
                <a:tc>
                  <a:txBody>
                    <a:bodyPr/>
                    <a:lstStyle/>
                    <a:p>
                      <a:r>
                        <a:rPr lang="en-GB" sz="1600" dirty="0" smtClean="0"/>
                        <a:t>Defaulting students should be barred from attending </a:t>
                      </a:r>
                      <a:r>
                        <a:rPr lang="en-GB" sz="1600" baseline="0" dirty="0" smtClean="0"/>
                        <a:t> lectures, tests and examinations.</a:t>
                      </a:r>
                    </a:p>
                    <a:p>
                      <a:r>
                        <a:rPr lang="en-GB" sz="1600" baseline="0" dirty="0" smtClean="0"/>
                        <a:t>Payment of fees twice i.e. before first semester and second semester examinations .</a:t>
                      </a:r>
                      <a:endParaRPr lang="en-GB" sz="1600" dirty="0"/>
                    </a:p>
                  </a:txBody>
                  <a:tcPr/>
                </a:tc>
              </a:tr>
            </a:tbl>
          </a:graphicData>
        </a:graphic>
      </p:graphicFrame>
    </p:spTree>
    <p:extLst>
      <p:ext uri="{BB962C8B-B14F-4D97-AF65-F5344CB8AC3E}">
        <p14:creationId xmlns:p14="http://schemas.microsoft.com/office/powerpoint/2010/main" val="8735712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4826665"/>
              </p:ext>
            </p:extLst>
          </p:nvPr>
        </p:nvGraphicFramePr>
        <p:xfrm>
          <a:off x="467544" y="1124744"/>
          <a:ext cx="8229600" cy="552196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b="1" dirty="0" smtClean="0"/>
                        <a:t>Challenges</a:t>
                      </a:r>
                      <a:endParaRPr lang="en-GB" b="1" dirty="0"/>
                    </a:p>
                  </a:txBody>
                  <a:tcPr/>
                </a:tc>
                <a:tc>
                  <a:txBody>
                    <a:bodyPr/>
                    <a:lstStyle/>
                    <a:p>
                      <a:r>
                        <a:rPr lang="en-GB" b="1" dirty="0" smtClean="0"/>
                        <a:t>Source (s) of Challenges</a:t>
                      </a:r>
                      <a:endParaRPr lang="en-GB" b="1" dirty="0"/>
                    </a:p>
                  </a:txBody>
                  <a:tcPr/>
                </a:tc>
                <a:tc>
                  <a:txBody>
                    <a:bodyPr/>
                    <a:lstStyle/>
                    <a:p>
                      <a:r>
                        <a:rPr lang="en-GB" b="1" dirty="0" smtClean="0"/>
                        <a:t>Solution(s) to Challenges</a:t>
                      </a:r>
                      <a:endParaRPr lang="en-GB" b="1"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Unstable University Calendar</a:t>
                      </a:r>
                    </a:p>
                  </a:txBody>
                  <a:tcPr/>
                </a:tc>
                <a:tc>
                  <a:txBody>
                    <a:bodyPr/>
                    <a:lstStyle/>
                    <a:p>
                      <a:pPr marL="0" indent="0">
                        <a:buNone/>
                      </a:pPr>
                      <a:r>
                        <a:rPr lang="en-GB" sz="1600" dirty="0" smtClean="0"/>
                        <a:t>(a)  Instability on the regular Programme</a:t>
                      </a:r>
                    </a:p>
                    <a:p>
                      <a:pPr marL="0" indent="0">
                        <a:buNone/>
                      </a:pPr>
                      <a:r>
                        <a:rPr lang="en-GB" sz="1600" dirty="0" smtClean="0"/>
                        <a:t>(b)  Delay in advertisement of Pre-Degree Programmes</a:t>
                      </a:r>
                    </a:p>
                  </a:txBody>
                  <a:tcPr/>
                </a:tc>
                <a:tc>
                  <a:txBody>
                    <a:bodyPr/>
                    <a:lstStyle/>
                    <a:p>
                      <a:r>
                        <a:rPr lang="en-GB" sz="1600" dirty="0" smtClean="0"/>
                        <a:t>Adoption of Permanent calendar of  May – June calendar</a:t>
                      </a:r>
                      <a:endParaRPr lang="en-GB"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Hostel Accommodation</a:t>
                      </a:r>
                    </a:p>
                  </a:txBody>
                  <a:tcPr/>
                </a:tc>
                <a:tc>
                  <a:txBody>
                    <a:bodyPr/>
                    <a:lstStyle/>
                    <a:p>
                      <a:pPr marL="0" indent="0">
                        <a:buNone/>
                      </a:pPr>
                      <a:r>
                        <a:rPr lang="en-GB" sz="1600" dirty="0" smtClean="0"/>
                        <a:t>a)</a:t>
                      </a:r>
                      <a:r>
                        <a:rPr lang="en-GB" sz="1600" baseline="0" dirty="0" smtClean="0"/>
                        <a:t>  </a:t>
                      </a:r>
                      <a:r>
                        <a:rPr lang="en-GB" sz="1600" dirty="0" smtClean="0"/>
                        <a:t>Present  conditions of Hostels are very unattractive and not conducive.</a:t>
                      </a:r>
                    </a:p>
                    <a:p>
                      <a:pPr marL="0" indent="0">
                        <a:buNone/>
                      </a:pPr>
                      <a:r>
                        <a:rPr lang="en-GB" sz="1600" dirty="0" smtClean="0"/>
                        <a:t> b)  Only</a:t>
                      </a:r>
                      <a:r>
                        <a:rPr lang="en-GB" sz="1600" baseline="0" dirty="0" smtClean="0"/>
                        <a:t> 89 bed spaces out of 512 bed spaces are presently occupied at N25,000.00 per bed space.</a:t>
                      </a:r>
                    </a:p>
                    <a:p>
                      <a:pPr marL="0" indent="0">
                        <a:buNone/>
                      </a:pPr>
                      <a:r>
                        <a:rPr lang="en-GB" sz="1600" baseline="0" dirty="0" smtClean="0"/>
                        <a:t>School Fees  - N79,360,000.00</a:t>
                      </a:r>
                    </a:p>
                    <a:p>
                      <a:pPr marL="0" indent="0">
                        <a:buNone/>
                      </a:pPr>
                      <a:r>
                        <a:rPr lang="en-GB" sz="1600" baseline="0" dirty="0" smtClean="0"/>
                        <a:t>Hostel Fee     -N12,800,000.00</a:t>
                      </a:r>
                      <a:endParaRPr lang="en-GB" sz="1600" dirty="0" smtClean="0"/>
                    </a:p>
                  </a:txBody>
                  <a:tcPr/>
                </a:tc>
                <a:tc>
                  <a:txBody>
                    <a:bodyPr/>
                    <a:lstStyle/>
                    <a:p>
                      <a:r>
                        <a:rPr lang="en-GB" sz="1600" dirty="0" smtClean="0"/>
                        <a:t>(1)  Make the hostels more attractive, conducive with availability  of all necessary facilities.  If all bed spaces are occupied is a lot of money.</a:t>
                      </a:r>
                    </a:p>
                    <a:p>
                      <a:endParaRPr lang="en-GB"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Transportation</a:t>
                      </a:r>
                    </a:p>
                  </a:txBody>
                  <a:tcPr/>
                </a:tc>
                <a:tc>
                  <a:txBody>
                    <a:bodyPr/>
                    <a:lstStyle/>
                    <a:p>
                      <a:pPr marL="0" indent="0">
                        <a:buNone/>
                      </a:pPr>
                      <a:r>
                        <a:rPr lang="en-GB" sz="1600" dirty="0" smtClean="0"/>
                        <a:t>None creating  communication</a:t>
                      </a:r>
                      <a:r>
                        <a:rPr lang="en-GB" sz="1600" baseline="0" dirty="0" smtClean="0"/>
                        <a:t> gaps between the DPDP and the University community.</a:t>
                      </a:r>
                      <a:endParaRPr lang="en-GB" sz="1600" dirty="0" smtClean="0"/>
                    </a:p>
                  </a:txBody>
                  <a:tcPr/>
                </a:tc>
                <a:tc>
                  <a:txBody>
                    <a:bodyPr/>
                    <a:lstStyle/>
                    <a:p>
                      <a:r>
                        <a:rPr lang="en-GB" sz="1600" dirty="0" smtClean="0"/>
                        <a:t>Provision of bus</a:t>
                      </a:r>
                      <a:r>
                        <a:rPr lang="en-GB" sz="1600" baseline="0" dirty="0" smtClean="0"/>
                        <a:t>  (</a:t>
                      </a:r>
                      <a:r>
                        <a:rPr lang="en-GB" sz="1600" baseline="0" dirty="0" err="1" smtClean="0"/>
                        <a:t>i</a:t>
                      </a:r>
                      <a:r>
                        <a:rPr lang="en-GB" sz="1600" baseline="0" dirty="0" smtClean="0"/>
                        <a:t>) </a:t>
                      </a:r>
                      <a:r>
                        <a:rPr lang="en-GB" sz="1600" dirty="0" smtClean="0"/>
                        <a:t>for students to ply  Ado-Campus-</a:t>
                      </a:r>
                      <a:r>
                        <a:rPr lang="en-GB" sz="1600" dirty="0" err="1" smtClean="0"/>
                        <a:t>Ifaki</a:t>
                      </a:r>
                      <a:r>
                        <a:rPr lang="en-GB" sz="1600" dirty="0" smtClean="0"/>
                        <a:t> route at a token fees</a:t>
                      </a:r>
                      <a:r>
                        <a:rPr lang="en-GB" sz="1600" baseline="0" dirty="0" smtClean="0"/>
                        <a:t> </a:t>
                      </a:r>
                      <a:r>
                        <a:rPr lang="en-GB" sz="1600" dirty="0" smtClean="0"/>
                        <a:t>of N50.00</a:t>
                      </a:r>
                    </a:p>
                    <a:p>
                      <a:r>
                        <a:rPr lang="en-GB" sz="1600" dirty="0" smtClean="0"/>
                        <a:t>(ii)  Provision of bus for the DPDP staff as done to Part-time and SLT.</a:t>
                      </a:r>
                      <a:endParaRPr lang="en-GB" sz="1600" dirty="0"/>
                    </a:p>
                  </a:txBody>
                  <a:tcPr/>
                </a:tc>
              </a:tr>
            </a:tbl>
          </a:graphicData>
        </a:graphic>
      </p:graphicFrame>
    </p:spTree>
    <p:extLst>
      <p:ext uri="{BB962C8B-B14F-4D97-AF65-F5344CB8AC3E}">
        <p14:creationId xmlns:p14="http://schemas.microsoft.com/office/powerpoint/2010/main" val="5313872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endParaRPr lang="en-GB" dirty="0"/>
          </a:p>
        </p:txBody>
      </p:sp>
      <p:sp>
        <p:nvSpPr>
          <p:cNvPr id="3" name="Content Placeholder 2"/>
          <p:cNvSpPr>
            <a:spLocks noGrp="1"/>
          </p:cNvSpPr>
          <p:nvPr>
            <p:ph idx="1"/>
          </p:nvPr>
        </p:nvSpPr>
        <p:spPr/>
        <p:txBody>
          <a:bodyPr/>
          <a:lstStyle/>
          <a:p>
            <a:pPr marL="0" indent="0">
              <a:buNone/>
            </a:pPr>
            <a:endParaRPr lang="en-GB" dirty="0" smtClean="0"/>
          </a:p>
          <a:p>
            <a:pPr marL="0" indent="0">
              <a:buNone/>
            </a:pPr>
            <a:endParaRPr lang="en-GB" dirty="0"/>
          </a:p>
          <a:p>
            <a:pPr marL="0" indent="0">
              <a:buNone/>
            </a:pPr>
            <a:endParaRPr lang="en-GB" dirty="0" smtClean="0"/>
          </a:p>
        </p:txBody>
      </p:sp>
      <p:graphicFrame>
        <p:nvGraphicFramePr>
          <p:cNvPr id="4" name="Table 3"/>
          <p:cNvGraphicFramePr>
            <a:graphicFrameLocks noGrp="1"/>
          </p:cNvGraphicFramePr>
          <p:nvPr>
            <p:extLst>
              <p:ext uri="{D42A27DB-BD31-4B8C-83A1-F6EECF244321}">
                <p14:modId xmlns:p14="http://schemas.microsoft.com/office/powerpoint/2010/main" val="299342584"/>
              </p:ext>
            </p:extLst>
          </p:nvPr>
        </p:nvGraphicFramePr>
        <p:xfrm>
          <a:off x="539552" y="980728"/>
          <a:ext cx="8208912" cy="6253480"/>
        </p:xfrm>
        <a:graphic>
          <a:graphicData uri="http://schemas.openxmlformats.org/drawingml/2006/table">
            <a:tbl>
              <a:tblPr firstRow="1" bandRow="1">
                <a:tableStyleId>{5C22544A-7EE6-4342-B048-85BDC9FD1C3A}</a:tableStyleId>
              </a:tblPr>
              <a:tblGrid>
                <a:gridCol w="2736304"/>
                <a:gridCol w="2736304"/>
                <a:gridCol w="2736304"/>
              </a:tblGrid>
              <a:tr h="370840">
                <a:tc>
                  <a:txBody>
                    <a:bodyPr/>
                    <a:lstStyle/>
                    <a:p>
                      <a:r>
                        <a:rPr lang="en-GB" b="1" dirty="0" smtClean="0"/>
                        <a:t>Challenges</a:t>
                      </a:r>
                      <a:endParaRPr lang="en-GB" b="1" dirty="0"/>
                    </a:p>
                  </a:txBody>
                  <a:tcPr/>
                </a:tc>
                <a:tc>
                  <a:txBody>
                    <a:bodyPr/>
                    <a:lstStyle/>
                    <a:p>
                      <a:r>
                        <a:rPr lang="en-GB" b="1" dirty="0" smtClean="0"/>
                        <a:t>Source (s) of Challenges</a:t>
                      </a:r>
                      <a:endParaRPr lang="en-GB" b="1" dirty="0"/>
                    </a:p>
                  </a:txBody>
                  <a:tcPr/>
                </a:tc>
                <a:tc>
                  <a:txBody>
                    <a:bodyPr/>
                    <a:lstStyle/>
                    <a:p>
                      <a:r>
                        <a:rPr lang="en-GB" b="1" dirty="0" smtClean="0"/>
                        <a:t>Solution(s) to Challenges</a:t>
                      </a:r>
                      <a:endParaRPr lang="en-GB" b="1"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Water supply</a:t>
                      </a:r>
                    </a:p>
                  </a:txBody>
                  <a:tcPr/>
                </a:tc>
                <a:tc>
                  <a:txBody>
                    <a:bodyPr/>
                    <a:lstStyle/>
                    <a:p>
                      <a:pPr marL="342900" indent="-342900">
                        <a:buAutoNum type="arabicParenBoth"/>
                      </a:pPr>
                      <a:r>
                        <a:rPr lang="en-GB" sz="1600" dirty="0" smtClean="0"/>
                        <a:t>Non functioning </a:t>
                      </a:r>
                      <a:r>
                        <a:rPr lang="en-GB" sz="1600" baseline="0" dirty="0" smtClean="0"/>
                        <a:t> bore holes, wells, and reservoirs</a:t>
                      </a:r>
                    </a:p>
                    <a:p>
                      <a:pPr marL="342900" indent="-342900">
                        <a:buAutoNum type="arabicParenBoth"/>
                      </a:pPr>
                      <a:r>
                        <a:rPr lang="en-GB" sz="1600" baseline="0" dirty="0" smtClean="0"/>
                        <a:t>Works and Services</a:t>
                      </a:r>
                      <a:endParaRPr lang="en-GB" sz="1600" dirty="0" smtClean="0"/>
                    </a:p>
                  </a:txBody>
                  <a:tcPr/>
                </a:tc>
                <a:tc>
                  <a:txBody>
                    <a:bodyPr/>
                    <a:lstStyle/>
                    <a:p>
                      <a:r>
                        <a:rPr lang="en-GB" sz="1600" dirty="0" smtClean="0"/>
                        <a:t>Repairs of the boreholes, wells and reservoirs by the Works</a:t>
                      </a:r>
                      <a:r>
                        <a:rPr lang="en-GB" sz="1600" baseline="0" dirty="0" smtClean="0"/>
                        <a:t> and Services.</a:t>
                      </a:r>
                      <a:endParaRPr lang="en-GB"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Market/Commercial centre </a:t>
                      </a:r>
                    </a:p>
                  </a:txBody>
                  <a:tcPr/>
                </a:tc>
                <a:tc>
                  <a:txBody>
                    <a:bodyPr/>
                    <a:lstStyle/>
                    <a:p>
                      <a:pPr marL="0" indent="0">
                        <a:buNone/>
                      </a:pPr>
                      <a:r>
                        <a:rPr lang="en-GB" sz="1600" dirty="0" smtClean="0"/>
                        <a:t>None, Physical planning unit </a:t>
                      </a:r>
                    </a:p>
                  </a:txBody>
                  <a:tcPr/>
                </a:tc>
                <a:tc>
                  <a:txBody>
                    <a:bodyPr/>
                    <a:lstStyle/>
                    <a:p>
                      <a:pPr marL="342900" indent="-342900">
                        <a:buAutoNum type="arabicParenBoth"/>
                      </a:pPr>
                      <a:r>
                        <a:rPr lang="en-GB" sz="1600" dirty="0" smtClean="0"/>
                        <a:t>Establishment of market</a:t>
                      </a:r>
                      <a:r>
                        <a:rPr lang="en-GB" sz="1600" baseline="0" dirty="0" smtClean="0"/>
                        <a:t> for </a:t>
                      </a:r>
                      <a:r>
                        <a:rPr lang="en-GB" sz="1600" baseline="0" dirty="0" err="1" smtClean="0"/>
                        <a:t>Ifaki</a:t>
                      </a:r>
                      <a:r>
                        <a:rPr lang="en-GB" sz="1600" baseline="0" dirty="0" smtClean="0"/>
                        <a:t> Campus Community.  </a:t>
                      </a:r>
                    </a:p>
                    <a:p>
                      <a:pPr marL="342900" indent="-342900">
                        <a:buAutoNum type="arabicParenBoth"/>
                      </a:pPr>
                      <a:r>
                        <a:rPr lang="en-GB" sz="1600" baseline="0" dirty="0" smtClean="0"/>
                        <a:t>Rent of this market stalls will bring in a lot of money for the University.</a:t>
                      </a:r>
                    </a:p>
                    <a:p>
                      <a:pPr marL="342900" indent="-342900">
                        <a:buAutoNum type="arabicParenBoth"/>
                      </a:pPr>
                      <a:r>
                        <a:rPr lang="en-GB" sz="1600" baseline="0" dirty="0" smtClean="0"/>
                        <a:t>Give room for students  to purchase materials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smtClean="0"/>
                        <a:t>Staffing of the DPDP </a:t>
                      </a:r>
                    </a:p>
                  </a:txBody>
                  <a:tcPr/>
                </a:tc>
                <a:tc>
                  <a:txBody>
                    <a:bodyPr/>
                    <a:lstStyle/>
                    <a:p>
                      <a:pPr marL="342900" indent="-342900">
                        <a:buAutoNum type="arabicParenBoth"/>
                      </a:pPr>
                      <a:r>
                        <a:rPr lang="en-GB" sz="1600" dirty="0" smtClean="0"/>
                        <a:t>Mode of employment</a:t>
                      </a:r>
                      <a:r>
                        <a:rPr lang="en-GB" sz="1600" baseline="0" dirty="0" smtClean="0"/>
                        <a:t> in other Universities namely O.A.U Ife and </a:t>
                      </a:r>
                      <a:r>
                        <a:rPr lang="en-GB" sz="1600" baseline="0" dirty="0" err="1" smtClean="0"/>
                        <a:t>Akungba</a:t>
                      </a:r>
                      <a:r>
                        <a:rPr lang="en-GB" sz="1600" baseline="0" dirty="0" smtClean="0"/>
                        <a:t>  </a:t>
                      </a:r>
                      <a:r>
                        <a:rPr lang="en-GB" sz="1600" baseline="0" dirty="0" err="1" smtClean="0"/>
                        <a:t>Akoko</a:t>
                      </a:r>
                      <a:r>
                        <a:rPr lang="en-GB" sz="1600" baseline="0" dirty="0" smtClean="0"/>
                        <a:t>.  Only the Director,  Assistant Directors  and Instructors  are employed by the University.   All the administrative staff and</a:t>
                      </a:r>
                    </a:p>
                    <a:p>
                      <a:pPr marL="342900" indent="-342900">
                        <a:buAutoNum type="arabicParenBoth"/>
                      </a:pPr>
                      <a:endParaRPr lang="en-GB" sz="1600" baseline="0" dirty="0" smtClean="0"/>
                    </a:p>
                    <a:p>
                      <a:pPr marL="0" indent="0">
                        <a:buNone/>
                      </a:pPr>
                      <a:endParaRPr lang="en-GB" sz="1600" baseline="0" dirty="0" smtClean="0"/>
                    </a:p>
                    <a:p>
                      <a:pPr marL="0" indent="0">
                        <a:buNone/>
                      </a:pPr>
                      <a:endParaRPr lang="en-GB" sz="1600" dirty="0" smtClean="0"/>
                    </a:p>
                  </a:txBody>
                  <a:tcPr/>
                </a:tc>
                <a:tc>
                  <a:txBody>
                    <a:bodyPr/>
                    <a:lstStyle/>
                    <a:p>
                      <a:pPr marL="342900" indent="-342900">
                        <a:buAutoNum type="arabicParenBoth"/>
                      </a:pPr>
                      <a:r>
                        <a:rPr lang="en-GB" sz="1600" dirty="0" smtClean="0"/>
                        <a:t>University could look at the present mode of staffing and that of Ife and </a:t>
                      </a:r>
                      <a:r>
                        <a:rPr lang="en-GB" sz="1600" dirty="0" err="1" smtClean="0"/>
                        <a:t>Akungba</a:t>
                      </a:r>
                      <a:r>
                        <a:rPr lang="en-GB" sz="1600" dirty="0" smtClean="0"/>
                        <a:t> and</a:t>
                      </a:r>
                      <a:r>
                        <a:rPr lang="en-GB" sz="1600" baseline="0" dirty="0" smtClean="0"/>
                        <a:t> the financial implication and decide.</a:t>
                      </a:r>
                    </a:p>
                    <a:p>
                      <a:pPr marL="342900" indent="-342900">
                        <a:buAutoNum type="arabicParenBoth"/>
                      </a:pPr>
                      <a:r>
                        <a:rPr lang="en-GB" sz="1600" baseline="0" dirty="0" smtClean="0"/>
                        <a:t>DPDP organises induction course for the Lecturers on teaching methods, test</a:t>
                      </a:r>
                      <a:endParaRPr lang="en-GB" sz="1600" dirty="0"/>
                    </a:p>
                  </a:txBody>
                  <a:tcPr/>
                </a:tc>
              </a:tr>
            </a:tbl>
          </a:graphicData>
        </a:graphic>
      </p:graphicFrame>
    </p:spTree>
    <p:extLst>
      <p:ext uri="{BB962C8B-B14F-4D97-AF65-F5344CB8AC3E}">
        <p14:creationId xmlns:p14="http://schemas.microsoft.com/office/powerpoint/2010/main" val="6438270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31785572"/>
              </p:ext>
            </p:extLst>
          </p:nvPr>
        </p:nvGraphicFramePr>
        <p:xfrm>
          <a:off x="395536" y="1124744"/>
          <a:ext cx="8229600" cy="530860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b="1" dirty="0" smtClean="0"/>
                        <a:t>Challenges</a:t>
                      </a:r>
                      <a:endParaRPr lang="en-GB" b="1" dirty="0"/>
                    </a:p>
                  </a:txBody>
                  <a:tcPr/>
                </a:tc>
                <a:tc>
                  <a:txBody>
                    <a:bodyPr/>
                    <a:lstStyle/>
                    <a:p>
                      <a:r>
                        <a:rPr lang="en-GB" b="1" dirty="0" smtClean="0"/>
                        <a:t>Source (s) of Challenges</a:t>
                      </a:r>
                      <a:endParaRPr lang="en-GB" b="1" dirty="0"/>
                    </a:p>
                  </a:txBody>
                  <a:tcPr/>
                </a:tc>
                <a:tc>
                  <a:txBody>
                    <a:bodyPr/>
                    <a:lstStyle/>
                    <a:p>
                      <a:r>
                        <a:rPr lang="en-GB" b="1" dirty="0" smtClean="0"/>
                        <a:t>Solution(s) to Challenges</a:t>
                      </a:r>
                      <a:endParaRPr lang="en-GB" b="1" dirty="0"/>
                    </a:p>
                  </a:txBody>
                  <a:tcPr/>
                </a:tc>
              </a:tr>
              <a:tr h="370840">
                <a:tc>
                  <a:txBody>
                    <a:bodyPr/>
                    <a:lstStyle/>
                    <a:p>
                      <a:endParaRPr lang="en-GB"/>
                    </a:p>
                  </a:txBody>
                  <a:tcPr/>
                </a:tc>
                <a:tc>
                  <a:txBody>
                    <a:bodyPr/>
                    <a:lstStyle/>
                    <a:p>
                      <a:pPr marL="0" indent="0">
                        <a:buNone/>
                      </a:pPr>
                      <a:r>
                        <a:rPr lang="en-GB" sz="1800" baseline="0" dirty="0" smtClean="0"/>
                        <a:t>instructors are employed and paid by the DPDP through the MOU of school fees paid by the students. </a:t>
                      </a:r>
                    </a:p>
                    <a:p>
                      <a:pPr marL="0" indent="0">
                        <a:buNone/>
                      </a:pPr>
                      <a:r>
                        <a:rPr lang="en-GB" sz="1800" baseline="0" dirty="0" smtClean="0"/>
                        <a:t>(2) Majority of the instructors are untrained teachers.</a:t>
                      </a:r>
                    </a:p>
                    <a:p>
                      <a:endParaRPr lang="en-GB" dirty="0"/>
                    </a:p>
                  </a:txBody>
                  <a:tcPr/>
                </a:tc>
                <a:tc>
                  <a:txBody>
                    <a:bodyPr/>
                    <a:lstStyle/>
                    <a:p>
                      <a:pPr marL="0" indent="0">
                        <a:buNone/>
                      </a:pPr>
                      <a:r>
                        <a:rPr lang="en-GB" sz="1800" baseline="0" dirty="0" smtClean="0"/>
                        <a:t>construction and Test and Measurement since the students sit for selection/public examinations (UTME)</a:t>
                      </a:r>
                    </a:p>
                    <a:p>
                      <a:pPr marL="0" indent="0">
                        <a:buNone/>
                      </a:pPr>
                      <a:r>
                        <a:rPr lang="en-GB" sz="1800" baseline="0" dirty="0" smtClean="0"/>
                        <a:t>(2) Recruitment of  more non-academic staff</a:t>
                      </a:r>
                    </a:p>
                    <a:p>
                      <a:endParaRPr lang="en-GB" dirty="0"/>
                    </a:p>
                  </a:txBody>
                  <a:tcPr/>
                </a:tc>
              </a:tr>
              <a:tr h="370840">
                <a:tc>
                  <a:txBody>
                    <a:bodyPr/>
                    <a:lstStyle/>
                    <a:p>
                      <a:r>
                        <a:rPr lang="en-GB" dirty="0" smtClean="0"/>
                        <a:t>Adequate Classrooms</a:t>
                      </a:r>
                      <a:endParaRPr lang="en-GB" dirty="0"/>
                    </a:p>
                  </a:txBody>
                  <a:tcPr/>
                </a:tc>
                <a:tc>
                  <a:txBody>
                    <a:bodyPr/>
                    <a:lstStyle/>
                    <a:p>
                      <a:pPr marL="342900" indent="-342900">
                        <a:buAutoNum type="arabicParenBoth"/>
                      </a:pPr>
                      <a:r>
                        <a:rPr lang="en-GB" dirty="0" smtClean="0"/>
                        <a:t>We have four lecture theatre, six hall and nine classrooms </a:t>
                      </a:r>
                    </a:p>
                    <a:p>
                      <a:pPr marL="342900" indent="-342900">
                        <a:buAutoNum type="arabicParenBoth"/>
                      </a:pPr>
                      <a:r>
                        <a:rPr lang="en-GB" dirty="0" smtClean="0"/>
                        <a:t>Physical Planning</a:t>
                      </a:r>
                      <a:endParaRPr lang="en-GB" dirty="0"/>
                    </a:p>
                  </a:txBody>
                  <a:tcPr/>
                </a:tc>
                <a:tc>
                  <a:txBody>
                    <a:bodyPr/>
                    <a:lstStyle/>
                    <a:p>
                      <a:r>
                        <a:rPr lang="en-GB" dirty="0" smtClean="0"/>
                        <a:t>For standard Pre-Degree we still need two lecture theatre and four in one study room.</a:t>
                      </a:r>
                      <a:endParaRPr lang="en-GB" dirty="0"/>
                    </a:p>
                  </a:txBody>
                  <a:tcPr/>
                </a:tc>
              </a:tr>
              <a:tr h="370840">
                <a:tc>
                  <a:txBody>
                    <a:bodyPr/>
                    <a:lstStyle/>
                    <a:p>
                      <a:r>
                        <a:rPr lang="en-GB" dirty="0" smtClean="0"/>
                        <a:t>Proposed Programmes</a:t>
                      </a:r>
                      <a:endParaRPr lang="en-GB" dirty="0"/>
                    </a:p>
                  </a:txBody>
                  <a:tcPr/>
                </a:tc>
                <a:tc>
                  <a:txBody>
                    <a:bodyPr/>
                    <a:lstStyle/>
                    <a:p>
                      <a:r>
                        <a:rPr lang="en-GB" dirty="0" smtClean="0"/>
                        <a:t>University/DPDP Managements</a:t>
                      </a:r>
                      <a:endParaRPr lang="en-GB" dirty="0"/>
                    </a:p>
                  </a:txBody>
                  <a:tcPr/>
                </a:tc>
                <a:tc>
                  <a:txBody>
                    <a:bodyPr/>
                    <a:lstStyle/>
                    <a:p>
                      <a:pPr marL="342900" indent="-342900">
                        <a:buAutoNum type="arabicParenBoth"/>
                      </a:pPr>
                      <a:r>
                        <a:rPr lang="en-GB" dirty="0" smtClean="0"/>
                        <a:t>Establishment</a:t>
                      </a:r>
                      <a:r>
                        <a:rPr lang="en-GB" baseline="0" dirty="0" smtClean="0"/>
                        <a:t> of Extramural Courses</a:t>
                      </a:r>
                    </a:p>
                    <a:p>
                      <a:pPr marL="342900" indent="-342900">
                        <a:buAutoNum type="arabicParenBoth"/>
                      </a:pPr>
                      <a:r>
                        <a:rPr lang="en-GB" baseline="0" dirty="0" smtClean="0"/>
                        <a:t>Two years programme for direct entry students.</a:t>
                      </a:r>
                      <a:endParaRPr lang="en-GB" dirty="0"/>
                    </a:p>
                  </a:txBody>
                  <a:tcPr/>
                </a:tc>
              </a:tr>
            </a:tbl>
          </a:graphicData>
        </a:graphic>
      </p:graphicFrame>
    </p:spTree>
    <p:extLst>
      <p:ext uri="{BB962C8B-B14F-4D97-AF65-F5344CB8AC3E}">
        <p14:creationId xmlns:p14="http://schemas.microsoft.com/office/powerpoint/2010/main" val="26041951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67544" y="1124744"/>
            <a:ext cx="8229600" cy="4525963"/>
          </a:xfrm>
        </p:spPr>
        <p:txBody>
          <a:bodyPr/>
          <a:lstStyle/>
          <a:p>
            <a:pPr marL="0" indent="0" algn="ctr" fontAlgn="t">
              <a:buNone/>
            </a:pPr>
            <a:r>
              <a:rPr lang="en-GB" b="1" dirty="0"/>
              <a:t>Conclusion</a:t>
            </a:r>
            <a:endParaRPr lang="en-GB" dirty="0"/>
          </a:p>
          <a:p>
            <a:pPr fontAlgn="t"/>
            <a:r>
              <a:rPr lang="en-GB" sz="2400" dirty="0" smtClean="0"/>
              <a:t>If </a:t>
            </a:r>
            <a:r>
              <a:rPr lang="en-GB" sz="2400" dirty="0"/>
              <a:t>the suggested possible </a:t>
            </a:r>
            <a:r>
              <a:rPr lang="en-GB" sz="2400" dirty="0" smtClean="0"/>
              <a:t>solutions to the </a:t>
            </a:r>
            <a:r>
              <a:rPr lang="en-GB" sz="2400" dirty="0"/>
              <a:t>challenges are thoroughly implemented , it will definitely lead the University to the World class Pre-Degree </a:t>
            </a:r>
            <a:r>
              <a:rPr lang="en-GB" sz="2400" dirty="0" smtClean="0"/>
              <a:t>Programme.</a:t>
            </a:r>
            <a:endParaRPr lang="en-GB" sz="2400" dirty="0"/>
          </a:p>
          <a:p>
            <a:endParaRPr lang="en-GB" dirty="0"/>
          </a:p>
        </p:txBody>
      </p:sp>
    </p:spTree>
    <p:extLst>
      <p:ext uri="{BB962C8B-B14F-4D97-AF65-F5344CB8AC3E}">
        <p14:creationId xmlns:p14="http://schemas.microsoft.com/office/powerpoint/2010/main" val="32591027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67544" y="1628800"/>
            <a:ext cx="8229600" cy="4525963"/>
          </a:xfrm>
        </p:spPr>
        <p:txBody>
          <a:bodyPr>
            <a:normAutofit/>
          </a:bodyPr>
          <a:lstStyle/>
          <a:p>
            <a:endParaRPr lang="en-GB" sz="6000" dirty="0" smtClean="0"/>
          </a:p>
          <a:p>
            <a:r>
              <a:rPr lang="en-GB" sz="6000" dirty="0" smtClean="0"/>
              <a:t>Remain blessed, thanks for listening</a:t>
            </a:r>
            <a:endParaRPr lang="en-GB" sz="6000" dirty="0"/>
          </a:p>
        </p:txBody>
      </p:sp>
    </p:spTree>
    <p:extLst>
      <p:ext uri="{BB962C8B-B14F-4D97-AF65-F5344CB8AC3E}">
        <p14:creationId xmlns:p14="http://schemas.microsoft.com/office/powerpoint/2010/main" val="25017825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TotalTime>
  <Words>1876</Words>
  <Application>Microsoft Office PowerPoint</Application>
  <PresentationFormat>On-screen Show (4:3)</PresentationFormat>
  <Paragraphs>280</Paragraphs>
  <Slides>26</Slides>
  <Notes>4</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     “Position on Academic Programmes Viability, Accommodation, Classroom, Accreditation, Examination, Result Processing, Challenges and way forward to Propel EKSU to World Class University”  A Paper Presented by  Prof. E. B. Kolawole (FMAN, FNIER, FNICEMA) Director, Pre-Degree Programmes   Ekiti State University, Ado-Ekiti.  @ The EKSU Academic Summit On Wednesday 3rd February, 2016    </vt:lpstr>
      <vt:lpstr>A BRIEF HISTORY OF THE PRE-DEGREE PROGRAMMES</vt:lpstr>
      <vt:lpstr>PowerPoint Presentation</vt:lpstr>
      <vt:lpstr>PowerPoint Presentation</vt:lpstr>
      <vt:lpstr>PHILOSPHY OF THE PROGRAMME </vt:lpstr>
      <vt:lpstr>MISSION OF THE PROGRAMME The missions of the Programme are to:</vt:lpstr>
      <vt:lpstr>PowerPoint Presentation</vt:lpstr>
      <vt:lpstr>CORE VALUES</vt:lpstr>
      <vt:lpstr> ADMINISTRATIVE STRUCTURE OF THE DIRECTORATE OF PRE-DEGREE PROGRAMMES </vt:lpstr>
      <vt:lpstr>GENERAL INFORMATION ON SERVICE REQUIREMENTS AND OPERATIONS </vt:lpstr>
      <vt:lpstr>PowerPoint Presentation</vt:lpstr>
      <vt:lpstr>   Requirements for Course Work and Minimum Units to proceed to Undergraduate Courses in the University </vt:lpstr>
      <vt:lpstr>PowerPoint Presentation</vt:lpstr>
      <vt:lpstr>PowerPoint Presentation</vt:lpstr>
      <vt:lpstr>PowerPoint Presentation</vt:lpstr>
      <vt:lpstr>PowerPoint Presentation</vt:lpstr>
      <vt:lpstr>STRENGTHS OF THE DIRECTORATE OF PRE-DEGREE PROGRAMMES FROM 2012/2013 SESSION T0 DATE </vt:lpstr>
      <vt:lpstr> PRE-DEGREE PROGRAMMES  </vt:lpstr>
      <vt:lpstr>   </vt:lpstr>
      <vt:lpstr>C(SOC)SQUARED MODEL: Challenges, Source of Challenges and Possible way forward to Propel EKSU to World Class Pre-Degree Programmes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 swot Analysis of Directorate of Pre-Degree Programmes and Recommendation for Propelling Wealth Creation for the University”  A Paper Presented by  Prof. E. B. Kolawole (FMAN, FNIER, FNICEMA) Director, Pre-Degree Programmes   Ekiti State University, Ado-Ekiti.  @ The EKSU IGR Summit On Thursday 28th January, 2016    </dc:title>
  <dc:creator>Pre-Degree Director</dc:creator>
  <cp:lastModifiedBy>Pre-Degree Director</cp:lastModifiedBy>
  <cp:revision>131</cp:revision>
  <cp:lastPrinted>2016-02-03T08:05:39Z</cp:lastPrinted>
  <dcterms:created xsi:type="dcterms:W3CDTF">2016-02-02T10:41:15Z</dcterms:created>
  <dcterms:modified xsi:type="dcterms:W3CDTF">2016-02-03T08:42:39Z</dcterms:modified>
</cp:coreProperties>
</file>