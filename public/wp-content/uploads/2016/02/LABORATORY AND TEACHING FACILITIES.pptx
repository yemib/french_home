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2" r:id="rId7"/>
    <p:sldId id="263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305800" cy="3067051"/>
          </a:xfrm>
        </p:spPr>
        <p:txBody>
          <a:bodyPr/>
          <a:lstStyle/>
          <a:p>
            <a:r>
              <a:rPr lang="en-US" b="1" dirty="0" smtClean="0"/>
              <a:t>CELL PRESENTATION:</a:t>
            </a:r>
            <a:br>
              <a:rPr lang="en-US" b="1" dirty="0" smtClean="0"/>
            </a:br>
            <a:r>
              <a:rPr lang="en-US" sz="5400" b="1" dirty="0" smtClean="0"/>
              <a:t>LABORATORY AND TEACHING FACILITIES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239000" cy="2286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@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EKSU ACADEMIC SUMMIT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2</a:t>
            </a:r>
            <a:r>
              <a:rPr lang="en-US" sz="3600" b="1" baseline="30000" dirty="0" smtClean="0">
                <a:solidFill>
                  <a:schemeClr val="tx1"/>
                </a:solidFill>
              </a:rPr>
              <a:t>nd</a:t>
            </a:r>
            <a:r>
              <a:rPr lang="en-US" sz="3600" b="1" dirty="0" smtClean="0">
                <a:solidFill>
                  <a:schemeClr val="tx1"/>
                </a:solidFill>
              </a:rPr>
              <a:t> – 4</a:t>
            </a:r>
            <a:r>
              <a:rPr lang="en-US" sz="3600" b="1" baseline="30000" dirty="0" smtClean="0">
                <a:solidFill>
                  <a:schemeClr val="tx1"/>
                </a:solidFill>
              </a:rPr>
              <a:t>th</a:t>
            </a:r>
            <a:r>
              <a:rPr lang="en-US" sz="3600" b="1" dirty="0" smtClean="0">
                <a:solidFill>
                  <a:schemeClr val="tx1"/>
                </a:solidFill>
              </a:rPr>
              <a:t> February, 2016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525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00B050"/>
                </a:solidFill>
              </a:rPr>
              <a:t>RECCOMMENDATIONS ON : </a:t>
            </a:r>
            <a:br>
              <a:rPr lang="en-US" sz="3600" b="1" dirty="0" smtClean="0">
                <a:solidFill>
                  <a:srgbClr val="00B050"/>
                </a:solidFill>
              </a:rPr>
            </a:b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b="1" dirty="0" smtClean="0">
                <a:solidFill>
                  <a:srgbClr val="00B050"/>
                </a:solidFill>
              </a:rPr>
              <a:t>                               TEACHING FACILITIES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334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Very large classes can be split into groups</a:t>
            </a:r>
            <a:r>
              <a:rPr lang="en-US" dirty="0" smtClean="0"/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Design, size and number of Lecture Theatres (LT);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Cleanliness of LT floors and walls, good chairs;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Enhancement of E-Learning facilities:</a:t>
            </a:r>
          </a:p>
          <a:p>
            <a:pPr lvl="2" indent="-342900">
              <a:buFont typeface="Wingdings" pitchFamily="2" charset="2"/>
              <a:buChar char="ü"/>
            </a:pPr>
            <a:r>
              <a:rPr lang="en-US" dirty="0" smtClean="0"/>
              <a:t>Provision of fixed power-point projector and screen proportionate to the classroom;</a:t>
            </a:r>
          </a:p>
          <a:p>
            <a:pPr lvl="2" indent="-342900">
              <a:buFont typeface="Wingdings" pitchFamily="2" charset="2"/>
              <a:buChar char="ü"/>
            </a:pPr>
            <a:r>
              <a:rPr lang="en-US" dirty="0" smtClean="0"/>
              <a:t>Replacement of obsolete and dilapidated marker boards ;</a:t>
            </a:r>
          </a:p>
          <a:p>
            <a:pPr lvl="2" indent="-342900">
              <a:buFont typeface="Wingdings" pitchFamily="2" charset="2"/>
              <a:buChar char="ü"/>
            </a:pPr>
            <a:r>
              <a:rPr lang="en-US" dirty="0" smtClean="0"/>
              <a:t>Provision of interactive boards, especially for large LTs where elementary courses hold;</a:t>
            </a:r>
          </a:p>
          <a:p>
            <a:pPr marL="347472" lvl="1" indent="-347472">
              <a:buFont typeface="Wingdings" pitchFamily="2" charset="2"/>
              <a:buChar char="Ø"/>
            </a:pPr>
            <a:r>
              <a:rPr lang="en-US" dirty="0"/>
              <a:t>Periodic training of Academic staff on </a:t>
            </a:r>
            <a:r>
              <a:rPr lang="en-US" dirty="0" smtClean="0"/>
              <a:t>the use of E-learning facilities (preparation </a:t>
            </a:r>
            <a:r>
              <a:rPr lang="en-US" dirty="0"/>
              <a:t>of lecture materials on modular basis; lecture delivery using interactive boards; on-line  interaction with students (assignments, CA and scores, etc.). </a:t>
            </a:r>
          </a:p>
          <a:p>
            <a:pPr marL="857250" lvl="1" indent="-457200">
              <a:buFont typeface="Wingdings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400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26523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B050"/>
                </a:solidFill>
              </a:rPr>
              <a:t>RECCOMMENDATIONS </a:t>
            </a:r>
            <a:r>
              <a:rPr lang="en-US" b="1" dirty="0">
                <a:solidFill>
                  <a:srgbClr val="00B050"/>
                </a:solidFill>
              </a:rPr>
              <a:t>ON 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             </a:t>
            </a:r>
            <a:r>
              <a:rPr lang="en-US" b="1" dirty="0" smtClean="0">
                <a:solidFill>
                  <a:srgbClr val="00B050"/>
                </a:solidFill>
              </a:rPr>
              <a:t> TEACHING FACILITIES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Availability of  power and PAS in all LTs;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(Use of rechargeable PAS and projector is an </a:t>
            </a:r>
            <a:r>
              <a:rPr lang="en-US" dirty="0" err="1" smtClean="0"/>
              <a:t>optin</a:t>
            </a:r>
            <a:r>
              <a:rPr lang="en-US" dirty="0" smtClean="0"/>
              <a:t>);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Provision of well-equipped Resource Centers to aid learning process (e.g. language lab</a:t>
            </a:r>
            <a:r>
              <a:rPr lang="en-US" dirty="0" smtClean="0"/>
              <a:t>.);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Installation of access control to LTs equipped with state-of-the-art facilities;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Provision of adequate security for such LTs;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666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26523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RECCOMMENDATIONS ON 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              </a:t>
            </a:r>
            <a:r>
              <a:rPr lang="en-US" b="1" dirty="0" smtClean="0">
                <a:solidFill>
                  <a:srgbClr val="00B050"/>
                </a:solidFill>
              </a:rPr>
              <a:t>LABORATORY </a:t>
            </a:r>
            <a:r>
              <a:rPr lang="en-US" b="1" dirty="0">
                <a:solidFill>
                  <a:srgbClr val="00B050"/>
                </a:solidFill>
              </a:rPr>
              <a:t>FACILITIES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lnSpcReduction="10000"/>
          </a:bodyPr>
          <a:lstStyle/>
          <a:p>
            <a:pPr marL="548640" indent="-548640" algn="just">
              <a:buFont typeface="Wingdings" pitchFamily="2" charset="2"/>
              <a:buChar char="q"/>
            </a:pPr>
            <a:r>
              <a:rPr lang="en-US" dirty="0" smtClean="0"/>
              <a:t>Urgent </a:t>
            </a:r>
            <a:r>
              <a:rPr lang="en-US" dirty="0"/>
              <a:t>need </a:t>
            </a:r>
            <a:r>
              <a:rPr lang="en-US" dirty="0" smtClean="0"/>
              <a:t>to expand the current laboratory/workshop spaces, which were constructed for 50 students, now to accommodate &gt;400 students;</a:t>
            </a:r>
          </a:p>
          <a:p>
            <a:pPr marL="548640" indent="-548640" algn="just">
              <a:buFont typeface="Wingdings" pitchFamily="2" charset="2"/>
              <a:buChar char="q"/>
            </a:pPr>
            <a:r>
              <a:rPr lang="en-US" dirty="0" smtClean="0"/>
              <a:t> Availability of power and water (24/7) in the laboratories/workshops;</a:t>
            </a:r>
          </a:p>
          <a:p>
            <a:pPr marL="548640" indent="-548640" algn="just">
              <a:buFont typeface="Wingdings" pitchFamily="2" charset="2"/>
              <a:buChar char="q"/>
            </a:pPr>
            <a:r>
              <a:rPr lang="en-US" dirty="0" smtClean="0"/>
              <a:t>Employment of more specialized Technologists;</a:t>
            </a:r>
          </a:p>
          <a:p>
            <a:pPr marL="548640" indent="-548640">
              <a:buFont typeface="Wingdings" pitchFamily="2" charset="2"/>
              <a:buChar char="q"/>
            </a:pPr>
            <a:r>
              <a:rPr lang="en-US" dirty="0" smtClean="0"/>
              <a:t>Training and re-training of Technologists, particularly in developed countries (</a:t>
            </a:r>
            <a:r>
              <a:rPr lang="en-US" dirty="0" err="1" smtClean="0"/>
              <a:t>eg</a:t>
            </a:r>
            <a:r>
              <a:rPr lang="en-US" dirty="0" smtClean="0"/>
              <a:t>. Through </a:t>
            </a:r>
            <a:r>
              <a:rPr lang="en-US" dirty="0" err="1" smtClean="0"/>
              <a:t>MoU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126523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RECCOMMENDATIONS ON 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              </a:t>
            </a:r>
            <a:r>
              <a:rPr lang="en-US" b="1" dirty="0" smtClean="0">
                <a:solidFill>
                  <a:srgbClr val="00B050"/>
                </a:solidFill>
              </a:rPr>
              <a:t>LABORATORY </a:t>
            </a:r>
            <a:r>
              <a:rPr lang="en-US" b="1" dirty="0">
                <a:solidFill>
                  <a:srgbClr val="00B050"/>
                </a:solidFill>
              </a:rPr>
              <a:t>FACILITIES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Purchase of state-of-the-art equipment, for cutting-edge research;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Involvement of end-users in the purchase and installation of laboratory equipment;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Office accommodation for Technologists should be made conducive for Laboratory administration and procedures;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Establishment of Equipment maintenance Centre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Inclusion of Chief Technologist in the Departmental/Faculty </a:t>
            </a:r>
            <a:r>
              <a:rPr lang="en-US" smtClean="0"/>
              <a:t>Board Meeting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26523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RECCOMMENDATIONS ON 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              LABORATORY FACILITIES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5105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Teaching laboratories should have functional magnetic/electronic board installed;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Extension of intranet to the laboratories;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Replacement of obsolete fume cupboards with laminar flow hoods in the teaching laboratories;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Provision of teaching aids/models (e.g. prepared slides, museum specimen models, etc.) for the teaching laboratories;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Auctioning of obsolete equipment;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Development of </a:t>
            </a:r>
            <a:r>
              <a:rPr lang="en-US" smtClean="0"/>
              <a:t>policy for effective </a:t>
            </a:r>
            <a:r>
              <a:rPr lang="en-US" dirty="0" smtClean="0"/>
              <a:t>management of the Central Laboratory.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/>
          <a:lstStyle/>
          <a:p>
            <a:pPr algn="l"/>
            <a:r>
              <a:rPr lang="en-US" dirty="0" smtClean="0"/>
              <a:t>Membership: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4400" b="1" dirty="0" smtClean="0"/>
              <a:t>Prof. E. Y. </a:t>
            </a:r>
            <a:r>
              <a:rPr lang="en-US" sz="4400" b="1" dirty="0" err="1" smtClean="0"/>
              <a:t>Aderibigbe</a:t>
            </a:r>
            <a:r>
              <a:rPr lang="en-US" sz="4400" b="1" dirty="0" smtClean="0"/>
              <a:t> (Chairperson)</a:t>
            </a:r>
          </a:p>
          <a:p>
            <a:pPr marL="0" indent="0">
              <a:buNone/>
            </a:pPr>
            <a:r>
              <a:rPr lang="en-US" sz="4400" b="1" dirty="0" smtClean="0"/>
              <a:t> Engr. J. I. </a:t>
            </a:r>
            <a:r>
              <a:rPr lang="en-US" sz="4400" b="1" dirty="0" err="1" smtClean="0"/>
              <a:t>Asaolu</a:t>
            </a:r>
            <a:endParaRPr lang="en-US" sz="4400" b="1" dirty="0" smtClean="0"/>
          </a:p>
          <a:p>
            <a:pPr marL="0" indent="0">
              <a:buNone/>
            </a:pPr>
            <a:r>
              <a:rPr lang="en-US" sz="4400" b="1" dirty="0" smtClean="0"/>
              <a:t> Mr. M. O. </a:t>
            </a:r>
            <a:r>
              <a:rPr lang="en-US" sz="4400" b="1" dirty="0" err="1" smtClean="0"/>
              <a:t>Olu</a:t>
            </a:r>
            <a:r>
              <a:rPr lang="en-US" sz="4400" b="1" dirty="0" smtClean="0"/>
              <a:t>- </a:t>
            </a:r>
            <a:r>
              <a:rPr lang="en-US" sz="4400" b="1" dirty="0" err="1" smtClean="0"/>
              <a:t>Ajayi</a:t>
            </a:r>
            <a:endParaRPr lang="en-US" sz="4400" b="1" dirty="0" smtClean="0"/>
          </a:p>
          <a:p>
            <a:pPr marL="0" indent="0">
              <a:buNone/>
            </a:pPr>
            <a:r>
              <a:rPr lang="en-US" sz="4400" b="1" dirty="0" smtClean="0"/>
              <a:t> Dr. </a:t>
            </a:r>
            <a:r>
              <a:rPr lang="en-US" sz="4400" b="1" dirty="0" err="1" smtClean="0"/>
              <a:t>Akeem</a:t>
            </a:r>
            <a:r>
              <a:rPr lang="en-US" sz="4400" b="1" dirty="0" smtClean="0"/>
              <a:t> </a:t>
            </a:r>
            <a:r>
              <a:rPr lang="en-US" sz="4400" b="1" dirty="0" err="1" smtClean="0"/>
              <a:t>Azeez</a:t>
            </a:r>
            <a:endParaRPr lang="en-US" sz="4400" b="1" dirty="0" smtClean="0"/>
          </a:p>
          <a:p>
            <a:pPr marL="0" indent="0">
              <a:buNone/>
            </a:pPr>
            <a:r>
              <a:rPr lang="en-US" sz="4400" b="1" dirty="0" smtClean="0"/>
              <a:t> Dr. Mrs. F. M. </a:t>
            </a:r>
            <a:r>
              <a:rPr lang="en-US" sz="4400" b="1" dirty="0" err="1" smtClean="0"/>
              <a:t>Osalusi</a:t>
            </a:r>
            <a:r>
              <a:rPr lang="en-US" sz="4400" dirty="0" smtClean="0"/>
              <a:t>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791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26523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B050"/>
                </a:solidFill>
              </a:rPr>
              <a:t>RECCOMMENDATIONS </a:t>
            </a:r>
            <a:r>
              <a:rPr lang="en-US" b="1" dirty="0">
                <a:solidFill>
                  <a:srgbClr val="00B050"/>
                </a:solidFill>
              </a:rPr>
              <a:t>ON :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             </a:t>
            </a:r>
            <a:r>
              <a:rPr lang="en-US" b="1" dirty="0" smtClean="0">
                <a:solidFill>
                  <a:srgbClr val="00B050"/>
                </a:solidFill>
              </a:rPr>
              <a:t> TEACHING FACILITIES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Healthy and cordial relationship with students;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Quality Assurance: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Completion of lecture curriculum, one week before Semester Examination;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On-line assessment of Lecturers by the students;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Reward of Excellence: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Award of the Best Lecturer of the Faculty.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Admission &amp; </a:t>
            </a:r>
            <a:r>
              <a:rPr lang="en-US" dirty="0"/>
              <a:t>Orientation for </a:t>
            </a:r>
            <a:r>
              <a:rPr lang="en-US" dirty="0" err="1" smtClean="0"/>
              <a:t>freshers</a:t>
            </a:r>
            <a:r>
              <a:rPr lang="en-US" dirty="0" smtClean="0"/>
              <a:t> be concluded before commencement of lectures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467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CELL PRESENTATION: LABORATORY AND TEACHING FACILITIES</vt:lpstr>
      <vt:lpstr>RECCOMMENDATIONS ON :                                  TEACHING FACILITIES</vt:lpstr>
      <vt:lpstr>RECCOMMENDATIONS ON :                TEACHING FACILITIES contd.</vt:lpstr>
      <vt:lpstr>RECCOMMENDATIONS ON :                LABORATORY FACILITIES </vt:lpstr>
      <vt:lpstr>RECCOMMENDATIONS ON :                LABORATORY FACILITIES contd.</vt:lpstr>
      <vt:lpstr>RECCOMMENDATIONS ON :                LABORATORY FACILITIES contd.</vt:lpstr>
      <vt:lpstr>Membership:</vt:lpstr>
      <vt:lpstr>RECCOMMENDATIONS ON :                TEACHING FACILITIES contd.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PRESENTATION: LABORATORY AND TEACHING FACILITIES</dc:title>
  <dc:creator>Esther</dc:creator>
  <cp:lastModifiedBy>Esther</cp:lastModifiedBy>
  <cp:revision>27</cp:revision>
  <dcterms:created xsi:type="dcterms:W3CDTF">2006-08-16T00:00:00Z</dcterms:created>
  <dcterms:modified xsi:type="dcterms:W3CDTF">2016-02-04T13:48:55Z</dcterms:modified>
</cp:coreProperties>
</file>