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handoutMasterIdLst>
    <p:handoutMasterId r:id="rId25"/>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9309100" cy="70532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33315" cy="35242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273691" y="0"/>
            <a:ext cx="4033314" cy="352423"/>
          </a:xfrm>
          <a:prstGeom prst="rect">
            <a:avLst/>
          </a:prstGeom>
        </p:spPr>
        <p:txBody>
          <a:bodyPr vert="horz" lIns="91440" tIns="45720" rIns="91440" bIns="45720" rtlCol="0"/>
          <a:lstStyle>
            <a:lvl1pPr algn="r">
              <a:defRPr sz="1200"/>
            </a:lvl1pPr>
          </a:lstStyle>
          <a:p>
            <a:fld id="{8EAF6191-73B5-418E-8E67-2F642050E8DA}" type="datetimeFigureOut">
              <a:rPr lang="en-US" smtClean="0"/>
              <a:t>2/4/2016</a:t>
            </a:fld>
            <a:endParaRPr lang="en-US"/>
          </a:p>
        </p:txBody>
      </p:sp>
      <p:sp>
        <p:nvSpPr>
          <p:cNvPr id="4" name="Footer Placeholder 3"/>
          <p:cNvSpPr>
            <a:spLocks noGrp="1"/>
          </p:cNvSpPr>
          <p:nvPr>
            <p:ph type="ftr" sz="quarter" idx="2"/>
          </p:nvPr>
        </p:nvSpPr>
        <p:spPr>
          <a:xfrm>
            <a:off x="0" y="6699638"/>
            <a:ext cx="4033315" cy="352423"/>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273691" y="6699638"/>
            <a:ext cx="4033314" cy="352423"/>
          </a:xfrm>
          <a:prstGeom prst="rect">
            <a:avLst/>
          </a:prstGeom>
        </p:spPr>
        <p:txBody>
          <a:bodyPr vert="horz" lIns="91440" tIns="45720" rIns="91440" bIns="45720" rtlCol="0" anchor="b"/>
          <a:lstStyle>
            <a:lvl1pPr algn="r">
              <a:defRPr sz="1200"/>
            </a:lvl1pPr>
          </a:lstStyle>
          <a:p>
            <a:fld id="{DB353C01-155F-4F11-852D-D618A54D773C}" type="slidenum">
              <a:rPr lang="en-US" smtClean="0"/>
              <a:t>‹#›</a:t>
            </a:fld>
            <a:endParaRPr lang="en-US"/>
          </a:p>
        </p:txBody>
      </p:sp>
    </p:spTree>
    <p:extLst>
      <p:ext uri="{BB962C8B-B14F-4D97-AF65-F5344CB8AC3E}">
        <p14:creationId xmlns:p14="http://schemas.microsoft.com/office/powerpoint/2010/main" val="587427012"/>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58009270-151C-478C-91AE-C4E5EF4E744F}" type="datetimeFigureOut">
              <a:rPr lang="en-GB" smtClean="0"/>
              <a:t>04/02/2016</a:t>
            </a:fld>
            <a:endParaRPr lang="en-GB"/>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en-GB"/>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45874402-7AEA-4879-A98A-48ADA897A63E}" type="slidenum">
              <a:rPr lang="en-GB" smtClean="0"/>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58009270-151C-478C-91AE-C4E5EF4E744F}" type="datetimeFigureOut">
              <a:rPr lang="en-GB" smtClean="0"/>
              <a:t>04/02/2016</a:t>
            </a:fld>
            <a:endParaRPr lang="en-GB"/>
          </a:p>
        </p:txBody>
      </p:sp>
      <p:sp>
        <p:nvSpPr>
          <p:cNvPr id="5" name="Footer Placeholder 4"/>
          <p:cNvSpPr>
            <a:spLocks noGrp="1"/>
          </p:cNvSpPr>
          <p:nvPr>
            <p:ph type="ftr" sz="quarter" idx="11"/>
          </p:nvPr>
        </p:nvSpPr>
        <p:spPr/>
        <p:txBody>
          <a:bodyPr/>
          <a:lstStyle>
            <a:extLst/>
          </a:lstStyle>
          <a:p>
            <a:endParaRPr lang="en-GB"/>
          </a:p>
        </p:txBody>
      </p:sp>
      <p:sp>
        <p:nvSpPr>
          <p:cNvPr id="6" name="Slide Number Placeholder 5"/>
          <p:cNvSpPr>
            <a:spLocks noGrp="1"/>
          </p:cNvSpPr>
          <p:nvPr>
            <p:ph type="sldNum" sz="quarter" idx="12"/>
          </p:nvPr>
        </p:nvSpPr>
        <p:spPr/>
        <p:txBody>
          <a:bodyPr/>
          <a:lstStyle>
            <a:extLst/>
          </a:lstStyle>
          <a:p>
            <a:fld id="{45874402-7AEA-4879-A98A-48ADA897A63E}" type="slidenum">
              <a:rPr lang="en-GB" smtClean="0"/>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58009270-151C-478C-91AE-C4E5EF4E744F}" type="datetimeFigureOut">
              <a:rPr lang="en-GB" smtClean="0"/>
              <a:t>04/02/2016</a:t>
            </a:fld>
            <a:endParaRPr lang="en-GB"/>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n-GB"/>
          </a:p>
        </p:txBody>
      </p:sp>
      <p:sp>
        <p:nvSpPr>
          <p:cNvPr id="6" name="Slide Number Placeholder 5"/>
          <p:cNvSpPr>
            <a:spLocks noGrp="1"/>
          </p:cNvSpPr>
          <p:nvPr>
            <p:ph type="sldNum" sz="quarter" idx="12"/>
          </p:nvPr>
        </p:nvSpPr>
        <p:spPr>
          <a:xfrm>
            <a:off x="6733952" y="6555112"/>
            <a:ext cx="588336" cy="228600"/>
          </a:xfrm>
        </p:spPr>
        <p:txBody>
          <a:bodyPr/>
          <a:lstStyle>
            <a:extLst/>
          </a:lstStyle>
          <a:p>
            <a:fld id="{45874402-7AEA-4879-A98A-48ADA897A63E}" type="slidenum">
              <a:rPr lang="en-GB" smtClean="0"/>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58009270-151C-478C-91AE-C4E5EF4E744F}" type="datetimeFigureOut">
              <a:rPr lang="en-GB" smtClean="0"/>
              <a:t>04/02/2016</a:t>
            </a:fld>
            <a:endParaRPr lang="en-GB"/>
          </a:p>
        </p:txBody>
      </p:sp>
      <p:sp>
        <p:nvSpPr>
          <p:cNvPr id="6" name="Footer Placeholder 5"/>
          <p:cNvSpPr>
            <a:spLocks noGrp="1"/>
          </p:cNvSpPr>
          <p:nvPr>
            <p:ph type="ftr" sz="quarter" idx="11"/>
          </p:nvPr>
        </p:nvSpPr>
        <p:spPr/>
        <p:txBody>
          <a:bodyPr/>
          <a:lstStyle>
            <a:extLst/>
          </a:lstStyle>
          <a:p>
            <a:endParaRPr lang="en-GB"/>
          </a:p>
        </p:txBody>
      </p:sp>
      <p:sp>
        <p:nvSpPr>
          <p:cNvPr id="7" name="Slide Number Placeholder 6"/>
          <p:cNvSpPr>
            <a:spLocks noGrp="1"/>
          </p:cNvSpPr>
          <p:nvPr>
            <p:ph type="sldNum" sz="quarter" idx="12"/>
          </p:nvPr>
        </p:nvSpPr>
        <p:spPr/>
        <p:txBody>
          <a:bodyPr/>
          <a:lstStyle>
            <a:extLst/>
          </a:lstStyle>
          <a:p>
            <a:fld id="{45874402-7AEA-4879-A98A-48ADA897A63E}" type="slidenum">
              <a:rPr lang="en-GB" smtClean="0"/>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58009270-151C-478C-91AE-C4E5EF4E744F}" type="datetimeFigureOut">
              <a:rPr lang="en-GB" smtClean="0"/>
              <a:t>04/02/2016</a:t>
            </a:fld>
            <a:endParaRPr lang="en-GB"/>
          </a:p>
        </p:txBody>
      </p:sp>
      <p:sp>
        <p:nvSpPr>
          <p:cNvPr id="8" name="Footer Placeholder 7"/>
          <p:cNvSpPr>
            <a:spLocks noGrp="1"/>
          </p:cNvSpPr>
          <p:nvPr>
            <p:ph type="ftr" sz="quarter" idx="11"/>
          </p:nvPr>
        </p:nvSpPr>
        <p:spPr/>
        <p:txBody>
          <a:bodyPr/>
          <a:lstStyle>
            <a:extLst/>
          </a:lstStyle>
          <a:p>
            <a:endParaRPr lang="en-GB"/>
          </a:p>
        </p:txBody>
      </p:sp>
      <p:sp>
        <p:nvSpPr>
          <p:cNvPr id="9" name="Slide Number Placeholder 8"/>
          <p:cNvSpPr>
            <a:spLocks noGrp="1"/>
          </p:cNvSpPr>
          <p:nvPr>
            <p:ph type="sldNum" sz="quarter" idx="12"/>
          </p:nvPr>
        </p:nvSpPr>
        <p:spPr/>
        <p:txBody>
          <a:bodyPr/>
          <a:lstStyle>
            <a:extLst/>
          </a:lstStyle>
          <a:p>
            <a:fld id="{45874402-7AEA-4879-A98A-48ADA897A63E}"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58009270-151C-478C-91AE-C4E5EF4E744F}" type="datetimeFigureOut">
              <a:rPr lang="en-GB" smtClean="0"/>
              <a:t>04/02/2016</a:t>
            </a:fld>
            <a:endParaRPr lang="en-GB"/>
          </a:p>
        </p:txBody>
      </p:sp>
      <p:sp>
        <p:nvSpPr>
          <p:cNvPr id="4" name="Footer Placeholder 3"/>
          <p:cNvSpPr>
            <a:spLocks noGrp="1"/>
          </p:cNvSpPr>
          <p:nvPr>
            <p:ph type="ftr" sz="quarter" idx="11"/>
          </p:nvPr>
        </p:nvSpPr>
        <p:spPr/>
        <p:txBody>
          <a:bodyPr/>
          <a:lstStyle>
            <a:extLst/>
          </a:lstStyle>
          <a:p>
            <a:endParaRPr lang="en-GB"/>
          </a:p>
        </p:txBody>
      </p:sp>
      <p:sp>
        <p:nvSpPr>
          <p:cNvPr id="5" name="Slide Number Placeholder 4"/>
          <p:cNvSpPr>
            <a:spLocks noGrp="1"/>
          </p:cNvSpPr>
          <p:nvPr>
            <p:ph type="sldNum" sz="quarter" idx="12"/>
          </p:nvPr>
        </p:nvSpPr>
        <p:spPr/>
        <p:txBody>
          <a:bodyPr/>
          <a:lstStyle>
            <a:extLst/>
          </a:lstStyle>
          <a:p>
            <a:fld id="{45874402-7AEA-4879-A98A-48ADA897A63E}"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58009270-151C-478C-91AE-C4E5EF4E744F}" type="datetimeFigureOut">
              <a:rPr lang="en-GB" smtClean="0"/>
              <a:t>04/02/2016</a:t>
            </a:fld>
            <a:endParaRPr lang="en-GB"/>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GB"/>
          </a:p>
        </p:txBody>
      </p:sp>
      <p:sp>
        <p:nvSpPr>
          <p:cNvPr id="4" name="Slide Number Placeholder 3"/>
          <p:cNvSpPr>
            <a:spLocks noGrp="1"/>
          </p:cNvSpPr>
          <p:nvPr>
            <p:ph type="sldNum" sz="quarter" idx="12"/>
          </p:nvPr>
        </p:nvSpPr>
        <p:spPr/>
        <p:txBody>
          <a:bodyPr/>
          <a:lstStyle>
            <a:extLst/>
          </a:lstStyle>
          <a:p>
            <a:fld id="{45874402-7AEA-4879-A98A-48ADA897A63E}"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58009270-151C-478C-91AE-C4E5EF4E744F}" type="datetimeFigureOut">
              <a:rPr lang="en-GB" smtClean="0"/>
              <a:t>04/02/2016</a:t>
            </a:fld>
            <a:endParaRPr lang="en-GB"/>
          </a:p>
        </p:txBody>
      </p:sp>
      <p:sp>
        <p:nvSpPr>
          <p:cNvPr id="6" name="Footer Placeholder 5"/>
          <p:cNvSpPr>
            <a:spLocks noGrp="1"/>
          </p:cNvSpPr>
          <p:nvPr>
            <p:ph type="ftr" sz="quarter" idx="11"/>
          </p:nvPr>
        </p:nvSpPr>
        <p:spPr/>
        <p:txBody>
          <a:bodyPr/>
          <a:lstStyle>
            <a:extLst/>
          </a:lstStyle>
          <a:p>
            <a:endParaRPr lang="en-GB"/>
          </a:p>
        </p:txBody>
      </p:sp>
      <p:sp>
        <p:nvSpPr>
          <p:cNvPr id="7" name="Slide Number Placeholder 6"/>
          <p:cNvSpPr>
            <a:spLocks noGrp="1"/>
          </p:cNvSpPr>
          <p:nvPr>
            <p:ph type="sldNum" sz="quarter" idx="12"/>
          </p:nvPr>
        </p:nvSpPr>
        <p:spPr/>
        <p:txBody>
          <a:bodyPr/>
          <a:lstStyle>
            <a:extLst/>
          </a:lstStyle>
          <a:p>
            <a:fld id="{45874402-7AEA-4879-A98A-48ADA897A63E}" type="slidenum">
              <a:rPr lang="en-GB" smtClean="0"/>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fld id="{58009270-151C-478C-91AE-C4E5EF4E744F}" type="datetimeFigureOut">
              <a:rPr lang="en-GB" smtClean="0"/>
              <a:t>04/02/2016</a:t>
            </a:fld>
            <a:endParaRPr lang="en-GB"/>
          </a:p>
        </p:txBody>
      </p:sp>
      <p:sp>
        <p:nvSpPr>
          <p:cNvPr id="6" name="Footer Placeholder 5"/>
          <p:cNvSpPr>
            <a:spLocks noGrp="1"/>
          </p:cNvSpPr>
          <p:nvPr>
            <p:ph type="ftr" sz="quarter" idx="11"/>
          </p:nvPr>
        </p:nvSpPr>
        <p:spPr/>
        <p:txBody>
          <a:bodyPr/>
          <a:lstStyle>
            <a:extLst/>
          </a:lstStyle>
          <a:p>
            <a:endParaRPr lang="en-GB"/>
          </a:p>
        </p:txBody>
      </p:sp>
      <p:sp>
        <p:nvSpPr>
          <p:cNvPr id="7" name="Slide Number Placeholder 6"/>
          <p:cNvSpPr>
            <a:spLocks noGrp="1"/>
          </p:cNvSpPr>
          <p:nvPr>
            <p:ph type="sldNum" sz="quarter" idx="12"/>
          </p:nvPr>
        </p:nvSpPr>
        <p:spPr/>
        <p:txBody>
          <a:bodyPr/>
          <a:lstStyle>
            <a:extLst/>
          </a:lstStyle>
          <a:p>
            <a:fld id="{45874402-7AEA-4879-A98A-48ADA897A63E}" type="slidenum">
              <a:rPr lang="en-GB" smtClean="0"/>
              <a:t>‹#›</a:t>
            </a:fld>
            <a:endParaRPr lang="en-GB"/>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58009270-151C-478C-91AE-C4E5EF4E744F}" type="datetimeFigureOut">
              <a:rPr lang="en-GB" smtClean="0"/>
              <a:t>04/02/2016</a:t>
            </a:fld>
            <a:endParaRPr lang="en-GB"/>
          </a:p>
        </p:txBody>
      </p:sp>
      <p:sp>
        <p:nvSpPr>
          <p:cNvPr id="5" name="Footer Placeholder 4"/>
          <p:cNvSpPr>
            <a:spLocks noGrp="1"/>
          </p:cNvSpPr>
          <p:nvPr>
            <p:ph type="ftr" sz="quarter" idx="11"/>
          </p:nvPr>
        </p:nvSpPr>
        <p:spPr/>
        <p:txBody>
          <a:bodyPr/>
          <a:lstStyle>
            <a:extLst/>
          </a:lstStyle>
          <a:p>
            <a:endParaRPr lang="en-GB"/>
          </a:p>
        </p:txBody>
      </p:sp>
      <p:sp>
        <p:nvSpPr>
          <p:cNvPr id="6" name="Slide Number Placeholder 5"/>
          <p:cNvSpPr>
            <a:spLocks noGrp="1"/>
          </p:cNvSpPr>
          <p:nvPr>
            <p:ph type="sldNum" sz="quarter" idx="12"/>
          </p:nvPr>
        </p:nvSpPr>
        <p:spPr/>
        <p:txBody>
          <a:bodyPr/>
          <a:lstStyle>
            <a:extLst/>
          </a:lstStyle>
          <a:p>
            <a:fld id="{45874402-7AEA-4879-A98A-48ADA897A63E}"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2"/>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extLst/>
          </a:lstStyle>
          <a:p>
            <a:fld id="{58009270-151C-478C-91AE-C4E5EF4E744F}" type="datetimeFigureOut">
              <a:rPr lang="en-GB" smtClean="0"/>
              <a:t>04/02/2016</a:t>
            </a:fld>
            <a:endParaRPr lang="en-GB"/>
          </a:p>
        </p:txBody>
      </p:sp>
      <p:sp>
        <p:nvSpPr>
          <p:cNvPr id="5" name="Footer Placeholder 4"/>
          <p:cNvSpPr>
            <a:spLocks noGrp="1"/>
          </p:cNvSpPr>
          <p:nvPr>
            <p:ph type="ftr" sz="quarter" idx="11"/>
          </p:nvPr>
        </p:nvSpPr>
        <p:spPr>
          <a:xfrm>
            <a:off x="457200" y="6556248"/>
            <a:ext cx="3657600" cy="228600"/>
          </a:xfrm>
        </p:spPr>
        <p:txBody>
          <a:bodyPr/>
          <a:lstStyle>
            <a:extLst/>
          </a:lstStyle>
          <a:p>
            <a:endParaRPr lang="en-GB"/>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45874402-7AEA-4879-A98A-48ADA897A63E}" type="slidenum">
              <a:rPr lang="en-GB" smtClean="0"/>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58009270-151C-478C-91AE-C4E5EF4E744F}" type="datetimeFigureOut">
              <a:rPr lang="en-GB" smtClean="0"/>
              <a:t>04/02/2016</a:t>
            </a:fld>
            <a:endParaRPr lang="en-GB"/>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GB"/>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45874402-7AEA-4879-A98A-48ADA897A63E}" type="slidenum">
              <a:rPr lang="en-GB" smtClean="0"/>
              <a:t>‹#›</a:t>
            </a:fld>
            <a:endParaRPr lang="en-GB"/>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60649"/>
            <a:ext cx="7772400" cy="2304255"/>
          </a:xfrm>
        </p:spPr>
        <p:txBody>
          <a:bodyPr>
            <a:normAutofit fontScale="90000"/>
          </a:bodyPr>
          <a:lstStyle/>
          <a:p>
            <a:r>
              <a:rPr lang="en-US" b="1" dirty="0"/>
              <a:t>SENIOR STAFF ASSOCIATION OF </a:t>
            </a:r>
            <a:r>
              <a:rPr lang="en-US" b="1" dirty="0" smtClean="0"/>
              <a:t>NIGERIAN </a:t>
            </a:r>
            <a:r>
              <a:rPr lang="en-US" b="1" dirty="0"/>
              <a:t>UNIVERSITIES, SSANU EKSU BRANCH</a:t>
            </a:r>
            <a:r>
              <a:rPr lang="en-GB" dirty="0"/>
              <a:t/>
            </a:r>
            <a:br>
              <a:rPr lang="en-GB" dirty="0"/>
            </a:br>
            <a:endParaRPr lang="en-GB" dirty="0"/>
          </a:p>
        </p:txBody>
      </p:sp>
      <p:sp>
        <p:nvSpPr>
          <p:cNvPr id="3" name="Subtitle 2"/>
          <p:cNvSpPr>
            <a:spLocks noGrp="1"/>
          </p:cNvSpPr>
          <p:nvPr>
            <p:ph type="subTitle" idx="1"/>
          </p:nvPr>
        </p:nvSpPr>
        <p:spPr>
          <a:xfrm>
            <a:off x="755576" y="2564904"/>
            <a:ext cx="7776864" cy="2736304"/>
          </a:xfrm>
        </p:spPr>
        <p:txBody>
          <a:bodyPr/>
          <a:lstStyle/>
          <a:p>
            <a:r>
              <a:rPr lang="en-US" b="1" dirty="0"/>
              <a:t>A PAPER PRESENTED AT THE ACADEMIC SUMMIT WITH THE </a:t>
            </a:r>
            <a:endParaRPr lang="en-US" b="1" dirty="0" smtClean="0"/>
          </a:p>
          <a:p>
            <a:endParaRPr lang="en-US" b="1" dirty="0" smtClean="0"/>
          </a:p>
          <a:p>
            <a:r>
              <a:rPr lang="en-US" b="1" dirty="0" smtClean="0"/>
              <a:t>THEME</a:t>
            </a:r>
            <a:r>
              <a:rPr lang="en-US" b="1" dirty="0"/>
              <a:t>: “THE CHALLENGES OF BUILDING A WORLD CLASS </a:t>
            </a:r>
            <a:endParaRPr lang="en-US" b="1" dirty="0" smtClean="0"/>
          </a:p>
          <a:p>
            <a:endParaRPr lang="en-US" b="1" dirty="0" smtClean="0"/>
          </a:p>
          <a:p>
            <a:r>
              <a:rPr lang="en-US" b="1" dirty="0" smtClean="0"/>
              <a:t>AND </a:t>
            </a:r>
            <a:r>
              <a:rPr lang="en-US" b="1" dirty="0"/>
              <a:t>SERVICE – INTENSIVE UNIVERSITY”</a:t>
            </a:r>
            <a:endParaRPr lang="en-GB" dirty="0"/>
          </a:p>
          <a:p>
            <a:endParaRPr lang="en-GB" dirty="0" smtClean="0"/>
          </a:p>
          <a:p>
            <a:endParaRPr lang="en-GB" dirty="0"/>
          </a:p>
          <a:p>
            <a:endParaRPr lang="en-GB"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DEFINITION</a:t>
            </a:r>
            <a:r>
              <a:rPr lang="en-GB" dirty="0" smtClean="0"/>
              <a:t/>
            </a:r>
            <a:br>
              <a:rPr lang="en-GB" dirty="0" smtClean="0"/>
            </a:br>
            <a:endParaRPr lang="en-GB" dirty="0"/>
          </a:p>
        </p:txBody>
      </p:sp>
      <p:sp>
        <p:nvSpPr>
          <p:cNvPr id="3" name="Content Placeholder 2"/>
          <p:cNvSpPr>
            <a:spLocks noGrp="1"/>
          </p:cNvSpPr>
          <p:nvPr>
            <p:ph idx="1"/>
          </p:nvPr>
        </p:nvSpPr>
        <p:spPr/>
        <p:txBody>
          <a:bodyPr>
            <a:normAutofit fontScale="92500" lnSpcReduction="10000"/>
          </a:bodyPr>
          <a:lstStyle/>
          <a:p>
            <a:r>
              <a:rPr lang="en-US" dirty="0" smtClean="0"/>
              <a:t>A world – class University is the University built on the quality and diversity of a society. The staff always place value on excellence and creativity, supporting independence of thought and the freedom to challenge existing knowledge and beliefs through critical research and scholarship.</a:t>
            </a:r>
            <a:endParaRPr lang="en-GB" dirty="0" smtClean="0"/>
          </a:p>
          <a:p>
            <a:r>
              <a:rPr lang="en-US" dirty="0" smtClean="0"/>
              <a:t>The Universities that feature among the top 100 in world rankings have been labeled “World Class Universities’ </a:t>
            </a:r>
            <a:r>
              <a:rPr lang="en-US" dirty="0" err="1" smtClean="0"/>
              <a:t>Salmi</a:t>
            </a:r>
            <a:r>
              <a:rPr lang="en-US" dirty="0" smtClean="0"/>
              <a:t> (2009), after analyzing the various ranking methods for  universities, using a three-factor categorization of the characteristics of such universities (see table one). </a:t>
            </a:r>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DEFINITION</a:t>
            </a:r>
            <a:r>
              <a:rPr lang="en-GB" dirty="0" smtClean="0"/>
              <a:t/>
            </a:r>
            <a:br>
              <a:rPr lang="en-GB" dirty="0" smtClean="0"/>
            </a:br>
            <a:endParaRPr lang="en-GB" dirty="0"/>
          </a:p>
        </p:txBody>
      </p:sp>
      <p:sp>
        <p:nvSpPr>
          <p:cNvPr id="3" name="Content Placeholder 2"/>
          <p:cNvSpPr>
            <a:spLocks noGrp="1"/>
          </p:cNvSpPr>
          <p:nvPr>
            <p:ph idx="1"/>
          </p:nvPr>
        </p:nvSpPr>
        <p:spPr/>
        <p:txBody>
          <a:bodyPr>
            <a:normAutofit fontScale="70000" lnSpcReduction="20000"/>
          </a:bodyPr>
          <a:lstStyle/>
          <a:p>
            <a:pPr>
              <a:buNone/>
            </a:pPr>
            <a:r>
              <a:rPr lang="en-US" dirty="0" smtClean="0"/>
              <a:t>They are known to have a concentration of talent, abundant resources, and appropriate governance. These factors combine to making the universities ‘research-intensive’, a feature that accounts for their influence, prestige and world class status.</a:t>
            </a:r>
            <a:endParaRPr lang="en-GB" dirty="0" smtClean="0"/>
          </a:p>
          <a:p>
            <a:pPr>
              <a:buNone/>
            </a:pPr>
            <a:r>
              <a:rPr lang="en-US" dirty="0" smtClean="0"/>
              <a:t>According to a business development group (RO – Realizing Opportunities),  research intensive universities, are research intensive universities where:</a:t>
            </a:r>
            <a:endParaRPr lang="en-GB" dirty="0" smtClean="0"/>
          </a:p>
          <a:p>
            <a:pPr lvl="0"/>
            <a:r>
              <a:rPr lang="en-US" dirty="0" smtClean="0"/>
              <a:t>New discoveries are being made</a:t>
            </a:r>
            <a:endParaRPr lang="en-GB" dirty="0" smtClean="0"/>
          </a:p>
          <a:p>
            <a:pPr lvl="0"/>
            <a:r>
              <a:rPr lang="en-US" dirty="0" smtClean="0"/>
              <a:t>Facilities are cutting edge</a:t>
            </a:r>
            <a:endParaRPr lang="en-GB" dirty="0" smtClean="0"/>
          </a:p>
          <a:p>
            <a:pPr lvl="0"/>
            <a:r>
              <a:rPr lang="en-US" dirty="0" smtClean="0"/>
              <a:t>Research is being carried out to help address problems in the wider world</a:t>
            </a:r>
            <a:endParaRPr lang="en-GB" dirty="0" smtClean="0"/>
          </a:p>
          <a:p>
            <a:pPr lvl="0"/>
            <a:r>
              <a:rPr lang="en-US" dirty="0" smtClean="0"/>
              <a:t>Researchers are experts in their fields and their enthusiasm and passion is shared with students studying at the university.</a:t>
            </a:r>
            <a:endParaRPr lang="en-GB" dirty="0" smtClean="0"/>
          </a:p>
          <a:p>
            <a:pPr lvl="0"/>
            <a:r>
              <a:rPr lang="en-US" dirty="0" smtClean="0"/>
              <a:t>Teaching at all levels is research-led or research-informed.</a:t>
            </a:r>
            <a:endParaRPr lang="en-GB" dirty="0" smtClean="0"/>
          </a:p>
          <a:p>
            <a:pPr lvl="0"/>
            <a:r>
              <a:rPr lang="en-US" dirty="0" smtClean="0"/>
              <a:t>Students have opportunities to develop skills in research environment, which are of value to employers.</a:t>
            </a:r>
            <a:endParaRPr lang="en-GB" dirty="0" smtClean="0"/>
          </a:p>
          <a:p>
            <a:pPr lvl="0"/>
            <a:r>
              <a:rPr lang="en-US" dirty="0" smtClean="0"/>
              <a:t>There are strong links with businesses.</a:t>
            </a:r>
            <a:endParaRPr lang="en-GB" dirty="0" smtClean="0"/>
          </a:p>
          <a:p>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a:t>
            </a:r>
            <a:endParaRPr lang="en-GB" dirty="0"/>
          </a:p>
        </p:txBody>
      </p:sp>
      <p:sp>
        <p:nvSpPr>
          <p:cNvPr id="3" name="Content Placeholder 2"/>
          <p:cNvSpPr>
            <a:spLocks noGrp="1"/>
          </p:cNvSpPr>
          <p:nvPr>
            <p:ph idx="1"/>
          </p:nvPr>
        </p:nvSpPr>
        <p:spPr/>
        <p:txBody>
          <a:bodyPr>
            <a:normAutofit/>
          </a:bodyPr>
          <a:lstStyle/>
          <a:p>
            <a:r>
              <a:rPr lang="en-US" dirty="0" smtClean="0"/>
              <a:t>Students at research intensive universities benefit from:</a:t>
            </a:r>
            <a:endParaRPr lang="en-GB" dirty="0" smtClean="0"/>
          </a:p>
          <a:p>
            <a:pPr lvl="0"/>
            <a:r>
              <a:rPr lang="en-US" dirty="0" smtClean="0"/>
              <a:t>Research-led teaching which creates vibrant learning environments.</a:t>
            </a:r>
            <a:endParaRPr lang="en-GB" dirty="0" smtClean="0"/>
          </a:p>
          <a:p>
            <a:pPr lvl="0"/>
            <a:r>
              <a:rPr lang="en-US" dirty="0" smtClean="0"/>
              <a:t>Opportunities to develop transferable skills which are valuable for employment and further study.</a:t>
            </a:r>
            <a:endParaRPr lang="en-GB" dirty="0" smtClean="0"/>
          </a:p>
          <a:p>
            <a:pPr lvl="0"/>
            <a:r>
              <a:rPr lang="en-US" dirty="0" smtClean="0"/>
              <a:t>Investment in cutting edge facilities</a:t>
            </a:r>
            <a:endParaRPr lang="en-GB" dirty="0" smtClean="0"/>
          </a:p>
          <a:p>
            <a:pPr>
              <a:buNone/>
            </a:pPr>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1236752"/>
          </a:xfrm>
        </p:spPr>
        <p:txBody>
          <a:bodyPr>
            <a:normAutofit fontScale="90000"/>
          </a:bodyPr>
          <a:lstStyle/>
          <a:p>
            <a:r>
              <a:rPr lang="en-US" dirty="0" smtClean="0"/>
              <a:t>A Three-Factor Characterization of World Class Universities</a:t>
            </a:r>
            <a:endParaRPr lang="en-GB" dirty="0"/>
          </a:p>
        </p:txBody>
      </p:sp>
      <p:graphicFrame>
        <p:nvGraphicFramePr>
          <p:cNvPr id="4" name="Content Placeholder 3"/>
          <p:cNvGraphicFramePr>
            <a:graphicFrameLocks noGrp="1"/>
          </p:cNvGraphicFramePr>
          <p:nvPr>
            <p:ph idx="1"/>
          </p:nvPr>
        </p:nvGraphicFramePr>
        <p:xfrm>
          <a:off x="457200" y="1772815"/>
          <a:ext cx="7239000" cy="4663440"/>
        </p:xfrm>
        <a:graphic>
          <a:graphicData uri="http://schemas.openxmlformats.org/drawingml/2006/table">
            <a:tbl>
              <a:tblPr firstRow="1" bandRow="1">
                <a:tableStyleId>{5C22544A-7EE6-4342-B048-85BDC9FD1C3A}</a:tableStyleId>
              </a:tblPr>
              <a:tblGrid>
                <a:gridCol w="3619500"/>
                <a:gridCol w="3619500"/>
              </a:tblGrid>
              <a:tr h="357885">
                <a:tc>
                  <a:txBody>
                    <a:bodyPr/>
                    <a:lstStyle/>
                    <a:p>
                      <a:r>
                        <a:rPr kumimoji="0" lang="en-US" sz="1800" b="1" kern="1200" dirty="0" smtClean="0">
                          <a:solidFill>
                            <a:schemeClr val="lt1"/>
                          </a:solidFill>
                          <a:latin typeface="+mn-lt"/>
                          <a:ea typeface="+mn-ea"/>
                          <a:cs typeface="+mn-cs"/>
                        </a:rPr>
                        <a:t>FACTOR</a:t>
                      </a:r>
                      <a:endParaRPr lang="en-GB" dirty="0"/>
                    </a:p>
                  </a:txBody>
                  <a:tcPr/>
                </a:tc>
                <a:tc>
                  <a:txBody>
                    <a:bodyPr/>
                    <a:lstStyle/>
                    <a:p>
                      <a:r>
                        <a:rPr kumimoji="0" lang="en-US" sz="1800" b="1" kern="1200" dirty="0" smtClean="0">
                          <a:solidFill>
                            <a:schemeClr val="lt1"/>
                          </a:solidFill>
                          <a:latin typeface="+mn-lt"/>
                          <a:ea typeface="+mn-ea"/>
                          <a:cs typeface="+mn-cs"/>
                        </a:rPr>
                        <a:t>FEATURES</a:t>
                      </a:r>
                      <a:endParaRPr lang="en-GB" dirty="0"/>
                    </a:p>
                  </a:txBody>
                  <a:tcPr/>
                </a:tc>
              </a:tr>
              <a:tr h="2206140">
                <a:tc>
                  <a:txBody>
                    <a:bodyPr/>
                    <a:lstStyle/>
                    <a:p>
                      <a:pPr algn="just">
                        <a:lnSpc>
                          <a:spcPct val="150000"/>
                        </a:lnSpc>
                        <a:spcAft>
                          <a:spcPts val="0"/>
                        </a:spcAft>
                      </a:pPr>
                      <a:r>
                        <a:rPr lang="en-US" sz="1400" dirty="0">
                          <a:latin typeface="Times New Roman"/>
                          <a:ea typeface="Calibri"/>
                          <a:cs typeface="Times New Roman"/>
                        </a:rPr>
                        <a:t>Concentration of Talent.</a:t>
                      </a:r>
                      <a:endParaRPr lang="en-GB" sz="1100" dirty="0">
                        <a:latin typeface="Calibri"/>
                        <a:ea typeface="Calibri"/>
                        <a:cs typeface="Times New Roman"/>
                      </a:endParaRPr>
                    </a:p>
                  </a:txBody>
                  <a:tcPr marL="68580" marR="68580" marT="0" marB="0"/>
                </a:tc>
                <a:tc>
                  <a:txBody>
                    <a:bodyPr/>
                    <a:lstStyle/>
                    <a:p>
                      <a:pPr lvl="0"/>
                      <a:r>
                        <a:rPr kumimoji="0" lang="en-US" sz="1800" kern="1200" dirty="0" smtClean="0">
                          <a:solidFill>
                            <a:schemeClr val="dk1"/>
                          </a:solidFill>
                          <a:latin typeface="+mn-lt"/>
                          <a:ea typeface="+mn-ea"/>
                          <a:cs typeface="+mn-cs"/>
                        </a:rPr>
                        <a:t>* Able to attract the most qualified professors and researchers.</a:t>
                      </a:r>
                      <a:endParaRPr kumimoji="0" lang="en-GB" sz="1800" kern="1200" dirty="0" smtClean="0">
                        <a:solidFill>
                          <a:schemeClr val="dk1"/>
                        </a:solidFill>
                        <a:latin typeface="+mn-lt"/>
                        <a:ea typeface="+mn-ea"/>
                        <a:cs typeface="+mn-cs"/>
                      </a:endParaRPr>
                    </a:p>
                    <a:p>
                      <a:pPr lvl="0"/>
                      <a:r>
                        <a:rPr kumimoji="0" lang="en-US" sz="1800" kern="1200" dirty="0" smtClean="0">
                          <a:solidFill>
                            <a:schemeClr val="dk1"/>
                          </a:solidFill>
                          <a:latin typeface="+mn-lt"/>
                          <a:ea typeface="+mn-ea"/>
                          <a:cs typeface="+mn-cs"/>
                        </a:rPr>
                        <a:t>* Ability and the privilege to select the most academically qualified students.</a:t>
                      </a:r>
                      <a:endParaRPr kumimoji="0" lang="en-GB" sz="1800" kern="1200" dirty="0" smtClean="0">
                        <a:solidFill>
                          <a:schemeClr val="dk1"/>
                        </a:solidFill>
                        <a:latin typeface="+mn-lt"/>
                        <a:ea typeface="+mn-ea"/>
                        <a:cs typeface="+mn-cs"/>
                      </a:endParaRPr>
                    </a:p>
                    <a:p>
                      <a:r>
                        <a:rPr kumimoji="0" lang="en-US" sz="1800" kern="1200" dirty="0" smtClean="0">
                          <a:solidFill>
                            <a:schemeClr val="dk1"/>
                          </a:solidFill>
                          <a:latin typeface="+mn-lt"/>
                          <a:ea typeface="+mn-ea"/>
                          <a:cs typeface="+mn-cs"/>
                        </a:rPr>
                        <a:t>* A high proportion of carefully selected  graduate students</a:t>
                      </a:r>
                      <a:endParaRPr lang="en-GB" dirty="0"/>
                    </a:p>
                  </a:txBody>
                  <a:tcPr/>
                </a:tc>
              </a:tr>
              <a:tr h="1941404">
                <a:tc>
                  <a:txBody>
                    <a:bodyPr/>
                    <a:lstStyle/>
                    <a:p>
                      <a:pPr algn="just">
                        <a:lnSpc>
                          <a:spcPct val="150000"/>
                        </a:lnSpc>
                        <a:spcAft>
                          <a:spcPts val="0"/>
                        </a:spcAft>
                      </a:pPr>
                      <a:r>
                        <a:rPr kumimoji="0" lang="en-US" sz="1800" kern="1200" dirty="0" smtClean="0">
                          <a:solidFill>
                            <a:schemeClr val="dk1"/>
                          </a:solidFill>
                          <a:latin typeface="+mn-lt"/>
                          <a:ea typeface="+mn-ea"/>
                          <a:cs typeface="+mn-cs"/>
                        </a:rPr>
                        <a:t>Abundant Resources</a:t>
                      </a:r>
                      <a:endParaRPr lang="en-GB" sz="1100" dirty="0">
                        <a:latin typeface="Calibri"/>
                        <a:ea typeface="Calibri"/>
                        <a:cs typeface="Times New Roman"/>
                      </a:endParaRPr>
                    </a:p>
                  </a:txBody>
                  <a:tcPr marL="68580" marR="68580" marT="0" marB="0"/>
                </a:tc>
                <a:tc>
                  <a:txBody>
                    <a:bodyPr/>
                    <a:lstStyle/>
                    <a:p>
                      <a:pPr lvl="0"/>
                      <a:r>
                        <a:rPr kumimoji="0" lang="en-US" sz="1800" kern="1200" dirty="0" smtClean="0">
                          <a:solidFill>
                            <a:schemeClr val="dk1"/>
                          </a:solidFill>
                          <a:latin typeface="+mn-lt"/>
                          <a:ea typeface="+mn-ea"/>
                          <a:cs typeface="+mn-cs"/>
                        </a:rPr>
                        <a:t>* Four main sources of financing:</a:t>
                      </a:r>
                      <a:endParaRPr kumimoji="0" lang="en-GB" sz="1800" kern="1200" dirty="0" smtClean="0">
                        <a:solidFill>
                          <a:schemeClr val="dk1"/>
                        </a:solidFill>
                        <a:latin typeface="+mn-lt"/>
                        <a:ea typeface="+mn-ea"/>
                        <a:cs typeface="+mn-cs"/>
                      </a:endParaRPr>
                    </a:p>
                    <a:p>
                      <a:pPr lvl="0"/>
                      <a:r>
                        <a:rPr kumimoji="0" lang="en-US" sz="1800" kern="1200" dirty="0" smtClean="0">
                          <a:solidFill>
                            <a:schemeClr val="dk1"/>
                          </a:solidFill>
                          <a:latin typeface="+mn-lt"/>
                          <a:ea typeface="+mn-ea"/>
                          <a:cs typeface="+mn-cs"/>
                        </a:rPr>
                        <a:t>* Government budget funding for operational expenditures and research,</a:t>
                      </a:r>
                      <a:endParaRPr kumimoji="0" lang="en-GB" sz="1800" kern="1200" dirty="0" smtClean="0">
                        <a:solidFill>
                          <a:schemeClr val="dk1"/>
                        </a:solidFill>
                        <a:latin typeface="+mn-lt"/>
                        <a:ea typeface="+mn-ea"/>
                        <a:cs typeface="+mn-cs"/>
                      </a:endParaRPr>
                    </a:p>
                    <a:p>
                      <a:pPr lvl="0"/>
                      <a:r>
                        <a:rPr kumimoji="0" lang="en-US" sz="1800" kern="1200" dirty="0" smtClean="0">
                          <a:solidFill>
                            <a:schemeClr val="dk1"/>
                          </a:solidFill>
                          <a:latin typeface="+mn-lt"/>
                          <a:ea typeface="+mn-ea"/>
                          <a:cs typeface="+mn-cs"/>
                        </a:rPr>
                        <a:t>* contract research from public organizations and private firms,</a:t>
                      </a:r>
                      <a:endParaRPr kumimoji="0" lang="en-GB" sz="1800" kern="1200" dirty="0" smtClean="0">
                        <a:solidFill>
                          <a:schemeClr val="dk1"/>
                        </a:solidFill>
                        <a:latin typeface="+mn-lt"/>
                        <a:ea typeface="+mn-ea"/>
                        <a:cs typeface="+mn-cs"/>
                      </a:endParaRPr>
                    </a:p>
                    <a:p>
                      <a:endParaRPr lang="en-GB" dirty="0"/>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239000" cy="1556792"/>
          </a:xfrm>
        </p:spPr>
        <p:txBody>
          <a:bodyPr>
            <a:normAutofit fontScale="90000"/>
          </a:bodyPr>
          <a:lstStyle/>
          <a:p>
            <a:r>
              <a:rPr lang="en-US" dirty="0" smtClean="0"/>
              <a:t>A Three-Factor Characterization of World Class Universities</a:t>
            </a:r>
            <a:endParaRPr lang="en-GB" dirty="0"/>
          </a:p>
        </p:txBody>
      </p:sp>
      <p:graphicFrame>
        <p:nvGraphicFramePr>
          <p:cNvPr id="4" name="Content Placeholder 3"/>
          <p:cNvGraphicFramePr>
            <a:graphicFrameLocks noGrp="1"/>
          </p:cNvGraphicFramePr>
          <p:nvPr>
            <p:ph idx="1"/>
          </p:nvPr>
        </p:nvGraphicFramePr>
        <p:xfrm>
          <a:off x="457200" y="1609725"/>
          <a:ext cx="7239000" cy="5120640"/>
        </p:xfrm>
        <a:graphic>
          <a:graphicData uri="http://schemas.openxmlformats.org/drawingml/2006/table">
            <a:tbl>
              <a:tblPr firstRow="1" bandRow="1">
                <a:tableStyleId>{5C22544A-7EE6-4342-B048-85BDC9FD1C3A}</a:tableStyleId>
              </a:tblPr>
              <a:tblGrid>
                <a:gridCol w="3619500"/>
                <a:gridCol w="3619500"/>
              </a:tblGrid>
              <a:tr h="370840">
                <a:tc>
                  <a:txBody>
                    <a:bodyPr/>
                    <a:lstStyle/>
                    <a:p>
                      <a:endParaRPr lang="en-GB" dirty="0"/>
                    </a:p>
                  </a:txBody>
                  <a:tcPr/>
                </a:tc>
                <a:tc>
                  <a:txBody>
                    <a:bodyPr/>
                    <a:lstStyle/>
                    <a:p>
                      <a:pPr lvl="0"/>
                      <a:r>
                        <a:rPr kumimoji="0" lang="en-US" sz="1800" b="1" kern="1200" dirty="0" smtClean="0">
                          <a:solidFill>
                            <a:schemeClr val="lt1"/>
                          </a:solidFill>
                          <a:latin typeface="+mn-lt"/>
                          <a:ea typeface="+mn-ea"/>
                          <a:cs typeface="+mn-cs"/>
                        </a:rPr>
                        <a:t>* the financial returns generated by endowments and gifts, and</a:t>
                      </a:r>
                      <a:endParaRPr kumimoji="0" lang="en-GB" sz="1800" b="1" kern="1200" dirty="0" smtClean="0">
                        <a:solidFill>
                          <a:schemeClr val="lt1"/>
                        </a:solidFill>
                        <a:latin typeface="+mn-lt"/>
                        <a:ea typeface="+mn-ea"/>
                        <a:cs typeface="+mn-cs"/>
                      </a:endParaRPr>
                    </a:p>
                    <a:p>
                      <a:pPr lvl="0"/>
                      <a:r>
                        <a:rPr kumimoji="0" lang="en-US" sz="1800" b="1" kern="1200" dirty="0" smtClean="0">
                          <a:solidFill>
                            <a:schemeClr val="lt1"/>
                          </a:solidFill>
                          <a:latin typeface="+mn-lt"/>
                          <a:ea typeface="+mn-ea"/>
                          <a:cs typeface="+mn-cs"/>
                        </a:rPr>
                        <a:t>* tuition fees</a:t>
                      </a:r>
                      <a:endParaRPr kumimoji="0" lang="en-GB" sz="1800" b="1" kern="1200" dirty="0" smtClean="0">
                        <a:solidFill>
                          <a:schemeClr val="lt1"/>
                        </a:solidFill>
                        <a:latin typeface="+mn-lt"/>
                        <a:ea typeface="+mn-ea"/>
                        <a:cs typeface="+mn-cs"/>
                      </a:endParaRPr>
                    </a:p>
                    <a:p>
                      <a:r>
                        <a:rPr kumimoji="0" lang="en-US" sz="1800" b="1" kern="1200" dirty="0" smtClean="0">
                          <a:solidFill>
                            <a:schemeClr val="lt1"/>
                          </a:solidFill>
                          <a:latin typeface="+mn-lt"/>
                          <a:ea typeface="+mn-ea"/>
                          <a:cs typeface="+mn-cs"/>
                        </a:rPr>
                        <a:t>These abundant resources create a virtuous circle that allows the concerned institutions to attract even more top professors and researchers</a:t>
                      </a:r>
                      <a:endParaRPr lang="en-GB" dirty="0"/>
                    </a:p>
                  </a:txBody>
                  <a:tcPr/>
                </a:tc>
              </a:tr>
              <a:tr h="370840">
                <a:tc>
                  <a:txBody>
                    <a:bodyPr/>
                    <a:lstStyle/>
                    <a:p>
                      <a:pPr algn="just">
                        <a:lnSpc>
                          <a:spcPct val="150000"/>
                        </a:lnSpc>
                        <a:spcAft>
                          <a:spcPts val="0"/>
                        </a:spcAft>
                      </a:pPr>
                      <a:r>
                        <a:rPr lang="en-US" sz="1400" dirty="0">
                          <a:latin typeface="Times New Roman"/>
                          <a:ea typeface="Calibri"/>
                          <a:cs typeface="Times New Roman"/>
                        </a:rPr>
                        <a:t>Appropriate Governance</a:t>
                      </a:r>
                      <a:endParaRPr lang="en-GB" sz="1100" dirty="0">
                        <a:latin typeface="Calibri"/>
                        <a:ea typeface="Calibri"/>
                        <a:cs typeface="Times New Roman"/>
                      </a:endParaRPr>
                    </a:p>
                  </a:txBody>
                  <a:tcPr marL="68580" marR="68580" marT="0" marB="0"/>
                </a:tc>
                <a:tc>
                  <a:txBody>
                    <a:bodyPr/>
                    <a:lstStyle/>
                    <a:p>
                      <a:pPr lvl="0"/>
                      <a:r>
                        <a:rPr kumimoji="0" lang="en-US" sz="1800" kern="1200" dirty="0" smtClean="0">
                          <a:solidFill>
                            <a:schemeClr val="dk1"/>
                          </a:solidFill>
                          <a:latin typeface="+mn-lt"/>
                          <a:ea typeface="+mn-ea"/>
                          <a:cs typeface="+mn-cs"/>
                        </a:rPr>
                        <a:t>* the overall regulatory framework,</a:t>
                      </a:r>
                      <a:endParaRPr kumimoji="0" lang="en-GB" sz="1800" kern="1200" dirty="0" smtClean="0">
                        <a:solidFill>
                          <a:schemeClr val="dk1"/>
                        </a:solidFill>
                        <a:latin typeface="+mn-lt"/>
                        <a:ea typeface="+mn-ea"/>
                        <a:cs typeface="+mn-cs"/>
                      </a:endParaRPr>
                    </a:p>
                    <a:p>
                      <a:pPr lvl="0"/>
                      <a:r>
                        <a:rPr kumimoji="0" lang="en-US" sz="1800" kern="1200" dirty="0" smtClean="0">
                          <a:solidFill>
                            <a:schemeClr val="dk1"/>
                          </a:solidFill>
                          <a:latin typeface="+mn-lt"/>
                          <a:ea typeface="+mn-ea"/>
                          <a:cs typeface="+mn-cs"/>
                        </a:rPr>
                        <a:t>* the competitive environment and</a:t>
                      </a:r>
                      <a:endParaRPr kumimoji="0" lang="en-GB" sz="1800" kern="1200" dirty="0" smtClean="0">
                        <a:solidFill>
                          <a:schemeClr val="dk1"/>
                        </a:solidFill>
                        <a:latin typeface="+mn-lt"/>
                        <a:ea typeface="+mn-ea"/>
                        <a:cs typeface="+mn-cs"/>
                      </a:endParaRPr>
                    </a:p>
                    <a:p>
                      <a:pPr lvl="0"/>
                      <a:r>
                        <a:rPr kumimoji="0" lang="en-US" sz="1800" kern="1200" dirty="0" smtClean="0">
                          <a:solidFill>
                            <a:schemeClr val="dk1"/>
                          </a:solidFill>
                          <a:latin typeface="+mn-lt"/>
                          <a:ea typeface="+mn-ea"/>
                          <a:cs typeface="+mn-cs"/>
                        </a:rPr>
                        <a:t>* the degree of academic and managerial autonomy that universities enjoy.</a:t>
                      </a:r>
                      <a:endParaRPr kumimoji="0" lang="en-GB" sz="1800" kern="1200" dirty="0" smtClean="0">
                        <a:solidFill>
                          <a:schemeClr val="dk1"/>
                        </a:solidFill>
                        <a:latin typeface="+mn-lt"/>
                        <a:ea typeface="+mn-ea"/>
                        <a:cs typeface="+mn-cs"/>
                      </a:endParaRPr>
                    </a:p>
                    <a:p>
                      <a:endParaRPr lang="en-GB" dirty="0"/>
                    </a:p>
                  </a:txBody>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7239000" cy="1512168"/>
          </a:xfrm>
        </p:spPr>
        <p:txBody>
          <a:bodyPr>
            <a:normAutofit fontScale="90000"/>
          </a:bodyPr>
          <a:lstStyle/>
          <a:p>
            <a:r>
              <a:rPr lang="en-US" dirty="0" smtClean="0"/>
              <a:t>A Three-Factor Characterization of World Class Universities</a:t>
            </a:r>
            <a:endParaRPr lang="en-GB" dirty="0"/>
          </a:p>
        </p:txBody>
      </p:sp>
      <p:graphicFrame>
        <p:nvGraphicFramePr>
          <p:cNvPr id="4" name="Content Placeholder 3"/>
          <p:cNvGraphicFramePr>
            <a:graphicFrameLocks noGrp="1"/>
          </p:cNvGraphicFramePr>
          <p:nvPr>
            <p:ph idx="1"/>
          </p:nvPr>
        </p:nvGraphicFramePr>
        <p:xfrm>
          <a:off x="457200" y="1609725"/>
          <a:ext cx="7239000" cy="5125720"/>
        </p:xfrm>
        <a:graphic>
          <a:graphicData uri="http://schemas.openxmlformats.org/drawingml/2006/table">
            <a:tbl>
              <a:tblPr firstRow="1" bandRow="1">
                <a:tableStyleId>{5C22544A-7EE6-4342-B048-85BDC9FD1C3A}</a:tableStyleId>
              </a:tblPr>
              <a:tblGrid>
                <a:gridCol w="3619500"/>
                <a:gridCol w="3619500"/>
              </a:tblGrid>
              <a:tr h="370840">
                <a:tc>
                  <a:txBody>
                    <a:bodyPr/>
                    <a:lstStyle/>
                    <a:p>
                      <a:endParaRPr lang="en-GB" dirty="0"/>
                    </a:p>
                  </a:txBody>
                  <a:tcPr/>
                </a:tc>
                <a:tc>
                  <a:txBody>
                    <a:bodyPr/>
                    <a:lstStyle/>
                    <a:p>
                      <a:pPr lvl="0"/>
                      <a:r>
                        <a:rPr kumimoji="0" lang="en-US" sz="1800" b="1" kern="1200" dirty="0" smtClean="0">
                          <a:solidFill>
                            <a:schemeClr val="lt1"/>
                          </a:solidFill>
                          <a:latin typeface="+mn-lt"/>
                          <a:ea typeface="+mn-ea"/>
                          <a:cs typeface="+mn-cs"/>
                        </a:rPr>
                        <a:t>*  Complete autonomy are also more flexible because they are not bound by cumbersome bureaucracies and externally imposed standards,</a:t>
                      </a:r>
                      <a:endParaRPr kumimoji="0" lang="en-GB" sz="1800" b="1" kern="1200" dirty="0" smtClean="0">
                        <a:solidFill>
                          <a:schemeClr val="lt1"/>
                        </a:solidFill>
                        <a:latin typeface="+mn-lt"/>
                        <a:ea typeface="+mn-ea"/>
                        <a:cs typeface="+mn-cs"/>
                      </a:endParaRPr>
                    </a:p>
                    <a:p>
                      <a:pPr lvl="0"/>
                      <a:r>
                        <a:rPr kumimoji="0" lang="en-US" sz="1800" b="1" kern="1200" dirty="0" smtClean="0">
                          <a:solidFill>
                            <a:schemeClr val="lt1"/>
                          </a:solidFill>
                          <a:latin typeface="+mn-lt"/>
                          <a:ea typeface="+mn-ea"/>
                          <a:cs typeface="+mn-cs"/>
                        </a:rPr>
                        <a:t>*  They can manage their resources with agility and quickly respond to the demands of a rapidly changing global market.</a:t>
                      </a:r>
                      <a:endParaRPr kumimoji="0" lang="en-GB" sz="1800" b="1" kern="1200" dirty="0" smtClean="0">
                        <a:solidFill>
                          <a:schemeClr val="lt1"/>
                        </a:solidFill>
                        <a:latin typeface="+mn-lt"/>
                        <a:ea typeface="+mn-ea"/>
                        <a:cs typeface="+mn-cs"/>
                      </a:endParaRPr>
                    </a:p>
                    <a:p>
                      <a:pPr lvl="0"/>
                      <a:r>
                        <a:rPr kumimoji="0" lang="en-US" sz="1800" b="1" kern="1200" dirty="0" smtClean="0">
                          <a:solidFill>
                            <a:schemeClr val="lt1"/>
                          </a:solidFill>
                          <a:latin typeface="+mn-lt"/>
                          <a:ea typeface="+mn-ea"/>
                          <a:cs typeface="+mn-cs"/>
                        </a:rPr>
                        <a:t>*  As inspiring and persistent leaders, a strong strategic vision of where the institution is going,</a:t>
                      </a:r>
                      <a:endParaRPr kumimoji="0" lang="en-GB" sz="1800" b="1" kern="1200" dirty="0" smtClean="0">
                        <a:solidFill>
                          <a:schemeClr val="lt1"/>
                        </a:solidFill>
                        <a:latin typeface="+mn-lt"/>
                        <a:ea typeface="+mn-ea"/>
                        <a:cs typeface="+mn-cs"/>
                      </a:endParaRPr>
                    </a:p>
                    <a:p>
                      <a:pPr lvl="0"/>
                      <a:r>
                        <a:rPr kumimoji="0" lang="en-US" sz="1800" b="1" kern="1200" dirty="0" smtClean="0">
                          <a:solidFill>
                            <a:schemeClr val="lt1"/>
                          </a:solidFill>
                          <a:latin typeface="+mn-lt"/>
                          <a:ea typeface="+mn-ea"/>
                          <a:cs typeface="+mn-cs"/>
                        </a:rPr>
                        <a:t>*  A philosophy of success and excellence, and</a:t>
                      </a:r>
                      <a:endParaRPr kumimoji="0" lang="en-GB" sz="1800" b="1" kern="1200" dirty="0" smtClean="0">
                        <a:solidFill>
                          <a:schemeClr val="lt1"/>
                        </a:solidFill>
                        <a:latin typeface="+mn-lt"/>
                        <a:ea typeface="+mn-ea"/>
                        <a:cs typeface="+mn-cs"/>
                      </a:endParaRPr>
                    </a:p>
                    <a:p>
                      <a:endParaRPr lang="en-GB" dirty="0"/>
                    </a:p>
                  </a:txBody>
                  <a:tcPr/>
                </a:tc>
              </a:tr>
              <a:tr h="370840">
                <a:tc>
                  <a:txBody>
                    <a:bodyPr/>
                    <a:lstStyle/>
                    <a:p>
                      <a:endParaRPr lang="en-GB" dirty="0"/>
                    </a:p>
                  </a:txBody>
                  <a:tcPr/>
                </a:tc>
                <a:tc>
                  <a:txBody>
                    <a:bodyPr/>
                    <a:lstStyle/>
                    <a:p>
                      <a:endParaRPr lang="en-GB"/>
                    </a:p>
                  </a:txBody>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1236752"/>
          </a:xfrm>
        </p:spPr>
        <p:txBody>
          <a:bodyPr>
            <a:normAutofit fontScale="90000"/>
          </a:bodyPr>
          <a:lstStyle/>
          <a:p>
            <a:r>
              <a:rPr lang="en-US" dirty="0" smtClean="0"/>
              <a:t>A Three-Factor Characterization of World Class Universities</a:t>
            </a:r>
            <a:endParaRPr lang="en-GB" dirty="0"/>
          </a:p>
        </p:txBody>
      </p:sp>
      <p:graphicFrame>
        <p:nvGraphicFramePr>
          <p:cNvPr id="4" name="Content Placeholder 3"/>
          <p:cNvGraphicFramePr>
            <a:graphicFrameLocks noGrp="1"/>
          </p:cNvGraphicFramePr>
          <p:nvPr>
            <p:ph idx="1"/>
          </p:nvPr>
        </p:nvGraphicFramePr>
        <p:xfrm>
          <a:off x="457200" y="1609725"/>
          <a:ext cx="7239000" cy="1285240"/>
        </p:xfrm>
        <a:graphic>
          <a:graphicData uri="http://schemas.openxmlformats.org/drawingml/2006/table">
            <a:tbl>
              <a:tblPr firstRow="1" bandRow="1">
                <a:tableStyleId>{5C22544A-7EE6-4342-B048-85BDC9FD1C3A}</a:tableStyleId>
              </a:tblPr>
              <a:tblGrid>
                <a:gridCol w="3619500"/>
                <a:gridCol w="3619500"/>
              </a:tblGrid>
              <a:tr h="370840">
                <a:tc>
                  <a:txBody>
                    <a:bodyPr/>
                    <a:lstStyle/>
                    <a:p>
                      <a:endParaRPr lang="en-GB" dirty="0"/>
                    </a:p>
                  </a:txBody>
                  <a:tcPr/>
                </a:tc>
                <a:tc>
                  <a:txBody>
                    <a:bodyPr/>
                    <a:lstStyle/>
                    <a:p>
                      <a:r>
                        <a:rPr kumimoji="0" lang="en-US" sz="1800" b="1" kern="1200" dirty="0" smtClean="0">
                          <a:solidFill>
                            <a:schemeClr val="lt1"/>
                          </a:solidFill>
                          <a:latin typeface="+mn-lt"/>
                          <a:ea typeface="+mn-ea"/>
                          <a:cs typeface="+mn-cs"/>
                        </a:rPr>
                        <a:t>* A culture of constant reflection, organizational learning and change.</a:t>
                      </a:r>
                      <a:endParaRPr lang="en-GB" dirty="0"/>
                    </a:p>
                  </a:txBody>
                  <a:tcPr/>
                </a:tc>
              </a:tr>
              <a:tr h="370840">
                <a:tc>
                  <a:txBody>
                    <a:bodyPr/>
                    <a:lstStyle/>
                    <a:p>
                      <a:endParaRPr lang="en-GB" dirty="0"/>
                    </a:p>
                  </a:txBody>
                  <a:tcPr/>
                </a:tc>
                <a:tc>
                  <a:txBody>
                    <a:bodyPr/>
                    <a:lstStyle/>
                    <a:p>
                      <a:endParaRPr lang="en-GB"/>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service-intensive university</a:t>
            </a:r>
            <a:endParaRPr lang="en-GB" dirty="0"/>
          </a:p>
        </p:txBody>
      </p:sp>
      <p:sp>
        <p:nvSpPr>
          <p:cNvPr id="3" name="Content Placeholder 2"/>
          <p:cNvSpPr>
            <a:spLocks noGrp="1"/>
          </p:cNvSpPr>
          <p:nvPr>
            <p:ph idx="1"/>
          </p:nvPr>
        </p:nvSpPr>
        <p:spPr/>
        <p:txBody>
          <a:bodyPr/>
          <a:lstStyle/>
          <a:p>
            <a:pPr>
              <a:buNone/>
            </a:pPr>
            <a:r>
              <a:rPr lang="en-US" dirty="0" smtClean="0"/>
              <a:t>The service-intensive university paradigm is not in total disagreement with the research intensive posture of world class universities. It is instead an attempt at enhancing the social responsiveness of Universities in Africa. </a:t>
            </a:r>
          </a:p>
          <a:p>
            <a:pPr>
              <a:buNone/>
            </a:pPr>
            <a:r>
              <a:rPr lang="en-US" dirty="0" smtClean="0"/>
              <a:t>This latter term simply means that the development challenges of Africa must be the core concern areas for African universities.</a:t>
            </a:r>
            <a:endParaRPr lang="en-GB"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service-intensive university</a:t>
            </a:r>
            <a:endParaRPr lang="en-GB" dirty="0"/>
          </a:p>
        </p:txBody>
      </p:sp>
      <p:sp>
        <p:nvSpPr>
          <p:cNvPr id="3" name="Content Placeholder 2"/>
          <p:cNvSpPr>
            <a:spLocks noGrp="1"/>
          </p:cNvSpPr>
          <p:nvPr>
            <p:ph idx="1"/>
          </p:nvPr>
        </p:nvSpPr>
        <p:spPr/>
        <p:txBody>
          <a:bodyPr>
            <a:normAutofit fontScale="85000" lnSpcReduction="10000"/>
          </a:bodyPr>
          <a:lstStyle/>
          <a:p>
            <a:pPr>
              <a:buNone/>
            </a:pPr>
            <a:r>
              <a:rPr lang="en-US" dirty="0" smtClean="0"/>
              <a:t>Knowledge is the best tool for getting Africa out of underdevelopment, and since Knowledge is the major raison d’être of Universities, African institutions should harness their research to seriously and systematically seeking answers to three key questions:</a:t>
            </a:r>
            <a:endParaRPr lang="en-GB" dirty="0" smtClean="0"/>
          </a:p>
          <a:p>
            <a:pPr lvl="0"/>
            <a:r>
              <a:rPr lang="en-US" dirty="0" smtClean="0"/>
              <a:t>What is it that is tying Africa down in terms of sustainable human development?</a:t>
            </a:r>
            <a:endParaRPr lang="en-GB" dirty="0" smtClean="0"/>
          </a:p>
          <a:p>
            <a:pPr lvl="0"/>
            <a:r>
              <a:rPr lang="en-US" dirty="0" smtClean="0"/>
              <a:t>How can we direct our knowledge arsenal to understanding and addressing our major ‘tying-us-down’ challenges?</a:t>
            </a:r>
            <a:endParaRPr lang="en-GB" dirty="0" smtClean="0"/>
          </a:p>
          <a:p>
            <a:pPr lvl="0"/>
            <a:r>
              <a:rPr lang="en-US" dirty="0" smtClean="0"/>
              <a:t>What methodologies, systems, processes and tools should be developed for applying our knowledge arsenal to demonstrable and replicable solutions to these ‘tying-us-down’ challenges?</a:t>
            </a:r>
            <a:endParaRPr lang="en-GB" dirty="0" smtClean="0"/>
          </a:p>
          <a:p>
            <a:pPr>
              <a:buNone/>
            </a:pPr>
            <a:endParaRPr lang="en-GB"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service-intensive university</a:t>
            </a:r>
            <a:endParaRPr lang="en-GB" dirty="0"/>
          </a:p>
        </p:txBody>
      </p:sp>
      <p:sp>
        <p:nvSpPr>
          <p:cNvPr id="3" name="Content Placeholder 2"/>
          <p:cNvSpPr>
            <a:spLocks noGrp="1"/>
          </p:cNvSpPr>
          <p:nvPr>
            <p:ph idx="1"/>
          </p:nvPr>
        </p:nvSpPr>
        <p:spPr/>
        <p:txBody>
          <a:bodyPr>
            <a:normAutofit fontScale="92500" lnSpcReduction="20000"/>
          </a:bodyPr>
          <a:lstStyle/>
          <a:p>
            <a:r>
              <a:rPr lang="en-US" dirty="0" smtClean="0"/>
              <a:t>It is worth recalling that the knowledge arsenal of a University should spring from the strength of its core functions that are </a:t>
            </a:r>
            <a:r>
              <a:rPr lang="en-US" dirty="0" err="1" smtClean="0"/>
              <a:t>centred</a:t>
            </a:r>
            <a:r>
              <a:rPr lang="en-US" dirty="0" smtClean="0"/>
              <a:t> on Knowledge:</a:t>
            </a:r>
            <a:endParaRPr lang="en-GB" dirty="0" smtClean="0"/>
          </a:p>
          <a:p>
            <a:pPr lvl="0"/>
            <a:r>
              <a:rPr lang="en-US" dirty="0" smtClean="0"/>
              <a:t>Knowledge generation (or Research), extending the frontiers of knowledge</a:t>
            </a:r>
            <a:endParaRPr lang="en-GB" dirty="0" smtClean="0"/>
          </a:p>
          <a:p>
            <a:pPr lvl="0"/>
            <a:r>
              <a:rPr lang="en-US" dirty="0" smtClean="0"/>
              <a:t>Knowledge transmission (or Teaching),inculcating knowledge acquisition knowledge application skills)</a:t>
            </a:r>
            <a:endParaRPr lang="en-GB" dirty="0" smtClean="0"/>
          </a:p>
          <a:p>
            <a:pPr lvl="0"/>
            <a:r>
              <a:rPr lang="en-US" dirty="0" smtClean="0"/>
              <a:t>Knowledge transfer (or responsive social engagement), providing and supporting the application of knowledge for evidence-based strategies for addressing society’s development concerns</a:t>
            </a:r>
            <a:endParaRPr lang="en-GB" dirty="0" smtClean="0"/>
          </a:p>
          <a:p>
            <a:pPr>
              <a:buNone/>
            </a:pPr>
            <a:endParaRPr lang="en-GB"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92500" lnSpcReduction="10000"/>
          </a:bodyPr>
          <a:lstStyle/>
          <a:p>
            <a:pPr>
              <a:buNone/>
            </a:pPr>
            <a:r>
              <a:rPr lang="en-US" dirty="0" smtClean="0"/>
              <a:t>The customary view of the core functions of Universities considers 1 (Knowledge generation) plus 2 (knowledge transmission), plus 3 Knowledge transfer) as three distinct activities. On the other hand, the responsive social engagement view considers 1+1+1 as equal to one. </a:t>
            </a:r>
          </a:p>
          <a:p>
            <a:pPr>
              <a:buNone/>
            </a:pPr>
            <a:r>
              <a:rPr lang="en-US" dirty="0" smtClean="0"/>
              <a:t>In other words, each of the components taper into the others and remains realty inseparable from the others. Their combined synergy should help to </a:t>
            </a:r>
            <a:r>
              <a:rPr lang="en-US" dirty="0" err="1" smtClean="0"/>
              <a:t>energise</a:t>
            </a:r>
            <a:r>
              <a:rPr lang="en-US" dirty="0" smtClean="0"/>
              <a:t> the knowledge arsenal of an institution. They may act independently, but all end up sharing and upholding a single goal.</a:t>
            </a:r>
            <a:endParaRPr lang="en-GB" dirty="0" smtClean="0"/>
          </a:p>
          <a:p>
            <a:pPr>
              <a:buNone/>
            </a:pPr>
            <a:endParaRPr lang="en-GB"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239000" cy="2276872"/>
          </a:xfrm>
        </p:spPr>
        <p:txBody>
          <a:bodyPr>
            <a:normAutofit/>
          </a:bodyPr>
          <a:lstStyle/>
          <a:p>
            <a:r>
              <a:rPr lang="en-US" i="1" dirty="0" smtClean="0"/>
              <a:t>Fig. 1: Knowledge Arsenal for Society</a:t>
            </a:r>
            <a:r>
              <a:rPr lang="en-GB" dirty="0" smtClean="0"/>
              <a:t/>
            </a:r>
            <a:br>
              <a:rPr lang="en-GB" dirty="0" smtClean="0"/>
            </a:br>
            <a:endParaRPr lang="en-GB" dirty="0"/>
          </a:p>
        </p:txBody>
      </p:sp>
      <p:pic>
        <p:nvPicPr>
          <p:cNvPr id="4" name="Content Placeholder 3"/>
          <p:cNvPicPr>
            <a:picLocks noGrp="1"/>
          </p:cNvPicPr>
          <p:nvPr>
            <p:ph idx="1"/>
          </p:nvPr>
        </p:nvPicPr>
        <p:blipFill>
          <a:blip r:embed="rId2" cstate="print"/>
          <a:srcRect/>
          <a:stretch>
            <a:fillRect/>
          </a:stretch>
        </p:blipFill>
        <p:spPr bwMode="auto">
          <a:xfrm>
            <a:off x="1399788" y="2473989"/>
            <a:ext cx="5353823" cy="311811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i="1" dirty="0" smtClean="0"/>
              <a:t>Knowledge Arsenal for Society</a:t>
            </a:r>
            <a:endParaRPr lang="en-GB" dirty="0"/>
          </a:p>
        </p:txBody>
      </p:sp>
      <p:sp>
        <p:nvSpPr>
          <p:cNvPr id="3" name="Content Placeholder 2"/>
          <p:cNvSpPr>
            <a:spLocks noGrp="1"/>
          </p:cNvSpPr>
          <p:nvPr>
            <p:ph idx="1"/>
          </p:nvPr>
        </p:nvSpPr>
        <p:spPr/>
        <p:txBody>
          <a:bodyPr>
            <a:normAutofit fontScale="70000" lnSpcReduction="20000"/>
          </a:bodyPr>
          <a:lstStyle/>
          <a:p>
            <a:pPr>
              <a:buNone/>
            </a:pPr>
            <a:r>
              <a:rPr lang="en-US" sz="2800" dirty="0" smtClean="0"/>
              <a:t>In the responsive social responsiveness model, the three dimensions are fused (as in figure two) and a service intensive university would weave all the three elements of its knowledge arsenal in pursuit of societal progress by systematically researching into, teaching about and society’s development challenges, in addition to being practically involved in developing and applying knowledge-based solutions to these challenges. The application of knowledge to tackling society’s development challenges in itself become a participatory action research process, the results of which should become valuable in terms of </a:t>
            </a:r>
            <a:endParaRPr lang="en-GB" sz="2000" dirty="0" smtClean="0"/>
          </a:p>
          <a:p>
            <a:pPr>
              <a:buFont typeface="Arial" charset="0"/>
              <a:buChar char="•"/>
            </a:pPr>
            <a:r>
              <a:rPr lang="en-US" sz="2400" dirty="0" smtClean="0"/>
              <a:t>extending the frontiers of knowledge, through the Lessons Learnt in the course of application</a:t>
            </a:r>
            <a:endParaRPr lang="en-GB" sz="1800" dirty="0" smtClean="0"/>
          </a:p>
          <a:p>
            <a:pPr>
              <a:buFont typeface="Arial" charset="0"/>
              <a:buChar char="•"/>
            </a:pPr>
            <a:r>
              <a:rPr lang="en-US" sz="2400" dirty="0" smtClean="0"/>
              <a:t>providing materials and enriching teaching by giving new perspectives (resulting from a above) to the content of teaching</a:t>
            </a:r>
            <a:endParaRPr lang="en-GB" sz="1800" dirty="0" smtClean="0"/>
          </a:p>
          <a:p>
            <a:pPr>
              <a:buFont typeface="Arial" charset="0"/>
              <a:buChar char="•"/>
            </a:pPr>
            <a:r>
              <a:rPr lang="en-US" sz="2800" dirty="0" smtClean="0"/>
              <a:t>providing new perspectives to social engagement from the Lessons of prior experiences, thus enhancing the social responsiveness of the institution</a:t>
            </a:r>
          </a:p>
          <a:p>
            <a:pPr>
              <a:buFont typeface="Arial" charset="0"/>
              <a:buChar char="•"/>
            </a:pPr>
            <a:endParaRPr lang="en-GB"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1740808"/>
          </a:xfrm>
        </p:spPr>
        <p:txBody>
          <a:bodyPr>
            <a:normAutofit/>
          </a:bodyPr>
          <a:lstStyle/>
          <a:p>
            <a:r>
              <a:rPr lang="en-US" i="1" dirty="0" smtClean="0"/>
              <a:t>A coalescing of the three core functions of a University</a:t>
            </a:r>
            <a:endParaRPr lang="en-GB" dirty="0"/>
          </a:p>
        </p:txBody>
      </p:sp>
      <p:sp>
        <p:nvSpPr>
          <p:cNvPr id="3" name="Content Placeholder 2"/>
          <p:cNvSpPr>
            <a:spLocks noGrp="1"/>
          </p:cNvSpPr>
          <p:nvPr>
            <p:ph idx="1"/>
          </p:nvPr>
        </p:nvSpPr>
        <p:spPr>
          <a:xfrm>
            <a:off x="457200" y="2420888"/>
            <a:ext cx="7239000" cy="4034848"/>
          </a:xfrm>
        </p:spPr>
        <p:txBody>
          <a:bodyPr/>
          <a:lstStyle/>
          <a:p>
            <a:r>
              <a:rPr lang="en-GB" b="1" dirty="0" smtClean="0"/>
              <a:t>Knowledge generation</a:t>
            </a:r>
            <a:endParaRPr lang="en-GB" dirty="0" smtClean="0"/>
          </a:p>
          <a:p>
            <a:r>
              <a:rPr lang="en-GB" b="1" dirty="0" smtClean="0"/>
              <a:t>Knowledge transmission</a:t>
            </a:r>
            <a:endParaRPr lang="en-GB" dirty="0" smtClean="0"/>
          </a:p>
          <a:p>
            <a:r>
              <a:rPr lang="en-GB" b="1" dirty="0" smtClean="0"/>
              <a:t>Knowledge sharing </a:t>
            </a:r>
            <a:endParaRPr lang="en-GB" dirty="0" smtClean="0"/>
          </a:p>
          <a:p>
            <a:pPr>
              <a:buNone/>
            </a:pPr>
            <a:endParaRPr lang="en-GB"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239000" cy="1628800"/>
          </a:xfrm>
        </p:spPr>
        <p:txBody>
          <a:bodyPr>
            <a:normAutofit fontScale="90000"/>
          </a:bodyPr>
          <a:lstStyle/>
          <a:p>
            <a:r>
              <a:rPr lang="en-US" i="1" dirty="0" smtClean="0"/>
              <a:t>A coalescing of the three core functions of a University</a:t>
            </a:r>
            <a:endParaRPr lang="en-GB" dirty="0"/>
          </a:p>
        </p:txBody>
      </p:sp>
      <p:sp>
        <p:nvSpPr>
          <p:cNvPr id="3" name="Content Placeholder 2"/>
          <p:cNvSpPr>
            <a:spLocks noGrp="1"/>
          </p:cNvSpPr>
          <p:nvPr>
            <p:ph idx="1"/>
          </p:nvPr>
        </p:nvSpPr>
        <p:spPr/>
        <p:txBody>
          <a:bodyPr>
            <a:normAutofit fontScale="85000" lnSpcReduction="10000"/>
          </a:bodyPr>
          <a:lstStyle/>
          <a:p>
            <a:pPr>
              <a:buNone/>
            </a:pPr>
            <a:r>
              <a:rPr lang="en-US" dirty="0" smtClean="0"/>
              <a:t>It can thus be seen that a service-intensive university is a learning institution in more ways than one.</a:t>
            </a:r>
            <a:endParaRPr lang="en-GB" dirty="0" smtClean="0"/>
          </a:p>
          <a:p>
            <a:pPr lvl="0"/>
            <a:r>
              <a:rPr lang="en-US" dirty="0" smtClean="0"/>
              <a:t>It is an institution that is continuously Learning, constantly adding to the stock of knowledge, systematically improving its knowledge generation and knowledge transmission and even knowledge sharing functions in the light of new knowledge learnt from on-the-ground application of knowledge</a:t>
            </a:r>
            <a:endParaRPr lang="en-GB" dirty="0" smtClean="0"/>
          </a:p>
          <a:p>
            <a:pPr lvl="0"/>
            <a:r>
              <a:rPr lang="en-US" dirty="0" smtClean="0"/>
              <a:t>It is an institution to learn from, since it is capable of transmitting and sharing </a:t>
            </a:r>
            <a:r>
              <a:rPr lang="en-US" dirty="0" err="1" smtClean="0"/>
              <a:t>societally</a:t>
            </a:r>
            <a:r>
              <a:rPr lang="en-US" dirty="0" smtClean="0"/>
              <a:t>-relevant knowledge</a:t>
            </a:r>
            <a:endParaRPr lang="en-GB" dirty="0" smtClean="0"/>
          </a:p>
          <a:p>
            <a:pPr lvl="0"/>
            <a:r>
              <a:rPr lang="en-US" dirty="0" smtClean="0"/>
              <a:t>It is an institution to Learn with, since its knowledge sharing activities are carried out through participatory action research</a:t>
            </a:r>
            <a:endParaRPr lang="en-GB" dirty="0" smtClean="0"/>
          </a:p>
          <a:p>
            <a:pPr>
              <a:buNone/>
            </a:pPr>
            <a:endParaRPr lang="en-GB"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1380768"/>
          </a:xfrm>
        </p:spPr>
        <p:txBody>
          <a:bodyPr>
            <a:normAutofit fontScale="90000"/>
          </a:bodyPr>
          <a:lstStyle/>
          <a:p>
            <a:r>
              <a:rPr lang="en-US" i="1" dirty="0" smtClean="0"/>
              <a:t>A coalescing of the three core functions of a University</a:t>
            </a:r>
            <a:endParaRPr lang="en-GB" dirty="0"/>
          </a:p>
        </p:txBody>
      </p:sp>
      <p:sp>
        <p:nvSpPr>
          <p:cNvPr id="3" name="Content Placeholder 2"/>
          <p:cNvSpPr>
            <a:spLocks noGrp="1"/>
          </p:cNvSpPr>
          <p:nvPr>
            <p:ph idx="1"/>
          </p:nvPr>
        </p:nvSpPr>
        <p:spPr>
          <a:xfrm>
            <a:off x="457200" y="1609416"/>
            <a:ext cx="7239000" cy="5059944"/>
          </a:xfrm>
        </p:spPr>
        <p:txBody>
          <a:bodyPr>
            <a:normAutofit fontScale="92500" lnSpcReduction="10000"/>
          </a:bodyPr>
          <a:lstStyle/>
          <a:p>
            <a:pPr>
              <a:buNone/>
            </a:pPr>
            <a:r>
              <a:rPr lang="en-US" dirty="0" smtClean="0"/>
              <a:t>This is the three-dimensional service-learning concept as illustrated in figure three. The institution is learning, society is learning and students are learning. In conventional universities, the emphasis is on student [earning, with perhaps some insistence on lecturers learning. In a service-intensive university, on the other hand, there is greater emphasis in learning by the institution and learning with students and with the wider society to address societal development challenges in the process of which knowledge is generated on a continuous basis for enhanced social responsiveness of the institution.</a:t>
            </a:r>
            <a:endParaRPr lang="en-GB" dirty="0" smtClean="0"/>
          </a:p>
          <a:p>
            <a:pPr>
              <a:buNone/>
            </a:pPr>
            <a:endParaRPr lang="en-GB"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76672"/>
            <a:ext cx="7239000" cy="1143000"/>
          </a:xfrm>
        </p:spPr>
        <p:txBody>
          <a:bodyPr>
            <a:normAutofit fontScale="90000"/>
          </a:bodyPr>
          <a:lstStyle/>
          <a:p>
            <a:r>
              <a:rPr lang="en-US" i="1" dirty="0" smtClean="0"/>
              <a:t>A coalescing of the three core functions of a University</a:t>
            </a:r>
            <a:endParaRPr lang="en-GB" dirty="0"/>
          </a:p>
        </p:txBody>
      </p:sp>
      <p:sp>
        <p:nvSpPr>
          <p:cNvPr id="3" name="Content Placeholder 2"/>
          <p:cNvSpPr>
            <a:spLocks noGrp="1"/>
          </p:cNvSpPr>
          <p:nvPr>
            <p:ph idx="1"/>
          </p:nvPr>
        </p:nvSpPr>
        <p:spPr/>
        <p:txBody>
          <a:bodyPr>
            <a:normAutofit fontScale="85000" lnSpcReduction="10000"/>
          </a:bodyPr>
          <a:lstStyle/>
          <a:p>
            <a:pPr>
              <a:buNone/>
            </a:pPr>
            <a:r>
              <a:rPr lang="en-US" dirty="0" smtClean="0"/>
              <a:t>In a service-intensive university, on the other hand, there is greater emphasis in learning by the institution and learning with students and with the wider society to address societal development challenges in the process of which knowledge is generated on a continuous basis for enhanced social responsiveness of the institution.</a:t>
            </a:r>
            <a:endParaRPr lang="en-GB" dirty="0" smtClean="0"/>
          </a:p>
          <a:p>
            <a:pPr>
              <a:buNone/>
            </a:pPr>
            <a:r>
              <a:rPr lang="en-US" dirty="0" smtClean="0"/>
              <a:t>We are suggesting that African universities can attain the much-envied world class status by aiming at research-intensiveness with a slightly different focus that invests their knowledge arsenals to the resolution of the sustainable human development challenges facing the region. Suggestions on how this can lead to ‘making the difference’ are discussed in the section that follows</a:t>
            </a:r>
            <a:endParaRPr lang="en-GB" dirty="0" smtClean="0"/>
          </a:p>
          <a:p>
            <a:pPr>
              <a:buNone/>
            </a:pPr>
            <a:endParaRPr lang="en-GB"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1884824"/>
          </a:xfrm>
        </p:spPr>
        <p:txBody>
          <a:bodyPr>
            <a:normAutofit/>
          </a:bodyPr>
          <a:lstStyle/>
          <a:p>
            <a:r>
              <a:rPr lang="en-US" dirty="0" smtClean="0"/>
              <a:t>ENHANCING SERVICE </a:t>
            </a:r>
            <a:r>
              <a:rPr lang="en-US" dirty="0" err="1" smtClean="0"/>
              <a:t>INTENsIVENESS</a:t>
            </a:r>
            <a:r>
              <a:rPr lang="en-US" dirty="0" smtClean="0"/>
              <a:t> IN UNIVERSITIES</a:t>
            </a:r>
            <a:r>
              <a:rPr lang="en-GB" dirty="0" smtClean="0"/>
              <a:t/>
            </a:r>
            <a:br>
              <a:rPr lang="en-GB" dirty="0" smtClean="0"/>
            </a:br>
            <a:endParaRPr lang="en-GB" dirty="0"/>
          </a:p>
        </p:txBody>
      </p:sp>
      <p:sp>
        <p:nvSpPr>
          <p:cNvPr id="3" name="Content Placeholder 2"/>
          <p:cNvSpPr>
            <a:spLocks noGrp="1"/>
          </p:cNvSpPr>
          <p:nvPr>
            <p:ph idx="1"/>
          </p:nvPr>
        </p:nvSpPr>
        <p:spPr>
          <a:xfrm>
            <a:off x="457200" y="2420888"/>
            <a:ext cx="7239000" cy="4034848"/>
          </a:xfrm>
        </p:spPr>
        <p:txBody>
          <a:bodyPr>
            <a:normAutofit fontScale="70000" lnSpcReduction="20000"/>
          </a:bodyPr>
          <a:lstStyle/>
          <a:p>
            <a:pPr>
              <a:buNone/>
            </a:pPr>
            <a:r>
              <a:rPr lang="en-US" b="1" dirty="0" smtClean="0"/>
              <a:t>Learning, from and with ‘the world out there’ (the Social Laboratory Concept)</a:t>
            </a:r>
            <a:endParaRPr lang="en-GB" dirty="0" smtClean="0"/>
          </a:p>
          <a:p>
            <a:pPr>
              <a:buNone/>
            </a:pPr>
            <a:r>
              <a:rPr lang="en-US" dirty="0" smtClean="0"/>
              <a:t>What is needed is a strategic re-posturing that seeks to transform universities from ivory towers to social laboratories. This is in fact a twenty-first century evolutionary imperative of higher education requiring transformation in the directions indicated in table four.</a:t>
            </a:r>
            <a:endParaRPr lang="en-GB" dirty="0" smtClean="0"/>
          </a:p>
          <a:p>
            <a:pPr>
              <a:buNone/>
            </a:pPr>
            <a:r>
              <a:rPr lang="en-US" dirty="0" smtClean="0"/>
              <a:t>The new directions for higher institutions (summarized in table four) lead to a proper characterization of the social laboratory that higher educational institutions should become, if they are to fit into the requirements of the twenty-first century. Society-its structures and feature, its needs and aspirations, its natural, social and intellectual resources, its belief systems and organizational structures, its processes for meeting its needs, keeping life going, effecting and managing change - must become the determiner and the determinant of the foci of attention of higher education. </a:t>
            </a:r>
            <a:endParaRPr lang="en-GB"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p:txBody>
          <a:bodyPr/>
          <a:lstStyle/>
          <a:p>
            <a:r>
              <a:rPr lang="en-US" dirty="0" smtClean="0"/>
              <a:t>This implies opening the intellectual tower gates to extra-academic actors, interacting systematically with these actors for mutual enrichment in the course of knowledge management for the continuing development of Society and the continuous growth of knowledge</a:t>
            </a:r>
            <a:endParaRPr lang="en-GB"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SERVICE INTENSITY</a:t>
            </a:r>
            <a:endParaRPr lang="en-GB" dirty="0"/>
          </a:p>
        </p:txBody>
      </p:sp>
      <p:graphicFrame>
        <p:nvGraphicFramePr>
          <p:cNvPr id="5" name="Content Placeholder 4"/>
          <p:cNvGraphicFramePr>
            <a:graphicFrameLocks noGrp="1"/>
          </p:cNvGraphicFramePr>
          <p:nvPr>
            <p:ph idx="1"/>
          </p:nvPr>
        </p:nvGraphicFramePr>
        <p:xfrm>
          <a:off x="457200" y="1609725"/>
          <a:ext cx="7239000" cy="4851400"/>
        </p:xfrm>
        <a:graphic>
          <a:graphicData uri="http://schemas.openxmlformats.org/drawingml/2006/table">
            <a:tbl>
              <a:tblPr firstRow="1" bandRow="1">
                <a:tableStyleId>{5C22544A-7EE6-4342-B048-85BDC9FD1C3A}</a:tableStyleId>
              </a:tblPr>
              <a:tblGrid>
                <a:gridCol w="3619500"/>
                <a:gridCol w="3619500"/>
              </a:tblGrid>
              <a:tr h="370840">
                <a:tc>
                  <a:txBody>
                    <a:bodyPr/>
                    <a:lstStyle/>
                    <a:p>
                      <a:pPr algn="just">
                        <a:lnSpc>
                          <a:spcPct val="150000"/>
                        </a:lnSpc>
                        <a:spcAft>
                          <a:spcPts val="0"/>
                        </a:spcAft>
                      </a:pPr>
                      <a:r>
                        <a:rPr lang="en-US" sz="1400" dirty="0">
                          <a:latin typeface="Times New Roman"/>
                          <a:ea typeface="Calibri"/>
                          <a:cs typeface="Times New Roman"/>
                        </a:rPr>
                        <a:t>IVORY TOWER ORIENTATION</a:t>
                      </a:r>
                      <a:endParaRPr lang="en-GB" sz="1100" dirty="0">
                        <a:latin typeface="Calibri"/>
                        <a:ea typeface="Calibri"/>
                        <a:cs typeface="Times New Roman"/>
                      </a:endParaRPr>
                    </a:p>
                  </a:txBody>
                  <a:tcPr marL="68580" marR="68580" marT="0" marB="0"/>
                </a:tc>
                <a:tc>
                  <a:txBody>
                    <a:bodyPr/>
                    <a:lstStyle/>
                    <a:p>
                      <a:pPr algn="just">
                        <a:lnSpc>
                          <a:spcPct val="150000"/>
                        </a:lnSpc>
                        <a:spcAft>
                          <a:spcPts val="0"/>
                        </a:spcAft>
                      </a:pPr>
                      <a:r>
                        <a:rPr lang="en-US" sz="1400" dirty="0">
                          <a:latin typeface="Times New Roman"/>
                          <a:ea typeface="Calibri"/>
                          <a:cs typeface="Times New Roman"/>
                        </a:rPr>
                        <a:t>DESIRED SOCIAL LABORATORY ORI ENTATION</a:t>
                      </a:r>
                      <a:endParaRPr lang="en-GB" sz="1100" dirty="0">
                        <a:latin typeface="Calibri"/>
                        <a:ea typeface="Calibri"/>
                        <a:cs typeface="Times New Roman"/>
                      </a:endParaRPr>
                    </a:p>
                  </a:txBody>
                  <a:tcPr marL="68580" marR="68580" marT="0" marB="0"/>
                </a:tc>
              </a:tr>
              <a:tr h="370840">
                <a:tc>
                  <a:txBody>
                    <a:bodyPr/>
                    <a:lstStyle/>
                    <a:p>
                      <a:r>
                        <a:rPr kumimoji="0" lang="en-US" sz="1800" kern="1200" dirty="0" smtClean="0">
                          <a:solidFill>
                            <a:schemeClr val="dk1"/>
                          </a:solidFill>
                          <a:latin typeface="+mn-lt"/>
                          <a:ea typeface="+mn-ea"/>
                          <a:cs typeface="+mn-cs"/>
                        </a:rPr>
                        <a:t>Disconnect from practical concerns of everyday Life </a:t>
                      </a:r>
                      <a:endParaRPr lang="en-GB" dirty="0"/>
                    </a:p>
                  </a:txBody>
                  <a:tcPr/>
                </a:tc>
                <a:tc>
                  <a:txBody>
                    <a:bodyPr/>
                    <a:lstStyle/>
                    <a:p>
                      <a:pPr algn="just">
                        <a:lnSpc>
                          <a:spcPct val="150000"/>
                        </a:lnSpc>
                        <a:spcAft>
                          <a:spcPts val="0"/>
                        </a:spcAft>
                      </a:pPr>
                      <a:r>
                        <a:rPr lang="en-US" sz="1400" dirty="0">
                          <a:latin typeface="Times New Roman"/>
                          <a:ea typeface="Calibri"/>
                          <a:cs typeface="Times New Roman"/>
                        </a:rPr>
                        <a:t>• Embedded in the practical concerns of everyday Life</a:t>
                      </a:r>
                      <a:endParaRPr lang="en-GB" sz="1100" dirty="0">
                        <a:latin typeface="Calibri"/>
                        <a:ea typeface="Calibri"/>
                        <a:cs typeface="Times New Roman"/>
                      </a:endParaRPr>
                    </a:p>
                  </a:txBody>
                  <a:tcPr marL="68580" marR="68580" marT="0" marB="0"/>
                </a:tc>
              </a:tr>
              <a:tr h="370840">
                <a:tc>
                  <a:txBody>
                    <a:bodyPr/>
                    <a:lstStyle/>
                    <a:p>
                      <a:pPr algn="just">
                        <a:lnSpc>
                          <a:spcPct val="150000"/>
                        </a:lnSpc>
                        <a:spcAft>
                          <a:spcPts val="0"/>
                        </a:spcAft>
                      </a:pPr>
                      <a:r>
                        <a:rPr lang="en-US" sz="1400" dirty="0">
                          <a:latin typeface="Times New Roman"/>
                          <a:ea typeface="Calibri"/>
                          <a:cs typeface="Times New Roman"/>
                        </a:rPr>
                        <a:t>• Esoteric and over-</a:t>
                      </a:r>
                      <a:r>
                        <a:rPr lang="en-US" sz="1400" dirty="0" err="1">
                          <a:latin typeface="Times New Roman"/>
                          <a:ea typeface="Calibri"/>
                          <a:cs typeface="Times New Roman"/>
                        </a:rPr>
                        <a:t>specialised</a:t>
                      </a:r>
                      <a:r>
                        <a:rPr lang="en-US" sz="1400" dirty="0">
                          <a:latin typeface="Times New Roman"/>
                          <a:ea typeface="Calibri"/>
                          <a:cs typeface="Times New Roman"/>
                        </a:rPr>
                        <a:t> focus</a:t>
                      </a:r>
                      <a:endParaRPr lang="en-GB" sz="1100" dirty="0">
                        <a:latin typeface="Calibri"/>
                        <a:ea typeface="Calibri"/>
                        <a:cs typeface="Times New Roman"/>
                      </a:endParaRPr>
                    </a:p>
                  </a:txBody>
                  <a:tcPr marL="68580" marR="68580" marT="0" marB="0"/>
                </a:tc>
                <a:tc>
                  <a:txBody>
                    <a:bodyPr/>
                    <a:lstStyle/>
                    <a:p>
                      <a:pPr algn="just">
                        <a:lnSpc>
                          <a:spcPct val="150000"/>
                        </a:lnSpc>
                        <a:spcAft>
                          <a:spcPts val="0"/>
                        </a:spcAft>
                      </a:pPr>
                      <a:r>
                        <a:rPr lang="en-US" sz="1400" dirty="0">
                          <a:latin typeface="Times New Roman"/>
                          <a:ea typeface="Calibri"/>
                          <a:cs typeface="Times New Roman"/>
                        </a:rPr>
                        <a:t>Easy to understand procedures, accessible to the average person</a:t>
                      </a:r>
                      <a:endParaRPr lang="en-GB" sz="1100" dirty="0">
                        <a:latin typeface="Calibri"/>
                        <a:ea typeface="Calibri"/>
                        <a:cs typeface="Times New Roman"/>
                      </a:endParaRPr>
                    </a:p>
                  </a:txBody>
                  <a:tcPr marL="68580" marR="68580" marT="0" marB="0"/>
                </a:tc>
              </a:tr>
              <a:tr h="370840">
                <a:tc>
                  <a:txBody>
                    <a:bodyPr/>
                    <a:lstStyle/>
                    <a:p>
                      <a:pPr algn="just">
                        <a:lnSpc>
                          <a:spcPct val="150000"/>
                        </a:lnSpc>
                        <a:spcAft>
                          <a:spcPts val="0"/>
                        </a:spcAft>
                      </a:pPr>
                      <a:r>
                        <a:rPr lang="en-US" sz="1400" dirty="0">
                          <a:latin typeface="Times New Roman"/>
                          <a:ea typeface="Calibri"/>
                          <a:cs typeface="Times New Roman"/>
                        </a:rPr>
                        <a:t>• Useless (not easy to use) research</a:t>
                      </a:r>
                      <a:endParaRPr lang="en-GB" sz="1100" dirty="0">
                        <a:latin typeface="Calibri"/>
                        <a:ea typeface="Calibri"/>
                        <a:cs typeface="Times New Roman"/>
                      </a:endParaRPr>
                    </a:p>
                  </a:txBody>
                  <a:tcPr marL="68580" marR="68580" marT="0" marB="0"/>
                </a:tc>
                <a:tc>
                  <a:txBody>
                    <a:bodyPr/>
                    <a:lstStyle/>
                    <a:p>
                      <a:pPr algn="just">
                        <a:lnSpc>
                          <a:spcPct val="150000"/>
                        </a:lnSpc>
                        <a:spcAft>
                          <a:spcPts val="0"/>
                        </a:spcAft>
                      </a:pPr>
                      <a:r>
                        <a:rPr lang="en-US" sz="1400" dirty="0">
                          <a:latin typeface="Times New Roman"/>
                          <a:ea typeface="Calibri"/>
                          <a:cs typeface="Times New Roman"/>
                        </a:rPr>
                        <a:t>Useable research, applicable to genuine societal challenges</a:t>
                      </a:r>
                      <a:endParaRPr lang="en-GB" sz="1100" dirty="0">
                        <a:latin typeface="Calibri"/>
                        <a:ea typeface="Calibri"/>
                        <a:cs typeface="Times New Roman"/>
                      </a:endParaRPr>
                    </a:p>
                  </a:txBody>
                  <a:tcPr marL="68580" marR="68580" marT="0" marB="0"/>
                </a:tc>
              </a:tr>
              <a:tr h="370840">
                <a:tc>
                  <a:txBody>
                    <a:bodyPr/>
                    <a:lstStyle/>
                    <a:p>
                      <a:pPr algn="just">
                        <a:lnSpc>
                          <a:spcPct val="150000"/>
                        </a:lnSpc>
                        <a:spcAft>
                          <a:spcPts val="0"/>
                        </a:spcAft>
                      </a:pPr>
                      <a:r>
                        <a:rPr lang="en-US" sz="1400" dirty="0">
                          <a:latin typeface="Times New Roman"/>
                          <a:ea typeface="Calibri"/>
                          <a:cs typeface="Times New Roman"/>
                        </a:rPr>
                        <a:t>• Academic elitism</a:t>
                      </a:r>
                      <a:endParaRPr lang="en-GB" sz="1100" dirty="0">
                        <a:latin typeface="Calibri"/>
                        <a:ea typeface="Calibri"/>
                        <a:cs typeface="Times New Roman"/>
                      </a:endParaRPr>
                    </a:p>
                  </a:txBody>
                  <a:tcPr marL="68580" marR="68580" marT="0" marB="0"/>
                </a:tc>
                <a:tc>
                  <a:txBody>
                    <a:bodyPr/>
                    <a:lstStyle/>
                    <a:p>
                      <a:pPr algn="just">
                        <a:lnSpc>
                          <a:spcPct val="150000"/>
                        </a:lnSpc>
                        <a:spcAft>
                          <a:spcPts val="0"/>
                        </a:spcAft>
                      </a:pPr>
                      <a:r>
                        <a:rPr lang="en-US" sz="1400" dirty="0">
                          <a:latin typeface="Times New Roman"/>
                          <a:ea typeface="Calibri"/>
                          <a:cs typeface="Times New Roman"/>
                        </a:rPr>
                        <a:t>Participatory academic Processes</a:t>
                      </a:r>
                      <a:endParaRPr lang="en-GB" sz="1100" dirty="0">
                        <a:latin typeface="Calibri"/>
                        <a:ea typeface="Calibri"/>
                        <a:cs typeface="Times New Roman"/>
                      </a:endParaRPr>
                    </a:p>
                  </a:txBody>
                  <a:tcPr marL="68580" marR="68580" marT="0" marB="0"/>
                </a:tc>
              </a:tr>
              <a:tr h="370840">
                <a:tc>
                  <a:txBody>
                    <a:bodyPr/>
                    <a:lstStyle/>
                    <a:p>
                      <a:pPr algn="just">
                        <a:lnSpc>
                          <a:spcPct val="150000"/>
                        </a:lnSpc>
                        <a:spcAft>
                          <a:spcPts val="0"/>
                        </a:spcAft>
                      </a:pPr>
                      <a:r>
                        <a:rPr lang="en-US" sz="1400" dirty="0">
                          <a:latin typeface="Times New Roman"/>
                          <a:ea typeface="Calibri"/>
                          <a:cs typeface="Times New Roman"/>
                        </a:rPr>
                        <a:t>• Outright condensation</a:t>
                      </a:r>
                      <a:endParaRPr lang="en-GB" sz="1100" dirty="0">
                        <a:latin typeface="Calibri"/>
                        <a:ea typeface="Calibri"/>
                        <a:cs typeface="Times New Roman"/>
                      </a:endParaRPr>
                    </a:p>
                  </a:txBody>
                  <a:tcPr marL="68580" marR="68580" marT="0" marB="0"/>
                </a:tc>
                <a:tc>
                  <a:txBody>
                    <a:bodyPr/>
                    <a:lstStyle/>
                    <a:p>
                      <a:pPr algn="just">
                        <a:lnSpc>
                          <a:spcPct val="150000"/>
                        </a:lnSpc>
                        <a:spcAft>
                          <a:spcPts val="0"/>
                        </a:spcAft>
                      </a:pPr>
                      <a:r>
                        <a:rPr lang="en-US" sz="1400" dirty="0">
                          <a:latin typeface="Times New Roman"/>
                          <a:ea typeface="Calibri"/>
                          <a:cs typeface="Times New Roman"/>
                        </a:rPr>
                        <a:t>• Ready acceptance of other knowledge practitioners</a:t>
                      </a:r>
                      <a:endParaRPr lang="en-GB" sz="1100" dirty="0">
                        <a:latin typeface="Calibri"/>
                        <a:ea typeface="Calibri"/>
                        <a:cs typeface="Times New Roman"/>
                      </a:endParaRPr>
                    </a:p>
                  </a:txBody>
                  <a:tcPr marL="68580" marR="68580" marT="0" marB="0"/>
                </a:tc>
              </a:tr>
              <a:tr h="370840">
                <a:tc>
                  <a:txBody>
                    <a:bodyPr/>
                    <a:lstStyle/>
                    <a:p>
                      <a:pPr algn="just">
                        <a:lnSpc>
                          <a:spcPct val="150000"/>
                        </a:lnSpc>
                        <a:spcAft>
                          <a:spcPts val="0"/>
                        </a:spcAft>
                      </a:pPr>
                      <a:r>
                        <a:rPr lang="en-US" sz="1400" dirty="0">
                          <a:latin typeface="Times New Roman"/>
                          <a:ea typeface="Calibri"/>
                          <a:cs typeface="Times New Roman"/>
                        </a:rPr>
                        <a:t>• No Lingua franca with laymen</a:t>
                      </a:r>
                      <a:endParaRPr lang="en-GB" sz="1100" dirty="0">
                        <a:latin typeface="Calibri"/>
                        <a:ea typeface="Calibri"/>
                        <a:cs typeface="Times New Roman"/>
                      </a:endParaRPr>
                    </a:p>
                  </a:txBody>
                  <a:tcPr marL="68580" marR="68580" marT="0" marB="0"/>
                </a:tc>
                <a:tc>
                  <a:txBody>
                    <a:bodyPr/>
                    <a:lstStyle/>
                    <a:p>
                      <a:pPr algn="just">
                        <a:lnSpc>
                          <a:spcPct val="150000"/>
                        </a:lnSpc>
                        <a:spcAft>
                          <a:spcPts val="0"/>
                        </a:spcAft>
                      </a:pPr>
                      <a:r>
                        <a:rPr lang="en-US" sz="1400" dirty="0">
                          <a:latin typeface="Times New Roman"/>
                          <a:ea typeface="Calibri"/>
                          <a:cs typeface="Times New Roman"/>
                        </a:rPr>
                        <a:t>• Closer link and mutual intelligibility of ‘academic’ and ‘practical’ language</a:t>
                      </a:r>
                      <a:endParaRPr lang="en-GB" sz="1100" dirty="0">
                        <a:latin typeface="Calibri"/>
                        <a:ea typeface="Calibri"/>
                        <a:cs typeface="Times New Roman"/>
                      </a:endParaRPr>
                    </a:p>
                  </a:txBody>
                  <a:tcPr marL="68580" marR="68580" marT="0" marB="0"/>
                </a:tc>
              </a:tr>
              <a:tr h="370840">
                <a:tc>
                  <a:txBody>
                    <a:bodyPr/>
                    <a:lstStyle/>
                    <a:p>
                      <a:pPr algn="just">
                        <a:lnSpc>
                          <a:spcPct val="150000"/>
                        </a:lnSpc>
                        <a:spcAft>
                          <a:spcPts val="0"/>
                        </a:spcAft>
                      </a:pPr>
                      <a:r>
                        <a:rPr lang="en-US" sz="1400" dirty="0">
                          <a:latin typeface="Times New Roman"/>
                          <a:ea typeface="Calibri"/>
                          <a:cs typeface="Times New Roman"/>
                        </a:rPr>
                        <a:t>• Living in intellectual isolation</a:t>
                      </a:r>
                      <a:endParaRPr lang="en-GB" sz="1100" dirty="0">
                        <a:latin typeface="Calibri"/>
                        <a:ea typeface="Calibri"/>
                        <a:cs typeface="Times New Roman"/>
                      </a:endParaRPr>
                    </a:p>
                  </a:txBody>
                  <a:tcPr marL="68580" marR="68580" marT="0" marB="0"/>
                </a:tc>
                <a:tc>
                  <a:txBody>
                    <a:bodyPr/>
                    <a:lstStyle/>
                    <a:p>
                      <a:pPr algn="just">
                        <a:lnSpc>
                          <a:spcPct val="150000"/>
                        </a:lnSpc>
                        <a:spcAft>
                          <a:spcPts val="0"/>
                        </a:spcAft>
                      </a:pPr>
                      <a:r>
                        <a:rPr lang="en-US" sz="1400" dirty="0">
                          <a:latin typeface="Times New Roman"/>
                          <a:ea typeface="Calibri"/>
                          <a:cs typeface="Times New Roman"/>
                        </a:rPr>
                        <a:t>• Opening up to wider society 4 • Working in concert with ‘extra- academic’ actors</a:t>
                      </a:r>
                      <a:endParaRPr lang="en-GB" sz="1100" dirty="0">
                        <a:latin typeface="Calibri"/>
                        <a:ea typeface="Calibri"/>
                        <a:cs typeface="Times New Roman"/>
                      </a:endParaRPr>
                    </a:p>
                  </a:txBody>
                  <a:tcPr marL="68580" marR="68580" marT="0" marB="0"/>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GB" dirty="0"/>
          </a:p>
        </p:txBody>
      </p:sp>
      <p:sp>
        <p:nvSpPr>
          <p:cNvPr id="3" name="Content Placeholder 2"/>
          <p:cNvSpPr>
            <a:spLocks noGrp="1"/>
          </p:cNvSpPr>
          <p:nvPr>
            <p:ph idx="1"/>
          </p:nvPr>
        </p:nvSpPr>
        <p:spPr/>
        <p:txBody>
          <a:bodyPr>
            <a:normAutofit fontScale="85000" lnSpcReduction="10000"/>
          </a:bodyPr>
          <a:lstStyle/>
          <a:p>
            <a:pPr>
              <a:buNone/>
            </a:pPr>
            <a:r>
              <a:rPr lang="en-US" dirty="0" smtClean="0"/>
              <a:t>In summary, the social laboratory approach means that Society (of which the campus should be an integral part) should become the source from which relevant academic and intellectual engagements spring and the theatre in which the practical applications of academic-intellectual pursuits are translated into action for the sustained development of society.</a:t>
            </a:r>
          </a:p>
          <a:p>
            <a:pPr>
              <a:buNone/>
            </a:pPr>
            <a:r>
              <a:rPr lang="en-US" dirty="0" smtClean="0"/>
              <a:t>The staff of the University should be up and doing in their primary assignments, thereby making students’ learning easy and friendly. The students, staff and the system should be kept in the safe hands of seasoned administrators, who should make the environment friendly to </a:t>
            </a:r>
            <a:r>
              <a:rPr lang="en-US" dirty="0" err="1" smtClean="0"/>
              <a:t>actualise</a:t>
            </a:r>
            <a:r>
              <a:rPr lang="en-US" dirty="0" smtClean="0"/>
              <a:t> a world class and service-intensive University.</a:t>
            </a:r>
            <a:endParaRPr lang="en-GB" dirty="0" smtClean="0"/>
          </a:p>
          <a:p>
            <a:pPr>
              <a:buNone/>
            </a:pPr>
            <a:endParaRPr lang="en-GB"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CONCLUSION</a:t>
            </a:r>
            <a:endParaRPr lang="en-GB" dirty="0"/>
          </a:p>
        </p:txBody>
      </p:sp>
      <p:sp>
        <p:nvSpPr>
          <p:cNvPr id="3" name="Content Placeholder 2"/>
          <p:cNvSpPr>
            <a:spLocks noGrp="1"/>
          </p:cNvSpPr>
          <p:nvPr>
            <p:ph idx="1"/>
          </p:nvPr>
        </p:nvSpPr>
        <p:spPr/>
        <p:txBody>
          <a:bodyPr/>
          <a:lstStyle/>
          <a:p>
            <a:pPr>
              <a:buNone/>
            </a:pPr>
            <a:r>
              <a:rPr lang="en-GB" dirty="0" smtClean="0"/>
              <a:t>God bless you</a:t>
            </a:r>
          </a:p>
          <a:p>
            <a:pPr>
              <a:buNone/>
            </a:pPr>
            <a:endParaRPr lang="en-GB" dirty="0" smtClean="0"/>
          </a:p>
          <a:p>
            <a:pPr>
              <a:buNone/>
            </a:pPr>
            <a:endParaRPr lang="en-GB" dirty="0" smtClean="0"/>
          </a:p>
          <a:p>
            <a:pPr>
              <a:buNone/>
            </a:pPr>
            <a:r>
              <a:rPr lang="en-GB" dirty="0" smtClean="0"/>
              <a:t>FALADE I. KOLAWOLE</a:t>
            </a:r>
          </a:p>
          <a:p>
            <a:pPr>
              <a:buNone/>
            </a:pPr>
            <a:r>
              <a:rPr lang="en-GB" dirty="0" smtClean="0"/>
              <a:t>SSANU CHAIRMAN.</a:t>
            </a:r>
            <a:endParaRPr lang="en-GB"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74</TotalTime>
  <Words>1829</Words>
  <Application>Microsoft Office PowerPoint</Application>
  <PresentationFormat>On-screen Show (4:3)</PresentationFormat>
  <Paragraphs>117</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Opulent</vt:lpstr>
      <vt:lpstr>SENIOR STAFF ASSOCIATION OF NIGERIAN UNIVERSITIES, SSANU EKSU BRANCH </vt:lpstr>
      <vt:lpstr>DEFINITION </vt:lpstr>
      <vt:lpstr>DEFINITION </vt:lpstr>
      <vt:lpstr>DEFINITION</vt:lpstr>
      <vt:lpstr>A Three-Factor Characterization of World Class Universities</vt:lpstr>
      <vt:lpstr>A Three-Factor Characterization of World Class Universities</vt:lpstr>
      <vt:lpstr>A Three-Factor Characterization of World Class Universities</vt:lpstr>
      <vt:lpstr>A Three-Factor Characterization of World Class Universities</vt:lpstr>
      <vt:lpstr>service-intensive university</vt:lpstr>
      <vt:lpstr>service-intensive university</vt:lpstr>
      <vt:lpstr>service-intensive university</vt:lpstr>
      <vt:lpstr>PowerPoint Presentation</vt:lpstr>
      <vt:lpstr>Fig. 1: Knowledge Arsenal for Society </vt:lpstr>
      <vt:lpstr>Knowledge Arsenal for Society</vt:lpstr>
      <vt:lpstr>A coalescing of the three core functions of a University</vt:lpstr>
      <vt:lpstr>A coalescing of the three core functions of a University</vt:lpstr>
      <vt:lpstr>A coalescing of the three core functions of a University</vt:lpstr>
      <vt:lpstr>A coalescing of the three core functions of a University</vt:lpstr>
      <vt:lpstr>ENHANCING SERVICE INTENsIVENESS IN UNIVERSITIES </vt:lpstr>
      <vt:lpstr>PowerPoint Presentation</vt:lpstr>
      <vt:lpstr>SERVICE INTENSITY</vt:lpstr>
      <vt:lpstr>summary</vt:lpstr>
      <vt:lpstr>CONCLUSION</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SENIOR STAFF ASSOCIATION OF NIGERIAN UNIVERSITIES, SSANU EKSU BRANCH</dc:title>
  <dc:creator>niyi</dc:creator>
  <cp:lastModifiedBy>Test</cp:lastModifiedBy>
  <cp:revision>8</cp:revision>
  <cp:lastPrinted>2016-02-04T15:37:19Z</cp:lastPrinted>
  <dcterms:created xsi:type="dcterms:W3CDTF">2016-02-03T14:19:33Z</dcterms:created>
  <dcterms:modified xsi:type="dcterms:W3CDTF">2016-02-04T15:39:47Z</dcterms:modified>
</cp:coreProperties>
</file>