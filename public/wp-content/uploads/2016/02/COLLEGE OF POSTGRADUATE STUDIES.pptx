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7787A92-92E6-4CC9-ACDE-9CDE632BEC39}" type="datetimeFigureOut">
              <a:rPr lang="en-US" smtClean="0"/>
              <a:pPr/>
              <a:t>2/3/2016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B19B558-CE4D-4F1B-BD5C-7A28D9C67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52400"/>
            <a:ext cx="8305800" cy="6248400"/>
          </a:xfrm>
        </p:spPr>
        <p:txBody>
          <a:bodyPr/>
          <a:lstStyle/>
          <a:p>
            <a:pPr algn="ctr"/>
            <a:r>
              <a:rPr lang="en-US" sz="2800" b="1" dirty="0">
                <a:latin typeface="Andalus" pitchFamily="18" charset="-78"/>
                <a:cs typeface="Andalus" pitchFamily="18" charset="-78"/>
              </a:rPr>
              <a:t>TOWARDS A MORE VIBRANT COLLEGE OF POSTGRADUATE STUDIES </a:t>
            </a:r>
            <a:endParaRPr lang="en-US" sz="2800" b="1" dirty="0" smtClean="0">
              <a:latin typeface="Andalus" pitchFamily="18" charset="-78"/>
              <a:cs typeface="Andalus" pitchFamily="18" charset="-78"/>
            </a:endParaRPr>
          </a:p>
          <a:p>
            <a:pPr algn="ctr"/>
            <a:r>
              <a:rPr lang="en-US" sz="2800" b="1" dirty="0" smtClean="0">
                <a:latin typeface="Andalus" pitchFamily="18" charset="-78"/>
                <a:cs typeface="Andalus" pitchFamily="18" charset="-78"/>
              </a:rPr>
              <a:t>IN </a:t>
            </a:r>
            <a:endParaRPr lang="en-US" sz="2800" b="1" dirty="0">
              <a:latin typeface="Andalus" pitchFamily="18" charset="-78"/>
              <a:cs typeface="Andalus" pitchFamily="18" charset="-78"/>
            </a:endParaRPr>
          </a:p>
          <a:p>
            <a:pPr algn="ctr"/>
            <a:r>
              <a:rPr lang="en-US" sz="2800" b="1" dirty="0">
                <a:latin typeface="Andalus" pitchFamily="18" charset="-78"/>
                <a:cs typeface="Andalus" pitchFamily="18" charset="-78"/>
              </a:rPr>
              <a:t>       	EKITI STATE UNIVERSITY, </a:t>
            </a:r>
            <a:r>
              <a:rPr lang="en-US" sz="2800" b="1" dirty="0" smtClean="0">
                <a:latin typeface="Andalus" pitchFamily="18" charset="-78"/>
                <a:cs typeface="Andalus" pitchFamily="18" charset="-78"/>
              </a:rPr>
              <a:t>ADO-EKITI</a:t>
            </a:r>
          </a:p>
          <a:p>
            <a:endParaRPr lang="en-US" sz="2800" b="1" dirty="0">
              <a:latin typeface="Andalus" pitchFamily="18" charset="-78"/>
              <a:cs typeface="Andalus" pitchFamily="18" charset="-78"/>
            </a:endParaRPr>
          </a:p>
          <a:p>
            <a:endParaRPr lang="en-US" sz="2800" b="1" dirty="0" smtClean="0">
              <a:latin typeface="Andalus" pitchFamily="18" charset="-78"/>
              <a:cs typeface="Andalus" pitchFamily="18" charset="-78"/>
            </a:endParaRPr>
          </a:p>
          <a:p>
            <a:pPr algn="ctr"/>
            <a:endParaRPr lang="en-US" sz="2800" b="1" dirty="0" smtClean="0">
              <a:latin typeface="Andalus" pitchFamily="18" charset="-78"/>
              <a:cs typeface="Andalus" pitchFamily="18" charset="-78"/>
            </a:endParaRPr>
          </a:p>
          <a:p>
            <a:pPr algn="ctr"/>
            <a:endParaRPr lang="en-US" sz="2800" b="1" dirty="0">
              <a:latin typeface="Andalus" pitchFamily="18" charset="-78"/>
              <a:cs typeface="Andalus" pitchFamily="18" charset="-78"/>
            </a:endParaRPr>
          </a:p>
          <a:p>
            <a:pPr algn="ctr"/>
            <a:r>
              <a:rPr lang="en-US" sz="2800" b="1" dirty="0">
                <a:latin typeface="Andalus" pitchFamily="18" charset="-78"/>
                <a:cs typeface="Andalus" pitchFamily="18" charset="-78"/>
              </a:rPr>
              <a:t> 	</a:t>
            </a:r>
            <a:endParaRPr lang="en-US" b="1" dirty="0"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4770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sz="4000" b="1" dirty="0" smtClean="0"/>
              <a:t>Outline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Introduction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Structure of the college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General structure of the postgraduate </a:t>
            </a:r>
            <a:r>
              <a:rPr lang="en-US" sz="2400" dirty="0" err="1" smtClean="0"/>
              <a:t>programmes</a:t>
            </a: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Challenges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Recommendations</a:t>
            </a:r>
          </a:p>
          <a:p>
            <a:pPr>
              <a:buFont typeface="Wingdings" pitchFamily="2" charset="2"/>
              <a:buChar char="v"/>
            </a:pPr>
            <a:endParaRPr lang="en-US" sz="2400" dirty="0" smtClean="0"/>
          </a:p>
          <a:p>
            <a:pPr>
              <a:buFont typeface="Wingdings" pitchFamily="2" charset="2"/>
              <a:buChar char="v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dirty="0"/>
              <a:t>Introduction</a:t>
            </a:r>
          </a:p>
          <a:p>
            <a:pPr>
              <a:buNone/>
            </a:pPr>
            <a:r>
              <a:rPr lang="en-US" sz="2800" dirty="0"/>
              <a:t>	The CGPS is the hub of research in EKSU and therefore occupies a strategic position in the realization of the vision of the University which </a:t>
            </a:r>
            <a:r>
              <a:rPr lang="en-US" sz="2800" dirty="0" smtClean="0"/>
              <a:t>is to </a:t>
            </a:r>
            <a:endParaRPr lang="en-US" sz="2800" dirty="0"/>
          </a:p>
          <a:p>
            <a:pPr>
              <a:buNone/>
            </a:pPr>
            <a:endParaRPr lang="en-US" sz="2800" dirty="0"/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	The University started its first Postgraduate </a:t>
            </a:r>
            <a:r>
              <a:rPr lang="en-US" sz="2800" dirty="0" err="1"/>
              <a:t>Programme</a:t>
            </a:r>
            <a:r>
              <a:rPr lang="en-US" sz="2800" dirty="0"/>
              <a:t> in 1986.</a:t>
            </a:r>
          </a:p>
          <a:p>
            <a:endParaRPr lang="en-US" sz="2800" dirty="0"/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	It started with Postgraduate Diploma in Education (PGDE) and Master of Education (M.ED) in Guidance and Counselling (both in the Faculty of Education). </a:t>
            </a:r>
          </a:p>
          <a:p>
            <a:endParaRPr lang="en-US" sz="2800" dirty="0"/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	Today, all Faculties except those in College of Medicine run Postgraduate Studies.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2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/>
              <a:t>Research, Ranking </a:t>
            </a:r>
            <a:br>
              <a:rPr lang="en-US" sz="3200" dirty="0" smtClean="0"/>
            </a:br>
            <a:r>
              <a:rPr lang="en-US" sz="3200" dirty="0" smtClean="0"/>
              <a:t>and Entrepreneurial Universities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52400" y="990600"/>
          <a:ext cx="8991600" cy="4433888"/>
        </p:xfrm>
        <a:graphic>
          <a:graphicData uri="http://schemas.openxmlformats.org/drawingml/2006/table">
            <a:tbl>
              <a:tblPr/>
              <a:tblGrid>
                <a:gridCol w="4495800"/>
                <a:gridCol w="4495800"/>
              </a:tblGrid>
              <a:tr h="6387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971800" algn="ctr"/>
                          <a:tab pos="4391025" algn="l"/>
                        </a:tabLst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Times Higher Education Ranking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971800" algn="ctr"/>
                          <a:tab pos="4391025" algn="l"/>
                        </a:tabLst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Qaucquarelli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 Symonds (QS) Ranking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80441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Teaching- the learning environment (worth 30% of the overall ranking score)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Research- volume, income and reputation (worth 30%)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Citations- research influence (worth 30%)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Industry Income- Innovation (worth 2.5%)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International Outlook-Staff, students and research (worth 7.5%)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E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Academic Reputation (40%) - Survey of schools currently producing the best research in their fields of expertise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Employer Reputation, 10%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Faculty/Student ratio, 20%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Citations per Faculty, 20%.  Citations are based on quality research publications in internationally indexed journals.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International Faculty Ratio, 5%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International Student Ratio, 5%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EC"/>
                    </a:solidFill>
                  </a:tcPr>
                </a:tc>
              </a:tr>
              <a:tr h="9906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971800" algn="ctr"/>
                          <a:tab pos="4391025" algn="l"/>
                        </a:tabLst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Research predominant parameter accounts for 60%.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Parameters 1 and 4, based on research, account for 50%.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F6"/>
                    </a:solidFill>
                  </a:tcPr>
                </a:tc>
              </a:tr>
            </a:tbl>
          </a:graphicData>
        </a:graphic>
      </p:graphicFrame>
      <p:sp>
        <p:nvSpPr>
          <p:cNvPr id="56337" name="Rectangle 1"/>
          <p:cNvSpPr>
            <a:spLocks noChangeArrowheads="1"/>
          </p:cNvSpPr>
          <p:nvPr/>
        </p:nvSpPr>
        <p:spPr bwMode="auto">
          <a:xfrm>
            <a:off x="152400" y="5495925"/>
            <a:ext cx="89916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dirty="0">
                <a:ea typeface="Calibri" pitchFamily="34" charset="0"/>
                <a:cs typeface="Times New Roman" pitchFamily="18" charset="0"/>
              </a:rPr>
              <a:t>Research Output critical index for global rating and ranking of universities</a:t>
            </a:r>
          </a:p>
          <a:p>
            <a:pPr algn="ctr"/>
            <a:r>
              <a:rPr lang="en-US" dirty="0">
                <a:ea typeface="Calibri" pitchFamily="34" charset="0"/>
                <a:cs typeface="Times New Roman" pitchFamily="18" charset="0"/>
              </a:rPr>
              <a:t> measured in terms of research budget and grants, number of contract research,</a:t>
            </a:r>
          </a:p>
          <a:p>
            <a:pPr algn="ctr"/>
            <a:r>
              <a:rPr lang="en-US" dirty="0">
                <a:ea typeface="Calibri" pitchFamily="34" charset="0"/>
                <a:cs typeface="Times New Roman" pitchFamily="18" charset="0"/>
              </a:rPr>
              <a:t> patents, licenses, academic publications in globally rated indexed academic journals.</a:t>
            </a:r>
          </a:p>
          <a:p>
            <a:pPr algn="ctr"/>
            <a:r>
              <a:rPr lang="en-US" dirty="0">
                <a:ea typeface="Calibri" pitchFamily="34" charset="0"/>
                <a:cs typeface="Times New Roman" pitchFamily="18" charset="0"/>
              </a:rPr>
              <a:t>No Nigerian University had DVC Research before 2011 as is global best practice</a:t>
            </a:r>
            <a:endParaRPr lang="en-US" sz="3600" dirty="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b="1" dirty="0"/>
              <a:t>Structure of the </a:t>
            </a:r>
            <a:r>
              <a:rPr lang="en-US" sz="2800" b="1" dirty="0" smtClean="0"/>
              <a:t>College</a:t>
            </a:r>
          </a:p>
          <a:p>
            <a:endParaRPr 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73152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Academic and Research Committee (ARC</a:t>
            </a:r>
            <a:r>
              <a:rPr lang="en-US" sz="2400" b="1" dirty="0" smtClean="0"/>
              <a:t>)</a:t>
            </a:r>
          </a:p>
          <a:p>
            <a:endParaRPr lang="en-US" sz="2400" dirty="0"/>
          </a:p>
          <a:p>
            <a:pPr>
              <a:buNone/>
            </a:pPr>
            <a:r>
              <a:rPr lang="en-US" sz="2000" dirty="0" smtClean="0"/>
              <a:t>	The functions are to consider and recommend:</a:t>
            </a:r>
          </a:p>
          <a:p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registration </a:t>
            </a:r>
            <a:r>
              <a:rPr lang="en-US" sz="2000" dirty="0"/>
              <a:t>of theses’ titles to the Board of the </a:t>
            </a:r>
            <a:r>
              <a:rPr lang="en-US" sz="2000" dirty="0" smtClean="0"/>
              <a:t>CGPS. 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examination </a:t>
            </a:r>
            <a:r>
              <a:rPr lang="en-US" sz="2000" dirty="0"/>
              <a:t>related matters to the </a:t>
            </a:r>
            <a:r>
              <a:rPr lang="en-US" sz="2000" dirty="0" smtClean="0"/>
              <a:t>CGPS.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approval </a:t>
            </a:r>
            <a:r>
              <a:rPr lang="en-US" sz="2000" dirty="0"/>
              <a:t>of new </a:t>
            </a:r>
            <a:r>
              <a:rPr lang="en-US" sz="2000" dirty="0" err="1"/>
              <a:t>programmes</a:t>
            </a:r>
            <a:r>
              <a:rPr lang="en-US" sz="2000" dirty="0"/>
              <a:t> as well as modification of existing ones to the Board of the </a:t>
            </a:r>
            <a:r>
              <a:rPr lang="en-US" sz="2000" dirty="0" smtClean="0"/>
              <a:t>CGPS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lvl="0" indent="-514350">
              <a:buFont typeface="+mj-lt"/>
              <a:buAutoNum type="romanUcPeriod"/>
            </a:pPr>
            <a:r>
              <a:rPr lang="en-US" sz="2000" dirty="0" smtClean="0"/>
              <a:t>appointment </a:t>
            </a:r>
            <a:r>
              <a:rPr lang="en-US" sz="2000" dirty="0"/>
              <a:t>of Internal and External Examiners to the Board of the </a:t>
            </a:r>
            <a:r>
              <a:rPr lang="en-US" sz="2000" dirty="0" smtClean="0"/>
              <a:t>CGPS.</a:t>
            </a:r>
          </a:p>
          <a:p>
            <a:pPr marL="514350" lvl="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all </a:t>
            </a:r>
            <a:r>
              <a:rPr lang="en-US" sz="2000" dirty="0"/>
              <a:t>such other matters that may be referred to it by the Board of the </a:t>
            </a:r>
            <a:r>
              <a:rPr lang="en-US" sz="2000" dirty="0" smtClean="0"/>
              <a:t>CGPS</a:t>
            </a:r>
            <a:r>
              <a:rPr lang="en-US" sz="2000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The Committee meets at least, twice in a month to carry out its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smtClean="0"/>
              <a:t>  functions</a:t>
            </a:r>
            <a:endParaRPr lang="en-US" sz="2000" dirty="0"/>
          </a:p>
          <a:p>
            <a:pPr marL="514350" lvl="0" indent="-514350">
              <a:buFont typeface="+mj-lt"/>
              <a:buAutoNum type="romanUcPeriod"/>
            </a:pPr>
            <a:endParaRPr lang="en-US" sz="2000" dirty="0"/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/>
          </a:bodyPr>
          <a:lstStyle/>
          <a:p>
            <a:r>
              <a:rPr lang="en-US" sz="2400" b="1" dirty="0"/>
              <a:t>Admissions and Scholarship Committee (</a:t>
            </a:r>
            <a:r>
              <a:rPr lang="en-US" sz="2400" b="1" dirty="0" smtClean="0"/>
              <a:t>ASC)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	The </a:t>
            </a:r>
            <a:r>
              <a:rPr lang="en-US" sz="2400" dirty="0"/>
              <a:t>functions of the </a:t>
            </a:r>
            <a:r>
              <a:rPr lang="en-US" sz="2400" dirty="0" smtClean="0"/>
              <a:t>ASC are to consider and recommend:</a:t>
            </a:r>
          </a:p>
          <a:p>
            <a:endParaRPr lang="en-US" sz="24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admission from various Faculty Postgraduate Committees </a:t>
            </a:r>
            <a:r>
              <a:rPr lang="en-US" sz="2400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n-US" sz="2400" dirty="0"/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award of Postgraduate Fellowships to deserving students</a:t>
            </a:r>
            <a:r>
              <a:rPr lang="en-US" sz="2400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n-US" sz="2400" dirty="0"/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on all other matters that the Board may refer to it for consideration.</a:t>
            </a:r>
          </a:p>
          <a:p>
            <a:pPr marL="514350" indent="-514350">
              <a:buFont typeface="+mj-lt"/>
              <a:buAutoNum type="romanUcPeriod"/>
            </a:pP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/>
          </a:bodyPr>
          <a:lstStyle/>
          <a:p>
            <a:r>
              <a:rPr lang="en-US" sz="2800" b="1" dirty="0"/>
              <a:t>General Structure of Postgraduate </a:t>
            </a:r>
            <a:r>
              <a:rPr lang="en-US" sz="2800" b="1" dirty="0" err="1"/>
              <a:t>Programmes</a:t>
            </a: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778920"/>
              </p:ext>
            </p:extLst>
          </p:nvPr>
        </p:nvGraphicFramePr>
        <p:xfrm>
          <a:off x="990600" y="1143000"/>
          <a:ext cx="7315200" cy="5684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685800"/>
                <a:gridCol w="3276600"/>
                <a:gridCol w="3352800"/>
              </a:tblGrid>
              <a:tr h="1219200"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(</a:t>
                      </a:r>
                      <a:r>
                        <a:rPr lang="en-US" sz="1800" kern="1200" dirty="0" err="1" smtClean="0"/>
                        <a:t>i</a:t>
                      </a:r>
                      <a:r>
                        <a:rPr lang="en-US" sz="1800" kern="1200" dirty="0" smtClean="0"/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Postgraduate </a:t>
                      </a:r>
                      <a:r>
                        <a:rPr lang="en-US" sz="1800" kern="1200" dirty="0" smtClean="0"/>
                        <a:t>Diploma</a:t>
                      </a:r>
                    </a:p>
                    <a:p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/>
                        <a:t>Entry Requirement:  A minimum</a:t>
                      </a:r>
                      <a:r>
                        <a:rPr lang="en-US" sz="1800" kern="1200" baseline="0" dirty="0" smtClean="0"/>
                        <a:t> of 3</a:t>
                      </a:r>
                      <a:r>
                        <a:rPr lang="en-US" sz="1800" kern="1200" baseline="30000" dirty="0" smtClean="0"/>
                        <a:t>rd</a:t>
                      </a:r>
                      <a:r>
                        <a:rPr lang="en-US" sz="1800" kern="1200" baseline="0" dirty="0" smtClean="0"/>
                        <a:t> Class </a:t>
                      </a:r>
                      <a:r>
                        <a:rPr lang="en-US" sz="1800" kern="1200" baseline="0" dirty="0" err="1" smtClean="0"/>
                        <a:t>Honours</a:t>
                      </a:r>
                      <a:r>
                        <a:rPr lang="en-US" sz="1800" kern="1200" baseline="0" dirty="0" smtClean="0"/>
                        <a:t> Degree or HND Upper Credit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kern="1200" dirty="0" smtClean="0"/>
                        <a:t>a minimum of two semesters and a maximum of four 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(ii)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Master’s Degree (Academic and Professional</a:t>
                      </a:r>
                      <a:r>
                        <a:rPr lang="en-US" sz="1800" kern="1200" dirty="0" smtClean="0"/>
                        <a:t>) </a:t>
                      </a:r>
                    </a:p>
                    <a:p>
                      <a:r>
                        <a:rPr lang="en-US" sz="1800" kern="1200" dirty="0" smtClean="0"/>
                        <a:t>Entry Requirement: A minimum</a:t>
                      </a:r>
                      <a:r>
                        <a:rPr lang="en-US" sz="1800" kern="1200" baseline="0" dirty="0" smtClean="0"/>
                        <a:t> of 2</a:t>
                      </a:r>
                      <a:r>
                        <a:rPr lang="en-US" sz="1800" kern="1200" baseline="30000" dirty="0" smtClean="0"/>
                        <a:t>nd</a:t>
                      </a:r>
                      <a:r>
                        <a:rPr lang="en-US" sz="1800" kern="1200" baseline="0" dirty="0" smtClean="0"/>
                        <a:t> Class </a:t>
                      </a:r>
                      <a:r>
                        <a:rPr lang="en-US" sz="1800" kern="1200" baseline="0" dirty="0" err="1" smtClean="0"/>
                        <a:t>Honours</a:t>
                      </a:r>
                      <a:r>
                        <a:rPr lang="en-US" sz="1800" kern="1200" baseline="0" dirty="0" smtClean="0"/>
                        <a:t> Degree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4/6 </a:t>
                      </a:r>
                      <a:r>
                        <a:rPr lang="en-US" sz="1800" kern="1200" dirty="0" smtClean="0"/>
                        <a:t>semesters </a:t>
                      </a:r>
                    </a:p>
                    <a:p>
                      <a:r>
                        <a:rPr lang="en-US" sz="1800" kern="1200" dirty="0" smtClean="0"/>
                        <a:t>First two semesters are for coursework</a:t>
                      </a:r>
                      <a:endParaRPr lang="en-US" dirty="0"/>
                    </a:p>
                  </a:txBody>
                  <a:tcPr/>
                </a:tc>
              </a:tr>
              <a:tr h="1295400"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(iii)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/>
                        <a:t>M.Phil</a:t>
                      </a:r>
                      <a:r>
                        <a:rPr lang="en-US" sz="1800" kern="1200" dirty="0" smtClean="0"/>
                        <a:t>/PhD</a:t>
                      </a:r>
                    </a:p>
                    <a:p>
                      <a:r>
                        <a:rPr lang="en-US" sz="1800" kern="1200" dirty="0" smtClean="0"/>
                        <a:t>Entry Requirement: A weighted average</a:t>
                      </a:r>
                      <a:r>
                        <a:rPr lang="en-US" sz="1800" kern="1200" baseline="0" dirty="0" smtClean="0"/>
                        <a:t> score of 55.0 – 59.9 at Master’s 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8/10 </a:t>
                      </a:r>
                      <a:r>
                        <a:rPr lang="en-US" sz="1800" kern="1200" dirty="0" smtClean="0"/>
                        <a:t>semesters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First two semesters are for coursework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1249950"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(iv)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Doctor of Philosophy (PhD</a:t>
                      </a:r>
                      <a:r>
                        <a:rPr lang="en-US" sz="1800" kern="1200" dirty="0" smtClean="0"/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Entry Requirement: A weighted average</a:t>
                      </a:r>
                      <a:r>
                        <a:rPr lang="en-US" sz="1800" kern="1200" baseline="0" dirty="0" smtClean="0"/>
                        <a:t> score of a</a:t>
                      </a:r>
                      <a:r>
                        <a:rPr lang="en-US" sz="1800" kern="1200" dirty="0" smtClean="0"/>
                        <a:t>bove 60.0 at the Master’s </a:t>
                      </a:r>
                      <a:r>
                        <a:rPr lang="en-US" sz="1800" kern="1200" dirty="0" smtClean="0"/>
                        <a:t>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6/8 </a:t>
                      </a:r>
                      <a:r>
                        <a:rPr lang="en-US" sz="1800" kern="1200" dirty="0" smtClean="0"/>
                        <a:t>semesters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First two semesters are for coursework which in some cases are in form of seminars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r>
              <a:rPr lang="en-US" sz="2800" b="1" dirty="0"/>
              <a:t>Challenges on Admission and </a:t>
            </a:r>
            <a:r>
              <a:rPr lang="en-US" sz="2800" b="1" dirty="0" smtClean="0"/>
              <a:t>Registration</a:t>
            </a:r>
          </a:p>
          <a:p>
            <a:pPr>
              <a:buNone/>
            </a:pPr>
            <a:endParaRPr lang="en-US" sz="2800" b="1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Admission forms process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/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Inability to log into the University Portal to </a:t>
            </a:r>
            <a:r>
              <a:rPr lang="en-US" sz="2400" dirty="0" smtClean="0"/>
              <a:t>register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/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Inability of students to pay school fees as and when due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r>
              <a:rPr lang="en-US" sz="2800" b="1" dirty="0"/>
              <a:t>Challenges on Processing of Results and Examiners’ Reports </a:t>
            </a:r>
            <a:endParaRPr lang="en-US" sz="2800" b="1" dirty="0" smtClean="0"/>
          </a:p>
          <a:p>
            <a:pPr>
              <a:buNone/>
            </a:pPr>
            <a:endParaRPr lang="en-US" sz="2800" b="1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000" dirty="0"/>
              <a:t>Conduct of Examinations by various Faculties/Departments at variance with of the approved Academic Calendar</a:t>
            </a:r>
            <a:r>
              <a:rPr lang="en-US" sz="20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571500" indent="-571500">
              <a:buFont typeface="+mj-lt"/>
              <a:buAutoNum type="romanUcPeriod"/>
            </a:pPr>
            <a:endParaRPr lang="en-US" sz="2000" dirty="0"/>
          </a:p>
          <a:p>
            <a:pPr marL="571500" indent="-571500">
              <a:buFont typeface="+mj-lt"/>
              <a:buAutoNum type="romanUcPeriod"/>
            </a:pPr>
            <a:r>
              <a:rPr lang="en-US" sz="2000" dirty="0"/>
              <a:t>Late/Non submission of results by Lecturers and Departments </a:t>
            </a:r>
            <a:r>
              <a:rPr lang="en-US" sz="20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571500" indent="-571500">
              <a:buFont typeface="+mj-lt"/>
              <a:buAutoNum type="romanUcPeriod"/>
            </a:pPr>
            <a:endParaRPr lang="en-US" sz="2000" dirty="0"/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/>
              <a:t>Delay in payment to adjunct lecturers.</a:t>
            </a:r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000" dirty="0"/>
              <a:t>Lack of proper documentation at the </a:t>
            </a:r>
            <a:r>
              <a:rPr lang="en-US" sz="2000" dirty="0" smtClean="0"/>
              <a:t>Departments and College </a:t>
            </a:r>
            <a:r>
              <a:rPr lang="en-US" sz="2000" dirty="0"/>
              <a:t>is another </a:t>
            </a:r>
            <a:r>
              <a:rPr lang="en-US" sz="2000" dirty="0" smtClean="0"/>
              <a:t>issue.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 smtClean="0"/>
              <a:t>Challenges on </a:t>
            </a:r>
            <a:r>
              <a:rPr lang="en-US" sz="2800" b="1" dirty="0" smtClean="0"/>
              <a:t>Timely Completion of </a:t>
            </a:r>
            <a:r>
              <a:rPr lang="en-US" sz="2800" b="1" dirty="0" err="1"/>
              <a:t>P</a:t>
            </a:r>
            <a:r>
              <a:rPr lang="en-US" sz="2800" b="1" dirty="0" err="1" smtClean="0"/>
              <a:t>rogrammes</a:t>
            </a:r>
            <a:r>
              <a:rPr lang="en-US" sz="2800" b="1" dirty="0" smtClean="0"/>
              <a:t> </a:t>
            </a:r>
          </a:p>
          <a:p>
            <a:endParaRPr lang="en-US" sz="28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Delay in the registration of theses titles (This has been minimized in recent times)</a:t>
            </a: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It takes minimum of four weeks between the dates the theses are dispatched to External Examiners before examinations could be conducted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Institutional problems </a:t>
            </a:r>
            <a:r>
              <a:rPr lang="en-US" sz="2000" dirty="0" smtClean="0"/>
              <a:t>– industrial actions, closure of University due to students unrest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Delays may </a:t>
            </a:r>
            <a:r>
              <a:rPr lang="en-US" sz="2000" dirty="0" smtClean="0"/>
              <a:t>come from </a:t>
            </a:r>
            <a:r>
              <a:rPr lang="en-US" sz="2000" dirty="0" smtClean="0"/>
              <a:t>supervisors who do not read/correct their students’ theses in time </a:t>
            </a: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Attitudes of </a:t>
            </a:r>
            <a:r>
              <a:rPr lang="en-US" sz="2000" dirty="0" smtClean="0"/>
              <a:t>students to their research </a:t>
            </a:r>
            <a:r>
              <a:rPr lang="en-US" sz="2000" dirty="0" smtClean="0"/>
              <a:t>works. Many students don’t fill the necessary forms of registration on annual basis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Challenges on Quality Assurance/Standard</a:t>
            </a:r>
            <a:endParaRPr lang="en-US" sz="28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Lack of standard/uniform format for writing thesis among Faculties/Department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Some </a:t>
            </a:r>
            <a:r>
              <a:rPr lang="en-US" sz="2000" dirty="0" smtClean="0"/>
              <a:t>Departments running Postgraduate </a:t>
            </a:r>
            <a:r>
              <a:rPr lang="en-US" sz="2000" dirty="0" err="1" smtClean="0"/>
              <a:t>Programmes</a:t>
            </a:r>
            <a:r>
              <a:rPr lang="en-US" sz="2000" dirty="0" smtClean="0"/>
              <a:t> do not adhere to the course contents such as presentation of compulsory seminars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None/>
            </a:pPr>
            <a:r>
              <a:rPr lang="en-US" sz="2000" dirty="0" smtClean="0"/>
              <a:t>	</a:t>
            </a:r>
            <a:r>
              <a:rPr lang="en-US" dirty="0" smtClean="0"/>
              <a:t>Others include:</a:t>
            </a:r>
          </a:p>
          <a:p>
            <a:pPr marL="514350" indent="-514350">
              <a:buNone/>
            </a:pPr>
            <a:r>
              <a:rPr lang="en-US" sz="2000" b="1" dirty="0" smtClean="0"/>
              <a:t>	</a:t>
            </a:r>
            <a:r>
              <a:rPr lang="en-US" sz="2000" dirty="0" smtClean="0"/>
              <a:t>Paucity of Fund  and Lack of Sufficient Staff</a:t>
            </a:r>
          </a:p>
          <a:p>
            <a:pPr marL="514350" indent="-514350"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</a:t>
            </a:r>
          </a:p>
          <a:p>
            <a:endParaRPr lang="en-US" sz="2800" b="1" dirty="0" smtClean="0"/>
          </a:p>
          <a:p>
            <a:pPr marL="457200" indent="-457200">
              <a:buAutoNum type="alphaLcParenBoth"/>
            </a:pPr>
            <a:r>
              <a:rPr lang="en-US" sz="2400" b="1" dirty="0" smtClean="0"/>
              <a:t>Funding</a:t>
            </a:r>
          </a:p>
          <a:p>
            <a:pPr marL="457200" indent="-457200">
              <a:buNone/>
            </a:pPr>
            <a:endParaRPr lang="en-US" sz="2000" b="1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/>
              <a:t> Implementation of the recommendations by committee on restructuring of  the College that 5% of fees paid by PG students should be ploughed back to the college.</a:t>
            </a:r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571500" indent="-571500">
              <a:buFont typeface="+mj-lt"/>
              <a:buAutoNum type="romanUcPeriod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ii.	Laboratories </a:t>
            </a:r>
            <a:r>
              <a:rPr lang="en-US" sz="2000" dirty="0" smtClean="0"/>
              <a:t>and other facilities should be made available to </a:t>
            </a:r>
            <a:r>
              <a:rPr lang="en-US" sz="2000" dirty="0" smtClean="0"/>
              <a:t> 	the </a:t>
            </a:r>
            <a:r>
              <a:rPr lang="en-US" sz="2000" dirty="0" smtClean="0"/>
              <a:t>departments running  postgraduate </a:t>
            </a:r>
            <a:r>
              <a:rPr lang="en-US" sz="2000" dirty="0" err="1" smtClean="0"/>
              <a:t>programmes</a:t>
            </a:r>
            <a:r>
              <a:rPr lang="en-US" sz="20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None/>
            </a:pPr>
            <a:endParaRPr lang="en-US" sz="2400" dirty="0" smtClean="0"/>
          </a:p>
          <a:p>
            <a:pPr marL="571500" indent="-571500">
              <a:buNone/>
            </a:pP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 Cont…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8229600" cy="5638800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buAutoNum type="alphaLcParenBoth" startAt="2"/>
            </a:pPr>
            <a:r>
              <a:rPr lang="en-US" sz="2400" b="1" dirty="0" smtClean="0"/>
              <a:t>Admission and Registration</a:t>
            </a:r>
          </a:p>
          <a:p>
            <a:pPr marL="571500" indent="-571500">
              <a:buNone/>
            </a:pPr>
            <a:endParaRPr lang="en-US" sz="2400" b="1" dirty="0" smtClean="0"/>
          </a:p>
          <a:p>
            <a:pPr marL="571500" indent="-571500">
              <a:buAutoNum type="romanUcPeriod"/>
            </a:pPr>
            <a:r>
              <a:rPr lang="en-US" sz="2000" dirty="0" smtClean="0"/>
              <a:t>The college should have an independent portal for online registration.</a:t>
            </a:r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r>
              <a:rPr lang="en-US" sz="2000" dirty="0" smtClean="0"/>
              <a:t>Full online system of application and registration should be deployed.</a:t>
            </a:r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r>
              <a:rPr lang="en-US" sz="2000" dirty="0" smtClean="0"/>
              <a:t>Students screening (after payment of acceptance fees) must commence from the Department. </a:t>
            </a:r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r>
              <a:rPr lang="en-US" sz="2000" dirty="0" smtClean="0"/>
              <a:t>Successful a</a:t>
            </a:r>
            <a:r>
              <a:rPr lang="en-US" sz="2000" dirty="0" smtClean="0"/>
              <a:t>pplicants </a:t>
            </a:r>
            <a:r>
              <a:rPr lang="en-US" sz="2000" dirty="0" smtClean="0"/>
              <a:t>should be notified via mail/text/phone call on their admission and </a:t>
            </a:r>
            <a:r>
              <a:rPr lang="en-US" sz="2000" dirty="0" smtClean="0"/>
              <a:t>recommendation</a:t>
            </a:r>
          </a:p>
          <a:p>
            <a:pPr marL="571500" indent="-571500">
              <a:buAutoNum type="romanUcPeriod"/>
            </a:pPr>
            <a:endParaRPr lang="en-US" sz="2000" dirty="0" smtClean="0"/>
          </a:p>
          <a:p>
            <a:pPr marL="571500" indent="-571500">
              <a:buAutoNum type="romanUcPeriod"/>
            </a:pPr>
            <a:r>
              <a:rPr lang="en-US" sz="2000" dirty="0" smtClean="0"/>
              <a:t>Admissions could be on semester basis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+mn-lt"/>
              </a:rPr>
              <a:t>Recommendation cont…</a:t>
            </a:r>
            <a:endParaRPr lang="en-US" sz="2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/>
          </a:bodyPr>
          <a:lstStyle/>
          <a:p>
            <a:pPr marL="457200" indent="-457200">
              <a:buAutoNum type="alphaLcParenBoth" startAt="3"/>
            </a:pPr>
            <a:r>
              <a:rPr lang="en-US" sz="2400" b="1" dirty="0" smtClean="0"/>
              <a:t>Processing of Results and Examiners’ Reports</a:t>
            </a:r>
          </a:p>
          <a:p>
            <a:pPr marL="457200" indent="-457200">
              <a:buAutoNum type="alphaLcParenBoth" startAt="3"/>
            </a:pPr>
            <a:endParaRPr lang="en-US" sz="2400" b="1" dirty="0" smtClean="0"/>
          </a:p>
          <a:p>
            <a:pPr marL="514350" indent="-514350">
              <a:buAutoNum type="romanUcPeriod"/>
            </a:pPr>
            <a:r>
              <a:rPr lang="en-US" sz="2400" dirty="0" smtClean="0"/>
              <a:t>Faculties and Departments should process results promptly</a:t>
            </a:r>
          </a:p>
          <a:p>
            <a:pPr marL="514350" indent="-514350">
              <a:buAutoNum type="romanUcPeriod"/>
            </a:pPr>
            <a:endParaRPr lang="en-US" sz="2400" dirty="0" smtClean="0"/>
          </a:p>
          <a:p>
            <a:pPr marL="514350" indent="-514350">
              <a:buFont typeface="Arial" pitchFamily="34" charset="0"/>
              <a:buAutoNum type="romanUcPeriod"/>
            </a:pPr>
            <a:r>
              <a:rPr lang="en-US" sz="2400" dirty="0" smtClean="0"/>
              <a:t>Results should be given special priority at the Committee of CPGS Board.</a:t>
            </a:r>
          </a:p>
          <a:p>
            <a:pPr marL="514350" indent="-514350">
              <a:buAutoNum type="romanUcPeriod"/>
            </a:pPr>
            <a:endParaRPr lang="en-US" sz="2400" dirty="0" smtClean="0"/>
          </a:p>
          <a:p>
            <a:pPr marL="514350" indent="-514350">
              <a:buAutoNum type="romanUcPeriod"/>
            </a:pPr>
            <a:r>
              <a:rPr lang="en-US" sz="2400" dirty="0" smtClean="0"/>
              <a:t>Examination Results must be presented to the appropriate Committee of CPGS on semester basis.</a:t>
            </a:r>
          </a:p>
          <a:p>
            <a:pPr marL="457200" indent="-457200"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 cont…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(d)</a:t>
            </a:r>
            <a:r>
              <a:rPr lang="en-US" sz="2400" b="1" dirty="0" smtClean="0"/>
              <a:t>	Registration of Thesis Titles</a:t>
            </a:r>
          </a:p>
          <a:p>
            <a:pPr>
              <a:buNone/>
            </a:pPr>
            <a:endParaRPr lang="en-US" sz="2000" b="1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Minimum of 2 weeks for examination of thesis after receipt of such by the External Examiners.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To insulate the PG </a:t>
            </a:r>
            <a:r>
              <a:rPr lang="en-US" sz="2000" dirty="0" err="1" smtClean="0"/>
              <a:t>Programmes</a:t>
            </a:r>
            <a:r>
              <a:rPr lang="en-US" sz="2000" dirty="0" smtClean="0"/>
              <a:t> from industrial actions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Publish a separate book for rules and regulations guiding the PG school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A form to show the various stages of academic activities in the course of postgraduate education  </a:t>
            </a:r>
          </a:p>
          <a:p>
            <a:pPr marL="514350" indent="-514350">
              <a:buFont typeface="+mj-lt"/>
              <a:buAutoNum type="romanUcPeriod"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000" dirty="0" smtClean="0"/>
              <a:t>Agreed timeline for the presentation of Registration of thesis title</a:t>
            </a:r>
          </a:p>
          <a:p>
            <a:pPr marL="514350" indent="-514350">
              <a:buNone/>
            </a:pPr>
            <a:endParaRPr lang="en-US" sz="2000" dirty="0" smtClean="0"/>
          </a:p>
          <a:p>
            <a:pPr marL="514350" indent="-514350">
              <a:buNone/>
            </a:pPr>
            <a:endParaRPr lang="en-US" sz="2000" dirty="0" smtClean="0"/>
          </a:p>
          <a:p>
            <a:pPr marL="514350" indent="-514350">
              <a:buFont typeface="+mj-lt"/>
              <a:buAutoNum type="romanUcPeriod"/>
            </a:pPr>
            <a:endParaRPr lang="en-US" sz="2400" dirty="0" smtClean="0"/>
          </a:p>
          <a:p>
            <a:pPr marL="514350" indent="-514350">
              <a:buFont typeface="+mj-lt"/>
              <a:buAutoNum type="romanUcPeriod"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 Cont…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(e) </a:t>
            </a:r>
            <a:r>
              <a:rPr lang="en-US" sz="2400" b="1" dirty="0" smtClean="0"/>
              <a:t>Quality Assurance/Standard</a:t>
            </a:r>
            <a:endParaRPr lang="en-US" sz="2200" b="1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Introduction of log book to monitor students’ activities.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There should be an agreed format on thesis writing and outline of chapters.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Students </a:t>
            </a:r>
            <a:r>
              <a:rPr lang="en-US" sz="2200" dirty="0" smtClean="0"/>
              <a:t>must present at least two or three seminar papers before the completion of their </a:t>
            </a:r>
            <a:r>
              <a:rPr lang="en-US" sz="2200" dirty="0" err="1" smtClean="0"/>
              <a:t>programmes</a:t>
            </a:r>
            <a:r>
              <a:rPr lang="en-US" sz="2200" dirty="0" smtClean="0"/>
              <a:t>. 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err="1" smtClean="0"/>
              <a:t>Defence</a:t>
            </a:r>
            <a:r>
              <a:rPr lang="en-US" sz="2200" dirty="0" smtClean="0"/>
              <a:t> of research proposal and post field must be given wide publicity.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Workshops on how to apply for Research Grants should organized on annual basis.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Students should be encouraged to test the level of plagiarism of their theses</a:t>
            </a:r>
            <a:r>
              <a:rPr lang="en-US" sz="2200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Publication of at least, one paper from a PhD thesis in a reputable, non-predatory journal before the final </a:t>
            </a:r>
            <a:r>
              <a:rPr lang="en-US" sz="2200" dirty="0" err="1" smtClean="0"/>
              <a:t>defence</a:t>
            </a:r>
            <a:r>
              <a:rPr lang="en-US" sz="2200" dirty="0" smtClean="0"/>
              <a:t> may also be encouraged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200" dirty="0" smtClean="0"/>
              <a:t>Postgraduate students should be encouraged to attend academic conferences. </a:t>
            </a:r>
          </a:p>
          <a:p>
            <a:pPr marL="514350" indent="-514350">
              <a:buFont typeface="+mj-lt"/>
              <a:buAutoNum type="romanUcPeriod"/>
            </a:pPr>
            <a:endParaRPr lang="en-US" sz="2200" dirty="0"/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 marL="0" indent="0">
              <a:buNone/>
            </a:pPr>
            <a:r>
              <a:rPr lang="en-US" sz="2200" dirty="0" smtClean="0"/>
              <a:t>	Senate recently approved Annual Awards for the best three theses that meet 	certain criteria on Faculty basis. This should motivate students to endeavor to write good quality theses </a:t>
            </a:r>
            <a:r>
              <a:rPr lang="en-US" sz="2200" smtClean="0"/>
              <a:t>and supervisors to </a:t>
            </a:r>
            <a:endParaRPr lang="en-US" sz="2200" dirty="0" smtClean="0"/>
          </a:p>
          <a:p>
            <a:pPr marL="514350" indent="-514350">
              <a:buFont typeface="+mj-lt"/>
              <a:buAutoNum type="romanUcPeriod"/>
            </a:pPr>
            <a:endParaRPr lang="en-US" sz="2200" dirty="0"/>
          </a:p>
          <a:p>
            <a:pPr marL="514350" indent="-514350">
              <a:buFont typeface="+mj-lt"/>
              <a:buAutoNum type="romanUcPeriod"/>
            </a:pPr>
            <a:endParaRPr lang="en-US" sz="2200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Recommendation Cont…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562600"/>
          </a:xfrm>
        </p:spPr>
        <p:txBody>
          <a:bodyPr>
            <a:noAutofit/>
          </a:bodyPr>
          <a:lstStyle/>
          <a:p>
            <a:pPr marL="457200" indent="-457200">
              <a:buAutoNum type="alphaLcParenBoth" startAt="6"/>
            </a:pPr>
            <a:r>
              <a:rPr lang="en-US" sz="2400" b="1" dirty="0" smtClean="0"/>
              <a:t>Staffing</a:t>
            </a:r>
            <a:endParaRPr lang="en-US" sz="2000" b="1" dirty="0" smtClean="0"/>
          </a:p>
          <a:p>
            <a:pPr marL="514350" indent="-514350">
              <a:buAutoNum type="romanUcPeriod"/>
            </a:pPr>
            <a:r>
              <a:rPr lang="en-US" sz="2000" dirty="0"/>
              <a:t>A</a:t>
            </a:r>
            <a:r>
              <a:rPr lang="en-US" sz="2000" dirty="0" smtClean="0"/>
              <a:t>dministrative </a:t>
            </a:r>
            <a:r>
              <a:rPr lang="en-US" sz="2000" dirty="0" smtClean="0"/>
              <a:t>divisions namely Academic and Research Division and Admissions and Scholarship Division be created</a:t>
            </a:r>
          </a:p>
          <a:p>
            <a:pPr marL="514350" indent="-514350">
              <a:buAutoNum type="romanUcPeriod"/>
            </a:pPr>
            <a:endParaRPr lang="en-US" sz="2000" dirty="0" smtClean="0"/>
          </a:p>
          <a:p>
            <a:pPr marL="514350" indent="-514350">
              <a:buAutoNum type="romanUcPeriod"/>
            </a:pPr>
            <a:r>
              <a:rPr lang="en-US" sz="2000" dirty="0" smtClean="0"/>
              <a:t>Sufficient staff to assist the College in its day to day activities should be deployed </a:t>
            </a:r>
            <a:r>
              <a:rPr lang="en-US" sz="2000" dirty="0" err="1" smtClean="0"/>
              <a:t>e.g</a:t>
            </a:r>
            <a:r>
              <a:rPr lang="en-US" sz="2000" dirty="0" smtClean="0"/>
              <a:t> a representative </a:t>
            </a:r>
            <a:r>
              <a:rPr lang="en-US" sz="2000" dirty="0" smtClean="0"/>
              <a:t>of the ICT unit is needed to facilitate the computerization of the activities of the College</a:t>
            </a:r>
            <a:endParaRPr lang="en-US" sz="2000" dirty="0" smtClean="0"/>
          </a:p>
          <a:p>
            <a:pPr marL="514350" indent="-514350">
              <a:buAutoNum type="romanUcPeriod"/>
            </a:pPr>
            <a:endParaRPr lang="en-US" sz="2000" dirty="0" smtClean="0"/>
          </a:p>
          <a:p>
            <a:pPr marL="514350" indent="-514350">
              <a:buFont typeface="Arial" pitchFamily="34" charset="0"/>
              <a:buAutoNum type="romanUcPeriod"/>
            </a:pPr>
            <a:r>
              <a:rPr lang="en-US" sz="2000" dirty="0" smtClean="0"/>
              <a:t>Lecturers of professional </a:t>
            </a:r>
            <a:r>
              <a:rPr lang="en-US" sz="2000" dirty="0" err="1" smtClean="0"/>
              <a:t>programmes</a:t>
            </a:r>
            <a:r>
              <a:rPr lang="en-US" sz="2000" dirty="0" smtClean="0"/>
              <a:t> should be adequately remunerated.</a:t>
            </a:r>
          </a:p>
          <a:p>
            <a:pPr marL="514350" indent="-514350">
              <a:buFont typeface="Arial" pitchFamily="34" charset="0"/>
              <a:buAutoNum type="romanUcPeriod"/>
            </a:pPr>
            <a:endParaRPr lang="en-US" sz="2000" dirty="0" smtClean="0"/>
          </a:p>
          <a:p>
            <a:pPr marL="514350" indent="-514350">
              <a:buAutoNum type="romanUcPeriod"/>
            </a:pPr>
            <a:r>
              <a:rPr lang="en-US" sz="2000" dirty="0" smtClean="0"/>
              <a:t>Outstanding Honoraria of adjunct lecturers should be paid.</a:t>
            </a:r>
          </a:p>
          <a:p>
            <a:pPr marL="514350" indent="-514350">
              <a:buAutoNum type="romanUcPeriod"/>
            </a:pPr>
            <a:endParaRPr lang="en-US" sz="2000" dirty="0" smtClean="0"/>
          </a:p>
          <a:p>
            <a:pPr marL="514350" lvl="0" indent="-514350">
              <a:buFont typeface="Arial" pitchFamily="34" charset="0"/>
              <a:buAutoNum type="romanUcPeriod"/>
            </a:pPr>
            <a:r>
              <a:rPr lang="en-US" sz="2000" dirty="0" smtClean="0"/>
              <a:t>The Minimum requirement of academic staff for each </a:t>
            </a:r>
            <a:r>
              <a:rPr lang="en-US" sz="2000" dirty="0" err="1" smtClean="0"/>
              <a:t>programme</a:t>
            </a:r>
            <a:r>
              <a:rPr lang="en-US" sz="2000" dirty="0" smtClean="0"/>
              <a:t> in line with the BMAS should be employed.</a:t>
            </a:r>
          </a:p>
          <a:p>
            <a:pPr marL="514350" indent="-514350">
              <a:buAutoNum type="romanUcPeriod"/>
            </a:pPr>
            <a:endParaRPr lang="en-US" sz="2400" dirty="0" smtClean="0"/>
          </a:p>
          <a:p>
            <a:pPr marL="514350" indent="-514350">
              <a:buAutoNum type="romanUcPeriod"/>
            </a:pPr>
            <a:endParaRPr lang="en-US" sz="2400" dirty="0" smtClean="0"/>
          </a:p>
          <a:p>
            <a:pPr marL="514350" indent="-514350">
              <a:buNone/>
            </a:pPr>
            <a:r>
              <a:rPr lang="en-US" sz="2400" dirty="0" smtClean="0"/>
              <a:t> 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7467600" cy="609295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3200" dirty="0" smtClean="0"/>
              <a:t>Thank You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405</TotalTime>
  <Words>914</Words>
  <Application>Microsoft Office PowerPoint</Application>
  <PresentationFormat>On-screen Show (4:3)</PresentationFormat>
  <Paragraphs>224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Andalus</vt:lpstr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PowerPoint Presentation</vt:lpstr>
      <vt:lpstr>PowerPoint Presentation</vt:lpstr>
      <vt:lpstr>PowerPoint Presentation</vt:lpstr>
      <vt:lpstr>Research, Ranking  and Entrepreneurial Universities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 Cont…</vt:lpstr>
      <vt:lpstr>Recommendation cont…</vt:lpstr>
      <vt:lpstr>Recommendation cont…</vt:lpstr>
      <vt:lpstr>Recommendation Cont…</vt:lpstr>
      <vt:lpstr>Recommendation Cont…</vt:lpstr>
      <vt:lpstr>PowerPoint Presentation</vt:lpstr>
    </vt:vector>
  </TitlesOfParts>
  <Company>Windows 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Temidayo</dc:creator>
  <cp:lastModifiedBy>HP</cp:lastModifiedBy>
  <cp:revision>15</cp:revision>
  <dcterms:created xsi:type="dcterms:W3CDTF">2016-02-01T13:41:23Z</dcterms:created>
  <dcterms:modified xsi:type="dcterms:W3CDTF">2016-02-03T04:45:06Z</dcterms:modified>
</cp:coreProperties>
</file>