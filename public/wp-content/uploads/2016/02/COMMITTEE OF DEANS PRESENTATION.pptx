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9A89234-75DB-4F80-BC51-6E380D8F41DE}" type="datetimeFigureOut">
              <a:rPr lang="en-US" smtClean="0"/>
              <a:pPr/>
              <a:t>2/3/2016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6FA541B9-3FF8-4C77-86C6-7CA64645D288}"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9A89234-75DB-4F80-BC51-6E380D8F41DE}"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6FA541B9-3FF8-4C77-86C6-7CA64645D288}"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9A89234-75DB-4F80-BC51-6E380D8F41DE}" type="datetimeFigureOut">
              <a:rPr lang="en-US" smtClean="0"/>
              <a:pPr/>
              <a:t>2/3/2016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6FA541B9-3FF8-4C77-86C6-7CA64645D288}"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69A89234-75DB-4F80-BC51-6E380D8F41DE}" type="datetimeFigureOut">
              <a:rPr lang="en-US" smtClean="0"/>
              <a:pPr/>
              <a:t>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A541B9-3FF8-4C77-86C6-7CA64645D288}"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9A89234-75DB-4F80-BC51-6E380D8F41DE}" type="datetimeFigureOut">
              <a:rPr lang="en-US" smtClean="0"/>
              <a:pPr/>
              <a:t>2/3/2016</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6FA541B9-3FF8-4C77-86C6-7CA64645D288}"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9A89234-75DB-4F80-BC51-6E380D8F41DE}" type="datetimeFigureOut">
              <a:rPr lang="en-US" smtClean="0"/>
              <a:pPr/>
              <a:t>2/3/2016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6FA541B9-3FF8-4C77-86C6-7CA64645D2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69A89234-75DB-4F80-BC51-6E380D8F41DE}" type="datetimeFigureOut">
              <a:rPr lang="en-US" smtClean="0"/>
              <a:pPr/>
              <a:t>2/3/2016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6FA541B9-3FF8-4C77-86C6-7CA64645D2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6FA541B9-3FF8-4C77-86C6-7CA64645D288}"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69A89234-75DB-4F80-BC51-6E380D8F41DE}" type="datetimeFigureOut">
              <a:rPr lang="en-US" smtClean="0"/>
              <a:pPr/>
              <a:t>2/3/2016</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6FA541B9-3FF8-4C77-86C6-7CA64645D288}"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69A89234-75DB-4F80-BC51-6E380D8F41DE}" type="datetimeFigureOut">
              <a:rPr lang="en-US" smtClean="0"/>
              <a:pPr/>
              <a:t>2/3/2016</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9A89234-75DB-4F80-BC51-6E380D8F41DE}"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541B9-3FF8-4C77-86C6-7CA64645D288}"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6FA541B9-3FF8-4C77-86C6-7CA64645D288}"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9A89234-75DB-4F80-BC51-6E380D8F41DE}" type="datetimeFigureOut">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69A89234-75DB-4F80-BC51-6E380D8F41DE}" type="datetimeFigureOut">
              <a:rPr lang="en-US" smtClean="0"/>
              <a:pPr/>
              <a:t>2/3/2016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6FA541B9-3FF8-4C77-86C6-7CA64645D288}"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5943600"/>
          </a:xfrm>
        </p:spPr>
        <p:txBody>
          <a:bodyPr>
            <a:normAutofit fontScale="90000"/>
          </a:bodyPr>
          <a:lstStyle/>
          <a:p>
            <a:r>
              <a:rPr lang="en-US" b="1" dirty="0" smtClean="0"/>
              <a:t/>
            </a:r>
            <a:br>
              <a:rPr lang="en-US" b="1" dirty="0" smtClean="0"/>
            </a:br>
            <a:r>
              <a:rPr lang="en-US" b="1" dirty="0" smtClean="0"/>
              <a:t>COMMITTEE </a:t>
            </a:r>
            <a:r>
              <a:rPr lang="en-US" b="1" dirty="0"/>
              <a:t>OF DEANS </a:t>
            </a:r>
            <a:r>
              <a:rPr lang="en-US" b="1" dirty="0" smtClean="0"/>
              <a:t>PRESENTATION </a:t>
            </a:r>
            <a:r>
              <a:rPr lang="en-US" b="1" dirty="0"/>
              <a:t>ON THE RUNNING OF UNINTERRUPTED AND SMOOTH </a:t>
            </a:r>
            <a:r>
              <a:rPr lang="en-US" sz="4800" b="1" dirty="0"/>
              <a:t>ACADEMIC</a:t>
            </a:r>
            <a:r>
              <a:rPr lang="en-US" b="1" dirty="0"/>
              <a:t> CALENDAR AND RELATED ACADEMIC ISSUES: CHALLENGES AND WAY FORWARD.</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INTRODUCTION</a:t>
            </a:r>
            <a:r>
              <a:rPr lang="en-US" dirty="0"/>
              <a:t/>
            </a:r>
            <a:br>
              <a:rPr lang="en-US" dirty="0"/>
            </a:br>
            <a:endParaRPr lang="en-US" dirty="0"/>
          </a:p>
        </p:txBody>
      </p:sp>
      <p:sp>
        <p:nvSpPr>
          <p:cNvPr id="3" name="Content Placeholder 2"/>
          <p:cNvSpPr>
            <a:spLocks noGrp="1"/>
          </p:cNvSpPr>
          <p:nvPr>
            <p:ph sz="quarter" idx="1"/>
          </p:nvPr>
        </p:nvSpPr>
        <p:spPr>
          <a:xfrm>
            <a:off x="457200" y="1600200"/>
            <a:ext cx="8229600" cy="4953000"/>
          </a:xfrm>
        </p:spPr>
        <p:txBody>
          <a:bodyPr>
            <a:normAutofit fontScale="92500" lnSpcReduction="10000"/>
          </a:bodyPr>
          <a:lstStyle/>
          <a:p>
            <a:r>
              <a:rPr lang="en-US" dirty="0" smtClean="0"/>
              <a:t>The </a:t>
            </a:r>
            <a:r>
              <a:rPr lang="en-US" dirty="0"/>
              <a:t>Committee of Deans is a committee of senate that is saddled with academic – related responsibilities in facilitating the activities of senate.</a:t>
            </a:r>
          </a:p>
          <a:p>
            <a:r>
              <a:rPr lang="en-US" dirty="0" smtClean="0"/>
              <a:t>Responsibilities </a:t>
            </a:r>
            <a:r>
              <a:rPr lang="en-US" dirty="0"/>
              <a:t>include consideration and recommendation of academic calendar for the approval of Senate.</a:t>
            </a:r>
          </a:p>
          <a:p>
            <a:r>
              <a:rPr lang="en-US" dirty="0" smtClean="0"/>
              <a:t>Vetting </a:t>
            </a:r>
            <a:r>
              <a:rPr lang="en-US" dirty="0"/>
              <a:t>and recommending applications from academic staff for attendance at academic conferences, Local and international. </a:t>
            </a:r>
          </a:p>
          <a:p>
            <a:r>
              <a:rPr lang="en-US" dirty="0" smtClean="0"/>
              <a:t>Considering </a:t>
            </a:r>
            <a:r>
              <a:rPr lang="en-US" dirty="0"/>
              <a:t>and recommending applications for change of courses by students.</a:t>
            </a:r>
          </a:p>
          <a:p>
            <a:r>
              <a:rPr lang="en-US" dirty="0" smtClean="0"/>
              <a:t>Considering </a:t>
            </a:r>
            <a:r>
              <a:rPr lang="en-US" dirty="0"/>
              <a:t>and recommending </a:t>
            </a:r>
            <a:r>
              <a:rPr lang="en-US" dirty="0" smtClean="0"/>
              <a:t>applications </a:t>
            </a:r>
            <a:r>
              <a:rPr lang="en-US" dirty="0"/>
              <a:t>for transfer from other Universities.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Academic </a:t>
            </a:r>
            <a:r>
              <a:rPr lang="en-US" b="1" dirty="0"/>
              <a:t>Calendar </a:t>
            </a:r>
            <a:r>
              <a:rPr lang="en-US" dirty="0"/>
              <a:t/>
            </a:r>
            <a:br>
              <a:rPr lang="en-US" dirty="0"/>
            </a:br>
            <a:endParaRPr lang="en-US" dirty="0"/>
          </a:p>
        </p:txBody>
      </p:sp>
      <p:sp>
        <p:nvSpPr>
          <p:cNvPr id="3" name="Content Placeholder 2"/>
          <p:cNvSpPr>
            <a:spLocks noGrp="1"/>
          </p:cNvSpPr>
          <p:nvPr>
            <p:ph sz="quarter" idx="1"/>
          </p:nvPr>
        </p:nvSpPr>
        <p:spPr>
          <a:xfrm>
            <a:off x="457200" y="1600200"/>
            <a:ext cx="8229600" cy="4876800"/>
          </a:xfrm>
        </p:spPr>
        <p:txBody>
          <a:bodyPr>
            <a:normAutofit fontScale="70000" lnSpcReduction="20000"/>
          </a:bodyPr>
          <a:lstStyle/>
          <a:p>
            <a:r>
              <a:rPr lang="en-US" sz="3400" dirty="0"/>
              <a:t>Implementation of the academic calendar as recommended by the Committee of Deans and approved by Senate is a major challenge.</a:t>
            </a:r>
          </a:p>
          <a:p>
            <a:r>
              <a:rPr lang="en-US" sz="3400" dirty="0" smtClean="0"/>
              <a:t>A </a:t>
            </a:r>
            <a:r>
              <a:rPr lang="en-US" sz="3400" dirty="0"/>
              <a:t>case in point is the present academic calendar which is already altered for the 1</a:t>
            </a:r>
            <a:r>
              <a:rPr lang="en-US" sz="3400" baseline="30000" dirty="0"/>
              <a:t>st</a:t>
            </a:r>
            <a:r>
              <a:rPr lang="en-US" sz="3400" dirty="0"/>
              <a:t> Semester of 2015/2016 session.</a:t>
            </a:r>
          </a:p>
          <a:p>
            <a:r>
              <a:rPr lang="en-US" sz="3400" dirty="0" smtClean="0"/>
              <a:t>Reasons </a:t>
            </a:r>
            <a:r>
              <a:rPr lang="en-US" sz="3400" dirty="0"/>
              <a:t>for non-religious implementation of an academic calendar range from unavoidable reasons to avoidable or intentional.</a:t>
            </a:r>
          </a:p>
          <a:p>
            <a:r>
              <a:rPr lang="en-US" sz="3400" dirty="0" smtClean="0"/>
              <a:t>These </a:t>
            </a:r>
            <a:r>
              <a:rPr lang="en-US" sz="3400" dirty="0"/>
              <a:t>reasons include strike action by unions, interruption by the students through “</a:t>
            </a:r>
            <a:r>
              <a:rPr lang="en-US" sz="3400" dirty="0" err="1"/>
              <a:t>Aluta</a:t>
            </a:r>
            <a:r>
              <a:rPr lang="en-US" sz="3400" dirty="0"/>
              <a:t>” activities, management decisions at times taken for security </a:t>
            </a:r>
            <a:r>
              <a:rPr lang="en-US" sz="3400" dirty="0" smtClean="0"/>
              <a:t>reasons, </a:t>
            </a:r>
            <a:r>
              <a:rPr lang="en-US" sz="3400" dirty="0"/>
              <a:t>forced holidays, etc.</a:t>
            </a:r>
          </a:p>
          <a:p>
            <a:r>
              <a:rPr lang="en-US" sz="3400" dirty="0" smtClean="0"/>
              <a:t>An uncompleted </a:t>
            </a:r>
            <a:r>
              <a:rPr lang="en-US" sz="3400" dirty="0"/>
              <a:t>or short academic calendar puts pressure on both staff and students as the former struggles to exhaust the course contents.</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Attendance </a:t>
            </a:r>
            <a:r>
              <a:rPr lang="en-US" b="1" dirty="0"/>
              <a:t>at Local and International Conferences.</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dirty="0"/>
              <a:t>Applications are not submitted </a:t>
            </a:r>
            <a:r>
              <a:rPr lang="en-US" dirty="0" err="1"/>
              <a:t>timeously</a:t>
            </a:r>
            <a:r>
              <a:rPr lang="en-US" dirty="0"/>
              <a:t> to the CODs for recommendation especially for TETFUND sponsorship.</a:t>
            </a:r>
          </a:p>
          <a:p>
            <a:r>
              <a:rPr lang="en-US" dirty="0" smtClean="0"/>
              <a:t>Where </a:t>
            </a:r>
            <a:r>
              <a:rPr lang="en-US" dirty="0"/>
              <a:t>applications are recommended, processing is often delayed resulting in recommended applicants not benefiting.</a:t>
            </a:r>
          </a:p>
          <a:p>
            <a:r>
              <a:rPr lang="en-US" dirty="0" smtClean="0"/>
              <a:t>Approved </a:t>
            </a:r>
            <a:r>
              <a:rPr lang="en-US" dirty="0"/>
              <a:t>sponsorship amounts for Local and international conference are grossly small and not realistic</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Applications </a:t>
            </a:r>
            <a:r>
              <a:rPr lang="en-US" b="1" dirty="0"/>
              <a:t>for change of Course</a:t>
            </a:r>
            <a:r>
              <a:rPr lang="en-US" dirty="0"/>
              <a:t/>
            </a:r>
            <a:br>
              <a:rPr lang="en-US" dirty="0"/>
            </a:br>
            <a:endParaRPr lang="en-US" dirty="0"/>
          </a:p>
        </p:txBody>
      </p:sp>
      <p:sp>
        <p:nvSpPr>
          <p:cNvPr id="3" name="Content Placeholder 2"/>
          <p:cNvSpPr>
            <a:spLocks noGrp="1"/>
          </p:cNvSpPr>
          <p:nvPr>
            <p:ph sz="quarter" idx="1"/>
          </p:nvPr>
        </p:nvSpPr>
        <p:spPr>
          <a:xfrm>
            <a:off x="457200" y="1600200"/>
            <a:ext cx="8229600" cy="4953000"/>
          </a:xfrm>
        </p:spPr>
        <p:txBody>
          <a:bodyPr>
            <a:normAutofit fontScale="92500" lnSpcReduction="20000"/>
          </a:bodyPr>
          <a:lstStyle/>
          <a:p>
            <a:r>
              <a:rPr lang="en-US" dirty="0"/>
              <a:t>The rules presently do not allow students to change courses until they are withdrawn from the present departments after falling below 0 for two (2) consecutive times.</a:t>
            </a:r>
          </a:p>
          <a:p>
            <a:r>
              <a:rPr lang="en-US" dirty="0" smtClean="0"/>
              <a:t>Students </a:t>
            </a:r>
            <a:r>
              <a:rPr lang="en-US" dirty="0"/>
              <a:t>are not allowed to change their courses except on the basis of poor academic performance.</a:t>
            </a:r>
          </a:p>
          <a:p>
            <a:r>
              <a:rPr lang="en-US" dirty="0" smtClean="0"/>
              <a:t>Change </a:t>
            </a:r>
            <a:r>
              <a:rPr lang="en-US" dirty="0"/>
              <a:t>of course is only allowed at the end of a second semester (Beginning of a new session) which keeps students who are withdrawn in the 1</a:t>
            </a:r>
            <a:r>
              <a:rPr lang="en-US" baseline="30000" dirty="0"/>
              <a:t>st</a:t>
            </a:r>
            <a:r>
              <a:rPr lang="en-US" dirty="0"/>
              <a:t> semester at home for another semester before change of course can be processed.</a:t>
            </a:r>
          </a:p>
          <a:p>
            <a:r>
              <a:rPr lang="en-US" dirty="0" smtClean="0"/>
              <a:t>Students </a:t>
            </a:r>
            <a:r>
              <a:rPr lang="en-US" dirty="0"/>
              <a:t>whose CGPA fall below 0.5 are withdrawn from the University even after spending four (4) or five (5) years.</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Applications for change of </a:t>
            </a:r>
            <a:r>
              <a:rPr lang="en-US" b="1" dirty="0" smtClean="0"/>
              <a:t>Course (cont’d)</a:t>
            </a:r>
            <a:endParaRPr lang="en-US" dirty="0"/>
          </a:p>
        </p:txBody>
      </p:sp>
      <p:sp>
        <p:nvSpPr>
          <p:cNvPr id="3" name="Content Placeholder 2"/>
          <p:cNvSpPr>
            <a:spLocks noGrp="1"/>
          </p:cNvSpPr>
          <p:nvPr>
            <p:ph sz="quarter" idx="1"/>
          </p:nvPr>
        </p:nvSpPr>
        <p:spPr/>
        <p:txBody>
          <a:bodyPr>
            <a:normAutofit fontScale="92500"/>
          </a:bodyPr>
          <a:lstStyle/>
          <a:p>
            <a:r>
              <a:rPr lang="en-US" dirty="0"/>
              <a:t>Students who merit “warning” under the rules are not warned in writing for the students to know before they are put under probation and eventually withdrawn.</a:t>
            </a:r>
          </a:p>
          <a:p>
            <a:r>
              <a:rPr lang="en-US" dirty="0" smtClean="0"/>
              <a:t>Students </a:t>
            </a:r>
            <a:r>
              <a:rPr lang="en-US" dirty="0"/>
              <a:t>are also not informed in writing when they are on probation to necessitate a redoubling of efforts where possible.</a:t>
            </a:r>
          </a:p>
          <a:p>
            <a:r>
              <a:rPr lang="en-US" dirty="0" smtClean="0"/>
              <a:t>Again</a:t>
            </a:r>
            <a:r>
              <a:rPr lang="en-US" dirty="0"/>
              <a:t>, getting and merging of academic records of student that have successfully changed their courses is a major challenge as students pursue their records in former departments and often are the agents for getting same into the new department.</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SUGGESTIONS/WAY </a:t>
            </a:r>
            <a:r>
              <a:rPr lang="en-US" b="1" dirty="0"/>
              <a:t>FORWARD</a:t>
            </a:r>
            <a:r>
              <a:rPr lang="en-US" dirty="0"/>
              <a:t/>
            </a:r>
            <a:br>
              <a:rPr lang="en-US" dirty="0"/>
            </a:br>
            <a:endParaRPr lang="en-US" dirty="0"/>
          </a:p>
        </p:txBody>
      </p:sp>
      <p:sp>
        <p:nvSpPr>
          <p:cNvPr id="3" name="Content Placeholder 2"/>
          <p:cNvSpPr>
            <a:spLocks noGrp="1"/>
          </p:cNvSpPr>
          <p:nvPr>
            <p:ph sz="quarter" idx="1"/>
          </p:nvPr>
        </p:nvSpPr>
        <p:spPr>
          <a:xfrm>
            <a:off x="457200" y="1600200"/>
            <a:ext cx="8229600" cy="4800600"/>
          </a:xfrm>
        </p:spPr>
        <p:txBody>
          <a:bodyPr>
            <a:normAutofit fontScale="92500" lnSpcReduction="10000"/>
          </a:bodyPr>
          <a:lstStyle/>
          <a:p>
            <a:r>
              <a:rPr lang="en-US" dirty="0" smtClean="0"/>
              <a:t>Acts </a:t>
            </a:r>
            <a:r>
              <a:rPr lang="en-US" dirty="0"/>
              <a:t>capable of derailing the implementation of the academic calendar should be </a:t>
            </a:r>
            <a:r>
              <a:rPr lang="en-US" dirty="0" err="1" smtClean="0"/>
              <a:t>avoided,where</a:t>
            </a:r>
            <a:r>
              <a:rPr lang="en-US" dirty="0" smtClean="0"/>
              <a:t> </a:t>
            </a:r>
            <a:r>
              <a:rPr lang="en-US" dirty="0"/>
              <a:t>possible.</a:t>
            </a:r>
          </a:p>
          <a:p>
            <a:r>
              <a:rPr lang="en-US" dirty="0" smtClean="0"/>
              <a:t>Robust </a:t>
            </a:r>
            <a:r>
              <a:rPr lang="en-US" dirty="0"/>
              <a:t>welfare packages should be put in place for both staff and students to forestall strike and “</a:t>
            </a:r>
            <a:r>
              <a:rPr lang="en-US" dirty="0" err="1"/>
              <a:t>Aluta</a:t>
            </a:r>
            <a:r>
              <a:rPr lang="en-US" dirty="0"/>
              <a:t>” actions.</a:t>
            </a:r>
          </a:p>
          <a:p>
            <a:r>
              <a:rPr lang="en-US" dirty="0" smtClean="0"/>
              <a:t>Students </a:t>
            </a:r>
            <a:r>
              <a:rPr lang="en-US" dirty="0"/>
              <a:t>should be sensitized to resume for academic work </a:t>
            </a:r>
            <a:r>
              <a:rPr lang="en-US" dirty="0" smtClean="0"/>
              <a:t>early enough </a:t>
            </a:r>
            <a:r>
              <a:rPr lang="en-US" dirty="0"/>
              <a:t>in every semester to prevent unnecessary elongation of the semester.</a:t>
            </a:r>
          </a:p>
          <a:p>
            <a:r>
              <a:rPr lang="en-US" dirty="0" smtClean="0"/>
              <a:t>Academic </a:t>
            </a:r>
            <a:r>
              <a:rPr lang="en-US" dirty="0"/>
              <a:t>calendars should be realistic and consider the interests of the stakeholders especially the staff who deserve a modicum of rest during and after an academic session or semester.</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SUGGESTIONS/WAY FORWARD (cont’d)</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a:t>An approved academic calendar must be adhered to strictly except for unavoidable reasons and /or circumstances.</a:t>
            </a:r>
          </a:p>
          <a:p>
            <a:r>
              <a:rPr lang="en-US" dirty="0" smtClean="0"/>
              <a:t>Prospective </a:t>
            </a:r>
            <a:r>
              <a:rPr lang="en-US" dirty="0"/>
              <a:t>applicants for sponsorship to academic conferences (including TETFUND) should submit applications </a:t>
            </a:r>
            <a:r>
              <a:rPr lang="en-US" smtClean="0"/>
              <a:t>early enough within </a:t>
            </a:r>
            <a:r>
              <a:rPr lang="en-US" dirty="0"/>
              <a:t>the time limited for submission as approved by Senate.</a:t>
            </a:r>
          </a:p>
          <a:p>
            <a:r>
              <a:rPr lang="en-US" dirty="0"/>
              <a:t> </a:t>
            </a:r>
            <a:r>
              <a:rPr lang="en-US" dirty="0" smtClean="0"/>
              <a:t>The </a:t>
            </a:r>
            <a:r>
              <a:rPr lang="en-US" dirty="0"/>
              <a:t>transfer of processing of TETFUND application to the Directorate of Academic Planning should be considered to facilitate processing especially with the Desk Officer at Abuja.</a:t>
            </a:r>
          </a:p>
          <a:p>
            <a:r>
              <a:rPr lang="en-US" dirty="0" smtClean="0"/>
              <a:t>Funds </a:t>
            </a:r>
            <a:r>
              <a:rPr lang="en-US" dirty="0"/>
              <a:t>approved for sponsorship of academic conferences should be released promptly and before the date of such conferences as it is done in some Universities.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SUGGESTIONS/WAY FORWARD (cont’d)</a:t>
            </a:r>
            <a:endParaRPr lang="en-US" dirty="0"/>
          </a:p>
        </p:txBody>
      </p:sp>
      <p:sp>
        <p:nvSpPr>
          <p:cNvPr id="3" name="Content Placeholder 2"/>
          <p:cNvSpPr>
            <a:spLocks noGrp="1"/>
          </p:cNvSpPr>
          <p:nvPr>
            <p:ph sz="quarter" idx="1"/>
          </p:nvPr>
        </p:nvSpPr>
        <p:spPr>
          <a:xfrm>
            <a:off x="457200" y="1600200"/>
            <a:ext cx="8229600" cy="5029200"/>
          </a:xfrm>
        </p:spPr>
        <p:txBody>
          <a:bodyPr>
            <a:normAutofit fontScale="70000" lnSpcReduction="20000"/>
          </a:bodyPr>
          <a:lstStyle/>
          <a:p>
            <a:r>
              <a:rPr lang="en-US" sz="3400" dirty="0"/>
              <a:t>The amounts approved by Senate for University sponsorship of Local and International conferences are grossly inadequate and should be reviewed up to reflect modern realities so that staff are encouraged to attend and benefit from such conferences.</a:t>
            </a:r>
          </a:p>
          <a:p>
            <a:r>
              <a:rPr lang="en-US" sz="3400" dirty="0" smtClean="0"/>
              <a:t>Students </a:t>
            </a:r>
            <a:r>
              <a:rPr lang="en-US" sz="3400" dirty="0"/>
              <a:t>interests to change courses for reasons other than poor academic performances should be considered in deserving situations.</a:t>
            </a:r>
          </a:p>
          <a:p>
            <a:r>
              <a:rPr lang="en-US" sz="3400" dirty="0" smtClean="0"/>
              <a:t>Counseling </a:t>
            </a:r>
            <a:r>
              <a:rPr lang="en-US" sz="3400" dirty="0"/>
              <a:t>Units should be established in each Faculty to counsel students on results and other related academic issues.</a:t>
            </a:r>
          </a:p>
          <a:p>
            <a:r>
              <a:rPr lang="en-US" sz="3400" dirty="0" smtClean="0"/>
              <a:t>The </a:t>
            </a:r>
            <a:r>
              <a:rPr lang="en-US" sz="3400" dirty="0"/>
              <a:t>rules guiding transfer of students from other Universities as laid down by Senate are clear and unambiguous, but it is suggested that transfer should only be recommended and approved from a course into the same or similar course in the University.</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CONCLUSION</a:t>
            </a:r>
            <a:r>
              <a:rPr lang="en-US" dirty="0"/>
              <a:t/>
            </a:r>
            <a:br>
              <a:rPr lang="en-US" dirty="0"/>
            </a:b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a:t>While the CODs is poised to serve the interests of the University through Senate, it is recommended that the Committee in the near future should have an office or a secretariat with a Secretary and supporting staff with a budget as it is done in some Universities to avoid lumping the business of the Committee with that of the Faculties as it is presently being done.</a:t>
            </a:r>
          </a:p>
          <a:p>
            <a:r>
              <a:rPr lang="en-US" dirty="0" smtClean="0"/>
              <a:t>The </a:t>
            </a:r>
            <a:r>
              <a:rPr lang="en-US" dirty="0"/>
              <a:t>foregoing </a:t>
            </a:r>
            <a:r>
              <a:rPr lang="en-US" dirty="0" smtClean="0"/>
              <a:t>measures, </a:t>
            </a:r>
            <a:r>
              <a:rPr lang="en-US" dirty="0"/>
              <a:t>if properly harnessed, will address the challenges associated with the academic calendar, change of course, attendance at conferences and transfer from other Universities with the view to </a:t>
            </a:r>
            <a:r>
              <a:rPr lang="en-US" dirty="0" smtClean="0"/>
              <a:t>repositioning </a:t>
            </a:r>
            <a:r>
              <a:rPr lang="en-US" dirty="0"/>
              <a:t>the University as a 21</a:t>
            </a:r>
            <a:r>
              <a:rPr lang="en-US" baseline="30000" dirty="0"/>
              <a:t>st</a:t>
            </a:r>
            <a:r>
              <a:rPr lang="en-US" dirty="0"/>
              <a:t> century World class University.</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pPr>
              <a:buNone/>
            </a:pPr>
            <a:r>
              <a:rPr lang="en-US" sz="11500" dirty="0"/>
              <a:t>Thanks for listening.</a:t>
            </a:r>
          </a:p>
          <a:p>
            <a:endParaRPr lang="en-US" sz="115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a:bodyPr>
          <a:lstStyle/>
          <a:p>
            <a:pPr>
              <a:buNone/>
            </a:pPr>
            <a:r>
              <a:rPr lang="en-US" sz="6000" b="1" dirty="0" smtClean="0"/>
              <a:t>  Prof  </a:t>
            </a:r>
            <a:r>
              <a:rPr lang="en-US" sz="6000" b="1" dirty="0" err="1"/>
              <a:t>Ifedayo</a:t>
            </a:r>
            <a:r>
              <a:rPr lang="en-US" sz="6000" b="1" dirty="0"/>
              <a:t> Timothy </a:t>
            </a:r>
            <a:r>
              <a:rPr lang="en-US" sz="6000" b="1" dirty="0" smtClean="0"/>
              <a:t>   </a:t>
            </a:r>
            <a:r>
              <a:rPr lang="en-US" sz="6000" b="1" dirty="0" err="1" smtClean="0"/>
              <a:t>Akomolede</a:t>
            </a:r>
            <a:endParaRPr lang="en-US" sz="6000" dirty="0"/>
          </a:p>
          <a:p>
            <a:pPr>
              <a:buNone/>
            </a:pPr>
            <a:r>
              <a:rPr lang="en-US" sz="6000" b="1" dirty="0" smtClean="0"/>
              <a:t>  Chairman</a:t>
            </a:r>
            <a:r>
              <a:rPr lang="en-US" sz="6000" b="1" dirty="0"/>
              <a:t>, </a:t>
            </a:r>
            <a:endParaRPr lang="en-US" sz="6000" b="1" dirty="0" smtClean="0"/>
          </a:p>
          <a:p>
            <a:pPr>
              <a:buNone/>
            </a:pPr>
            <a:r>
              <a:rPr lang="en-US" sz="6000" b="1" dirty="0"/>
              <a:t>	</a:t>
            </a:r>
            <a:r>
              <a:rPr lang="en-US" sz="6000" b="1" dirty="0" smtClean="0"/>
              <a:t>Committee </a:t>
            </a:r>
            <a:r>
              <a:rPr lang="en-US" sz="6000" b="1" dirty="0"/>
              <a:t>of Deans.</a:t>
            </a:r>
            <a:endParaRPr lang="en-US" sz="6000" dirty="0"/>
          </a:p>
          <a:p>
            <a:endParaRPr lang="en-US" sz="6000" dirty="0"/>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22</TotalTime>
  <Words>838</Words>
  <Application>Microsoft Office PowerPoint</Application>
  <PresentationFormat>On-screen Show (4:3)</PresentationFormat>
  <Paragraphs>48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Civic</vt:lpstr>
      <vt:lpstr> COMMITTEE OF DEANS PRESENTATION ON THE RUNNING OF UNINTERRUPTED AND SMOOTH ACADEMIC CALENDAR AND RELATED ACADEMIC ISSUES: CHALLENGES AND WAY FORWARD. </vt:lpstr>
      <vt:lpstr> INTRODUCTION </vt:lpstr>
      <vt:lpstr> Academic Calendar  </vt:lpstr>
      <vt:lpstr> Attendance at Local and International Conferences. </vt:lpstr>
      <vt:lpstr> Applications for change of Course </vt:lpstr>
      <vt:lpstr>Applications for change of Course (cont’d)</vt:lpstr>
      <vt:lpstr> SUGGESTIONS/WAY FORWARD </vt:lpstr>
      <vt:lpstr>SUGGESTIONS/WAY FORWARD (cont’d)</vt:lpstr>
      <vt:lpstr>SUGGESTIONS/WAY FORWARD (cont’d)</vt:lpstr>
      <vt:lpstr> CONCLUSION </vt:lpstr>
      <vt:lpstr>Slide 11</vt:lpstr>
      <vt:lpstr>Slide 12</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COMMITTEE OF DEANS PRESENTATION ON THE RUNNING OF UNINTERRUPTED AND SMOOTH ACADEMIC CALENDAR AND RELATED ACADEMIC ISSUES: CHALLENGES AND WAY FORWARD.</dc:title>
  <dc:creator>faculty of Law EKSU</dc:creator>
  <cp:lastModifiedBy>faculty of Law EKSU</cp:lastModifiedBy>
  <cp:revision>4</cp:revision>
  <dcterms:created xsi:type="dcterms:W3CDTF">2016-02-03T18:07:46Z</dcterms:created>
  <dcterms:modified xsi:type="dcterms:W3CDTF">2016-02-03T18:30:43Z</dcterms:modified>
</cp:coreProperties>
</file>