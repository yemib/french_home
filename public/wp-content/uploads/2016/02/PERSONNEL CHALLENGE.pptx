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9309100" cy="70532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128"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33943" cy="352663"/>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sz="quarter" idx="1"/>
          </p:nvPr>
        </p:nvSpPr>
        <p:spPr>
          <a:xfrm>
            <a:off x="5273003" y="0"/>
            <a:ext cx="4033943" cy="352663"/>
          </a:xfrm>
          <a:prstGeom prst="rect">
            <a:avLst/>
          </a:prstGeom>
        </p:spPr>
        <p:txBody>
          <a:bodyPr vert="horz" lIns="93497" tIns="46749" rIns="93497" bIns="46749" rtlCol="0"/>
          <a:lstStyle>
            <a:lvl1pPr algn="r">
              <a:defRPr sz="1200"/>
            </a:lvl1pPr>
          </a:lstStyle>
          <a:p>
            <a:fld id="{04EF3270-0AB5-40DA-AC60-4FE0C5753F30}" type="datetimeFigureOut">
              <a:rPr lang="en-US" smtClean="0"/>
              <a:pPr/>
              <a:t>2/2/2016</a:t>
            </a:fld>
            <a:endParaRPr lang="en-US"/>
          </a:p>
        </p:txBody>
      </p:sp>
      <p:sp>
        <p:nvSpPr>
          <p:cNvPr id="4" name="Footer Placeholder 3"/>
          <p:cNvSpPr>
            <a:spLocks noGrp="1"/>
          </p:cNvSpPr>
          <p:nvPr>
            <p:ph type="ftr" sz="quarter" idx="2"/>
          </p:nvPr>
        </p:nvSpPr>
        <p:spPr>
          <a:xfrm>
            <a:off x="0" y="6699376"/>
            <a:ext cx="4033943" cy="352663"/>
          </a:xfrm>
          <a:prstGeom prst="rect">
            <a:avLst/>
          </a:prstGeom>
        </p:spPr>
        <p:txBody>
          <a:bodyPr vert="horz" lIns="93497" tIns="46749" rIns="93497" bIns="46749" rtlCol="0" anchor="b"/>
          <a:lstStyle>
            <a:lvl1pPr algn="l">
              <a:defRPr sz="1200"/>
            </a:lvl1pPr>
          </a:lstStyle>
          <a:p>
            <a:endParaRPr lang="en-US"/>
          </a:p>
        </p:txBody>
      </p:sp>
      <p:sp>
        <p:nvSpPr>
          <p:cNvPr id="5" name="Slide Number Placeholder 4"/>
          <p:cNvSpPr>
            <a:spLocks noGrp="1"/>
          </p:cNvSpPr>
          <p:nvPr>
            <p:ph type="sldNum" sz="quarter" idx="3"/>
          </p:nvPr>
        </p:nvSpPr>
        <p:spPr>
          <a:xfrm>
            <a:off x="5273003" y="6699376"/>
            <a:ext cx="4033943" cy="352663"/>
          </a:xfrm>
          <a:prstGeom prst="rect">
            <a:avLst/>
          </a:prstGeom>
        </p:spPr>
        <p:txBody>
          <a:bodyPr vert="horz" lIns="93497" tIns="46749" rIns="93497" bIns="46749" rtlCol="0" anchor="b"/>
          <a:lstStyle>
            <a:lvl1pPr algn="r">
              <a:defRPr sz="1200"/>
            </a:lvl1pPr>
          </a:lstStyle>
          <a:p>
            <a:fld id="{12AD14F8-8FD9-4805-9D72-2119577B3494}"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33943" cy="352663"/>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5273003" y="0"/>
            <a:ext cx="4033943" cy="352663"/>
          </a:xfrm>
          <a:prstGeom prst="rect">
            <a:avLst/>
          </a:prstGeom>
        </p:spPr>
        <p:txBody>
          <a:bodyPr vert="horz" lIns="93497" tIns="46749" rIns="93497" bIns="46749" rtlCol="0"/>
          <a:lstStyle>
            <a:lvl1pPr algn="r">
              <a:defRPr sz="1200"/>
            </a:lvl1pPr>
          </a:lstStyle>
          <a:p>
            <a:fld id="{6B5D58E8-FCE1-4FA6-A29E-F5EAC9D8A263}" type="datetimeFigureOut">
              <a:rPr lang="en-US" smtClean="0"/>
              <a:pPr/>
              <a:t>2/2/2016</a:t>
            </a:fld>
            <a:endParaRPr lang="en-US"/>
          </a:p>
        </p:txBody>
      </p:sp>
      <p:sp>
        <p:nvSpPr>
          <p:cNvPr id="4" name="Slide Image Placeholder 3"/>
          <p:cNvSpPr>
            <a:spLocks noGrp="1" noRot="1" noChangeAspect="1"/>
          </p:cNvSpPr>
          <p:nvPr>
            <p:ph type="sldImg" idx="2"/>
          </p:nvPr>
        </p:nvSpPr>
        <p:spPr>
          <a:xfrm>
            <a:off x="2892425" y="528638"/>
            <a:ext cx="3527425" cy="2646362"/>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930911" y="3350301"/>
            <a:ext cx="7447279" cy="3173968"/>
          </a:xfrm>
          <a:prstGeom prst="rect">
            <a:avLst/>
          </a:prstGeom>
        </p:spPr>
        <p:txBody>
          <a:bodyPr vert="horz" lIns="93497" tIns="46749" rIns="93497" bIns="4674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699376"/>
            <a:ext cx="4033943" cy="352663"/>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5273003" y="6699376"/>
            <a:ext cx="4033943" cy="352663"/>
          </a:xfrm>
          <a:prstGeom prst="rect">
            <a:avLst/>
          </a:prstGeom>
        </p:spPr>
        <p:txBody>
          <a:bodyPr vert="horz" lIns="93497" tIns="46749" rIns="93497" bIns="46749" rtlCol="0" anchor="b"/>
          <a:lstStyle>
            <a:lvl1pPr algn="r">
              <a:defRPr sz="1200"/>
            </a:lvl1pPr>
          </a:lstStyle>
          <a:p>
            <a:fld id="{A4541F92-42BE-4992-BDEB-7A8C5587468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293BFFF-00F7-4A57-8A3E-5C786AB7B042}" type="datetime1">
              <a:rPr lang="en-US" smtClean="0"/>
              <a:pPr/>
              <a:t>2/2/2016</a:t>
            </a:fld>
            <a:endParaRPr lang="en-US"/>
          </a:p>
        </p:txBody>
      </p:sp>
      <p:sp>
        <p:nvSpPr>
          <p:cNvPr id="5" name="Footer Placeholder 4"/>
          <p:cNvSpPr>
            <a:spLocks noGrp="1"/>
          </p:cNvSpPr>
          <p:nvPr>
            <p:ph type="ftr" sz="quarter" idx="11"/>
          </p:nvPr>
        </p:nvSpPr>
        <p:spPr/>
        <p:txBody>
          <a:bodyPr/>
          <a:lstStyle/>
          <a:p>
            <a:r>
              <a:rPr lang="en-US" smtClean="0"/>
              <a:t>Mr. Adeoya Babajide Adesola,  Director of Personnel</a:t>
            </a:r>
            <a:endParaRPr lang="en-US"/>
          </a:p>
        </p:txBody>
      </p:sp>
      <p:sp>
        <p:nvSpPr>
          <p:cNvPr id="6" name="Slide Number Placeholder 5"/>
          <p:cNvSpPr>
            <a:spLocks noGrp="1"/>
          </p:cNvSpPr>
          <p:nvPr>
            <p:ph type="sldNum" sz="quarter" idx="12"/>
          </p:nvPr>
        </p:nvSpPr>
        <p:spPr/>
        <p:txBody>
          <a:bodyPr/>
          <a:lstStyle/>
          <a:p>
            <a:fld id="{936B4CCB-AA54-445F-B97A-D90E05E9C5B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D740B0-1D1D-490B-BCFE-7D9F39F820BF}" type="datetime1">
              <a:rPr lang="en-US" smtClean="0"/>
              <a:pPr/>
              <a:t>2/2/2016</a:t>
            </a:fld>
            <a:endParaRPr lang="en-US"/>
          </a:p>
        </p:txBody>
      </p:sp>
      <p:sp>
        <p:nvSpPr>
          <p:cNvPr id="5" name="Footer Placeholder 4"/>
          <p:cNvSpPr>
            <a:spLocks noGrp="1"/>
          </p:cNvSpPr>
          <p:nvPr>
            <p:ph type="ftr" sz="quarter" idx="11"/>
          </p:nvPr>
        </p:nvSpPr>
        <p:spPr/>
        <p:txBody>
          <a:bodyPr/>
          <a:lstStyle/>
          <a:p>
            <a:r>
              <a:rPr lang="en-US" smtClean="0"/>
              <a:t>Mr. Adeoya Babajide Adesola,  Director of Personnel</a:t>
            </a:r>
            <a:endParaRPr lang="en-US"/>
          </a:p>
        </p:txBody>
      </p:sp>
      <p:sp>
        <p:nvSpPr>
          <p:cNvPr id="6" name="Slide Number Placeholder 5"/>
          <p:cNvSpPr>
            <a:spLocks noGrp="1"/>
          </p:cNvSpPr>
          <p:nvPr>
            <p:ph type="sldNum" sz="quarter" idx="12"/>
          </p:nvPr>
        </p:nvSpPr>
        <p:spPr/>
        <p:txBody>
          <a:bodyPr/>
          <a:lstStyle/>
          <a:p>
            <a:fld id="{936B4CCB-AA54-445F-B97A-D90E05E9C5B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6285492-B94A-4672-B1E8-D7E82677EA84}" type="datetime1">
              <a:rPr lang="en-US" smtClean="0"/>
              <a:pPr/>
              <a:t>2/2/2016</a:t>
            </a:fld>
            <a:endParaRPr lang="en-US"/>
          </a:p>
        </p:txBody>
      </p:sp>
      <p:sp>
        <p:nvSpPr>
          <p:cNvPr id="5" name="Footer Placeholder 4"/>
          <p:cNvSpPr>
            <a:spLocks noGrp="1"/>
          </p:cNvSpPr>
          <p:nvPr>
            <p:ph type="ftr" sz="quarter" idx="11"/>
          </p:nvPr>
        </p:nvSpPr>
        <p:spPr/>
        <p:txBody>
          <a:bodyPr/>
          <a:lstStyle/>
          <a:p>
            <a:r>
              <a:rPr lang="en-US" smtClean="0"/>
              <a:t>Mr. Adeoya Babajide Adesola,  Director of Personnel</a:t>
            </a:r>
            <a:endParaRPr lang="en-US"/>
          </a:p>
        </p:txBody>
      </p:sp>
      <p:sp>
        <p:nvSpPr>
          <p:cNvPr id="6" name="Slide Number Placeholder 5"/>
          <p:cNvSpPr>
            <a:spLocks noGrp="1"/>
          </p:cNvSpPr>
          <p:nvPr>
            <p:ph type="sldNum" sz="quarter" idx="12"/>
          </p:nvPr>
        </p:nvSpPr>
        <p:spPr/>
        <p:txBody>
          <a:bodyPr/>
          <a:lstStyle/>
          <a:p>
            <a:fld id="{936B4CCB-AA54-445F-B97A-D90E05E9C5B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DB69E72-C1BC-4843-8A13-C8A74177E013}" type="datetime1">
              <a:rPr lang="en-US" smtClean="0"/>
              <a:pPr/>
              <a:t>2/2/2016</a:t>
            </a:fld>
            <a:endParaRPr lang="en-US"/>
          </a:p>
        </p:txBody>
      </p:sp>
      <p:sp>
        <p:nvSpPr>
          <p:cNvPr id="6" name="Footer Placeholder 5"/>
          <p:cNvSpPr>
            <a:spLocks noGrp="1"/>
          </p:cNvSpPr>
          <p:nvPr>
            <p:ph type="ftr" sz="quarter" idx="11"/>
          </p:nvPr>
        </p:nvSpPr>
        <p:spPr/>
        <p:txBody>
          <a:bodyPr/>
          <a:lstStyle/>
          <a:p>
            <a:r>
              <a:rPr lang="en-US" smtClean="0"/>
              <a:t>Mr. Adeoya Babajide Adesola,  Director of Personnel</a:t>
            </a:r>
            <a:endParaRPr lang="en-US"/>
          </a:p>
        </p:txBody>
      </p:sp>
      <p:sp>
        <p:nvSpPr>
          <p:cNvPr id="7" name="Slide Number Placeholder 6"/>
          <p:cNvSpPr>
            <a:spLocks noGrp="1"/>
          </p:cNvSpPr>
          <p:nvPr>
            <p:ph type="sldNum" sz="quarter" idx="12"/>
          </p:nvPr>
        </p:nvSpPr>
        <p:spPr/>
        <p:txBody>
          <a:bodyPr/>
          <a:lstStyle/>
          <a:p>
            <a:fld id="{936B4CCB-AA54-445F-B97A-D90E05E9C5B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9619BF-1F94-48B3-B9C3-C0C01462C6B6}" type="datetime1">
              <a:rPr lang="en-US" smtClean="0"/>
              <a:pPr/>
              <a:t>2/2/2016</a:t>
            </a:fld>
            <a:endParaRPr lang="en-US"/>
          </a:p>
        </p:txBody>
      </p:sp>
      <p:sp>
        <p:nvSpPr>
          <p:cNvPr id="8" name="Footer Placeholder 7"/>
          <p:cNvSpPr>
            <a:spLocks noGrp="1"/>
          </p:cNvSpPr>
          <p:nvPr>
            <p:ph type="ftr" sz="quarter" idx="11"/>
          </p:nvPr>
        </p:nvSpPr>
        <p:spPr/>
        <p:txBody>
          <a:bodyPr/>
          <a:lstStyle/>
          <a:p>
            <a:r>
              <a:rPr lang="en-US" smtClean="0"/>
              <a:t>Mr. Adeoya Babajide Adesola,  Director of Personnel</a:t>
            </a:r>
            <a:endParaRPr lang="en-US"/>
          </a:p>
        </p:txBody>
      </p:sp>
      <p:sp>
        <p:nvSpPr>
          <p:cNvPr id="9" name="Slide Number Placeholder 8"/>
          <p:cNvSpPr>
            <a:spLocks noGrp="1"/>
          </p:cNvSpPr>
          <p:nvPr>
            <p:ph type="sldNum" sz="quarter" idx="12"/>
          </p:nvPr>
        </p:nvSpPr>
        <p:spPr/>
        <p:txBody>
          <a:bodyPr/>
          <a:lstStyle/>
          <a:p>
            <a:fld id="{936B4CCB-AA54-445F-B97A-D90E05E9C5B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CFB402B-FE0E-41AE-9692-3CD30595E041}" type="datetime1">
              <a:rPr lang="en-US" smtClean="0"/>
              <a:pPr/>
              <a:t>2/2/2016</a:t>
            </a:fld>
            <a:endParaRPr lang="en-US"/>
          </a:p>
        </p:txBody>
      </p:sp>
      <p:sp>
        <p:nvSpPr>
          <p:cNvPr id="4" name="Footer Placeholder 3"/>
          <p:cNvSpPr>
            <a:spLocks noGrp="1"/>
          </p:cNvSpPr>
          <p:nvPr>
            <p:ph type="ftr" sz="quarter" idx="11"/>
          </p:nvPr>
        </p:nvSpPr>
        <p:spPr/>
        <p:txBody>
          <a:bodyPr/>
          <a:lstStyle/>
          <a:p>
            <a:r>
              <a:rPr lang="en-US" smtClean="0"/>
              <a:t>Mr. Adeoya Babajide Adesola,  Director of Personnel</a:t>
            </a:r>
            <a:endParaRPr lang="en-US"/>
          </a:p>
        </p:txBody>
      </p:sp>
      <p:sp>
        <p:nvSpPr>
          <p:cNvPr id="5" name="Slide Number Placeholder 4"/>
          <p:cNvSpPr>
            <a:spLocks noGrp="1"/>
          </p:cNvSpPr>
          <p:nvPr>
            <p:ph type="sldNum" sz="quarter" idx="12"/>
          </p:nvPr>
        </p:nvSpPr>
        <p:spPr/>
        <p:txBody>
          <a:bodyPr/>
          <a:lstStyle/>
          <a:p>
            <a:fld id="{936B4CCB-AA54-445F-B97A-D90E05E9C5B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DF1931-6598-413F-BD5A-267DC1A781A7}" type="datetime1">
              <a:rPr lang="en-US" smtClean="0"/>
              <a:pPr/>
              <a:t>2/2/2016</a:t>
            </a:fld>
            <a:endParaRPr lang="en-US"/>
          </a:p>
        </p:txBody>
      </p:sp>
      <p:sp>
        <p:nvSpPr>
          <p:cNvPr id="3" name="Footer Placeholder 2"/>
          <p:cNvSpPr>
            <a:spLocks noGrp="1"/>
          </p:cNvSpPr>
          <p:nvPr>
            <p:ph type="ftr" sz="quarter" idx="11"/>
          </p:nvPr>
        </p:nvSpPr>
        <p:spPr/>
        <p:txBody>
          <a:bodyPr/>
          <a:lstStyle/>
          <a:p>
            <a:r>
              <a:rPr lang="en-US" smtClean="0"/>
              <a:t>Mr. Adeoya Babajide Adesola,  Director of Personnel</a:t>
            </a:r>
            <a:endParaRPr lang="en-US"/>
          </a:p>
        </p:txBody>
      </p:sp>
      <p:sp>
        <p:nvSpPr>
          <p:cNvPr id="4" name="Slide Number Placeholder 3"/>
          <p:cNvSpPr>
            <a:spLocks noGrp="1"/>
          </p:cNvSpPr>
          <p:nvPr>
            <p:ph type="sldNum" sz="quarter" idx="12"/>
          </p:nvPr>
        </p:nvSpPr>
        <p:spPr/>
        <p:txBody>
          <a:bodyPr/>
          <a:lstStyle/>
          <a:p>
            <a:fld id="{936B4CCB-AA54-445F-B97A-D90E05E9C5B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3642A9-3D15-460D-9432-FCA543A2950D}" type="datetime1">
              <a:rPr lang="en-US" smtClean="0"/>
              <a:pPr/>
              <a:t>2/2/2016</a:t>
            </a:fld>
            <a:endParaRPr lang="en-US"/>
          </a:p>
        </p:txBody>
      </p:sp>
      <p:sp>
        <p:nvSpPr>
          <p:cNvPr id="6" name="Footer Placeholder 5"/>
          <p:cNvSpPr>
            <a:spLocks noGrp="1"/>
          </p:cNvSpPr>
          <p:nvPr>
            <p:ph type="ftr" sz="quarter" idx="11"/>
          </p:nvPr>
        </p:nvSpPr>
        <p:spPr/>
        <p:txBody>
          <a:bodyPr/>
          <a:lstStyle/>
          <a:p>
            <a:r>
              <a:rPr lang="en-US" smtClean="0"/>
              <a:t>Mr. Adeoya Babajide Adesola,  Director of Personnel</a:t>
            </a:r>
            <a:endParaRPr lang="en-US"/>
          </a:p>
        </p:txBody>
      </p:sp>
      <p:sp>
        <p:nvSpPr>
          <p:cNvPr id="7" name="Slide Number Placeholder 6"/>
          <p:cNvSpPr>
            <a:spLocks noGrp="1"/>
          </p:cNvSpPr>
          <p:nvPr>
            <p:ph type="sldNum" sz="quarter" idx="12"/>
          </p:nvPr>
        </p:nvSpPr>
        <p:spPr/>
        <p:txBody>
          <a:bodyPr/>
          <a:lstStyle/>
          <a:p>
            <a:fld id="{936B4CCB-AA54-445F-B97A-D90E05E9C5B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F6D773-2EC1-410B-A609-8527EBD55078}" type="datetime1">
              <a:rPr lang="en-US" smtClean="0"/>
              <a:pPr/>
              <a:t>2/2/2016</a:t>
            </a:fld>
            <a:endParaRPr lang="en-US"/>
          </a:p>
        </p:txBody>
      </p:sp>
      <p:sp>
        <p:nvSpPr>
          <p:cNvPr id="6" name="Footer Placeholder 5"/>
          <p:cNvSpPr>
            <a:spLocks noGrp="1"/>
          </p:cNvSpPr>
          <p:nvPr>
            <p:ph type="ftr" sz="quarter" idx="11"/>
          </p:nvPr>
        </p:nvSpPr>
        <p:spPr/>
        <p:txBody>
          <a:bodyPr/>
          <a:lstStyle/>
          <a:p>
            <a:r>
              <a:rPr lang="en-US" smtClean="0"/>
              <a:t>Mr. Adeoya Babajide Adesola,  Director of Personnel</a:t>
            </a:r>
            <a:endParaRPr lang="en-US"/>
          </a:p>
        </p:txBody>
      </p:sp>
      <p:sp>
        <p:nvSpPr>
          <p:cNvPr id="7" name="Slide Number Placeholder 6"/>
          <p:cNvSpPr>
            <a:spLocks noGrp="1"/>
          </p:cNvSpPr>
          <p:nvPr>
            <p:ph type="sldNum" sz="quarter" idx="12"/>
          </p:nvPr>
        </p:nvSpPr>
        <p:spPr/>
        <p:txBody>
          <a:bodyPr/>
          <a:lstStyle/>
          <a:p>
            <a:fld id="{936B4CCB-AA54-445F-B97A-D90E05E9C5B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A24A53-BD56-4C52-9FDB-4351383764FA}" type="datetime1">
              <a:rPr lang="en-US" smtClean="0"/>
              <a:pPr/>
              <a:t>2/2/2016</a:t>
            </a:fld>
            <a:endParaRPr lang="en-US"/>
          </a:p>
        </p:txBody>
      </p:sp>
      <p:sp>
        <p:nvSpPr>
          <p:cNvPr id="5" name="Footer Placeholder 4"/>
          <p:cNvSpPr>
            <a:spLocks noGrp="1"/>
          </p:cNvSpPr>
          <p:nvPr>
            <p:ph type="ftr" sz="quarter" idx="11"/>
          </p:nvPr>
        </p:nvSpPr>
        <p:spPr/>
        <p:txBody>
          <a:bodyPr/>
          <a:lstStyle/>
          <a:p>
            <a:r>
              <a:rPr lang="en-US" smtClean="0"/>
              <a:t>Mr. Adeoya Babajide Adesola,  Director of Personnel</a:t>
            </a:r>
            <a:endParaRPr lang="en-US"/>
          </a:p>
        </p:txBody>
      </p:sp>
      <p:sp>
        <p:nvSpPr>
          <p:cNvPr id="6" name="Slide Number Placeholder 5"/>
          <p:cNvSpPr>
            <a:spLocks noGrp="1"/>
          </p:cNvSpPr>
          <p:nvPr>
            <p:ph type="sldNum" sz="quarter" idx="12"/>
          </p:nvPr>
        </p:nvSpPr>
        <p:spPr/>
        <p:txBody>
          <a:bodyPr/>
          <a:lstStyle/>
          <a:p>
            <a:fld id="{936B4CCB-AA54-445F-B97A-D90E05E9C5B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7F0DFB-C155-4A8A-BACF-D9D7F5F10F29}" type="datetime1">
              <a:rPr lang="en-US" smtClean="0"/>
              <a:pPr/>
              <a:t>2/2/2016</a:t>
            </a:fld>
            <a:endParaRPr lang="en-US"/>
          </a:p>
        </p:txBody>
      </p:sp>
      <p:sp>
        <p:nvSpPr>
          <p:cNvPr id="5" name="Footer Placeholder 4"/>
          <p:cNvSpPr>
            <a:spLocks noGrp="1"/>
          </p:cNvSpPr>
          <p:nvPr>
            <p:ph type="ftr" sz="quarter" idx="11"/>
          </p:nvPr>
        </p:nvSpPr>
        <p:spPr/>
        <p:txBody>
          <a:bodyPr/>
          <a:lstStyle/>
          <a:p>
            <a:r>
              <a:rPr lang="en-US" smtClean="0"/>
              <a:t>Mr. Adeoya Babajide Adesola,  Director of Personnel</a:t>
            </a:r>
            <a:endParaRPr lang="en-US"/>
          </a:p>
        </p:txBody>
      </p:sp>
      <p:sp>
        <p:nvSpPr>
          <p:cNvPr id="6" name="Slide Number Placeholder 5"/>
          <p:cNvSpPr>
            <a:spLocks noGrp="1"/>
          </p:cNvSpPr>
          <p:nvPr>
            <p:ph type="sldNum" sz="quarter" idx="12"/>
          </p:nvPr>
        </p:nvSpPr>
        <p:spPr/>
        <p:txBody>
          <a:bodyPr/>
          <a:lstStyle/>
          <a:p>
            <a:fld id="{936B4CCB-AA54-445F-B97A-D90E05E9C5B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F0D7C3-ED3B-41D7-9F44-213731BCABDE}" type="datetime1">
              <a:rPr lang="en-US" smtClean="0"/>
              <a:pPr/>
              <a:t>2/2/2016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Mr. Adeoya Babajide Adesola,  Director of Personnel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6B4CCB-AA54-445F-B97A-D90E05E9C5B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eksu.edu.ng/" TargetMode="External"/><Relationship Id="rId2" Type="http://schemas.openxmlformats.org/officeDocument/2006/relationships/hyperlink" Target="http://www.unad.edu.n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96975"/>
            <a:ext cx="7772400" cy="1470025"/>
          </a:xfrm>
        </p:spPr>
        <p:txBody>
          <a:bodyPr>
            <a:normAutofit fontScale="90000"/>
          </a:bodyPr>
          <a:lstStyle/>
          <a:p>
            <a:r>
              <a:rPr lang="en-GB" b="1" dirty="0"/>
              <a:t>THE PERSONNEL STRENGTH AND THE STAFF TO STUDENTS RATIO IN THE UNIVERSITY: CHALLENGES AND WAY </a:t>
            </a:r>
            <a:r>
              <a:rPr lang="en-GB" b="1" dirty="0" smtClean="0"/>
              <a:t>FORWARD</a:t>
            </a:r>
            <a:endParaRPr lang="en-US" dirty="0"/>
          </a:p>
        </p:txBody>
      </p:sp>
      <p:sp>
        <p:nvSpPr>
          <p:cNvPr id="3" name="Subtitle 2"/>
          <p:cNvSpPr>
            <a:spLocks noGrp="1"/>
          </p:cNvSpPr>
          <p:nvPr>
            <p:ph type="subTitle" idx="1"/>
          </p:nvPr>
        </p:nvSpPr>
        <p:spPr/>
        <p:txBody>
          <a:bodyPr>
            <a:normAutofit fontScale="62500" lnSpcReduction="20000"/>
          </a:bodyPr>
          <a:lstStyle/>
          <a:p>
            <a:r>
              <a:rPr lang="en-GB" b="1" dirty="0" smtClean="0"/>
              <a:t>BY</a:t>
            </a:r>
          </a:p>
          <a:p>
            <a:r>
              <a:rPr lang="en-GB" b="1" dirty="0" smtClean="0"/>
              <a:t>MR</a:t>
            </a:r>
            <a:r>
              <a:rPr lang="en-GB" b="1" dirty="0"/>
              <a:t>. ADEOYA BABAJIDE ADESOLA</a:t>
            </a:r>
            <a:endParaRPr lang="en-US" b="1" dirty="0"/>
          </a:p>
          <a:p>
            <a:r>
              <a:rPr lang="en-GB" i="1" dirty="0" smtClean="0"/>
              <a:t>Director Of Personnel</a:t>
            </a:r>
          </a:p>
          <a:p>
            <a:endParaRPr lang="en-US" dirty="0" smtClean="0"/>
          </a:p>
          <a:p>
            <a:r>
              <a:rPr lang="en-GB" sz="2600" dirty="0" smtClean="0"/>
              <a:t>Being A Paper Presented At The Academic Summit Of The </a:t>
            </a:r>
            <a:r>
              <a:rPr lang="en-GB" sz="2600" dirty="0" err="1" smtClean="0"/>
              <a:t>Ekiti</a:t>
            </a:r>
            <a:r>
              <a:rPr lang="en-GB" sz="2600" dirty="0" smtClean="0"/>
              <a:t> State University on Wednesday 3</a:t>
            </a:r>
            <a:r>
              <a:rPr lang="en-GB" sz="2600" baseline="30000" dirty="0" smtClean="0"/>
              <a:t>rd</a:t>
            </a:r>
            <a:r>
              <a:rPr lang="en-GB" sz="2600" dirty="0" smtClean="0"/>
              <a:t> February, </a:t>
            </a:r>
            <a:r>
              <a:rPr lang="en-GB" sz="2600" dirty="0"/>
              <a:t>2016</a:t>
            </a:r>
            <a:endParaRPr lang="en-US" dirty="0"/>
          </a:p>
        </p:txBody>
      </p:sp>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pPr marL="0" indent="0" algn="just">
              <a:buNone/>
            </a:pPr>
            <a:r>
              <a:rPr lang="en-GB" dirty="0"/>
              <a:t>History has not been kind to reveal the actual background that led to the agitation of the Establishment of the University in 1982. Mind you, </a:t>
            </a:r>
            <a:r>
              <a:rPr lang="en-GB" dirty="0" err="1"/>
              <a:t>Ekiti</a:t>
            </a:r>
            <a:r>
              <a:rPr lang="en-GB" dirty="0"/>
              <a:t> produced the first graduate in 1897 and this can be verified again, </a:t>
            </a:r>
            <a:r>
              <a:rPr lang="en-GB" dirty="0" err="1"/>
              <a:t>Ekiti</a:t>
            </a:r>
            <a:r>
              <a:rPr lang="en-GB" dirty="0"/>
              <a:t> produced a large chunk of graduates as from 1946 and as far back early 1950’s most communities added more in trickles. According to Late Chief </a:t>
            </a:r>
            <a:r>
              <a:rPr lang="en-GB" dirty="0" err="1"/>
              <a:t>Akintola</a:t>
            </a:r>
            <a:r>
              <a:rPr lang="en-GB" dirty="0"/>
              <a:t> “</a:t>
            </a:r>
            <a:r>
              <a:rPr lang="en-GB" dirty="0" err="1"/>
              <a:t>Ekiti</a:t>
            </a:r>
            <a:r>
              <a:rPr lang="en-GB" dirty="0"/>
              <a:t> </a:t>
            </a:r>
            <a:r>
              <a:rPr lang="en-GB" dirty="0" err="1"/>
              <a:t>nkawe</a:t>
            </a:r>
            <a:r>
              <a:rPr lang="en-GB" dirty="0"/>
              <a:t>”</a:t>
            </a:r>
            <a:endParaRPr lang="en-US" dirty="0"/>
          </a:p>
        </p:txBody>
      </p:sp>
      <p:sp>
        <p:nvSpPr>
          <p:cNvPr id="4" name="Slide Number Placeholder 3"/>
          <p:cNvSpPr>
            <a:spLocks noGrp="1"/>
          </p:cNvSpPr>
          <p:nvPr>
            <p:ph type="sldNum" sz="quarter" idx="12"/>
          </p:nvPr>
        </p:nvSpPr>
        <p:spPr/>
        <p:txBody>
          <a:bodyPr/>
          <a:lstStyle/>
          <a:p>
            <a:fld id="{936B4CCB-AA54-445F-B97A-D90E05E9C5B1}" type="slidenum">
              <a:rPr lang="en-US" smtClean="0"/>
              <a:pPr/>
              <a:t>2</a:t>
            </a:fld>
            <a:endParaRPr lang="en-US"/>
          </a:p>
        </p:txBody>
      </p:sp>
      <p:sp>
        <p:nvSpPr>
          <p:cNvPr id="5" name="Footer Placeholder 4"/>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t>BRIEF HISTORY</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GB" dirty="0" smtClean="0"/>
              <a:t>The </a:t>
            </a:r>
            <a:r>
              <a:rPr lang="en-GB" dirty="0"/>
              <a:t>University was established in March 1982. The information about the University is highlighted below and it has been </a:t>
            </a:r>
            <a:r>
              <a:rPr lang="en-GB" dirty="0" err="1"/>
              <a:t>overflopped</a:t>
            </a:r>
            <a:r>
              <a:rPr lang="en-GB" dirty="0"/>
              <a:t>.</a:t>
            </a:r>
            <a:endParaRPr lang="en-US" dirty="0"/>
          </a:p>
          <a:p>
            <a:r>
              <a:rPr lang="en-GB" dirty="0"/>
              <a:t>Former names: </a:t>
            </a:r>
            <a:r>
              <a:rPr lang="en-GB" dirty="0" err="1"/>
              <a:t>Obafemi</a:t>
            </a:r>
            <a:r>
              <a:rPr lang="en-GB" dirty="0"/>
              <a:t> </a:t>
            </a:r>
            <a:r>
              <a:rPr lang="en-GB" dirty="0" err="1"/>
              <a:t>Awolowo</a:t>
            </a:r>
            <a:r>
              <a:rPr lang="en-GB" dirty="0"/>
              <a:t> University (1982), </a:t>
            </a:r>
            <a:r>
              <a:rPr lang="en-GB" dirty="0" err="1"/>
              <a:t>Ondo</a:t>
            </a:r>
            <a:r>
              <a:rPr lang="en-GB" dirty="0"/>
              <a:t> State University(1985), University of Ado-</a:t>
            </a:r>
            <a:r>
              <a:rPr lang="en-GB" dirty="0" err="1"/>
              <a:t>Ekiti</a:t>
            </a:r>
            <a:r>
              <a:rPr lang="en-GB" dirty="0"/>
              <a:t> (1999), </a:t>
            </a:r>
            <a:r>
              <a:rPr lang="en-GB" dirty="0" err="1"/>
              <a:t>Ekiti</a:t>
            </a:r>
            <a:r>
              <a:rPr lang="en-GB" dirty="0"/>
              <a:t> State University, Ado </a:t>
            </a:r>
            <a:r>
              <a:rPr lang="en-GB" dirty="0" err="1"/>
              <a:t>Ekiti</a:t>
            </a:r>
            <a:r>
              <a:rPr lang="en-GB" dirty="0"/>
              <a:t> (2011)</a:t>
            </a:r>
            <a:endParaRPr lang="en-US" dirty="0"/>
          </a:p>
          <a:p>
            <a:r>
              <a:rPr lang="en-GB" dirty="0" err="1"/>
              <a:t>Type:State</a:t>
            </a:r>
            <a:r>
              <a:rPr lang="en-GB" dirty="0"/>
              <a:t>-owned University</a:t>
            </a:r>
            <a:endParaRPr lang="en-US" dirty="0"/>
          </a:p>
          <a:p>
            <a:r>
              <a:rPr lang="en-GB" dirty="0"/>
              <a:t>Established: 1982 </a:t>
            </a:r>
            <a:endParaRPr lang="en-US" dirty="0"/>
          </a:p>
          <a:p>
            <a:r>
              <a:rPr lang="en-GB" dirty="0"/>
              <a:t>Chairman: Prince </a:t>
            </a:r>
            <a:r>
              <a:rPr lang="en-GB" dirty="0" err="1"/>
              <a:t>DayoAdeyeye</a:t>
            </a:r>
            <a:endParaRPr lang="en-US" dirty="0"/>
          </a:p>
          <a:p>
            <a:r>
              <a:rPr lang="en-GB" dirty="0"/>
              <a:t>Vice-Chancellor: Professor Samuel </a:t>
            </a:r>
            <a:r>
              <a:rPr lang="en-GB" dirty="0" err="1"/>
              <a:t>Oye</a:t>
            </a:r>
            <a:r>
              <a:rPr lang="en-GB" dirty="0"/>
              <a:t> </a:t>
            </a:r>
            <a:r>
              <a:rPr lang="en-GB" dirty="0" err="1"/>
              <a:t>Bandele</a:t>
            </a:r>
            <a:endParaRPr lang="en-US" dirty="0"/>
          </a:p>
          <a:p>
            <a:r>
              <a:rPr lang="en-GB" dirty="0"/>
              <a:t>Students: 25,000</a:t>
            </a:r>
            <a:endParaRPr lang="en-US" dirty="0"/>
          </a:p>
          <a:p>
            <a:r>
              <a:rPr lang="en-GB" dirty="0"/>
              <a:t>Undergraduates: 23,000</a:t>
            </a:r>
            <a:endParaRPr lang="en-US" dirty="0"/>
          </a:p>
          <a:p>
            <a:r>
              <a:rPr lang="en-GB" dirty="0"/>
              <a:t>Postgraduates: 2,000</a:t>
            </a:r>
            <a:endParaRPr lang="en-US" dirty="0"/>
          </a:p>
          <a:p>
            <a:r>
              <a:rPr lang="en-GB" dirty="0"/>
              <a:t>Location: Ado-</a:t>
            </a:r>
            <a:r>
              <a:rPr lang="en-GB" dirty="0" err="1"/>
              <a:t>Ekiti</a:t>
            </a:r>
            <a:r>
              <a:rPr lang="en-GB" dirty="0"/>
              <a:t>, </a:t>
            </a:r>
            <a:r>
              <a:rPr lang="en-GB" dirty="0" err="1"/>
              <a:t>Ekiti</a:t>
            </a:r>
            <a:r>
              <a:rPr lang="en-GB" dirty="0"/>
              <a:t> State</a:t>
            </a:r>
            <a:endParaRPr lang="en-US" dirty="0"/>
          </a:p>
          <a:p>
            <a:r>
              <a:rPr lang="en-GB" dirty="0"/>
              <a:t>Website: </a:t>
            </a:r>
            <a:r>
              <a:rPr lang="en-GB" u="sng" dirty="0">
                <a:hlinkClick r:id="rId2"/>
              </a:rPr>
              <a:t>www.unad.edu.ng</a:t>
            </a:r>
            <a:r>
              <a:rPr lang="en-GB" dirty="0"/>
              <a:t>, </a:t>
            </a:r>
            <a:r>
              <a:rPr lang="en-GB" u="sng" dirty="0">
                <a:hlinkClick r:id="rId3"/>
              </a:rPr>
              <a:t>www.eksu.edu.ng</a:t>
            </a:r>
            <a:endParaRPr lang="en-US" dirty="0"/>
          </a:p>
          <a:p>
            <a:endParaRPr lang="en-US" dirty="0"/>
          </a:p>
        </p:txBody>
      </p:sp>
      <p:sp>
        <p:nvSpPr>
          <p:cNvPr id="4" name="Slide Number Placeholder 3"/>
          <p:cNvSpPr>
            <a:spLocks noGrp="1"/>
          </p:cNvSpPr>
          <p:nvPr>
            <p:ph type="sldNum" sz="quarter" idx="12"/>
          </p:nvPr>
        </p:nvSpPr>
        <p:spPr/>
        <p:txBody>
          <a:bodyPr/>
          <a:lstStyle/>
          <a:p>
            <a:fld id="{936B4CCB-AA54-445F-B97A-D90E05E9C5B1}" type="slidenum">
              <a:rPr lang="en-US" smtClean="0"/>
              <a:pPr/>
              <a:t>3</a:t>
            </a:fld>
            <a:endParaRPr lang="en-US"/>
          </a:p>
        </p:txBody>
      </p:sp>
      <p:sp>
        <p:nvSpPr>
          <p:cNvPr id="5" name="Footer Placeholder 4"/>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GB" b="1" u="sng" dirty="0"/>
              <a:t>Key Concepts and definition of terms</a:t>
            </a:r>
            <a:endParaRPr lang="en-US" dirty="0"/>
          </a:p>
          <a:p>
            <a:r>
              <a:rPr lang="en-GB" dirty="0"/>
              <a:t>Personnel Strength</a:t>
            </a:r>
            <a:endParaRPr lang="en-US" dirty="0"/>
          </a:p>
          <a:p>
            <a:r>
              <a:rPr lang="en-GB" dirty="0"/>
              <a:t>Staff Student Ratio</a:t>
            </a:r>
            <a:endParaRPr lang="en-US" dirty="0"/>
          </a:p>
          <a:p>
            <a:r>
              <a:rPr lang="en-GB" dirty="0"/>
              <a:t>The way forward</a:t>
            </a:r>
            <a:endParaRPr lang="en-US" dirty="0"/>
          </a:p>
          <a:p>
            <a:endParaRPr lang="en-US" dirty="0"/>
          </a:p>
        </p:txBody>
      </p:sp>
      <p:sp>
        <p:nvSpPr>
          <p:cNvPr id="4" name="Slide Number Placeholder 3"/>
          <p:cNvSpPr>
            <a:spLocks noGrp="1"/>
          </p:cNvSpPr>
          <p:nvPr>
            <p:ph type="sldNum" sz="quarter" idx="12"/>
          </p:nvPr>
        </p:nvSpPr>
        <p:spPr/>
        <p:txBody>
          <a:bodyPr/>
          <a:lstStyle/>
          <a:p>
            <a:fld id="{936B4CCB-AA54-445F-B97A-D90E05E9C5B1}" type="slidenum">
              <a:rPr lang="en-US" smtClean="0"/>
              <a:pPr/>
              <a:t>4</a:t>
            </a:fld>
            <a:endParaRPr lang="en-US"/>
          </a:p>
        </p:txBody>
      </p:sp>
      <p:sp>
        <p:nvSpPr>
          <p:cNvPr id="5" name="Footer Placeholder 4"/>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Personnel</a:t>
            </a:r>
            <a:endParaRPr lang="en-US" dirty="0"/>
          </a:p>
        </p:txBody>
      </p:sp>
      <p:sp>
        <p:nvSpPr>
          <p:cNvPr id="3" name="Content Placeholder 2"/>
          <p:cNvSpPr>
            <a:spLocks noGrp="1"/>
          </p:cNvSpPr>
          <p:nvPr>
            <p:ph idx="1"/>
          </p:nvPr>
        </p:nvSpPr>
        <p:spPr/>
        <p:txBody>
          <a:bodyPr>
            <a:normAutofit lnSpcReduction="10000"/>
          </a:bodyPr>
          <a:lstStyle/>
          <a:p>
            <a:pPr marL="0" indent="0" algn="just">
              <a:buNone/>
            </a:pPr>
            <a:r>
              <a:rPr lang="en-GB" dirty="0"/>
              <a:t>Personnel are the people who work for a particular company or organization. In this context, those who are legitimate workers of the University and are being paid by the University on a regular basis whose appointment are regular and who are sure of promotion, confirmation or renewal of contract appointment and who can face disciplinary action of such an institution. People who work for it</a:t>
            </a:r>
            <a:r>
              <a:rPr lang="en-GB" dirty="0" smtClean="0"/>
              <a:t>.</a:t>
            </a:r>
            <a:endParaRPr lang="en-US" dirty="0"/>
          </a:p>
        </p:txBody>
      </p:sp>
      <p:sp>
        <p:nvSpPr>
          <p:cNvPr id="4" name="Slide Number Placeholder 3"/>
          <p:cNvSpPr>
            <a:spLocks noGrp="1"/>
          </p:cNvSpPr>
          <p:nvPr>
            <p:ph type="sldNum" sz="quarter" idx="12"/>
          </p:nvPr>
        </p:nvSpPr>
        <p:spPr/>
        <p:txBody>
          <a:bodyPr/>
          <a:lstStyle/>
          <a:p>
            <a:fld id="{936B4CCB-AA54-445F-B97A-D90E05E9C5B1}" type="slidenum">
              <a:rPr lang="en-US" smtClean="0"/>
              <a:pPr/>
              <a:t>5</a:t>
            </a:fld>
            <a:endParaRPr lang="en-US"/>
          </a:p>
        </p:txBody>
      </p:sp>
      <p:sp>
        <p:nvSpPr>
          <p:cNvPr id="5" name="Footer Placeholder 4"/>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Personnel Strength</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GB" dirty="0" smtClean="0"/>
              <a:t>Here </a:t>
            </a:r>
            <a:r>
              <a:rPr lang="en-GB" dirty="0"/>
              <a:t>it will not be out of place to explain in a single term that the activities of personnel can be summarized as indicated below</a:t>
            </a:r>
            <a:endParaRPr lang="en-US" dirty="0"/>
          </a:p>
          <a:p>
            <a:pPr marL="0" indent="0">
              <a:buNone/>
            </a:pPr>
            <a:r>
              <a:rPr lang="en-GB" dirty="0"/>
              <a:t>Administrative discipline of hiring and developing employees so that they become more valuable to the organization. It includes</a:t>
            </a:r>
            <a:endParaRPr lang="en-US" dirty="0"/>
          </a:p>
          <a:p>
            <a:pPr marL="514350" indent="-514350">
              <a:buFont typeface="+mj-lt"/>
              <a:buAutoNum type="arabicParenR"/>
            </a:pPr>
            <a:r>
              <a:rPr lang="en-GB" dirty="0" smtClean="0"/>
              <a:t>conducting </a:t>
            </a:r>
            <a:r>
              <a:rPr lang="en-GB" dirty="0"/>
              <a:t>job analyses, </a:t>
            </a:r>
            <a:endParaRPr lang="en-US" dirty="0"/>
          </a:p>
          <a:p>
            <a:pPr marL="514350" indent="-514350">
              <a:buFont typeface="+mj-lt"/>
              <a:buAutoNum type="arabicParenR"/>
            </a:pPr>
            <a:r>
              <a:rPr lang="en-GB" dirty="0" smtClean="0"/>
              <a:t>planning </a:t>
            </a:r>
            <a:r>
              <a:rPr lang="en-GB" dirty="0"/>
              <a:t>personnel needs, and recruitment,</a:t>
            </a:r>
            <a:endParaRPr lang="en-US" dirty="0"/>
          </a:p>
          <a:p>
            <a:pPr marL="514350" indent="-514350">
              <a:buFont typeface="+mj-lt"/>
              <a:buAutoNum type="arabicParenR"/>
            </a:pPr>
            <a:r>
              <a:rPr lang="en-GB" dirty="0" smtClean="0"/>
              <a:t>selecting </a:t>
            </a:r>
            <a:r>
              <a:rPr lang="en-GB" dirty="0"/>
              <a:t>the right people for the job, </a:t>
            </a:r>
            <a:endParaRPr lang="en-US" dirty="0"/>
          </a:p>
          <a:p>
            <a:pPr marL="514350" indent="-514350">
              <a:buFont typeface="+mj-lt"/>
              <a:buAutoNum type="arabicParenR"/>
            </a:pPr>
            <a:r>
              <a:rPr lang="en-GB" dirty="0" smtClean="0"/>
              <a:t>orienting </a:t>
            </a:r>
            <a:r>
              <a:rPr lang="en-GB" dirty="0"/>
              <a:t>and training, </a:t>
            </a:r>
            <a:endParaRPr lang="en-US" dirty="0"/>
          </a:p>
          <a:p>
            <a:pPr marL="514350" indent="-514350">
              <a:buFont typeface="+mj-lt"/>
              <a:buAutoNum type="arabicParenR"/>
            </a:pPr>
            <a:r>
              <a:rPr lang="en-GB" dirty="0" smtClean="0"/>
              <a:t>determining </a:t>
            </a:r>
            <a:r>
              <a:rPr lang="en-GB" dirty="0"/>
              <a:t>and managing wages and salaries,</a:t>
            </a:r>
            <a:endParaRPr lang="en-US" dirty="0"/>
          </a:p>
          <a:p>
            <a:pPr marL="514350" indent="-514350">
              <a:buFont typeface="+mj-lt"/>
              <a:buAutoNum type="arabicParenR"/>
            </a:pPr>
            <a:r>
              <a:rPr lang="en-GB" dirty="0" smtClean="0"/>
              <a:t>providing </a:t>
            </a:r>
            <a:r>
              <a:rPr lang="en-GB" dirty="0"/>
              <a:t>benefits and incentives, </a:t>
            </a:r>
            <a:endParaRPr lang="en-US" dirty="0"/>
          </a:p>
          <a:p>
            <a:pPr marL="514350" indent="-514350">
              <a:buFont typeface="+mj-lt"/>
              <a:buAutoNum type="arabicParenR"/>
            </a:pPr>
            <a:r>
              <a:rPr lang="en-GB" dirty="0" smtClean="0"/>
              <a:t>appraising </a:t>
            </a:r>
            <a:r>
              <a:rPr lang="en-GB" dirty="0"/>
              <a:t>performance, </a:t>
            </a:r>
            <a:endParaRPr lang="en-US" dirty="0"/>
          </a:p>
          <a:p>
            <a:pPr marL="514350" indent="-514350">
              <a:buFont typeface="+mj-lt"/>
              <a:buAutoNum type="arabicParenR"/>
            </a:pPr>
            <a:r>
              <a:rPr lang="en-GB" dirty="0" smtClean="0"/>
              <a:t>resolving </a:t>
            </a:r>
            <a:r>
              <a:rPr lang="en-GB" dirty="0"/>
              <a:t>disputes, </a:t>
            </a:r>
            <a:endParaRPr lang="en-US" dirty="0"/>
          </a:p>
          <a:p>
            <a:pPr marL="514350" indent="-514350">
              <a:buFont typeface="+mj-lt"/>
              <a:buAutoNum type="arabicParenR"/>
            </a:pPr>
            <a:r>
              <a:rPr lang="en-GB" dirty="0" smtClean="0"/>
              <a:t>communicating </a:t>
            </a:r>
            <a:r>
              <a:rPr lang="en-GB" dirty="0"/>
              <a:t>with all employees at all levels. </a:t>
            </a:r>
            <a:endParaRPr lang="en-US" dirty="0"/>
          </a:p>
        </p:txBody>
      </p:sp>
      <p:sp>
        <p:nvSpPr>
          <p:cNvPr id="4" name="Slide Number Placeholder 3"/>
          <p:cNvSpPr>
            <a:spLocks noGrp="1"/>
          </p:cNvSpPr>
          <p:nvPr>
            <p:ph type="sldNum" sz="quarter" idx="12"/>
          </p:nvPr>
        </p:nvSpPr>
        <p:spPr/>
        <p:txBody>
          <a:bodyPr/>
          <a:lstStyle/>
          <a:p>
            <a:fld id="{936B4CCB-AA54-445F-B97A-D90E05E9C5B1}" type="slidenum">
              <a:rPr lang="en-US" smtClean="0"/>
              <a:pPr/>
              <a:t>6</a:t>
            </a:fld>
            <a:endParaRPr lang="en-US"/>
          </a:p>
        </p:txBody>
      </p:sp>
      <p:sp>
        <p:nvSpPr>
          <p:cNvPr id="5" name="Footer Placeholder 4"/>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STAFF TO STUDENT </a:t>
            </a:r>
            <a:r>
              <a:rPr lang="en-GB" b="1" dirty="0" smtClean="0"/>
              <a:t>RATIO</a:t>
            </a:r>
            <a:endParaRPr lang="en-US" dirty="0"/>
          </a:p>
        </p:txBody>
      </p:sp>
      <p:graphicFrame>
        <p:nvGraphicFramePr>
          <p:cNvPr id="4" name="Content Placeholder 3"/>
          <p:cNvGraphicFramePr>
            <a:graphicFrameLocks noGrp="1"/>
          </p:cNvGraphicFramePr>
          <p:nvPr>
            <p:ph idx="1"/>
          </p:nvPr>
        </p:nvGraphicFramePr>
        <p:xfrm>
          <a:off x="838200" y="1828800"/>
          <a:ext cx="7467600" cy="3113121"/>
        </p:xfrm>
        <a:graphic>
          <a:graphicData uri="http://schemas.openxmlformats.org/drawingml/2006/table">
            <a:tbl>
              <a:tblPr/>
              <a:tblGrid>
                <a:gridCol w="614978"/>
                <a:gridCol w="3865582"/>
                <a:gridCol w="2987040"/>
              </a:tblGrid>
              <a:tr h="312940">
                <a:tc>
                  <a:txBody>
                    <a:bodyPr/>
                    <a:lstStyle/>
                    <a:p>
                      <a:pPr marL="0" marR="0" algn="ctr">
                        <a:lnSpc>
                          <a:spcPct val="107000"/>
                        </a:lnSpc>
                        <a:spcBef>
                          <a:spcPts val="0"/>
                        </a:spcBef>
                        <a:spcAft>
                          <a:spcPts val="0"/>
                        </a:spcAft>
                      </a:pPr>
                      <a:r>
                        <a:rPr lang="en-GB" sz="1600" b="1" dirty="0">
                          <a:latin typeface="Times New Roman"/>
                          <a:ea typeface="Calibri"/>
                          <a:cs typeface="Times New Roman"/>
                        </a:rPr>
                        <a:t>S/N</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b="1" dirty="0" smtClean="0">
                          <a:latin typeface="Times New Roman"/>
                          <a:ea typeface="Calibri"/>
                          <a:cs typeface="Times New Roman"/>
                        </a:rPr>
                        <a:t>FACULTY</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b="1" dirty="0" smtClean="0">
                          <a:latin typeface="Times New Roman"/>
                          <a:ea typeface="Calibri"/>
                          <a:cs typeface="Times New Roman"/>
                        </a:rPr>
                        <a:t>TEACHER STUDENT RATIO</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661">
                <a:tc>
                  <a:txBody>
                    <a:bodyPr/>
                    <a:lstStyle/>
                    <a:p>
                      <a:pPr marL="0" marR="0" algn="ctr">
                        <a:lnSpc>
                          <a:spcPct val="107000"/>
                        </a:lnSpc>
                        <a:spcBef>
                          <a:spcPts val="0"/>
                        </a:spcBef>
                        <a:spcAft>
                          <a:spcPts val="0"/>
                        </a:spcAft>
                      </a:pPr>
                      <a:r>
                        <a:rPr lang="en-GB" sz="1600" dirty="0">
                          <a:latin typeface="Times New Roman"/>
                          <a:ea typeface="Calibri"/>
                          <a:cs typeface="Times New Roman"/>
                        </a:rPr>
                        <a:t>1.</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dirty="0" smtClean="0">
                          <a:latin typeface="Times New Roman"/>
                          <a:ea typeface="Calibri"/>
                          <a:cs typeface="Times New Roman"/>
                        </a:rPr>
                        <a:t>ADMIN/MANAGEMENT SCIENCES</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1:30</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940">
                <a:tc>
                  <a:txBody>
                    <a:bodyPr/>
                    <a:lstStyle/>
                    <a:p>
                      <a:pPr marL="0" marR="0" algn="ctr">
                        <a:lnSpc>
                          <a:spcPct val="107000"/>
                        </a:lnSpc>
                        <a:spcBef>
                          <a:spcPts val="0"/>
                        </a:spcBef>
                        <a:spcAft>
                          <a:spcPts val="0"/>
                        </a:spcAft>
                      </a:pPr>
                      <a:r>
                        <a:rPr lang="en-GB" sz="1600">
                          <a:latin typeface="Times New Roman"/>
                          <a:ea typeface="Calibri"/>
                          <a:cs typeface="Times New Roman"/>
                        </a:rPr>
                        <a:t>2.</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dirty="0" smtClean="0">
                          <a:latin typeface="Times New Roman"/>
                          <a:ea typeface="Calibri"/>
                          <a:cs typeface="Times New Roman"/>
                        </a:rPr>
                        <a:t>ARTS/HUMANITIES</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1:30</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940">
                <a:tc>
                  <a:txBody>
                    <a:bodyPr/>
                    <a:lstStyle/>
                    <a:p>
                      <a:pPr marL="0" marR="0" algn="ctr">
                        <a:lnSpc>
                          <a:spcPct val="107000"/>
                        </a:lnSpc>
                        <a:spcBef>
                          <a:spcPts val="0"/>
                        </a:spcBef>
                        <a:spcAft>
                          <a:spcPts val="0"/>
                        </a:spcAft>
                      </a:pPr>
                      <a:r>
                        <a:rPr lang="en-GB" sz="1600">
                          <a:latin typeface="Times New Roman"/>
                          <a:ea typeface="Calibri"/>
                          <a:cs typeface="Times New Roman"/>
                        </a:rPr>
                        <a:t>3.</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dirty="0" smtClean="0">
                          <a:latin typeface="Times New Roman"/>
                          <a:ea typeface="Calibri"/>
                          <a:cs typeface="Times New Roman"/>
                        </a:rPr>
                        <a:t>SOCIAL SCIENCES</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1:30</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940">
                <a:tc>
                  <a:txBody>
                    <a:bodyPr/>
                    <a:lstStyle/>
                    <a:p>
                      <a:pPr marL="0" marR="0" algn="ctr">
                        <a:lnSpc>
                          <a:spcPct val="107000"/>
                        </a:lnSpc>
                        <a:spcBef>
                          <a:spcPts val="0"/>
                        </a:spcBef>
                        <a:spcAft>
                          <a:spcPts val="0"/>
                        </a:spcAft>
                      </a:pPr>
                      <a:r>
                        <a:rPr lang="en-GB" sz="1600">
                          <a:latin typeface="Times New Roman"/>
                          <a:ea typeface="Calibri"/>
                          <a:cs typeface="Times New Roman"/>
                        </a:rPr>
                        <a:t>4.</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dirty="0" smtClean="0">
                          <a:latin typeface="Times New Roman"/>
                          <a:ea typeface="Calibri"/>
                          <a:cs typeface="Times New Roman"/>
                        </a:rPr>
                        <a:t>LAW</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1:30</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940">
                <a:tc>
                  <a:txBody>
                    <a:bodyPr/>
                    <a:lstStyle/>
                    <a:p>
                      <a:pPr marL="0" marR="0" algn="ctr">
                        <a:lnSpc>
                          <a:spcPct val="107000"/>
                        </a:lnSpc>
                        <a:spcBef>
                          <a:spcPts val="0"/>
                        </a:spcBef>
                        <a:spcAft>
                          <a:spcPts val="0"/>
                        </a:spcAft>
                      </a:pPr>
                      <a:r>
                        <a:rPr lang="en-GB" sz="1600">
                          <a:latin typeface="Times New Roman"/>
                          <a:ea typeface="Calibri"/>
                          <a:cs typeface="Times New Roman"/>
                        </a:rPr>
                        <a:t>5.</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dirty="0" smtClean="0">
                          <a:latin typeface="Times New Roman"/>
                          <a:ea typeface="Calibri"/>
                          <a:cs typeface="Times New Roman"/>
                        </a:rPr>
                        <a:t>EDUCATION</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1:30</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940">
                <a:tc>
                  <a:txBody>
                    <a:bodyPr/>
                    <a:lstStyle/>
                    <a:p>
                      <a:pPr marL="0" marR="0" algn="ctr">
                        <a:lnSpc>
                          <a:spcPct val="107000"/>
                        </a:lnSpc>
                        <a:spcBef>
                          <a:spcPts val="0"/>
                        </a:spcBef>
                        <a:spcAft>
                          <a:spcPts val="0"/>
                        </a:spcAft>
                      </a:pPr>
                      <a:r>
                        <a:rPr lang="en-GB" sz="1600">
                          <a:latin typeface="Times New Roman"/>
                          <a:ea typeface="Calibri"/>
                          <a:cs typeface="Times New Roman"/>
                        </a:rPr>
                        <a:t>6.</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dirty="0" smtClean="0">
                          <a:latin typeface="Times New Roman"/>
                          <a:ea typeface="Calibri"/>
                          <a:cs typeface="Times New Roman"/>
                        </a:rPr>
                        <a:t>SCIENCES</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1:20</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940">
                <a:tc>
                  <a:txBody>
                    <a:bodyPr/>
                    <a:lstStyle/>
                    <a:p>
                      <a:pPr marL="0" marR="0" algn="ctr">
                        <a:lnSpc>
                          <a:spcPct val="107000"/>
                        </a:lnSpc>
                        <a:spcBef>
                          <a:spcPts val="0"/>
                        </a:spcBef>
                        <a:spcAft>
                          <a:spcPts val="0"/>
                        </a:spcAft>
                      </a:pPr>
                      <a:r>
                        <a:rPr lang="en-GB" sz="1600">
                          <a:latin typeface="Times New Roman"/>
                          <a:ea typeface="Calibri"/>
                          <a:cs typeface="Times New Roman"/>
                        </a:rPr>
                        <a:t>7.</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dirty="0" smtClean="0">
                          <a:latin typeface="Times New Roman"/>
                          <a:ea typeface="Calibri"/>
                          <a:cs typeface="Times New Roman"/>
                        </a:rPr>
                        <a:t>AGRICULTURAL SCIENCE</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1:15</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940">
                <a:tc>
                  <a:txBody>
                    <a:bodyPr/>
                    <a:lstStyle/>
                    <a:p>
                      <a:pPr marL="0" marR="0" algn="ctr">
                        <a:lnSpc>
                          <a:spcPct val="107000"/>
                        </a:lnSpc>
                        <a:spcBef>
                          <a:spcPts val="0"/>
                        </a:spcBef>
                        <a:spcAft>
                          <a:spcPts val="0"/>
                        </a:spcAft>
                      </a:pPr>
                      <a:r>
                        <a:rPr lang="en-GB" sz="1600">
                          <a:latin typeface="Times New Roman"/>
                          <a:ea typeface="Calibri"/>
                          <a:cs typeface="Times New Roman"/>
                        </a:rPr>
                        <a:t>8.</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dirty="0" smtClean="0">
                          <a:latin typeface="Times New Roman"/>
                          <a:ea typeface="Calibri"/>
                          <a:cs typeface="Times New Roman"/>
                        </a:rPr>
                        <a:t>ENGINEERING</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1:15</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2940">
                <a:tc>
                  <a:txBody>
                    <a:bodyPr/>
                    <a:lstStyle/>
                    <a:p>
                      <a:pPr marL="0" marR="0" algn="ctr">
                        <a:lnSpc>
                          <a:spcPct val="107000"/>
                        </a:lnSpc>
                        <a:spcBef>
                          <a:spcPts val="0"/>
                        </a:spcBef>
                        <a:spcAft>
                          <a:spcPts val="0"/>
                        </a:spcAft>
                      </a:pPr>
                      <a:r>
                        <a:rPr lang="en-GB" sz="1600">
                          <a:latin typeface="Times New Roman"/>
                          <a:ea typeface="Calibri"/>
                          <a:cs typeface="Times New Roman"/>
                        </a:rPr>
                        <a:t>9.</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dirty="0" smtClean="0">
                          <a:latin typeface="Times New Roman"/>
                          <a:ea typeface="Calibri"/>
                          <a:cs typeface="Times New Roman"/>
                        </a:rPr>
                        <a:t>MEDICINE</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latin typeface="Times New Roman"/>
                          <a:ea typeface="Calibri"/>
                          <a:cs typeface="Times New Roman"/>
                        </a:rPr>
                        <a:t>1:10</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p:nvPr/>
        </p:nvSpPr>
        <p:spPr>
          <a:xfrm>
            <a:off x="914400" y="4953000"/>
            <a:ext cx="7010400" cy="307777"/>
          </a:xfrm>
          <a:prstGeom prst="rect">
            <a:avLst/>
          </a:prstGeom>
          <a:noFill/>
        </p:spPr>
        <p:txBody>
          <a:bodyPr wrap="square" rtlCol="0">
            <a:spAutoFit/>
          </a:bodyPr>
          <a:lstStyle/>
          <a:p>
            <a:r>
              <a:rPr lang="en-GB" sz="1400" b="1" i="1" dirty="0"/>
              <a:t>Table 1:</a:t>
            </a:r>
            <a:r>
              <a:rPr lang="en-GB" sz="1400" i="1" dirty="0"/>
              <a:t> The teacher Student ratio as approved by the NUC is as follows</a:t>
            </a:r>
            <a:r>
              <a:rPr lang="en-GB" sz="1400" i="1" dirty="0" smtClean="0"/>
              <a:t>:</a:t>
            </a:r>
            <a:endParaRPr lang="en-US" sz="1400" i="1" dirty="0"/>
          </a:p>
        </p:txBody>
      </p:sp>
      <p:sp>
        <p:nvSpPr>
          <p:cNvPr id="6" name="TextBox 5"/>
          <p:cNvSpPr txBox="1"/>
          <p:nvPr/>
        </p:nvSpPr>
        <p:spPr>
          <a:xfrm>
            <a:off x="6858000" y="5410200"/>
            <a:ext cx="1447800" cy="276999"/>
          </a:xfrm>
          <a:prstGeom prst="rect">
            <a:avLst/>
          </a:prstGeom>
          <a:noFill/>
        </p:spPr>
        <p:txBody>
          <a:bodyPr wrap="square" rtlCol="0">
            <a:spAutoFit/>
          </a:bodyPr>
          <a:lstStyle/>
          <a:p>
            <a:r>
              <a:rPr lang="en-GB" sz="1200" b="1" i="1" dirty="0"/>
              <a:t>Source: From </a:t>
            </a:r>
            <a:r>
              <a:rPr lang="en-GB" sz="1200" b="1" i="1" dirty="0" smtClean="0"/>
              <a:t>NUC</a:t>
            </a:r>
            <a:endParaRPr lang="en-US" sz="1200" b="1" dirty="0"/>
          </a:p>
        </p:txBody>
      </p:sp>
      <p:sp>
        <p:nvSpPr>
          <p:cNvPr id="7" name="Slide Number Placeholder 6"/>
          <p:cNvSpPr>
            <a:spLocks noGrp="1"/>
          </p:cNvSpPr>
          <p:nvPr>
            <p:ph type="sldNum" sz="quarter" idx="12"/>
          </p:nvPr>
        </p:nvSpPr>
        <p:spPr/>
        <p:txBody>
          <a:bodyPr/>
          <a:lstStyle/>
          <a:p>
            <a:fld id="{936B4CCB-AA54-445F-B97A-D90E05E9C5B1}" type="slidenum">
              <a:rPr lang="en-US" smtClean="0"/>
              <a:pPr/>
              <a:t>7</a:t>
            </a:fld>
            <a:endParaRPr lang="en-US"/>
          </a:p>
        </p:txBody>
      </p:sp>
      <p:sp>
        <p:nvSpPr>
          <p:cNvPr id="8" name="Footer Placeholder 7"/>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STAFF TO STUDENT RATIO</a:t>
            </a:r>
            <a:endParaRPr lang="en-US" dirty="0"/>
          </a:p>
        </p:txBody>
      </p:sp>
      <p:graphicFrame>
        <p:nvGraphicFramePr>
          <p:cNvPr id="4" name="Content Placeholder 3"/>
          <p:cNvGraphicFramePr>
            <a:graphicFrameLocks noGrp="1"/>
          </p:cNvGraphicFramePr>
          <p:nvPr>
            <p:ph idx="1"/>
          </p:nvPr>
        </p:nvGraphicFramePr>
        <p:xfrm>
          <a:off x="1219200" y="2438400"/>
          <a:ext cx="6781800" cy="880491"/>
        </p:xfrm>
        <a:graphic>
          <a:graphicData uri="http://schemas.openxmlformats.org/drawingml/2006/table">
            <a:tbl>
              <a:tblPr/>
              <a:tblGrid>
                <a:gridCol w="609600"/>
                <a:gridCol w="2286000"/>
                <a:gridCol w="3886200"/>
              </a:tblGrid>
              <a:tr h="0">
                <a:tc>
                  <a:txBody>
                    <a:bodyPr/>
                    <a:lstStyle/>
                    <a:p>
                      <a:pPr marL="0" marR="0" algn="ctr">
                        <a:lnSpc>
                          <a:spcPct val="107000"/>
                        </a:lnSpc>
                        <a:spcBef>
                          <a:spcPts val="0"/>
                        </a:spcBef>
                        <a:spcAft>
                          <a:spcPts val="0"/>
                        </a:spcAft>
                      </a:pPr>
                      <a:r>
                        <a:rPr lang="en-GB" sz="1800" b="1" dirty="0">
                          <a:latin typeface="Times New Roman"/>
                          <a:ea typeface="Calibri"/>
                          <a:cs typeface="Times New Roman"/>
                        </a:rPr>
                        <a:t>S/N</a:t>
                      </a:r>
                      <a:endParaRPr lang="en-US" sz="14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800" b="1" dirty="0" smtClean="0">
                          <a:latin typeface="Times New Roman"/>
                          <a:ea typeface="Calibri"/>
                          <a:cs typeface="Times New Roman"/>
                        </a:rPr>
                        <a:t>FACULTY</a:t>
                      </a:r>
                      <a:endParaRPr lang="en-US" sz="14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800" b="1" dirty="0" smtClean="0">
                          <a:latin typeface="Times New Roman"/>
                          <a:ea typeface="Calibri"/>
                          <a:cs typeface="Times New Roman"/>
                        </a:rPr>
                        <a:t>TEACHER STUDENT RATIO</a:t>
                      </a:r>
                      <a:endParaRPr lang="en-US" sz="14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07000"/>
                        </a:lnSpc>
                        <a:spcBef>
                          <a:spcPts val="0"/>
                        </a:spcBef>
                        <a:spcAft>
                          <a:spcPts val="0"/>
                        </a:spcAft>
                      </a:pPr>
                      <a:r>
                        <a:rPr lang="en-GB" sz="1800">
                          <a:latin typeface="Times New Roman"/>
                          <a:ea typeface="Calibri"/>
                          <a:cs typeface="Times New Roman"/>
                        </a:rPr>
                        <a:t>1.</a:t>
                      </a:r>
                      <a:endParaRPr lang="en-US"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800" dirty="0" smtClean="0">
                          <a:latin typeface="Times New Roman"/>
                          <a:ea typeface="Calibri"/>
                          <a:cs typeface="Times New Roman"/>
                        </a:rPr>
                        <a:t>SCIENCE BASED</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800" dirty="0" smtClean="0">
                          <a:latin typeface="Times New Roman"/>
                          <a:ea typeface="Calibri"/>
                          <a:cs typeface="Times New Roman"/>
                        </a:rPr>
                        <a:t>1:4</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ctr">
                        <a:lnSpc>
                          <a:spcPct val="107000"/>
                        </a:lnSpc>
                        <a:spcBef>
                          <a:spcPts val="0"/>
                        </a:spcBef>
                        <a:spcAft>
                          <a:spcPts val="0"/>
                        </a:spcAft>
                      </a:pPr>
                      <a:r>
                        <a:rPr lang="en-GB" sz="1800">
                          <a:latin typeface="Times New Roman"/>
                          <a:ea typeface="Calibri"/>
                          <a:cs typeface="Times New Roman"/>
                        </a:rPr>
                        <a:t>2.</a:t>
                      </a:r>
                      <a:endParaRPr lang="en-US" sz="1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800" dirty="0" smtClean="0">
                          <a:latin typeface="Times New Roman"/>
                          <a:ea typeface="Calibri"/>
                          <a:cs typeface="Times New Roman"/>
                        </a:rPr>
                        <a:t>ARTS BASED</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800" dirty="0" smtClean="0">
                          <a:latin typeface="Times New Roman"/>
                          <a:ea typeface="Calibri"/>
                          <a:cs typeface="Times New Roman"/>
                        </a:rPr>
                        <a:t>1:20</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p:nvPr/>
        </p:nvSpPr>
        <p:spPr>
          <a:xfrm>
            <a:off x="990600" y="4495800"/>
            <a:ext cx="7010400" cy="369332"/>
          </a:xfrm>
          <a:prstGeom prst="rect">
            <a:avLst/>
          </a:prstGeom>
          <a:noFill/>
        </p:spPr>
        <p:txBody>
          <a:bodyPr wrap="square" rtlCol="0">
            <a:spAutoFit/>
          </a:bodyPr>
          <a:lstStyle/>
          <a:p>
            <a:r>
              <a:rPr lang="en-GB" b="1" i="1" dirty="0"/>
              <a:t>Table 2:</a:t>
            </a:r>
            <a:r>
              <a:rPr lang="en-GB" i="1" dirty="0"/>
              <a:t> Teaching to Non-Teaching staff ratio</a:t>
            </a:r>
            <a:endParaRPr lang="en-US" i="1" dirty="0"/>
          </a:p>
        </p:txBody>
      </p:sp>
      <p:sp>
        <p:nvSpPr>
          <p:cNvPr id="6" name="TextBox 5"/>
          <p:cNvSpPr txBox="1"/>
          <p:nvPr/>
        </p:nvSpPr>
        <p:spPr>
          <a:xfrm>
            <a:off x="6858000" y="5410200"/>
            <a:ext cx="1447800" cy="276999"/>
          </a:xfrm>
          <a:prstGeom prst="rect">
            <a:avLst/>
          </a:prstGeom>
          <a:noFill/>
        </p:spPr>
        <p:txBody>
          <a:bodyPr wrap="square" rtlCol="0">
            <a:spAutoFit/>
          </a:bodyPr>
          <a:lstStyle/>
          <a:p>
            <a:r>
              <a:rPr lang="en-GB" sz="1200" b="1" i="1" dirty="0"/>
              <a:t>Source: From </a:t>
            </a:r>
            <a:r>
              <a:rPr lang="en-GB" sz="1200" b="1" i="1" dirty="0" smtClean="0"/>
              <a:t>NUC</a:t>
            </a:r>
            <a:endParaRPr lang="en-US" sz="1200" b="1" dirty="0"/>
          </a:p>
        </p:txBody>
      </p:sp>
      <p:sp>
        <p:nvSpPr>
          <p:cNvPr id="7" name="Slide Number Placeholder 6"/>
          <p:cNvSpPr>
            <a:spLocks noGrp="1"/>
          </p:cNvSpPr>
          <p:nvPr>
            <p:ph type="sldNum" sz="quarter" idx="12"/>
          </p:nvPr>
        </p:nvSpPr>
        <p:spPr/>
        <p:txBody>
          <a:bodyPr/>
          <a:lstStyle/>
          <a:p>
            <a:fld id="{936B4CCB-AA54-445F-B97A-D90E05E9C5B1}" type="slidenum">
              <a:rPr lang="en-US" smtClean="0"/>
              <a:pPr/>
              <a:t>8</a:t>
            </a:fld>
            <a:endParaRPr lang="en-US"/>
          </a:p>
        </p:txBody>
      </p:sp>
      <p:sp>
        <p:nvSpPr>
          <p:cNvPr id="8" name="Footer Placeholder 7"/>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CHALLENGES AND THE WAY </a:t>
            </a:r>
            <a:r>
              <a:rPr lang="en-GB" b="1" dirty="0" smtClean="0"/>
              <a:t>FORWARD</a:t>
            </a:r>
            <a:endParaRPr lang="en-US" dirty="0"/>
          </a:p>
        </p:txBody>
      </p:sp>
      <p:sp>
        <p:nvSpPr>
          <p:cNvPr id="3" name="Content Placeholder 2"/>
          <p:cNvSpPr>
            <a:spLocks noGrp="1"/>
          </p:cNvSpPr>
          <p:nvPr>
            <p:ph idx="1"/>
          </p:nvPr>
        </p:nvSpPr>
        <p:spPr/>
        <p:txBody>
          <a:bodyPr/>
          <a:lstStyle/>
          <a:p>
            <a:pPr marL="0" indent="0" algn="just">
              <a:buNone/>
            </a:pPr>
            <a:r>
              <a:rPr lang="en-GB" dirty="0"/>
              <a:t>“I recall in Senate, when the report of a Professor who had just returned from sabbatical was read on the floor of Senate. The report affirmed that our returnee Professor was the best lecturer at the University of Benin. What criteria were used, and can we adopt it? Then, we need orientation to rebrand our lecturers and other members of staff</a:t>
            </a:r>
            <a:r>
              <a:rPr lang="en-GB" dirty="0" smtClean="0"/>
              <a:t>.”</a:t>
            </a:r>
            <a:endParaRPr lang="en-US" dirty="0"/>
          </a:p>
        </p:txBody>
      </p:sp>
      <p:sp>
        <p:nvSpPr>
          <p:cNvPr id="4" name="Slide Number Placeholder 3"/>
          <p:cNvSpPr>
            <a:spLocks noGrp="1"/>
          </p:cNvSpPr>
          <p:nvPr>
            <p:ph type="sldNum" sz="quarter" idx="12"/>
          </p:nvPr>
        </p:nvSpPr>
        <p:spPr/>
        <p:txBody>
          <a:bodyPr/>
          <a:lstStyle/>
          <a:p>
            <a:fld id="{936B4CCB-AA54-445F-B97A-D90E05E9C5B1}" type="slidenum">
              <a:rPr lang="en-US" smtClean="0"/>
              <a:pPr/>
              <a:t>9</a:t>
            </a:fld>
            <a:endParaRPr lang="en-US"/>
          </a:p>
        </p:txBody>
      </p:sp>
      <p:sp>
        <p:nvSpPr>
          <p:cNvPr id="5" name="Footer Placeholder 4"/>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231775" lvl="0" indent="-231775" algn="l"/>
            <a:r>
              <a:rPr lang="en-GB" sz="2000" dirty="0" smtClean="0"/>
              <a:t>1. Is </a:t>
            </a:r>
            <a:r>
              <a:rPr lang="en-GB" sz="2000" dirty="0"/>
              <a:t>there any relevance and after effect as a result of change of name of the University from University of Ado-</a:t>
            </a:r>
            <a:r>
              <a:rPr lang="en-GB" sz="2000" dirty="0" err="1"/>
              <a:t>Ekiti</a:t>
            </a:r>
            <a:r>
              <a:rPr lang="en-GB" sz="2000" dirty="0"/>
              <a:t> to </a:t>
            </a:r>
            <a:r>
              <a:rPr lang="en-GB" sz="2000" dirty="0" err="1"/>
              <a:t>Ekiti</a:t>
            </a:r>
            <a:r>
              <a:rPr lang="en-GB" sz="2000" dirty="0"/>
              <a:t> State University</a:t>
            </a:r>
            <a:r>
              <a:rPr lang="en-GB" sz="2000" dirty="0" smtClean="0"/>
              <a:t>?</a:t>
            </a:r>
            <a:endParaRPr lang="en-US" sz="2000" dirty="0"/>
          </a:p>
        </p:txBody>
      </p:sp>
      <p:graphicFrame>
        <p:nvGraphicFramePr>
          <p:cNvPr id="4" name="Content Placeholder 3"/>
          <p:cNvGraphicFramePr>
            <a:graphicFrameLocks noGrp="1"/>
          </p:cNvGraphicFramePr>
          <p:nvPr>
            <p:ph idx="1"/>
          </p:nvPr>
        </p:nvGraphicFramePr>
        <p:xfrm>
          <a:off x="609600" y="1417635"/>
          <a:ext cx="8153399" cy="4207766"/>
        </p:xfrm>
        <a:graphic>
          <a:graphicData uri="http://schemas.openxmlformats.org/drawingml/2006/table">
            <a:tbl>
              <a:tblPr/>
              <a:tblGrid>
                <a:gridCol w="2189340"/>
                <a:gridCol w="4529666"/>
                <a:gridCol w="1434393"/>
              </a:tblGrid>
              <a:tr h="487365">
                <a:tc>
                  <a:txBody>
                    <a:bodyPr/>
                    <a:lstStyle/>
                    <a:p>
                      <a:pPr marL="0" marR="0" algn="ctr">
                        <a:lnSpc>
                          <a:spcPct val="107000"/>
                        </a:lnSpc>
                        <a:spcBef>
                          <a:spcPts val="0"/>
                        </a:spcBef>
                        <a:spcAft>
                          <a:spcPts val="0"/>
                        </a:spcAft>
                      </a:pPr>
                      <a:r>
                        <a:rPr lang="en-GB" sz="1800" b="1" dirty="0" smtClean="0">
                          <a:latin typeface="Times New Roman"/>
                          <a:ea typeface="Calibri"/>
                          <a:cs typeface="Times New Roman"/>
                        </a:rPr>
                        <a:t>UNIVERSITY</a:t>
                      </a:r>
                    </a:p>
                    <a:p>
                      <a:pPr marL="0" marR="0" algn="ctr">
                        <a:lnSpc>
                          <a:spcPct val="107000"/>
                        </a:lnSpc>
                        <a:spcBef>
                          <a:spcPts val="0"/>
                        </a:spcBef>
                        <a:spcAft>
                          <a:spcPts val="0"/>
                        </a:spcAft>
                      </a:pPr>
                      <a:r>
                        <a:rPr lang="en-GB" sz="1800" b="1" dirty="0" smtClean="0">
                          <a:latin typeface="Times New Roman"/>
                          <a:ea typeface="Calibri"/>
                          <a:cs typeface="Times New Roman"/>
                        </a:rPr>
                        <a:t>NAME</a:t>
                      </a:r>
                      <a:endParaRPr lang="en-US" sz="1600" b="1" dirty="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800" b="1" dirty="0" smtClean="0">
                          <a:latin typeface="Times New Roman"/>
                          <a:ea typeface="Calibri"/>
                          <a:cs typeface="Times New Roman"/>
                        </a:rPr>
                        <a:t>ACADEMIC SESSION</a:t>
                      </a:r>
                      <a:endParaRPr lang="en-US" sz="1600" b="1" dirty="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800" b="1" dirty="0" smtClean="0">
                          <a:latin typeface="Times New Roman"/>
                          <a:ea typeface="Calibri"/>
                          <a:cs typeface="Times New Roman"/>
                        </a:rPr>
                        <a:t>No.</a:t>
                      </a:r>
                    </a:p>
                    <a:p>
                      <a:pPr marL="0" marR="0" algn="ctr">
                        <a:lnSpc>
                          <a:spcPct val="107000"/>
                        </a:lnSpc>
                        <a:spcBef>
                          <a:spcPts val="0"/>
                        </a:spcBef>
                        <a:spcAft>
                          <a:spcPts val="0"/>
                        </a:spcAft>
                      </a:pPr>
                      <a:r>
                        <a:rPr lang="en-GB" sz="1800" b="1" dirty="0" smtClean="0">
                          <a:latin typeface="Times New Roman"/>
                          <a:ea typeface="Calibri"/>
                          <a:cs typeface="Times New Roman"/>
                        </a:rPr>
                        <a:t>Matriculated</a:t>
                      </a:r>
                      <a:endParaRPr lang="en-US" sz="1600" b="1" dirty="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rowSpan="8">
                  <a:txBody>
                    <a:bodyPr/>
                    <a:lstStyle/>
                    <a:p>
                      <a:pPr marL="0" marR="0" algn="ctr">
                        <a:lnSpc>
                          <a:spcPct val="107000"/>
                        </a:lnSpc>
                        <a:spcBef>
                          <a:spcPts val="0"/>
                        </a:spcBef>
                        <a:spcAft>
                          <a:spcPts val="0"/>
                        </a:spcAft>
                      </a:pPr>
                      <a:r>
                        <a:rPr lang="en-GB" sz="1600" dirty="0">
                          <a:latin typeface="Times New Roman"/>
                          <a:ea typeface="Calibri"/>
                          <a:cs typeface="Times New Roman"/>
                        </a:rPr>
                        <a:t>University of Ado-</a:t>
                      </a:r>
                      <a:r>
                        <a:rPr lang="en-GB" sz="1600" dirty="0" err="1">
                          <a:latin typeface="Times New Roman"/>
                          <a:ea typeface="Calibri"/>
                          <a:cs typeface="Times New Roman"/>
                        </a:rPr>
                        <a:t>Ekiti</a:t>
                      </a:r>
                      <a:endParaRPr lang="en-US" sz="1400" dirty="0">
                        <a:latin typeface="Calibri"/>
                        <a:ea typeface="Calibri"/>
                        <a:cs typeface="Times New Roman"/>
                      </a:endParaRPr>
                    </a:p>
                  </a:txBody>
                  <a:tcPr marL="18129" marR="181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a:latin typeface="Times New Roman"/>
                          <a:ea typeface="Calibri"/>
                          <a:cs typeface="Times New Roman"/>
                        </a:rPr>
                        <a:t>2002/2003 (cut-off @ 200 and One O’level result</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3,158</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vMerge="1">
                  <a:txBody>
                    <a:bodyPr/>
                    <a:lstStyle/>
                    <a:p>
                      <a:endParaRPr lang="en-US"/>
                    </a:p>
                  </a:txBody>
                  <a:tcPr/>
                </a:tc>
                <a:tc>
                  <a:txBody>
                    <a:bodyPr/>
                    <a:lstStyle/>
                    <a:p>
                      <a:pPr marL="0" marR="0">
                        <a:lnSpc>
                          <a:spcPct val="107000"/>
                        </a:lnSpc>
                        <a:spcBef>
                          <a:spcPts val="0"/>
                        </a:spcBef>
                        <a:spcAft>
                          <a:spcPts val="0"/>
                        </a:spcAft>
                      </a:pPr>
                      <a:r>
                        <a:rPr lang="en-GB" sz="1600">
                          <a:latin typeface="Times New Roman"/>
                          <a:ea typeface="Calibri"/>
                          <a:cs typeface="Times New Roman"/>
                        </a:rPr>
                        <a:t>2004/2005</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8,694</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vMerge="1">
                  <a:txBody>
                    <a:bodyPr/>
                    <a:lstStyle/>
                    <a:p>
                      <a:endParaRPr lang="en-US"/>
                    </a:p>
                  </a:txBody>
                  <a:tcPr/>
                </a:tc>
                <a:tc>
                  <a:txBody>
                    <a:bodyPr/>
                    <a:lstStyle/>
                    <a:p>
                      <a:pPr marL="0" marR="0">
                        <a:lnSpc>
                          <a:spcPct val="107000"/>
                        </a:lnSpc>
                        <a:spcBef>
                          <a:spcPts val="0"/>
                        </a:spcBef>
                        <a:spcAft>
                          <a:spcPts val="0"/>
                        </a:spcAft>
                      </a:pPr>
                      <a:r>
                        <a:rPr lang="en-GB" sz="1600">
                          <a:latin typeface="Times New Roman"/>
                          <a:ea typeface="Calibri"/>
                          <a:cs typeface="Times New Roman"/>
                        </a:rPr>
                        <a:t>2005/2006</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3,790</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vMerge="1">
                  <a:txBody>
                    <a:bodyPr/>
                    <a:lstStyle/>
                    <a:p>
                      <a:endParaRPr lang="en-US"/>
                    </a:p>
                  </a:txBody>
                  <a:tcPr/>
                </a:tc>
                <a:tc>
                  <a:txBody>
                    <a:bodyPr/>
                    <a:lstStyle/>
                    <a:p>
                      <a:pPr marL="0" marR="0">
                        <a:lnSpc>
                          <a:spcPct val="107000"/>
                        </a:lnSpc>
                        <a:spcBef>
                          <a:spcPts val="0"/>
                        </a:spcBef>
                        <a:spcAft>
                          <a:spcPts val="0"/>
                        </a:spcAft>
                      </a:pPr>
                      <a:r>
                        <a:rPr lang="en-GB" sz="1600">
                          <a:latin typeface="Times New Roman"/>
                          <a:ea typeface="Calibri"/>
                          <a:cs typeface="Times New Roman"/>
                        </a:rPr>
                        <a:t>2006/2007</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3,948</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vMerge="1">
                  <a:txBody>
                    <a:bodyPr/>
                    <a:lstStyle/>
                    <a:p>
                      <a:endParaRPr lang="en-US"/>
                    </a:p>
                  </a:txBody>
                  <a:tcPr/>
                </a:tc>
                <a:tc>
                  <a:txBody>
                    <a:bodyPr/>
                    <a:lstStyle/>
                    <a:p>
                      <a:pPr marL="0" marR="0">
                        <a:lnSpc>
                          <a:spcPct val="107000"/>
                        </a:lnSpc>
                        <a:spcBef>
                          <a:spcPts val="0"/>
                        </a:spcBef>
                        <a:spcAft>
                          <a:spcPts val="0"/>
                        </a:spcAft>
                      </a:pPr>
                      <a:r>
                        <a:rPr lang="en-GB" sz="1600">
                          <a:latin typeface="Times New Roman"/>
                          <a:ea typeface="Calibri"/>
                          <a:cs typeface="Times New Roman"/>
                        </a:rPr>
                        <a:t>2007/2008</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4,693</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vMerge="1">
                  <a:txBody>
                    <a:bodyPr/>
                    <a:lstStyle/>
                    <a:p>
                      <a:endParaRPr lang="en-US"/>
                    </a:p>
                  </a:txBody>
                  <a:tcPr/>
                </a:tc>
                <a:tc>
                  <a:txBody>
                    <a:bodyPr/>
                    <a:lstStyle/>
                    <a:p>
                      <a:pPr marL="0" marR="0">
                        <a:lnSpc>
                          <a:spcPct val="107000"/>
                        </a:lnSpc>
                        <a:spcBef>
                          <a:spcPts val="0"/>
                        </a:spcBef>
                        <a:spcAft>
                          <a:spcPts val="0"/>
                        </a:spcAft>
                      </a:pPr>
                      <a:r>
                        <a:rPr lang="en-GB" sz="1600">
                          <a:latin typeface="Times New Roman"/>
                          <a:ea typeface="Calibri"/>
                          <a:cs typeface="Times New Roman"/>
                        </a:rPr>
                        <a:t>2008/2009</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4,534</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vMerge="1">
                  <a:txBody>
                    <a:bodyPr/>
                    <a:lstStyle/>
                    <a:p>
                      <a:endParaRPr lang="en-US"/>
                    </a:p>
                  </a:txBody>
                  <a:tcPr/>
                </a:tc>
                <a:tc>
                  <a:txBody>
                    <a:bodyPr/>
                    <a:lstStyle/>
                    <a:p>
                      <a:pPr marL="0" marR="0">
                        <a:lnSpc>
                          <a:spcPct val="107000"/>
                        </a:lnSpc>
                        <a:spcBef>
                          <a:spcPts val="0"/>
                        </a:spcBef>
                        <a:spcAft>
                          <a:spcPts val="0"/>
                        </a:spcAft>
                      </a:pPr>
                      <a:r>
                        <a:rPr lang="en-GB" sz="1600">
                          <a:latin typeface="Times New Roman"/>
                          <a:ea typeface="Calibri"/>
                          <a:cs typeface="Times New Roman"/>
                        </a:rPr>
                        <a:t>2009/2010</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2,981</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vMerge="1">
                  <a:txBody>
                    <a:bodyPr/>
                    <a:lstStyle/>
                    <a:p>
                      <a:endParaRPr lang="en-US"/>
                    </a:p>
                  </a:txBody>
                  <a:tcPr/>
                </a:tc>
                <a:tc>
                  <a:txBody>
                    <a:bodyPr/>
                    <a:lstStyle/>
                    <a:p>
                      <a:pPr marL="0" marR="0">
                        <a:lnSpc>
                          <a:spcPct val="107000"/>
                        </a:lnSpc>
                        <a:spcBef>
                          <a:spcPts val="0"/>
                        </a:spcBef>
                        <a:spcAft>
                          <a:spcPts val="0"/>
                        </a:spcAft>
                      </a:pPr>
                      <a:r>
                        <a:rPr lang="en-GB" sz="1600">
                          <a:latin typeface="Times New Roman"/>
                          <a:ea typeface="Calibri"/>
                          <a:cs typeface="Times New Roman"/>
                        </a:rPr>
                        <a:t>2010/2011</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2,646</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rowSpan="4">
                  <a:txBody>
                    <a:bodyPr/>
                    <a:lstStyle/>
                    <a:p>
                      <a:pPr marL="0" marR="0" algn="ctr">
                        <a:lnSpc>
                          <a:spcPct val="107000"/>
                        </a:lnSpc>
                        <a:spcBef>
                          <a:spcPts val="0"/>
                        </a:spcBef>
                        <a:spcAft>
                          <a:spcPts val="0"/>
                        </a:spcAft>
                      </a:pPr>
                      <a:r>
                        <a:rPr lang="en-GB" sz="1600">
                          <a:latin typeface="Times New Roman"/>
                          <a:ea typeface="Calibri"/>
                          <a:cs typeface="Times New Roman"/>
                        </a:rPr>
                        <a:t>Ekiti State University</a:t>
                      </a:r>
                      <a:endParaRPr lang="en-US" sz="1400">
                        <a:latin typeface="Calibri"/>
                        <a:ea typeface="Calibri"/>
                        <a:cs typeface="Times New Roman"/>
                      </a:endParaRPr>
                    </a:p>
                  </a:txBody>
                  <a:tcPr marL="18129" marR="1812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1600">
                          <a:latin typeface="Times New Roman"/>
                          <a:ea typeface="Calibri"/>
                          <a:cs typeface="Times New Roman"/>
                        </a:rPr>
                        <a:t>2011/2012</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3,982</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vMerge="1">
                  <a:txBody>
                    <a:bodyPr/>
                    <a:lstStyle/>
                    <a:p>
                      <a:endParaRPr lang="en-US"/>
                    </a:p>
                  </a:txBody>
                  <a:tcPr/>
                </a:tc>
                <a:tc>
                  <a:txBody>
                    <a:bodyPr/>
                    <a:lstStyle/>
                    <a:p>
                      <a:pPr marL="0" marR="0">
                        <a:lnSpc>
                          <a:spcPct val="107000"/>
                        </a:lnSpc>
                        <a:spcBef>
                          <a:spcPts val="0"/>
                        </a:spcBef>
                        <a:spcAft>
                          <a:spcPts val="0"/>
                        </a:spcAft>
                      </a:pPr>
                      <a:r>
                        <a:rPr lang="en-GB" sz="1600">
                          <a:latin typeface="Times New Roman"/>
                          <a:ea typeface="Calibri"/>
                          <a:cs typeface="Times New Roman"/>
                        </a:rPr>
                        <a:t>2012/2013</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3,836</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vMerge="1">
                  <a:txBody>
                    <a:bodyPr/>
                    <a:lstStyle/>
                    <a:p>
                      <a:endParaRPr lang="en-US"/>
                    </a:p>
                  </a:txBody>
                  <a:tcPr/>
                </a:tc>
                <a:tc>
                  <a:txBody>
                    <a:bodyPr/>
                    <a:lstStyle/>
                    <a:p>
                      <a:pPr marL="0" marR="0">
                        <a:lnSpc>
                          <a:spcPct val="107000"/>
                        </a:lnSpc>
                        <a:spcBef>
                          <a:spcPts val="0"/>
                        </a:spcBef>
                        <a:spcAft>
                          <a:spcPts val="0"/>
                        </a:spcAft>
                      </a:pPr>
                      <a:r>
                        <a:rPr lang="en-GB" sz="1600">
                          <a:latin typeface="Times New Roman"/>
                          <a:ea typeface="Calibri"/>
                          <a:cs typeface="Times New Roman"/>
                        </a:rPr>
                        <a:t>2013/2014</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a:latin typeface="Times New Roman"/>
                          <a:ea typeface="Calibri"/>
                          <a:cs typeface="Times New Roman"/>
                        </a:rPr>
                        <a:t>1,931</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1731">
                <a:tc vMerge="1">
                  <a:txBody>
                    <a:bodyPr/>
                    <a:lstStyle/>
                    <a:p>
                      <a:endParaRPr lang="en-US"/>
                    </a:p>
                  </a:txBody>
                  <a:tcPr/>
                </a:tc>
                <a:tc>
                  <a:txBody>
                    <a:bodyPr/>
                    <a:lstStyle/>
                    <a:p>
                      <a:pPr marL="0" marR="0">
                        <a:lnSpc>
                          <a:spcPct val="107000"/>
                        </a:lnSpc>
                        <a:spcBef>
                          <a:spcPts val="0"/>
                        </a:spcBef>
                        <a:spcAft>
                          <a:spcPts val="0"/>
                        </a:spcAft>
                      </a:pPr>
                      <a:r>
                        <a:rPr lang="en-GB" sz="1600">
                          <a:latin typeface="Times New Roman"/>
                          <a:ea typeface="Calibri"/>
                          <a:cs typeface="Times New Roman"/>
                        </a:rPr>
                        <a:t>2014/2015 (cut-off at 180 and Two O’Level Sittings)</a:t>
                      </a:r>
                      <a:endParaRPr lang="en-US" sz="140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600" dirty="0">
                          <a:latin typeface="Times New Roman"/>
                          <a:ea typeface="Calibri"/>
                          <a:cs typeface="Times New Roman"/>
                        </a:rPr>
                        <a:t>4,408</a:t>
                      </a:r>
                      <a:endParaRPr lang="en-US" sz="1400" dirty="0">
                        <a:latin typeface="Calibri"/>
                        <a:ea typeface="Calibri"/>
                        <a:cs typeface="Times New Roman"/>
                      </a:endParaRPr>
                    </a:p>
                  </a:txBody>
                  <a:tcPr marL="18129" marR="181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p:nvPr/>
        </p:nvSpPr>
        <p:spPr>
          <a:xfrm>
            <a:off x="914400" y="5742801"/>
            <a:ext cx="7010400" cy="307777"/>
          </a:xfrm>
          <a:prstGeom prst="rect">
            <a:avLst/>
          </a:prstGeom>
          <a:noFill/>
        </p:spPr>
        <p:txBody>
          <a:bodyPr wrap="square" rtlCol="0">
            <a:spAutoFit/>
          </a:bodyPr>
          <a:lstStyle/>
          <a:p>
            <a:r>
              <a:rPr lang="en-GB" sz="1400" b="1" i="1" dirty="0"/>
              <a:t>Table 3: </a:t>
            </a:r>
            <a:r>
              <a:rPr lang="en-GB" sz="1400" i="1" dirty="0"/>
              <a:t>Matriculation List from </a:t>
            </a:r>
            <a:r>
              <a:rPr lang="en-GB" sz="1400" i="1" dirty="0" smtClean="0"/>
              <a:t>2002/2003 </a:t>
            </a:r>
            <a:r>
              <a:rPr lang="en-GB" sz="1400" i="1" dirty="0"/>
              <a:t>– </a:t>
            </a:r>
            <a:r>
              <a:rPr lang="en-GB" sz="1400" i="1" dirty="0" smtClean="0"/>
              <a:t>2014/2015</a:t>
            </a:r>
            <a:endParaRPr lang="en-US" sz="1400" i="1" dirty="0"/>
          </a:p>
        </p:txBody>
      </p:sp>
      <p:sp>
        <p:nvSpPr>
          <p:cNvPr id="6" name="TextBox 5"/>
          <p:cNvSpPr txBox="1"/>
          <p:nvPr/>
        </p:nvSpPr>
        <p:spPr>
          <a:xfrm>
            <a:off x="5105400" y="6172200"/>
            <a:ext cx="3581400" cy="276999"/>
          </a:xfrm>
          <a:prstGeom prst="rect">
            <a:avLst/>
          </a:prstGeom>
          <a:noFill/>
        </p:spPr>
        <p:txBody>
          <a:bodyPr wrap="square" rtlCol="0">
            <a:spAutoFit/>
          </a:bodyPr>
          <a:lstStyle/>
          <a:p>
            <a:r>
              <a:rPr lang="en-GB" sz="1200" i="1" dirty="0"/>
              <a:t>Source: From Senate and Academic Matters (2016/2)</a:t>
            </a:r>
            <a:endParaRPr lang="en-US" sz="1200" dirty="0"/>
          </a:p>
        </p:txBody>
      </p:sp>
      <p:sp>
        <p:nvSpPr>
          <p:cNvPr id="7" name="Slide Number Placeholder 6"/>
          <p:cNvSpPr>
            <a:spLocks noGrp="1"/>
          </p:cNvSpPr>
          <p:nvPr>
            <p:ph type="sldNum" sz="quarter" idx="12"/>
          </p:nvPr>
        </p:nvSpPr>
        <p:spPr/>
        <p:txBody>
          <a:bodyPr/>
          <a:lstStyle/>
          <a:p>
            <a:fld id="{936B4CCB-AA54-445F-B97A-D90E05E9C5B1}" type="slidenum">
              <a:rPr lang="en-US" smtClean="0"/>
              <a:pPr/>
              <a:t>10</a:t>
            </a:fld>
            <a:endParaRPr lang="en-US"/>
          </a:p>
        </p:txBody>
      </p:sp>
      <p:sp>
        <p:nvSpPr>
          <p:cNvPr id="8" name="Footer Placeholder 7"/>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lgn="l"/>
            <a:r>
              <a:rPr lang="en-GB" sz="2000" dirty="0" smtClean="0"/>
              <a:t>ii. Why </a:t>
            </a:r>
            <a:r>
              <a:rPr lang="en-GB" sz="2000" dirty="0"/>
              <a:t>are parents running away from sending their wards to this University</a:t>
            </a:r>
            <a:r>
              <a:rPr lang="en-GB" sz="2000" dirty="0" smtClean="0"/>
              <a:t>?</a:t>
            </a:r>
            <a:endParaRPr lang="en-US" sz="2000" dirty="0"/>
          </a:p>
        </p:txBody>
      </p:sp>
      <p:sp>
        <p:nvSpPr>
          <p:cNvPr id="4" name="Slide Number Placeholder 3"/>
          <p:cNvSpPr>
            <a:spLocks noGrp="1"/>
          </p:cNvSpPr>
          <p:nvPr>
            <p:ph type="sldNum" sz="quarter" idx="12"/>
          </p:nvPr>
        </p:nvSpPr>
        <p:spPr/>
        <p:txBody>
          <a:bodyPr/>
          <a:lstStyle/>
          <a:p>
            <a:fld id="{936B4CCB-AA54-445F-B97A-D90E05E9C5B1}" type="slidenum">
              <a:rPr lang="en-US" smtClean="0"/>
              <a:pPr/>
              <a:t>11</a:t>
            </a:fld>
            <a:endParaRPr lang="en-US"/>
          </a:p>
        </p:txBody>
      </p:sp>
      <p:sp>
        <p:nvSpPr>
          <p:cNvPr id="5" name="Footer Placeholder 4"/>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pic>
        <p:nvPicPr>
          <p:cNvPr id="8" name="Content Placeholder 7" descr="0818_college-move.jpg"/>
          <p:cNvPicPr>
            <a:picLocks noGrp="1" noChangeAspect="1"/>
          </p:cNvPicPr>
          <p:nvPr>
            <p:ph idx="1"/>
          </p:nvPr>
        </p:nvPicPr>
        <p:blipFill>
          <a:blip r:embed="rId2"/>
          <a:stretch>
            <a:fillRect/>
          </a:stretch>
        </p:blipFill>
        <p:spPr>
          <a:xfrm>
            <a:off x="1144052" y="1295400"/>
            <a:ext cx="6855896" cy="4525962"/>
          </a:xfrm>
        </p:spPr>
      </p:pic>
    </p:spTree>
  </p:cSld>
  <p:clrMapOvr>
    <a:masterClrMapping/>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l"/>
            <a:r>
              <a:rPr lang="en-US" sz="2000" dirty="0" smtClean="0"/>
              <a:t>iii. </a:t>
            </a:r>
            <a:r>
              <a:rPr lang="en-GB" sz="2000" dirty="0"/>
              <a:t>Why are admissions seekers not patronizing our programmes</a:t>
            </a:r>
            <a:r>
              <a:rPr lang="en-GB" sz="2000" dirty="0" smtClean="0"/>
              <a:t>?</a:t>
            </a:r>
            <a:endParaRPr lang="en-US" sz="2000" dirty="0"/>
          </a:p>
        </p:txBody>
      </p:sp>
      <p:graphicFrame>
        <p:nvGraphicFramePr>
          <p:cNvPr id="4" name="Content Placeholder 3"/>
          <p:cNvGraphicFramePr>
            <a:graphicFrameLocks noGrp="1"/>
          </p:cNvGraphicFramePr>
          <p:nvPr>
            <p:ph idx="1"/>
          </p:nvPr>
        </p:nvGraphicFramePr>
        <p:xfrm>
          <a:off x="914400" y="1828800"/>
          <a:ext cx="7010400" cy="2739457"/>
        </p:xfrm>
        <a:graphic>
          <a:graphicData uri="http://schemas.openxmlformats.org/drawingml/2006/table">
            <a:tbl>
              <a:tblPr/>
              <a:tblGrid>
                <a:gridCol w="613411"/>
                <a:gridCol w="3577589"/>
                <a:gridCol w="2819400"/>
              </a:tblGrid>
              <a:tr h="0">
                <a:tc>
                  <a:txBody>
                    <a:bodyPr/>
                    <a:lstStyle/>
                    <a:p>
                      <a:pPr marL="0" marR="0" algn="just">
                        <a:lnSpc>
                          <a:spcPct val="107000"/>
                        </a:lnSpc>
                        <a:spcBef>
                          <a:spcPts val="0"/>
                        </a:spcBef>
                        <a:spcAft>
                          <a:spcPts val="0"/>
                        </a:spcAft>
                      </a:pPr>
                      <a:r>
                        <a:rPr lang="en-GB" sz="2400">
                          <a:latin typeface="Times New Roman"/>
                          <a:ea typeface="Calibri"/>
                          <a:cs typeface="Times New Roman"/>
                        </a:rPr>
                        <a:t>S/N</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GB" sz="2400">
                          <a:latin typeface="Times New Roman"/>
                          <a:ea typeface="Calibri"/>
                          <a:cs typeface="Times New Roman"/>
                        </a:rPr>
                        <a:t>University</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400">
                          <a:latin typeface="Times New Roman"/>
                          <a:ea typeface="Calibri"/>
                          <a:cs typeface="Times New Roman"/>
                        </a:rPr>
                        <a:t>No. of Applicants</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400">
                          <a:latin typeface="Times New Roman"/>
                          <a:ea typeface="Calibri"/>
                          <a:cs typeface="Times New Roman"/>
                        </a:rPr>
                        <a:t>1.</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2400">
                          <a:latin typeface="Times New Roman"/>
                          <a:ea typeface="Calibri"/>
                          <a:cs typeface="Times New Roman"/>
                        </a:rPr>
                        <a:t>University of Ilorin</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400">
                          <a:latin typeface="Times New Roman"/>
                          <a:ea typeface="Calibri"/>
                          <a:cs typeface="Times New Roman"/>
                        </a:rPr>
                        <a:t>85,495</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400">
                          <a:latin typeface="Times New Roman"/>
                          <a:ea typeface="Calibri"/>
                          <a:cs typeface="Times New Roman"/>
                        </a:rPr>
                        <a:t>2.</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2400">
                          <a:latin typeface="Times New Roman"/>
                          <a:ea typeface="Calibri"/>
                          <a:cs typeface="Times New Roman"/>
                        </a:rPr>
                        <a:t>University of Benin</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400">
                          <a:latin typeface="Times New Roman"/>
                          <a:ea typeface="Calibri"/>
                          <a:cs typeface="Times New Roman"/>
                        </a:rPr>
                        <a:t>60,020</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400">
                          <a:latin typeface="Times New Roman"/>
                          <a:ea typeface="Calibri"/>
                          <a:cs typeface="Times New Roman"/>
                        </a:rPr>
                        <a:t>3.</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2400">
                          <a:latin typeface="Times New Roman"/>
                          <a:ea typeface="Calibri"/>
                          <a:cs typeface="Times New Roman"/>
                        </a:rPr>
                        <a:t>Nnamdi Azikwe University</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400">
                          <a:latin typeface="Times New Roman"/>
                          <a:ea typeface="Calibri"/>
                          <a:cs typeface="Times New Roman"/>
                        </a:rPr>
                        <a:t>58,410</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400">
                          <a:latin typeface="Times New Roman"/>
                          <a:ea typeface="Calibri"/>
                          <a:cs typeface="Times New Roman"/>
                        </a:rPr>
                        <a:t>4.</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2400">
                          <a:latin typeface="Times New Roman"/>
                          <a:ea typeface="Calibri"/>
                          <a:cs typeface="Times New Roman"/>
                        </a:rPr>
                        <a:t>Ahmadu Bello University</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400">
                          <a:latin typeface="Times New Roman"/>
                          <a:ea typeface="Calibri"/>
                          <a:cs typeface="Times New Roman"/>
                        </a:rPr>
                        <a:t>52,785</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400">
                          <a:latin typeface="Times New Roman"/>
                          <a:ea typeface="Calibri"/>
                          <a:cs typeface="Times New Roman"/>
                        </a:rPr>
                        <a:t>5.</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2400">
                          <a:latin typeface="Times New Roman"/>
                          <a:ea typeface="Calibri"/>
                          <a:cs typeface="Times New Roman"/>
                        </a:rPr>
                        <a:t>University of Lagos</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400">
                          <a:latin typeface="Times New Roman"/>
                          <a:ea typeface="Calibri"/>
                          <a:cs typeface="Times New Roman"/>
                        </a:rPr>
                        <a:t>49,059</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400">
                          <a:latin typeface="Times New Roman"/>
                          <a:ea typeface="Calibri"/>
                          <a:cs typeface="Times New Roman"/>
                        </a:rPr>
                        <a:t>6.</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GB" sz="2400">
                          <a:latin typeface="Times New Roman"/>
                          <a:ea typeface="Calibri"/>
                          <a:cs typeface="Times New Roman"/>
                        </a:rPr>
                        <a:t>Ekiti State University</a:t>
                      </a: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400" dirty="0">
                          <a:latin typeface="Times New Roman"/>
                          <a:ea typeface="Calibri"/>
                          <a:cs typeface="Times New Roman"/>
                        </a:rPr>
                        <a:t>4,292</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p:nvPr/>
        </p:nvSpPr>
        <p:spPr>
          <a:xfrm>
            <a:off x="1600200" y="5257800"/>
            <a:ext cx="5715000" cy="369332"/>
          </a:xfrm>
          <a:prstGeom prst="rect">
            <a:avLst/>
          </a:prstGeom>
          <a:noFill/>
        </p:spPr>
        <p:txBody>
          <a:bodyPr wrap="square" rtlCol="0">
            <a:spAutoFit/>
          </a:bodyPr>
          <a:lstStyle/>
          <a:p>
            <a:r>
              <a:rPr lang="en-GB" b="1" i="1" dirty="0"/>
              <a:t>Table 4:</a:t>
            </a:r>
            <a:r>
              <a:rPr lang="en-GB" i="1" dirty="0"/>
              <a:t> JAMB 2015 Applicants in selected Universities</a:t>
            </a:r>
            <a:endParaRPr lang="en-US" i="1" dirty="0"/>
          </a:p>
        </p:txBody>
      </p:sp>
      <p:sp>
        <p:nvSpPr>
          <p:cNvPr id="6" name="TextBox 5"/>
          <p:cNvSpPr txBox="1"/>
          <p:nvPr/>
        </p:nvSpPr>
        <p:spPr>
          <a:xfrm>
            <a:off x="5943600" y="5742801"/>
            <a:ext cx="2057400" cy="276999"/>
          </a:xfrm>
          <a:prstGeom prst="rect">
            <a:avLst/>
          </a:prstGeom>
          <a:noFill/>
        </p:spPr>
        <p:txBody>
          <a:bodyPr wrap="square" rtlCol="0">
            <a:spAutoFit/>
          </a:bodyPr>
          <a:lstStyle/>
          <a:p>
            <a:r>
              <a:rPr lang="en-GB" sz="1200" i="1" dirty="0"/>
              <a:t>Source: From JAMB Website</a:t>
            </a:r>
            <a:endParaRPr lang="en-US" sz="1200" dirty="0"/>
          </a:p>
        </p:txBody>
      </p:sp>
      <p:sp>
        <p:nvSpPr>
          <p:cNvPr id="7" name="Slide Number Placeholder 6"/>
          <p:cNvSpPr>
            <a:spLocks noGrp="1"/>
          </p:cNvSpPr>
          <p:nvPr>
            <p:ph type="sldNum" sz="quarter" idx="12"/>
          </p:nvPr>
        </p:nvSpPr>
        <p:spPr/>
        <p:txBody>
          <a:bodyPr/>
          <a:lstStyle/>
          <a:p>
            <a:fld id="{936B4CCB-AA54-445F-B97A-D90E05E9C5B1}" type="slidenum">
              <a:rPr lang="en-US" smtClean="0"/>
              <a:pPr/>
              <a:t>12</a:t>
            </a:fld>
            <a:endParaRPr lang="en-US"/>
          </a:p>
        </p:txBody>
      </p:sp>
      <p:sp>
        <p:nvSpPr>
          <p:cNvPr id="8" name="Footer Placeholder 7"/>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288925" lvl="0" indent="-288925" algn="l"/>
            <a:r>
              <a:rPr lang="en-US" sz="2000" dirty="0" smtClean="0"/>
              <a:t>iv. </a:t>
            </a:r>
            <a:r>
              <a:rPr lang="en-GB" sz="2000" dirty="0"/>
              <a:t>Why are members of staff, particularly, Teaching staff sending their wards to Private Universities</a:t>
            </a:r>
            <a:r>
              <a:rPr lang="en-GB" sz="2000" dirty="0" smtClean="0"/>
              <a:t>?</a:t>
            </a:r>
            <a:endParaRPr lang="en-US" sz="2000" dirty="0"/>
          </a:p>
        </p:txBody>
      </p:sp>
      <p:pic>
        <p:nvPicPr>
          <p:cNvPr id="6" name="Content Placeholder 5" descr="index.jpg"/>
          <p:cNvPicPr>
            <a:picLocks noGrp="1" noChangeAspect="1"/>
          </p:cNvPicPr>
          <p:nvPr>
            <p:ph idx="1"/>
          </p:nvPr>
        </p:nvPicPr>
        <p:blipFill>
          <a:blip r:embed="rId2"/>
          <a:stretch>
            <a:fillRect/>
          </a:stretch>
        </p:blipFill>
        <p:spPr>
          <a:xfrm>
            <a:off x="1111218" y="1371600"/>
            <a:ext cx="7042182" cy="4373562"/>
          </a:xfrm>
        </p:spPr>
      </p:pic>
      <p:sp>
        <p:nvSpPr>
          <p:cNvPr id="4" name="Slide Number Placeholder 3"/>
          <p:cNvSpPr>
            <a:spLocks noGrp="1"/>
          </p:cNvSpPr>
          <p:nvPr>
            <p:ph type="sldNum" sz="quarter" idx="12"/>
          </p:nvPr>
        </p:nvSpPr>
        <p:spPr/>
        <p:txBody>
          <a:bodyPr/>
          <a:lstStyle/>
          <a:p>
            <a:fld id="{936B4CCB-AA54-445F-B97A-D90E05E9C5B1}" type="slidenum">
              <a:rPr lang="en-US" smtClean="0"/>
              <a:pPr/>
              <a:t>13</a:t>
            </a:fld>
            <a:endParaRPr lang="en-US"/>
          </a:p>
        </p:txBody>
      </p:sp>
      <p:sp>
        <p:nvSpPr>
          <p:cNvPr id="5" name="Footer Placeholder 4"/>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000" dirty="0" smtClean="0"/>
              <a:t>v. </a:t>
            </a:r>
            <a:r>
              <a:rPr lang="en-GB" sz="2000" dirty="0"/>
              <a:t>Are products of Private Universities better than Federal/State Universities?</a:t>
            </a:r>
            <a:endParaRPr lang="en-US" sz="2000" dirty="0"/>
          </a:p>
        </p:txBody>
      </p:sp>
      <p:graphicFrame>
        <p:nvGraphicFramePr>
          <p:cNvPr id="4" name="Content Placeholder 3"/>
          <p:cNvGraphicFramePr>
            <a:graphicFrameLocks noGrp="1"/>
          </p:cNvGraphicFramePr>
          <p:nvPr>
            <p:ph idx="1"/>
          </p:nvPr>
        </p:nvGraphicFramePr>
        <p:xfrm>
          <a:off x="914400" y="1600200"/>
          <a:ext cx="7467600" cy="3261360"/>
        </p:xfrm>
        <a:graphic>
          <a:graphicData uri="http://schemas.openxmlformats.org/drawingml/2006/table">
            <a:tbl>
              <a:tblPr/>
              <a:tblGrid>
                <a:gridCol w="2489200"/>
                <a:gridCol w="2489200"/>
                <a:gridCol w="2489200"/>
              </a:tblGrid>
              <a:tr h="0">
                <a:tc>
                  <a:txBody>
                    <a:bodyPr/>
                    <a:lstStyle/>
                    <a:p>
                      <a:pPr marL="0" marR="0" algn="ctr">
                        <a:lnSpc>
                          <a:spcPct val="107000"/>
                        </a:lnSpc>
                        <a:spcBef>
                          <a:spcPts val="0"/>
                        </a:spcBef>
                        <a:spcAft>
                          <a:spcPts val="0"/>
                        </a:spcAft>
                      </a:pPr>
                      <a:r>
                        <a:rPr lang="en-GB" sz="2000" b="1" dirty="0">
                          <a:latin typeface="Times New Roman"/>
                          <a:ea typeface="Calibri"/>
                          <a:cs typeface="Times New Roman"/>
                        </a:rPr>
                        <a:t>Faculties</a:t>
                      </a:r>
                      <a:endParaRPr lang="en-US" sz="16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b="1">
                          <a:latin typeface="Times New Roman"/>
                          <a:ea typeface="Calibri"/>
                          <a:cs typeface="Times New Roman"/>
                        </a:rPr>
                        <a:t>Faculty Screening</a:t>
                      </a:r>
                      <a:endParaRPr lang="en-US" sz="1600" b="1">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b="1" dirty="0">
                          <a:latin typeface="Times New Roman"/>
                          <a:ea typeface="Calibri"/>
                          <a:cs typeface="Times New Roman"/>
                        </a:rPr>
                        <a:t>Central Screening</a:t>
                      </a:r>
                      <a:endParaRPr lang="en-US" sz="16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000">
                          <a:latin typeface="Times New Roman"/>
                          <a:ea typeface="Calibri"/>
                          <a:cs typeface="Times New Roman"/>
                        </a:rPr>
                        <a:t>Agricultural Sciences</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dirty="0">
                          <a:latin typeface="Times New Roman"/>
                          <a:ea typeface="Calibri"/>
                          <a:cs typeface="Times New Roman"/>
                        </a:rPr>
                        <a:t>275</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42</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000">
                          <a:latin typeface="Times New Roman"/>
                          <a:ea typeface="Calibri"/>
                          <a:cs typeface="Times New Roman"/>
                        </a:rPr>
                        <a:t>Arts</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507</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170</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000">
                          <a:latin typeface="Times New Roman"/>
                          <a:ea typeface="Calibri"/>
                          <a:cs typeface="Times New Roman"/>
                        </a:rPr>
                        <a:t>Education</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133</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114</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000">
                          <a:latin typeface="Times New Roman"/>
                          <a:ea typeface="Calibri"/>
                          <a:cs typeface="Times New Roman"/>
                        </a:rPr>
                        <a:t>Engineering</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98</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81</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000">
                          <a:latin typeface="Times New Roman"/>
                          <a:ea typeface="Calibri"/>
                          <a:cs typeface="Times New Roman"/>
                        </a:rPr>
                        <a:t>Management Sciences</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773</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211</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000">
                          <a:latin typeface="Times New Roman"/>
                          <a:ea typeface="Calibri"/>
                          <a:cs typeface="Times New Roman"/>
                        </a:rPr>
                        <a:t>Sciences</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1200</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240</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000">
                          <a:latin typeface="Times New Roman"/>
                          <a:ea typeface="Calibri"/>
                          <a:cs typeface="Times New Roman"/>
                        </a:rPr>
                        <a:t>Social Sciences</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661</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224</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just">
                        <a:lnSpc>
                          <a:spcPct val="107000"/>
                        </a:lnSpc>
                        <a:spcBef>
                          <a:spcPts val="0"/>
                        </a:spcBef>
                        <a:spcAft>
                          <a:spcPts val="0"/>
                        </a:spcAft>
                      </a:pPr>
                      <a:r>
                        <a:rPr lang="en-GB" sz="2000">
                          <a:latin typeface="Times New Roman"/>
                          <a:ea typeface="Calibri"/>
                          <a:cs typeface="Times New Roman"/>
                        </a:rPr>
                        <a:t>Law</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86</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a:latin typeface="Times New Roman"/>
                          <a:ea typeface="Calibri"/>
                          <a:cs typeface="Times New Roman"/>
                        </a:rPr>
                        <a:t>4</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lgn="r">
                        <a:lnSpc>
                          <a:spcPct val="107000"/>
                        </a:lnSpc>
                        <a:spcBef>
                          <a:spcPts val="0"/>
                        </a:spcBef>
                        <a:spcAft>
                          <a:spcPts val="0"/>
                        </a:spcAft>
                      </a:pPr>
                      <a:r>
                        <a:rPr lang="en-GB" sz="2000" b="1">
                          <a:latin typeface="Times New Roman"/>
                          <a:ea typeface="Calibri"/>
                          <a:cs typeface="Times New Roman"/>
                        </a:rPr>
                        <a:t>Total</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b="1">
                          <a:latin typeface="Times New Roman"/>
                          <a:ea typeface="Calibri"/>
                          <a:cs typeface="Times New Roman"/>
                        </a:rPr>
                        <a:t>3458</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2000" b="1" dirty="0">
                          <a:latin typeface="Times New Roman"/>
                          <a:ea typeface="Calibri"/>
                          <a:cs typeface="Times New Roman"/>
                        </a:rPr>
                        <a:t>1086</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TextBox 6"/>
          <p:cNvSpPr txBox="1"/>
          <p:nvPr/>
        </p:nvSpPr>
        <p:spPr>
          <a:xfrm>
            <a:off x="685800" y="5389602"/>
            <a:ext cx="4191000" cy="307777"/>
          </a:xfrm>
          <a:prstGeom prst="rect">
            <a:avLst/>
          </a:prstGeom>
          <a:noFill/>
        </p:spPr>
        <p:txBody>
          <a:bodyPr wrap="square" rtlCol="0">
            <a:spAutoFit/>
          </a:bodyPr>
          <a:lstStyle/>
          <a:p>
            <a:r>
              <a:rPr lang="en-GB" sz="1400" b="1" i="1" dirty="0"/>
              <a:t>Table 5: </a:t>
            </a:r>
            <a:r>
              <a:rPr lang="en-GB" sz="1400" i="1" dirty="0"/>
              <a:t>Screening of Newly Admitted students</a:t>
            </a:r>
            <a:endParaRPr lang="en-US" sz="1400" i="1" dirty="0"/>
          </a:p>
        </p:txBody>
      </p:sp>
      <p:sp>
        <p:nvSpPr>
          <p:cNvPr id="8" name="TextBox 7"/>
          <p:cNvSpPr txBox="1"/>
          <p:nvPr/>
        </p:nvSpPr>
        <p:spPr>
          <a:xfrm>
            <a:off x="4876800" y="5819001"/>
            <a:ext cx="3581400" cy="276999"/>
          </a:xfrm>
          <a:prstGeom prst="rect">
            <a:avLst/>
          </a:prstGeom>
          <a:noFill/>
        </p:spPr>
        <p:txBody>
          <a:bodyPr wrap="square" rtlCol="0">
            <a:spAutoFit/>
          </a:bodyPr>
          <a:lstStyle/>
          <a:p>
            <a:r>
              <a:rPr lang="en-GB" sz="1200" i="1" dirty="0"/>
              <a:t>Source: From Senate and Academic Matters (2016/2)</a:t>
            </a:r>
            <a:endParaRPr lang="en-US" sz="1200" dirty="0"/>
          </a:p>
        </p:txBody>
      </p:sp>
      <p:sp>
        <p:nvSpPr>
          <p:cNvPr id="9" name="Slide Number Placeholder 8"/>
          <p:cNvSpPr>
            <a:spLocks noGrp="1"/>
          </p:cNvSpPr>
          <p:nvPr>
            <p:ph type="sldNum" sz="quarter" idx="12"/>
          </p:nvPr>
        </p:nvSpPr>
        <p:spPr/>
        <p:txBody>
          <a:bodyPr/>
          <a:lstStyle/>
          <a:p>
            <a:fld id="{936B4CCB-AA54-445F-B97A-D90E05E9C5B1}" type="slidenum">
              <a:rPr lang="en-US" smtClean="0"/>
              <a:pPr/>
              <a:t>14</a:t>
            </a:fld>
            <a:endParaRPr lang="en-US"/>
          </a:p>
        </p:txBody>
      </p:sp>
      <p:sp>
        <p:nvSpPr>
          <p:cNvPr id="10" name="Footer Placeholder 9"/>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just">
              <a:buNone/>
            </a:pPr>
            <a:r>
              <a:rPr lang="en-GB" dirty="0"/>
              <a:t>Please note that </a:t>
            </a:r>
            <a:r>
              <a:rPr lang="en-GB" dirty="0" err="1"/>
              <a:t>Ahmadu</a:t>
            </a:r>
            <a:r>
              <a:rPr lang="en-GB" dirty="0"/>
              <a:t> Bello University, Zaria matriculated about 11,049 students while University of Ilorin matriculated only 10,400 students last week. From the foregoing, it should be observed that the Culture of the University has to change and the following are observed as some of the reasons why the University is not in hot demand by prospective candidates seeking admission:</a:t>
            </a:r>
            <a:endParaRPr lang="en-US" dirty="0"/>
          </a:p>
        </p:txBody>
      </p:sp>
      <p:sp>
        <p:nvSpPr>
          <p:cNvPr id="4" name="Slide Number Placeholder 3"/>
          <p:cNvSpPr>
            <a:spLocks noGrp="1"/>
          </p:cNvSpPr>
          <p:nvPr>
            <p:ph type="sldNum" sz="quarter" idx="12"/>
          </p:nvPr>
        </p:nvSpPr>
        <p:spPr/>
        <p:txBody>
          <a:bodyPr/>
          <a:lstStyle/>
          <a:p>
            <a:fld id="{936B4CCB-AA54-445F-B97A-D90E05E9C5B1}" type="slidenum">
              <a:rPr lang="en-US" smtClean="0"/>
              <a:pPr/>
              <a:t>15</a:t>
            </a:fld>
            <a:endParaRPr lang="en-US"/>
          </a:p>
        </p:txBody>
      </p:sp>
      <p:sp>
        <p:nvSpPr>
          <p:cNvPr id="5" name="Footer Placeholder 4"/>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lvl="0" algn="just"/>
            <a:r>
              <a:rPr lang="en-GB" dirty="0"/>
              <a:t>Most parents are not happy that results of their Children/Wards are not released on time and therefore they inform their friends who also frown at this prolonged delay and are therefore discouraged.</a:t>
            </a:r>
            <a:endParaRPr lang="en-US" dirty="0"/>
          </a:p>
          <a:p>
            <a:pPr lvl="0" algn="just"/>
            <a:r>
              <a:rPr lang="en-GB" dirty="0"/>
              <a:t>The Non-Teaching Staff, Administrative and Bursary staffs were also accused of not attending to students promptly. Rumour has it that some Members of Staff (Teaching and Non-Teaching) say negative words into the life of the Students which are not palatable for them and their parent when informed. This projects the University in a bad light.</a:t>
            </a:r>
            <a:endParaRPr lang="en-US" dirty="0"/>
          </a:p>
          <a:p>
            <a:pPr lvl="0" algn="just"/>
            <a:r>
              <a:rPr lang="en-GB" dirty="0"/>
              <a:t>There is a report of high rate of failure in some Faculties. Management should look inwards and the policy makers i.e. Academicians in Administration should monitor the activities of their staff.</a:t>
            </a:r>
            <a:endParaRPr lang="en-US" dirty="0"/>
          </a:p>
          <a:p>
            <a:pPr algn="just">
              <a:buNone/>
            </a:pPr>
            <a:endParaRPr lang="en-US" dirty="0"/>
          </a:p>
        </p:txBody>
      </p:sp>
      <p:sp>
        <p:nvSpPr>
          <p:cNvPr id="4" name="Slide Number Placeholder 3"/>
          <p:cNvSpPr>
            <a:spLocks noGrp="1"/>
          </p:cNvSpPr>
          <p:nvPr>
            <p:ph type="sldNum" sz="quarter" idx="12"/>
          </p:nvPr>
        </p:nvSpPr>
        <p:spPr/>
        <p:txBody>
          <a:bodyPr/>
          <a:lstStyle/>
          <a:p>
            <a:fld id="{936B4CCB-AA54-445F-B97A-D90E05E9C5B1}" type="slidenum">
              <a:rPr lang="en-US" smtClean="0"/>
              <a:pPr/>
              <a:t>16</a:t>
            </a:fld>
            <a:endParaRPr lang="en-US"/>
          </a:p>
        </p:txBody>
      </p:sp>
      <p:sp>
        <p:nvSpPr>
          <p:cNvPr id="5" name="Footer Placeholder 4"/>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a:t>
            </a:r>
          </a:p>
          <a:p>
            <a:r>
              <a:rPr lang="en-US" dirty="0" smtClean="0"/>
              <a:t> 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b="1" dirty="0"/>
              <a:t>A NEW EKITI STATE UNIVERSITY: A NEW </a:t>
            </a:r>
            <a:r>
              <a:rPr lang="en-GB" sz="3200" b="1" dirty="0" smtClean="0"/>
              <a:t>ERA</a:t>
            </a:r>
            <a:endParaRPr lang="en-US" sz="3200" dirty="0"/>
          </a:p>
        </p:txBody>
      </p:sp>
      <p:sp>
        <p:nvSpPr>
          <p:cNvPr id="3" name="Content Placeholder 2"/>
          <p:cNvSpPr>
            <a:spLocks noGrp="1"/>
          </p:cNvSpPr>
          <p:nvPr>
            <p:ph idx="1"/>
          </p:nvPr>
        </p:nvSpPr>
        <p:spPr/>
        <p:txBody>
          <a:bodyPr/>
          <a:lstStyle/>
          <a:p>
            <a:pPr marL="0" indent="0" algn="just">
              <a:buNone/>
            </a:pPr>
            <a:r>
              <a:rPr lang="en-GB" dirty="0"/>
              <a:t>There is no gain saying to remind ourselves that, the welfare, the interest and progress of our Students and their upward mobility should be our joy and aspiration. It is because we have Students that we have Staffers. Arising from the above, the following are suggested as a way forward</a:t>
            </a:r>
            <a:r>
              <a:rPr lang="en-GB" dirty="0" smtClean="0"/>
              <a:t>.</a:t>
            </a:r>
            <a:endParaRPr lang="en-US" dirty="0"/>
          </a:p>
        </p:txBody>
      </p:sp>
      <p:sp>
        <p:nvSpPr>
          <p:cNvPr id="4" name="Slide Number Placeholder 3"/>
          <p:cNvSpPr>
            <a:spLocks noGrp="1"/>
          </p:cNvSpPr>
          <p:nvPr>
            <p:ph type="sldNum" sz="quarter" idx="12"/>
          </p:nvPr>
        </p:nvSpPr>
        <p:spPr/>
        <p:txBody>
          <a:bodyPr/>
          <a:lstStyle/>
          <a:p>
            <a:fld id="{936B4CCB-AA54-445F-B97A-D90E05E9C5B1}" type="slidenum">
              <a:rPr lang="en-US" smtClean="0"/>
              <a:pPr/>
              <a:t>17</a:t>
            </a:fld>
            <a:endParaRPr lang="en-US"/>
          </a:p>
        </p:txBody>
      </p:sp>
      <p:sp>
        <p:nvSpPr>
          <p:cNvPr id="5" name="Footer Placeholder 4"/>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A NEW EKITI STATE UNIVERSITY: A NEW ERA</a:t>
            </a:r>
            <a:endParaRPr lang="en-US" dirty="0"/>
          </a:p>
        </p:txBody>
      </p:sp>
      <p:sp>
        <p:nvSpPr>
          <p:cNvPr id="3" name="Content Placeholder 2"/>
          <p:cNvSpPr>
            <a:spLocks noGrp="1"/>
          </p:cNvSpPr>
          <p:nvPr>
            <p:ph idx="1"/>
          </p:nvPr>
        </p:nvSpPr>
        <p:spPr/>
        <p:txBody>
          <a:bodyPr>
            <a:normAutofit fontScale="85000" lnSpcReduction="20000"/>
          </a:bodyPr>
          <a:lstStyle/>
          <a:p>
            <a:pPr lvl="0"/>
            <a:r>
              <a:rPr lang="en-GB" dirty="0"/>
              <a:t>The entire workforce in the University requires a new orientation of having a staff to have a positive attitude towards Students.</a:t>
            </a:r>
            <a:endParaRPr lang="en-US" dirty="0"/>
          </a:p>
          <a:p>
            <a:pPr lvl="0"/>
            <a:r>
              <a:rPr lang="en-GB" dirty="0"/>
              <a:t>All members of Staff should see Students as their Children and hence encourage them to be alive to their responsibilities.</a:t>
            </a:r>
            <a:endParaRPr lang="en-US" dirty="0"/>
          </a:p>
          <a:p>
            <a:pPr lvl="0"/>
            <a:r>
              <a:rPr lang="en-GB" dirty="0"/>
              <a:t>Students should be protected, supported, encouraged, counselled and motivated positively.</a:t>
            </a:r>
            <a:endParaRPr lang="en-US" dirty="0"/>
          </a:p>
          <a:p>
            <a:pPr lvl="0"/>
            <a:r>
              <a:rPr lang="en-GB" dirty="0"/>
              <a:t>We should stop threatening Students that they won’t pass or that they will repeat courses.</a:t>
            </a:r>
            <a:endParaRPr lang="en-US" dirty="0"/>
          </a:p>
          <a:p>
            <a:pPr lvl="0"/>
            <a:r>
              <a:rPr lang="en-GB" dirty="0"/>
              <a:t>Lecturer should know that if majority of those they teach fail, then they have not impacted knowledge</a:t>
            </a:r>
            <a:r>
              <a:rPr lang="en-GB" dirty="0" smtClean="0"/>
              <a:t>.</a:t>
            </a:r>
            <a:endParaRPr lang="en-US" dirty="0"/>
          </a:p>
        </p:txBody>
      </p:sp>
      <p:sp>
        <p:nvSpPr>
          <p:cNvPr id="4" name="Slide Number Placeholder 3"/>
          <p:cNvSpPr>
            <a:spLocks noGrp="1"/>
          </p:cNvSpPr>
          <p:nvPr>
            <p:ph type="sldNum" sz="quarter" idx="12"/>
          </p:nvPr>
        </p:nvSpPr>
        <p:spPr/>
        <p:txBody>
          <a:bodyPr/>
          <a:lstStyle/>
          <a:p>
            <a:fld id="{936B4CCB-AA54-445F-B97A-D90E05E9C5B1}" type="slidenum">
              <a:rPr lang="en-US" smtClean="0"/>
              <a:pPr/>
              <a:t>18</a:t>
            </a:fld>
            <a:endParaRPr lang="en-US"/>
          </a:p>
        </p:txBody>
      </p:sp>
      <p:sp>
        <p:nvSpPr>
          <p:cNvPr id="5" name="Footer Placeholder 4"/>
          <p:cNvSpPr>
            <a:spLocks noGrp="1"/>
          </p:cNvSpPr>
          <p:nvPr>
            <p:ph type="ftr" sz="quarter" idx="11"/>
          </p:nvPr>
        </p:nvSpPr>
        <p:spPr/>
        <p:txBody>
          <a:bodyPr/>
          <a:lstStyle/>
          <a:p>
            <a:r>
              <a:rPr lang="en-US" smtClean="0"/>
              <a:t>Mr. Adeoya Babajide Adesola,  Director of Personnel</a:t>
            </a:r>
            <a:endParaRPr lang="en-US"/>
          </a:p>
        </p:txBody>
      </p:sp>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lvl="0"/>
            <a:r>
              <a:rPr lang="en-GB" dirty="0"/>
              <a:t>Prompt release of Students’ examination results after due consideration by the Departmental Board on Semester basis and erring Department should be sanctioned.</a:t>
            </a:r>
            <a:endParaRPr lang="en-US" dirty="0"/>
          </a:p>
          <a:p>
            <a:pPr lvl="0"/>
            <a:r>
              <a:rPr lang="en-GB" dirty="0"/>
              <a:t>Staff Advisers should be made to be friendly to Students and give proper guidance on courses to offer.</a:t>
            </a:r>
            <a:endParaRPr lang="en-US" dirty="0"/>
          </a:p>
          <a:p>
            <a:pPr lvl="0"/>
            <a:r>
              <a:rPr lang="en-GB" dirty="0"/>
              <a:t>More classrooms for lectures must be put in place.</a:t>
            </a:r>
            <a:endParaRPr lang="en-US" dirty="0"/>
          </a:p>
          <a:p>
            <a:pPr lvl="0"/>
            <a:r>
              <a:rPr lang="en-GB" dirty="0"/>
              <a:t>Campus beautification to arouse student interest.</a:t>
            </a:r>
            <a:endParaRPr lang="en-US" dirty="0"/>
          </a:p>
          <a:p>
            <a:pPr lvl="0"/>
            <a:r>
              <a:rPr lang="en-GB" dirty="0"/>
              <a:t>Sports facilities should be improved upon</a:t>
            </a:r>
            <a:r>
              <a:rPr lang="en-GB" dirty="0" smtClean="0"/>
              <a:t>.</a:t>
            </a:r>
            <a:endParaRPr lang="en-US" dirty="0"/>
          </a:p>
        </p:txBody>
      </p:sp>
      <p:sp>
        <p:nvSpPr>
          <p:cNvPr id="4" name="Title 1"/>
          <p:cNvSpPr>
            <a:spLocks noGrp="1"/>
          </p:cNvSpPr>
          <p:nvPr>
            <p:ph type="title"/>
          </p:nvPr>
        </p:nvSpPr>
        <p:spPr/>
        <p:txBody>
          <a:bodyPr>
            <a:normAutofit fontScale="90000"/>
          </a:bodyPr>
          <a:lstStyle/>
          <a:p>
            <a:r>
              <a:rPr lang="en-GB" b="1" dirty="0" smtClean="0"/>
              <a:t>A NEW EKITI STATE UNIVERSITY: A NEW ERA</a:t>
            </a:r>
            <a:endParaRPr lang="en-US" dirty="0"/>
          </a:p>
        </p:txBody>
      </p:sp>
      <p:sp>
        <p:nvSpPr>
          <p:cNvPr id="5" name="Slide Number Placeholder 4"/>
          <p:cNvSpPr>
            <a:spLocks noGrp="1"/>
          </p:cNvSpPr>
          <p:nvPr>
            <p:ph type="sldNum" sz="quarter" idx="12"/>
          </p:nvPr>
        </p:nvSpPr>
        <p:spPr/>
        <p:txBody>
          <a:bodyPr/>
          <a:lstStyle/>
          <a:p>
            <a:fld id="{936B4CCB-AA54-445F-B97A-D90E05E9C5B1}" type="slidenum">
              <a:rPr lang="en-US" smtClean="0"/>
              <a:pPr/>
              <a:t>19</a:t>
            </a:fld>
            <a:endParaRPr lang="en-US"/>
          </a:p>
        </p:txBody>
      </p:sp>
      <p:sp>
        <p:nvSpPr>
          <p:cNvPr id="6" name="Footer Placeholder 5"/>
          <p:cNvSpPr>
            <a:spLocks noGrp="1"/>
          </p:cNvSpPr>
          <p:nvPr>
            <p:ph type="ftr" sz="quarter" idx="11"/>
          </p:nvPr>
        </p:nvSpPr>
        <p:spPr/>
        <p:txBody>
          <a:bodyPr/>
          <a:lstStyle/>
          <a:p>
            <a:r>
              <a:rPr lang="en-US" dirty="0" smtClean="0"/>
              <a:t>Mr. </a:t>
            </a:r>
            <a:r>
              <a:rPr lang="en-US" dirty="0" err="1" smtClean="0"/>
              <a:t>Adeoya</a:t>
            </a:r>
            <a:r>
              <a:rPr lang="en-US" dirty="0" smtClean="0"/>
              <a:t> </a:t>
            </a:r>
            <a:r>
              <a:rPr lang="en-US" dirty="0" err="1" smtClean="0"/>
              <a:t>Babajide</a:t>
            </a:r>
            <a:r>
              <a:rPr lang="en-US" dirty="0" smtClean="0"/>
              <a:t> </a:t>
            </a:r>
            <a:r>
              <a:rPr lang="en-US" dirty="0" err="1" smtClean="0"/>
              <a:t>Adesola</a:t>
            </a:r>
            <a:r>
              <a:rPr lang="en-US" dirty="0" smtClean="0"/>
              <a:t>, </a:t>
            </a:r>
          </a:p>
          <a:p>
            <a:r>
              <a:rPr lang="en-US" dirty="0" smtClean="0"/>
              <a:t>Director of Personnel</a:t>
            </a:r>
            <a:endParaRPr lang="en-US" dirty="0"/>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THANKS FOR </a:t>
            </a:r>
            <a:r>
              <a:rPr lang="en-GB" dirty="0" smtClean="0"/>
              <a:t>LISTENING</a:t>
            </a:r>
            <a:endParaRPr lang="en-US" dirty="0"/>
          </a:p>
        </p:txBody>
      </p:sp>
      <p:sp>
        <p:nvSpPr>
          <p:cNvPr id="6" name="Slide Number Placeholder 5"/>
          <p:cNvSpPr>
            <a:spLocks noGrp="1"/>
          </p:cNvSpPr>
          <p:nvPr>
            <p:ph type="sldNum" sz="quarter" idx="12"/>
          </p:nvPr>
        </p:nvSpPr>
        <p:spPr/>
        <p:txBody>
          <a:bodyPr/>
          <a:lstStyle/>
          <a:p>
            <a:fld id="{936B4CCB-AA54-445F-B97A-D90E05E9C5B1}" type="slidenum">
              <a:rPr lang="en-US" smtClean="0"/>
              <a:pPr/>
              <a:t>20</a:t>
            </a:fld>
            <a:endParaRPr lang="en-US"/>
          </a:p>
        </p:txBody>
      </p:sp>
      <p:pic>
        <p:nvPicPr>
          <p:cNvPr id="5" name="Picture 4" descr="clap-animated-animation-clap-smiley-emoticon-000340-large.gif"/>
          <p:cNvPicPr>
            <a:picLocks noChangeAspect="1"/>
          </p:cNvPicPr>
          <p:nvPr/>
        </p:nvPicPr>
        <p:blipFill>
          <a:blip r:embed="rId2"/>
          <a:stretch>
            <a:fillRect/>
          </a:stretch>
        </p:blipFill>
        <p:spPr>
          <a:xfrm>
            <a:off x="3048000" y="1066800"/>
            <a:ext cx="3200400" cy="3228230"/>
          </a:xfrm>
          <a:prstGeom prst="rect">
            <a:avLst/>
          </a:prstGeom>
        </p:spPr>
      </p:pic>
    </p:spTree>
  </p:cSld>
  <p:clrMapOvr>
    <a:masterClrMapping/>
  </p:clrMapOvr>
  <p:transition>
    <p:random/>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1445</Words>
  <Application>Microsoft Office PowerPoint</Application>
  <PresentationFormat>On-screen Show (4:3)</PresentationFormat>
  <Paragraphs>251</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THE PERSONNEL STRENGTH AND THE STAFF TO STUDENTS RATIO IN THE UNIVERSITY: CHALLENGES AND WAY FORWARD</vt:lpstr>
      <vt:lpstr>INTRODUCTION</vt:lpstr>
      <vt:lpstr>BRIEF HISTORY</vt:lpstr>
      <vt:lpstr>Slide 4</vt:lpstr>
      <vt:lpstr>Personnel</vt:lpstr>
      <vt:lpstr>Personnel Strength</vt:lpstr>
      <vt:lpstr>STAFF TO STUDENT RATIO</vt:lpstr>
      <vt:lpstr>STAFF TO STUDENT RATIO</vt:lpstr>
      <vt:lpstr>CHALLENGES AND THE WAY FORWARD</vt:lpstr>
      <vt:lpstr>1. Is there any relevance and after effect as a result of change of name of the University from University of Ado-Ekiti to Ekiti State University?</vt:lpstr>
      <vt:lpstr>ii. Why are parents running away from sending their wards to this University?</vt:lpstr>
      <vt:lpstr>iii. Why are admissions seekers not patronizing our programmes?</vt:lpstr>
      <vt:lpstr>iv. Why are members of staff, particularly, Teaching staff sending their wards to Private Universities?</vt:lpstr>
      <vt:lpstr>v. Are products of Private Universities better than Federal/State Universities?</vt:lpstr>
      <vt:lpstr>Slide 15</vt:lpstr>
      <vt:lpstr>Slide 16</vt:lpstr>
      <vt:lpstr>A NEW EKITI STATE UNIVERSITY: A NEW ERA</vt:lpstr>
      <vt:lpstr>A NEW EKITI STATE UNIVERSITY: A NEW ERA</vt:lpstr>
      <vt:lpstr>A NEW EKITI STATE UNIVERSITY: A NEW ERA</vt:lpstr>
      <vt:lpstr>THANKS FOR LISTENING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PERSONNEL STRENGTH AND THE STAFF TO STUDENTS RATIO IN THE UNIVERSITY: CHALLENGES AND WAY FORWARD</dc:title>
  <dc:creator>DOP1</dc:creator>
  <cp:lastModifiedBy>DOP1</cp:lastModifiedBy>
  <cp:revision>14</cp:revision>
  <dcterms:created xsi:type="dcterms:W3CDTF">2016-02-02T12:46:13Z</dcterms:created>
  <dcterms:modified xsi:type="dcterms:W3CDTF">2016-02-02T14:47:35Z</dcterms:modified>
</cp:coreProperties>
</file>