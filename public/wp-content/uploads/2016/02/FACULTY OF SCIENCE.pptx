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drawings/drawing1.xml" ContentType="application/vnd.openxmlformats-officedocument.drawingml.chartshape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68" r:id="rId3"/>
    <p:sldId id="270" r:id="rId4"/>
    <p:sldId id="285" r:id="rId5"/>
    <p:sldId id="271" r:id="rId6"/>
    <p:sldId id="286" r:id="rId7"/>
    <p:sldId id="272" r:id="rId8"/>
    <p:sldId id="287" r:id="rId9"/>
    <p:sldId id="273" r:id="rId10"/>
    <p:sldId id="288" r:id="rId11"/>
    <p:sldId id="274" r:id="rId12"/>
    <p:sldId id="275" r:id="rId13"/>
    <p:sldId id="276" r:id="rId14"/>
    <p:sldId id="296" r:id="rId15"/>
    <p:sldId id="297" r:id="rId16"/>
    <p:sldId id="277" r:id="rId17"/>
    <p:sldId id="293" r:id="rId18"/>
    <p:sldId id="294" r:id="rId19"/>
    <p:sldId id="295" r:id="rId20"/>
    <p:sldId id="278" r:id="rId21"/>
    <p:sldId id="290" r:id="rId22"/>
    <p:sldId id="291" r:id="rId23"/>
    <p:sldId id="292" r:id="rId24"/>
    <p:sldId id="279" r:id="rId25"/>
    <p:sldId id="280" r:id="rId26"/>
    <p:sldId id="281" r:id="rId27"/>
    <p:sldId id="282" r:id="rId28"/>
    <p:sldId id="289" r:id="rId29"/>
    <p:sldId id="283" r:id="rId30"/>
    <p:sldId id="284" r:id="rId31"/>
    <p:sldId id="257" r:id="rId32"/>
    <p:sldId id="258" r:id="rId33"/>
    <p:sldId id="259" r:id="rId34"/>
    <p:sldId id="260" r:id="rId35"/>
    <p:sldId id="261" r:id="rId36"/>
    <p:sldId id="262" r:id="rId37"/>
    <p:sldId id="263" r:id="rId38"/>
    <p:sldId id="265" r:id="rId39"/>
    <p:sldId id="266" r:id="rId40"/>
    <p:sldId id="267" r:id="rId41"/>
    <p:sldId id="264" r:id="rId42"/>
  </p:sldIdLst>
  <p:sldSz cx="9144000" cy="6858000" type="screen4x3"/>
  <p:notesSz cx="6797675" cy="98742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Book1"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style val="1"/>
  <c:chart>
    <c:autoTitleDeleted val="1"/>
    <c:plotArea>
      <c:layout/>
      <c:barChart>
        <c:barDir val="col"/>
        <c:grouping val="clustered"/>
        <c:ser>
          <c:idx val="0"/>
          <c:order val="0"/>
          <c:tx>
            <c:strRef>
              <c:f>Sheet1!$D$1</c:f>
              <c:strCache>
                <c:ptCount val="1"/>
                <c:pt idx="0">
                  <c:v>STUDENTS’ POPULATION </c:v>
                </c:pt>
              </c:strCache>
            </c:strRef>
          </c:tx>
          <c:cat>
            <c:strRef>
              <c:f>Sheet1!$B$2:$B$10</c:f>
              <c:strCache>
                <c:ptCount val="9"/>
                <c:pt idx="0">
                  <c:v>BCH</c:v>
                </c:pt>
                <c:pt idx="1">
                  <c:v>CHM </c:v>
                </c:pt>
                <c:pt idx="2">
                  <c:v>GEY</c:v>
                </c:pt>
                <c:pt idx="3">
                  <c:v>MATHS</c:v>
                </c:pt>
                <c:pt idx="4">
                  <c:v>MCB </c:v>
                </c:pt>
                <c:pt idx="5">
                  <c:v>PHY</c:v>
                </c:pt>
                <c:pt idx="6">
                  <c:v>PLS</c:v>
                </c:pt>
                <c:pt idx="7">
                  <c:v>SLT. </c:v>
                </c:pt>
                <c:pt idx="8">
                  <c:v>ZOO</c:v>
                </c:pt>
              </c:strCache>
            </c:strRef>
          </c:cat>
          <c:val>
            <c:numRef>
              <c:f>Sheet1!$D$2:$D$10</c:f>
              <c:numCache>
                <c:formatCode>General</c:formatCode>
                <c:ptCount val="9"/>
                <c:pt idx="0">
                  <c:v>715</c:v>
                </c:pt>
                <c:pt idx="1">
                  <c:v>450</c:v>
                </c:pt>
                <c:pt idx="2">
                  <c:v>347</c:v>
                </c:pt>
                <c:pt idx="3" formatCode="#,##0">
                  <c:v>1300</c:v>
                </c:pt>
                <c:pt idx="4">
                  <c:v>495</c:v>
                </c:pt>
                <c:pt idx="5">
                  <c:v>102</c:v>
                </c:pt>
                <c:pt idx="6">
                  <c:v>346</c:v>
                </c:pt>
                <c:pt idx="7">
                  <c:v>651</c:v>
                </c:pt>
                <c:pt idx="8">
                  <c:v>190</c:v>
                </c:pt>
              </c:numCache>
            </c:numRef>
          </c:val>
        </c:ser>
        <c:axId val="86690048"/>
        <c:axId val="86700416"/>
      </c:barChart>
      <c:catAx>
        <c:axId val="86690048"/>
        <c:scaling>
          <c:orientation val="minMax"/>
        </c:scaling>
        <c:axPos val="b"/>
        <c:title>
          <c:tx>
            <c:rich>
              <a:bodyPr/>
              <a:lstStyle/>
              <a:p>
                <a:pPr>
                  <a:defRPr sz="1050"/>
                </a:pPr>
                <a:r>
                  <a:rPr lang="en-US" sz="1050"/>
                  <a:t>DEPARTMENT</a:t>
                </a:r>
              </a:p>
            </c:rich>
          </c:tx>
          <c:layout/>
        </c:title>
        <c:tickLblPos val="nextTo"/>
        <c:crossAx val="86700416"/>
        <c:crosses val="autoZero"/>
        <c:auto val="1"/>
        <c:lblAlgn val="ctr"/>
        <c:lblOffset val="100"/>
      </c:catAx>
      <c:valAx>
        <c:axId val="86700416"/>
        <c:scaling>
          <c:orientation val="minMax"/>
        </c:scaling>
        <c:axPos val="l"/>
        <c:title>
          <c:tx>
            <c:rich>
              <a:bodyPr rot="-5400000" vert="horz"/>
              <a:lstStyle/>
              <a:p>
                <a:pPr>
                  <a:defRPr sz="1050"/>
                </a:pPr>
                <a:r>
                  <a:rPr lang="en-US" sz="1050"/>
                  <a:t>POPULATION</a:t>
                </a:r>
              </a:p>
            </c:rich>
          </c:tx>
          <c:layout/>
        </c:title>
        <c:numFmt formatCode="General" sourceLinked="1"/>
        <c:tickLblPos val="nextTo"/>
        <c:crossAx val="86690048"/>
        <c:crosses val="autoZero"/>
        <c:crossBetween val="between"/>
      </c:valAx>
    </c:plotArea>
    <c:plotVisOnly val="1"/>
  </c:chart>
  <c:spPr>
    <a:ln>
      <a:solidFill>
        <a:schemeClr val="tx1"/>
      </a:solidFill>
    </a:ln>
  </c:sp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endParaRPr lang="en-US" dirty="0"/>
          </a:p>
        </c:rich>
      </c:tx>
      <c:layout/>
    </c:title>
    <c:plotArea>
      <c:layout/>
      <c:barChart>
        <c:barDir val="col"/>
        <c:grouping val="clustered"/>
        <c:ser>
          <c:idx val="0"/>
          <c:order val="0"/>
          <c:tx>
            <c:strRef>
              <c:f>Sheet3!$C$1</c:f>
              <c:strCache>
                <c:ptCount val="1"/>
                <c:pt idx="0">
                  <c:v>PROFESSIONAL RANK </c:v>
                </c:pt>
              </c:strCache>
            </c:strRef>
          </c:tx>
          <c:cat>
            <c:strRef>
              <c:f>Sheet3!$B$2:$B$10</c:f>
              <c:strCache>
                <c:ptCount val="9"/>
                <c:pt idx="0">
                  <c:v>BCH</c:v>
                </c:pt>
                <c:pt idx="1">
                  <c:v>CHM </c:v>
                </c:pt>
                <c:pt idx="2">
                  <c:v>GEY</c:v>
                </c:pt>
                <c:pt idx="3">
                  <c:v>MATHS</c:v>
                </c:pt>
                <c:pt idx="4">
                  <c:v>MCB </c:v>
                </c:pt>
                <c:pt idx="5">
                  <c:v>PHY</c:v>
                </c:pt>
                <c:pt idx="6">
                  <c:v>PLS</c:v>
                </c:pt>
                <c:pt idx="7">
                  <c:v>SLT. </c:v>
                </c:pt>
                <c:pt idx="8">
                  <c:v>ZOO</c:v>
                </c:pt>
              </c:strCache>
            </c:strRef>
          </c:cat>
          <c:val>
            <c:numRef>
              <c:f>Sheet3!$C$2:$C$10</c:f>
              <c:numCache>
                <c:formatCode>General</c:formatCode>
                <c:ptCount val="9"/>
                <c:pt idx="0">
                  <c:v>6</c:v>
                </c:pt>
                <c:pt idx="1">
                  <c:v>7</c:v>
                </c:pt>
                <c:pt idx="2">
                  <c:v>3</c:v>
                </c:pt>
                <c:pt idx="3">
                  <c:v>4</c:v>
                </c:pt>
                <c:pt idx="4">
                  <c:v>7</c:v>
                </c:pt>
                <c:pt idx="5">
                  <c:v>2</c:v>
                </c:pt>
                <c:pt idx="6">
                  <c:v>3</c:v>
                </c:pt>
                <c:pt idx="7">
                  <c:v>0</c:v>
                </c:pt>
                <c:pt idx="8">
                  <c:v>3</c:v>
                </c:pt>
              </c:numCache>
            </c:numRef>
          </c:val>
        </c:ser>
        <c:ser>
          <c:idx val="1"/>
          <c:order val="1"/>
          <c:tx>
            <c:strRef>
              <c:f>Sheet3!$D$1</c:f>
              <c:strCache>
                <c:ptCount val="1"/>
                <c:pt idx="0">
                  <c:v>SENIOR LECTURER </c:v>
                </c:pt>
              </c:strCache>
            </c:strRef>
          </c:tx>
          <c:cat>
            <c:strRef>
              <c:f>Sheet3!$B$2:$B$10</c:f>
              <c:strCache>
                <c:ptCount val="9"/>
                <c:pt idx="0">
                  <c:v>BCH</c:v>
                </c:pt>
                <c:pt idx="1">
                  <c:v>CHM </c:v>
                </c:pt>
                <c:pt idx="2">
                  <c:v>GEY</c:v>
                </c:pt>
                <c:pt idx="3">
                  <c:v>MATHS</c:v>
                </c:pt>
                <c:pt idx="4">
                  <c:v>MCB </c:v>
                </c:pt>
                <c:pt idx="5">
                  <c:v>PHY</c:v>
                </c:pt>
                <c:pt idx="6">
                  <c:v>PLS</c:v>
                </c:pt>
                <c:pt idx="7">
                  <c:v>SLT. </c:v>
                </c:pt>
                <c:pt idx="8">
                  <c:v>ZOO</c:v>
                </c:pt>
              </c:strCache>
            </c:strRef>
          </c:cat>
          <c:val>
            <c:numRef>
              <c:f>Sheet3!$D$2:$D$10</c:f>
              <c:numCache>
                <c:formatCode>General</c:formatCode>
                <c:ptCount val="9"/>
                <c:pt idx="0">
                  <c:v>0</c:v>
                </c:pt>
                <c:pt idx="1">
                  <c:v>3</c:v>
                </c:pt>
                <c:pt idx="2">
                  <c:v>2</c:v>
                </c:pt>
                <c:pt idx="3">
                  <c:v>2</c:v>
                </c:pt>
                <c:pt idx="4">
                  <c:v>1</c:v>
                </c:pt>
                <c:pt idx="5">
                  <c:v>3</c:v>
                </c:pt>
                <c:pt idx="6">
                  <c:v>2</c:v>
                </c:pt>
                <c:pt idx="7">
                  <c:v>0</c:v>
                </c:pt>
                <c:pt idx="8">
                  <c:v>5</c:v>
                </c:pt>
              </c:numCache>
            </c:numRef>
          </c:val>
        </c:ser>
        <c:ser>
          <c:idx val="2"/>
          <c:order val="2"/>
          <c:tx>
            <c:strRef>
              <c:f>Sheet3!$E$1</c:f>
              <c:strCache>
                <c:ptCount val="1"/>
                <c:pt idx="0">
                  <c:v>OTHERS </c:v>
                </c:pt>
              </c:strCache>
            </c:strRef>
          </c:tx>
          <c:cat>
            <c:strRef>
              <c:f>Sheet3!$B$2:$B$10</c:f>
              <c:strCache>
                <c:ptCount val="9"/>
                <c:pt idx="0">
                  <c:v>BCH</c:v>
                </c:pt>
                <c:pt idx="1">
                  <c:v>CHM </c:v>
                </c:pt>
                <c:pt idx="2">
                  <c:v>GEY</c:v>
                </c:pt>
                <c:pt idx="3">
                  <c:v>MATHS</c:v>
                </c:pt>
                <c:pt idx="4">
                  <c:v>MCB </c:v>
                </c:pt>
                <c:pt idx="5">
                  <c:v>PHY</c:v>
                </c:pt>
                <c:pt idx="6">
                  <c:v>PLS</c:v>
                </c:pt>
                <c:pt idx="7">
                  <c:v>SLT. </c:v>
                </c:pt>
                <c:pt idx="8">
                  <c:v>ZOO</c:v>
                </c:pt>
              </c:strCache>
            </c:strRef>
          </c:cat>
          <c:val>
            <c:numRef>
              <c:f>Sheet3!$E$2:$E$10</c:f>
              <c:numCache>
                <c:formatCode>General</c:formatCode>
                <c:ptCount val="9"/>
                <c:pt idx="0">
                  <c:v>8</c:v>
                </c:pt>
                <c:pt idx="1">
                  <c:v>9</c:v>
                </c:pt>
                <c:pt idx="2">
                  <c:v>13</c:v>
                </c:pt>
                <c:pt idx="3">
                  <c:v>18</c:v>
                </c:pt>
                <c:pt idx="4">
                  <c:v>5</c:v>
                </c:pt>
                <c:pt idx="5">
                  <c:v>6</c:v>
                </c:pt>
                <c:pt idx="6">
                  <c:v>6</c:v>
                </c:pt>
                <c:pt idx="7">
                  <c:v>0</c:v>
                </c:pt>
                <c:pt idx="8">
                  <c:v>5</c:v>
                </c:pt>
              </c:numCache>
            </c:numRef>
          </c:val>
        </c:ser>
        <c:axId val="86682240"/>
        <c:axId val="86802816"/>
      </c:barChart>
      <c:catAx>
        <c:axId val="86682240"/>
        <c:scaling>
          <c:orientation val="minMax"/>
        </c:scaling>
        <c:axPos val="b"/>
        <c:majorTickMark val="none"/>
        <c:tickLblPos val="nextTo"/>
        <c:crossAx val="86802816"/>
        <c:crosses val="autoZero"/>
        <c:auto val="1"/>
        <c:lblAlgn val="ctr"/>
        <c:lblOffset val="100"/>
      </c:catAx>
      <c:valAx>
        <c:axId val="86802816"/>
        <c:scaling>
          <c:orientation val="minMax"/>
        </c:scaling>
        <c:axPos val="l"/>
        <c:majorGridlines/>
        <c:numFmt formatCode="General" sourceLinked="1"/>
        <c:majorTickMark val="none"/>
        <c:tickLblPos val="nextTo"/>
        <c:crossAx val="86682240"/>
        <c:crosses val="autoZero"/>
        <c:crossBetween val="between"/>
      </c:valAx>
    </c:plotArea>
    <c:legend>
      <c:legendPos val="r"/>
      <c:legendEntry>
        <c:idx val="0"/>
        <c:delete val="1"/>
      </c:legendEntry>
      <c:layout/>
    </c:legend>
    <c:plotVisOnly val="1"/>
  </c:chart>
  <c:txPr>
    <a:bodyPr/>
    <a:lstStyle/>
    <a:p>
      <a:pPr>
        <a:defRPr sz="1800"/>
      </a:pPr>
      <a:endParaRPr lang="en-US"/>
    </a:p>
  </c:txPr>
  <c:externalData r:id="rId1"/>
  <c:userShapes r:id="rId2"/>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US"/>
  <c:chart>
    <c:plotArea>
      <c:layout/>
      <c:barChart>
        <c:barDir val="col"/>
        <c:grouping val="clustered"/>
        <c:ser>
          <c:idx val="0"/>
          <c:order val="0"/>
          <c:tx>
            <c:strRef>
              <c:f>Sheet4!$C$1</c:f>
              <c:strCache>
                <c:ptCount val="1"/>
                <c:pt idx="0">
                  <c:v>TECHNOLOGIST </c:v>
                </c:pt>
              </c:strCache>
            </c:strRef>
          </c:tx>
          <c:cat>
            <c:strRef>
              <c:f>Sheet4!$B$2:$B$10</c:f>
              <c:strCache>
                <c:ptCount val="9"/>
                <c:pt idx="0">
                  <c:v>BCH</c:v>
                </c:pt>
                <c:pt idx="1">
                  <c:v>CHM </c:v>
                </c:pt>
                <c:pt idx="2">
                  <c:v>GEY</c:v>
                </c:pt>
                <c:pt idx="3">
                  <c:v>MATHS</c:v>
                </c:pt>
                <c:pt idx="4">
                  <c:v>MCB </c:v>
                </c:pt>
                <c:pt idx="5">
                  <c:v>PHY</c:v>
                </c:pt>
                <c:pt idx="6">
                  <c:v>PLS</c:v>
                </c:pt>
                <c:pt idx="7">
                  <c:v>SLT. </c:v>
                </c:pt>
                <c:pt idx="8">
                  <c:v>ZOO</c:v>
                </c:pt>
              </c:strCache>
            </c:strRef>
          </c:cat>
          <c:val>
            <c:numRef>
              <c:f>Sheet4!$C$2:$C$10</c:f>
              <c:numCache>
                <c:formatCode>General</c:formatCode>
                <c:ptCount val="9"/>
                <c:pt idx="0">
                  <c:v>4</c:v>
                </c:pt>
                <c:pt idx="1">
                  <c:v>2</c:v>
                </c:pt>
                <c:pt idx="2">
                  <c:v>4</c:v>
                </c:pt>
                <c:pt idx="3">
                  <c:v>0</c:v>
                </c:pt>
                <c:pt idx="4">
                  <c:v>5</c:v>
                </c:pt>
                <c:pt idx="5">
                  <c:v>4</c:v>
                </c:pt>
                <c:pt idx="6">
                  <c:v>2</c:v>
                </c:pt>
                <c:pt idx="7">
                  <c:v>5</c:v>
                </c:pt>
                <c:pt idx="8">
                  <c:v>3</c:v>
                </c:pt>
              </c:numCache>
            </c:numRef>
          </c:val>
        </c:ser>
        <c:ser>
          <c:idx val="1"/>
          <c:order val="1"/>
          <c:tx>
            <c:strRef>
              <c:f>Sheet4!$D$1</c:f>
              <c:strCache>
                <c:ptCount val="1"/>
                <c:pt idx="0">
                  <c:v>OTHERS </c:v>
                </c:pt>
              </c:strCache>
            </c:strRef>
          </c:tx>
          <c:cat>
            <c:strRef>
              <c:f>Sheet4!$B$2:$B$10</c:f>
              <c:strCache>
                <c:ptCount val="9"/>
                <c:pt idx="0">
                  <c:v>BCH</c:v>
                </c:pt>
                <c:pt idx="1">
                  <c:v>CHM </c:v>
                </c:pt>
                <c:pt idx="2">
                  <c:v>GEY</c:v>
                </c:pt>
                <c:pt idx="3">
                  <c:v>MATHS</c:v>
                </c:pt>
                <c:pt idx="4">
                  <c:v>MCB </c:v>
                </c:pt>
                <c:pt idx="5">
                  <c:v>PHY</c:v>
                </c:pt>
                <c:pt idx="6">
                  <c:v>PLS</c:v>
                </c:pt>
                <c:pt idx="7">
                  <c:v>SLT. </c:v>
                </c:pt>
                <c:pt idx="8">
                  <c:v>ZOO</c:v>
                </c:pt>
              </c:strCache>
            </c:strRef>
          </c:cat>
          <c:val>
            <c:numRef>
              <c:f>Sheet4!$D$2:$D$10</c:f>
              <c:numCache>
                <c:formatCode>General</c:formatCode>
                <c:ptCount val="9"/>
                <c:pt idx="0">
                  <c:v>1</c:v>
                </c:pt>
                <c:pt idx="1">
                  <c:v>3</c:v>
                </c:pt>
                <c:pt idx="2">
                  <c:v>1</c:v>
                </c:pt>
                <c:pt idx="3">
                  <c:v>0</c:v>
                </c:pt>
                <c:pt idx="4">
                  <c:v>3</c:v>
                </c:pt>
                <c:pt idx="5">
                  <c:v>3</c:v>
                </c:pt>
                <c:pt idx="6">
                  <c:v>3</c:v>
                </c:pt>
                <c:pt idx="7">
                  <c:v>4</c:v>
                </c:pt>
                <c:pt idx="8">
                  <c:v>2</c:v>
                </c:pt>
              </c:numCache>
            </c:numRef>
          </c:val>
        </c:ser>
        <c:axId val="86831488"/>
        <c:axId val="86833408"/>
      </c:barChart>
      <c:catAx>
        <c:axId val="86831488"/>
        <c:scaling>
          <c:orientation val="minMax"/>
        </c:scaling>
        <c:axPos val="b"/>
        <c:title>
          <c:tx>
            <c:rich>
              <a:bodyPr/>
              <a:lstStyle/>
              <a:p>
                <a:pPr>
                  <a:defRPr sz="1050"/>
                </a:pPr>
                <a:r>
                  <a:rPr lang="en-US" sz="1050"/>
                  <a:t>DEPARTMENT</a:t>
                </a:r>
              </a:p>
            </c:rich>
          </c:tx>
          <c:layout/>
        </c:title>
        <c:tickLblPos val="nextTo"/>
        <c:crossAx val="86833408"/>
        <c:crosses val="autoZero"/>
        <c:auto val="1"/>
        <c:lblAlgn val="ctr"/>
        <c:lblOffset val="100"/>
      </c:catAx>
      <c:valAx>
        <c:axId val="86833408"/>
        <c:scaling>
          <c:orientation val="minMax"/>
        </c:scaling>
        <c:axPos val="l"/>
        <c:title>
          <c:tx>
            <c:rich>
              <a:bodyPr rot="-5400000" vert="horz"/>
              <a:lstStyle/>
              <a:p>
                <a:pPr>
                  <a:defRPr sz="1050"/>
                </a:pPr>
                <a:r>
                  <a:rPr lang="en-US" sz="1050"/>
                  <a:t>TEDCHNICAL</a:t>
                </a:r>
                <a:r>
                  <a:rPr lang="en-US" sz="1050" baseline="0"/>
                  <a:t> STAFF</a:t>
                </a:r>
                <a:endParaRPr lang="en-US" sz="1050"/>
              </a:p>
            </c:rich>
          </c:tx>
          <c:layout/>
        </c:title>
        <c:numFmt formatCode="General" sourceLinked="1"/>
        <c:tickLblPos val="nextTo"/>
        <c:crossAx val="86831488"/>
        <c:crosses val="autoZero"/>
        <c:crossBetween val="between"/>
      </c:valAx>
    </c:plotArea>
    <c:legend>
      <c:legendPos val="r"/>
      <c:layout>
        <c:manualLayout>
          <c:xMode val="edge"/>
          <c:yMode val="edge"/>
          <c:x val="0.82347199962836504"/>
          <c:y val="0.21780128230239912"/>
          <c:w val="0.16276202200388667"/>
          <c:h val="0.11995299095075801"/>
        </c:manualLayout>
      </c:layout>
    </c:legend>
    <c:plotVisOnly val="1"/>
  </c:chart>
  <c:spPr>
    <a:ln>
      <a:solidFill>
        <a:schemeClr val="tx1"/>
      </a:solidFill>
    </a:ln>
  </c:spPr>
  <c:externalData r:id="rId1"/>
</c:chartSpace>
</file>

<file path=ppt/charts/chart4.xml><?xml version="1.0" encoding="utf-8"?>
<c:chartSpace xmlns:c="http://schemas.openxmlformats.org/drawingml/2006/chart" xmlns:a="http://schemas.openxmlformats.org/drawingml/2006/main" xmlns:r="http://schemas.openxmlformats.org/officeDocument/2006/relationships">
  <c:date1904 val="1"/>
  <c:lang val="en-US"/>
  <c:chart>
    <c:plotArea>
      <c:layout/>
      <c:barChart>
        <c:barDir val="col"/>
        <c:grouping val="clustered"/>
        <c:ser>
          <c:idx val="0"/>
          <c:order val="0"/>
          <c:tx>
            <c:strRef>
              <c:f>Sheet5!$C$1</c:f>
              <c:strCache>
                <c:ptCount val="1"/>
                <c:pt idx="0">
                  <c:v>SENIOR </c:v>
                </c:pt>
              </c:strCache>
            </c:strRef>
          </c:tx>
          <c:cat>
            <c:strRef>
              <c:f>Sheet5!$B$2:$B$10</c:f>
              <c:strCache>
                <c:ptCount val="9"/>
                <c:pt idx="0">
                  <c:v>BCH</c:v>
                </c:pt>
                <c:pt idx="1">
                  <c:v>CHM </c:v>
                </c:pt>
                <c:pt idx="2">
                  <c:v>GEY</c:v>
                </c:pt>
                <c:pt idx="3">
                  <c:v>MATHS</c:v>
                </c:pt>
                <c:pt idx="4">
                  <c:v>MCB </c:v>
                </c:pt>
                <c:pt idx="5">
                  <c:v>PHY</c:v>
                </c:pt>
                <c:pt idx="6">
                  <c:v>PLS</c:v>
                </c:pt>
                <c:pt idx="7">
                  <c:v>SLT. </c:v>
                </c:pt>
                <c:pt idx="8">
                  <c:v>ZOO</c:v>
                </c:pt>
              </c:strCache>
            </c:strRef>
          </c:cat>
          <c:val>
            <c:numRef>
              <c:f>Sheet5!$C$2:$C$10</c:f>
              <c:numCache>
                <c:formatCode>General</c:formatCode>
                <c:ptCount val="9"/>
                <c:pt idx="0">
                  <c:v>2</c:v>
                </c:pt>
                <c:pt idx="1">
                  <c:v>2</c:v>
                </c:pt>
                <c:pt idx="2">
                  <c:v>1</c:v>
                </c:pt>
                <c:pt idx="3">
                  <c:v>3</c:v>
                </c:pt>
                <c:pt idx="4">
                  <c:v>2</c:v>
                </c:pt>
                <c:pt idx="5">
                  <c:v>1</c:v>
                </c:pt>
                <c:pt idx="6">
                  <c:v>2</c:v>
                </c:pt>
                <c:pt idx="7">
                  <c:v>4</c:v>
                </c:pt>
                <c:pt idx="8">
                  <c:v>1</c:v>
                </c:pt>
              </c:numCache>
            </c:numRef>
          </c:val>
        </c:ser>
        <c:ser>
          <c:idx val="1"/>
          <c:order val="1"/>
          <c:tx>
            <c:strRef>
              <c:f>Sheet5!$D$1</c:f>
              <c:strCache>
                <c:ptCount val="1"/>
                <c:pt idx="0">
                  <c:v>JUINOR </c:v>
                </c:pt>
              </c:strCache>
            </c:strRef>
          </c:tx>
          <c:cat>
            <c:strRef>
              <c:f>Sheet5!$B$2:$B$10</c:f>
              <c:strCache>
                <c:ptCount val="9"/>
                <c:pt idx="0">
                  <c:v>BCH</c:v>
                </c:pt>
                <c:pt idx="1">
                  <c:v>CHM </c:v>
                </c:pt>
                <c:pt idx="2">
                  <c:v>GEY</c:v>
                </c:pt>
                <c:pt idx="3">
                  <c:v>MATHS</c:v>
                </c:pt>
                <c:pt idx="4">
                  <c:v>MCB </c:v>
                </c:pt>
                <c:pt idx="5">
                  <c:v>PHY</c:v>
                </c:pt>
                <c:pt idx="6">
                  <c:v>PLS</c:v>
                </c:pt>
                <c:pt idx="7">
                  <c:v>SLT. </c:v>
                </c:pt>
                <c:pt idx="8">
                  <c:v>ZOO</c:v>
                </c:pt>
              </c:strCache>
            </c:strRef>
          </c:cat>
          <c:val>
            <c:numRef>
              <c:f>Sheet5!$D$2:$D$10</c:f>
              <c:numCache>
                <c:formatCode>General</c:formatCode>
                <c:ptCount val="9"/>
                <c:pt idx="0">
                  <c:v>1</c:v>
                </c:pt>
                <c:pt idx="1">
                  <c:v>1</c:v>
                </c:pt>
                <c:pt idx="2">
                  <c:v>1</c:v>
                </c:pt>
                <c:pt idx="3">
                  <c:v>1</c:v>
                </c:pt>
                <c:pt idx="4">
                  <c:v>0</c:v>
                </c:pt>
                <c:pt idx="5">
                  <c:v>1</c:v>
                </c:pt>
                <c:pt idx="6">
                  <c:v>0</c:v>
                </c:pt>
                <c:pt idx="7">
                  <c:v>4</c:v>
                </c:pt>
                <c:pt idx="8">
                  <c:v>1</c:v>
                </c:pt>
              </c:numCache>
            </c:numRef>
          </c:val>
        </c:ser>
        <c:ser>
          <c:idx val="2"/>
          <c:order val="2"/>
          <c:tx>
            <c:strRef>
              <c:f>Sheet5!$E$1</c:f>
              <c:strCache>
                <c:ptCount val="1"/>
                <c:pt idx="0">
                  <c:v>DATA ENTRY CLERK </c:v>
                </c:pt>
              </c:strCache>
            </c:strRef>
          </c:tx>
          <c:cat>
            <c:strRef>
              <c:f>Sheet5!$B$2:$B$10</c:f>
              <c:strCache>
                <c:ptCount val="9"/>
                <c:pt idx="0">
                  <c:v>BCH</c:v>
                </c:pt>
                <c:pt idx="1">
                  <c:v>CHM </c:v>
                </c:pt>
                <c:pt idx="2">
                  <c:v>GEY</c:v>
                </c:pt>
                <c:pt idx="3">
                  <c:v>MATHS</c:v>
                </c:pt>
                <c:pt idx="4">
                  <c:v>MCB </c:v>
                </c:pt>
                <c:pt idx="5">
                  <c:v>PHY</c:v>
                </c:pt>
                <c:pt idx="6">
                  <c:v>PLS</c:v>
                </c:pt>
                <c:pt idx="7">
                  <c:v>SLT. </c:v>
                </c:pt>
                <c:pt idx="8">
                  <c:v>ZOO</c:v>
                </c:pt>
              </c:strCache>
            </c:strRef>
          </c:cat>
          <c:val>
            <c:numRef>
              <c:f>Sheet5!$E$2:$E$10</c:f>
              <c:numCache>
                <c:formatCode>General</c:formatCode>
                <c:ptCount val="9"/>
                <c:pt idx="0">
                  <c:v>0</c:v>
                </c:pt>
                <c:pt idx="1">
                  <c:v>0</c:v>
                </c:pt>
                <c:pt idx="2">
                  <c:v>0</c:v>
                </c:pt>
                <c:pt idx="3">
                  <c:v>1</c:v>
                </c:pt>
                <c:pt idx="4">
                  <c:v>0</c:v>
                </c:pt>
                <c:pt idx="5">
                  <c:v>0</c:v>
                </c:pt>
                <c:pt idx="6">
                  <c:v>0</c:v>
                </c:pt>
                <c:pt idx="7">
                  <c:v>1</c:v>
                </c:pt>
                <c:pt idx="8">
                  <c:v>0</c:v>
                </c:pt>
              </c:numCache>
            </c:numRef>
          </c:val>
        </c:ser>
        <c:axId val="86994944"/>
        <c:axId val="86996864"/>
      </c:barChart>
      <c:catAx>
        <c:axId val="86994944"/>
        <c:scaling>
          <c:orientation val="minMax"/>
        </c:scaling>
        <c:axPos val="b"/>
        <c:title>
          <c:tx>
            <c:rich>
              <a:bodyPr/>
              <a:lstStyle/>
              <a:p>
                <a:pPr>
                  <a:defRPr sz="1050"/>
                </a:pPr>
                <a:r>
                  <a:rPr lang="en-US" sz="1050"/>
                  <a:t>DEPARTMENT</a:t>
                </a:r>
              </a:p>
            </c:rich>
          </c:tx>
          <c:layout/>
        </c:title>
        <c:tickLblPos val="nextTo"/>
        <c:crossAx val="86996864"/>
        <c:crosses val="autoZero"/>
        <c:auto val="1"/>
        <c:lblAlgn val="ctr"/>
        <c:lblOffset val="100"/>
      </c:catAx>
      <c:valAx>
        <c:axId val="86996864"/>
        <c:scaling>
          <c:orientation val="minMax"/>
          <c:max val="5"/>
          <c:min val="0"/>
        </c:scaling>
        <c:axPos val="l"/>
        <c:title>
          <c:tx>
            <c:rich>
              <a:bodyPr rot="-5400000" vert="horz"/>
              <a:lstStyle/>
              <a:p>
                <a:pPr>
                  <a:defRPr sz="1050"/>
                </a:pPr>
                <a:r>
                  <a:rPr lang="en-US" sz="1050"/>
                  <a:t>ADMINISTRATIVE</a:t>
                </a:r>
                <a:r>
                  <a:rPr lang="en-US" sz="1050" baseline="0"/>
                  <a:t> STAFF</a:t>
                </a:r>
                <a:endParaRPr lang="en-US" sz="1050"/>
              </a:p>
            </c:rich>
          </c:tx>
          <c:layout/>
        </c:title>
        <c:numFmt formatCode="@" sourceLinked="0"/>
        <c:tickLblPos val="nextTo"/>
        <c:crossAx val="86994944"/>
        <c:crosses val="autoZero"/>
        <c:crossBetween val="between"/>
        <c:majorUnit val="1"/>
        <c:minorUnit val="0.1"/>
      </c:valAx>
    </c:plotArea>
    <c:legend>
      <c:legendPos val="r"/>
      <c:layout/>
    </c:legend>
    <c:plotVisOnly val="1"/>
  </c:chart>
  <c:spPr>
    <a:ln>
      <a:solidFill>
        <a:schemeClr val="tx1"/>
      </a:solidFill>
    </a:ln>
  </c:spPr>
  <c:externalData r:id="rId1"/>
</c:chartSpace>
</file>

<file path=ppt/charts/chart5.xml><?xml version="1.0" encoding="utf-8"?>
<c:chartSpace xmlns:c="http://schemas.openxmlformats.org/drawingml/2006/chart" xmlns:a="http://schemas.openxmlformats.org/drawingml/2006/main" xmlns:r="http://schemas.openxmlformats.org/officeDocument/2006/relationships">
  <c:date1904 val="1"/>
  <c:lang val="en-US"/>
  <c:chart>
    <c:plotArea>
      <c:layout/>
      <c:barChart>
        <c:barDir val="col"/>
        <c:grouping val="clustered"/>
        <c:ser>
          <c:idx val="0"/>
          <c:order val="0"/>
          <c:tx>
            <c:strRef>
              <c:f>Sheet6!$C$2</c:f>
              <c:strCache>
                <c:ptCount val="1"/>
                <c:pt idx="0">
                  <c:v>PGD</c:v>
                </c:pt>
              </c:strCache>
            </c:strRef>
          </c:tx>
          <c:cat>
            <c:strRef>
              <c:f>Sheet6!$B$3:$B$11</c:f>
              <c:strCache>
                <c:ptCount val="9"/>
                <c:pt idx="0">
                  <c:v>BCH</c:v>
                </c:pt>
                <c:pt idx="1">
                  <c:v>CHM </c:v>
                </c:pt>
                <c:pt idx="2">
                  <c:v>GEY</c:v>
                </c:pt>
                <c:pt idx="3">
                  <c:v>MATHS</c:v>
                </c:pt>
                <c:pt idx="4">
                  <c:v>MCB </c:v>
                </c:pt>
                <c:pt idx="5">
                  <c:v>PHY</c:v>
                </c:pt>
                <c:pt idx="6">
                  <c:v>PLS</c:v>
                </c:pt>
                <c:pt idx="7">
                  <c:v>SLT. </c:v>
                </c:pt>
                <c:pt idx="8">
                  <c:v>ZOO</c:v>
                </c:pt>
              </c:strCache>
            </c:strRef>
          </c:cat>
          <c:val>
            <c:numRef>
              <c:f>Sheet6!$C$3:$C$11</c:f>
              <c:numCache>
                <c:formatCode>General</c:formatCode>
                <c:ptCount val="9"/>
                <c:pt idx="0">
                  <c:v>0</c:v>
                </c:pt>
                <c:pt idx="1">
                  <c:v>0</c:v>
                </c:pt>
                <c:pt idx="2">
                  <c:v>0</c:v>
                </c:pt>
                <c:pt idx="3">
                  <c:v>4</c:v>
                </c:pt>
                <c:pt idx="4">
                  <c:v>5</c:v>
                </c:pt>
                <c:pt idx="5">
                  <c:v>0</c:v>
                </c:pt>
                <c:pt idx="6">
                  <c:v>2</c:v>
                </c:pt>
                <c:pt idx="7">
                  <c:v>0</c:v>
                </c:pt>
                <c:pt idx="8">
                  <c:v>0</c:v>
                </c:pt>
              </c:numCache>
            </c:numRef>
          </c:val>
        </c:ser>
        <c:ser>
          <c:idx val="1"/>
          <c:order val="1"/>
          <c:tx>
            <c:strRef>
              <c:f>Sheet6!$D$2</c:f>
              <c:strCache>
                <c:ptCount val="1"/>
                <c:pt idx="0">
                  <c:v>MASTERS</c:v>
                </c:pt>
              </c:strCache>
            </c:strRef>
          </c:tx>
          <c:cat>
            <c:strRef>
              <c:f>Sheet6!$B$3:$B$11</c:f>
              <c:strCache>
                <c:ptCount val="9"/>
                <c:pt idx="0">
                  <c:v>BCH</c:v>
                </c:pt>
                <c:pt idx="1">
                  <c:v>CHM </c:v>
                </c:pt>
                <c:pt idx="2">
                  <c:v>GEY</c:v>
                </c:pt>
                <c:pt idx="3">
                  <c:v>MATHS</c:v>
                </c:pt>
                <c:pt idx="4">
                  <c:v>MCB </c:v>
                </c:pt>
                <c:pt idx="5">
                  <c:v>PHY</c:v>
                </c:pt>
                <c:pt idx="6">
                  <c:v>PLS</c:v>
                </c:pt>
                <c:pt idx="7">
                  <c:v>SLT. </c:v>
                </c:pt>
                <c:pt idx="8">
                  <c:v>ZOO</c:v>
                </c:pt>
              </c:strCache>
            </c:strRef>
          </c:cat>
          <c:val>
            <c:numRef>
              <c:f>Sheet6!$D$3:$D$11</c:f>
              <c:numCache>
                <c:formatCode>General</c:formatCode>
                <c:ptCount val="9"/>
                <c:pt idx="0">
                  <c:v>23</c:v>
                </c:pt>
                <c:pt idx="1">
                  <c:v>10</c:v>
                </c:pt>
                <c:pt idx="2">
                  <c:v>3</c:v>
                </c:pt>
                <c:pt idx="3">
                  <c:v>44</c:v>
                </c:pt>
                <c:pt idx="4">
                  <c:v>25</c:v>
                </c:pt>
                <c:pt idx="5">
                  <c:v>6</c:v>
                </c:pt>
                <c:pt idx="6">
                  <c:v>6</c:v>
                </c:pt>
                <c:pt idx="7">
                  <c:v>0</c:v>
                </c:pt>
                <c:pt idx="8">
                  <c:v>4</c:v>
                </c:pt>
              </c:numCache>
            </c:numRef>
          </c:val>
        </c:ser>
        <c:ser>
          <c:idx val="2"/>
          <c:order val="2"/>
          <c:tx>
            <c:strRef>
              <c:f>Sheet6!$E$2</c:f>
              <c:strCache>
                <c:ptCount val="1"/>
                <c:pt idx="0">
                  <c:v>PhD</c:v>
                </c:pt>
              </c:strCache>
            </c:strRef>
          </c:tx>
          <c:cat>
            <c:strRef>
              <c:f>Sheet6!$B$3:$B$11</c:f>
              <c:strCache>
                <c:ptCount val="9"/>
                <c:pt idx="0">
                  <c:v>BCH</c:v>
                </c:pt>
                <c:pt idx="1">
                  <c:v>CHM </c:v>
                </c:pt>
                <c:pt idx="2">
                  <c:v>GEY</c:v>
                </c:pt>
                <c:pt idx="3">
                  <c:v>MATHS</c:v>
                </c:pt>
                <c:pt idx="4">
                  <c:v>MCB </c:v>
                </c:pt>
                <c:pt idx="5">
                  <c:v>PHY</c:v>
                </c:pt>
                <c:pt idx="6">
                  <c:v>PLS</c:v>
                </c:pt>
                <c:pt idx="7">
                  <c:v>SLT. </c:v>
                </c:pt>
                <c:pt idx="8">
                  <c:v>ZOO</c:v>
                </c:pt>
              </c:strCache>
            </c:strRef>
          </c:cat>
          <c:val>
            <c:numRef>
              <c:f>Sheet6!$E$3:$E$11</c:f>
              <c:numCache>
                <c:formatCode>General</c:formatCode>
                <c:ptCount val="9"/>
                <c:pt idx="0">
                  <c:v>4</c:v>
                </c:pt>
                <c:pt idx="1">
                  <c:v>4</c:v>
                </c:pt>
                <c:pt idx="2">
                  <c:v>0</c:v>
                </c:pt>
                <c:pt idx="3">
                  <c:v>10</c:v>
                </c:pt>
                <c:pt idx="4">
                  <c:v>15</c:v>
                </c:pt>
                <c:pt idx="5">
                  <c:v>5</c:v>
                </c:pt>
                <c:pt idx="6">
                  <c:v>6</c:v>
                </c:pt>
                <c:pt idx="7">
                  <c:v>0</c:v>
                </c:pt>
                <c:pt idx="8">
                  <c:v>4</c:v>
                </c:pt>
              </c:numCache>
            </c:numRef>
          </c:val>
        </c:ser>
        <c:axId val="87711104"/>
        <c:axId val="87725568"/>
      </c:barChart>
      <c:catAx>
        <c:axId val="87711104"/>
        <c:scaling>
          <c:orientation val="minMax"/>
        </c:scaling>
        <c:axPos val="b"/>
        <c:title>
          <c:tx>
            <c:rich>
              <a:bodyPr/>
              <a:lstStyle/>
              <a:p>
                <a:pPr>
                  <a:defRPr sz="1050"/>
                </a:pPr>
                <a:r>
                  <a:rPr lang="en-US" sz="1050"/>
                  <a:t>DEPARTMENT</a:t>
                </a:r>
              </a:p>
            </c:rich>
          </c:tx>
          <c:layout/>
        </c:title>
        <c:tickLblPos val="nextTo"/>
        <c:crossAx val="87725568"/>
        <c:crosses val="autoZero"/>
        <c:auto val="1"/>
        <c:lblAlgn val="ctr"/>
        <c:lblOffset val="100"/>
      </c:catAx>
      <c:valAx>
        <c:axId val="87725568"/>
        <c:scaling>
          <c:orientation val="minMax"/>
        </c:scaling>
        <c:axPos val="l"/>
        <c:title>
          <c:tx>
            <c:rich>
              <a:bodyPr rot="-5400000" vert="horz"/>
              <a:lstStyle/>
              <a:p>
                <a:pPr>
                  <a:defRPr sz="1050"/>
                </a:pPr>
                <a:r>
                  <a:rPr lang="en-US" sz="1050"/>
                  <a:t>PROGRAMME</a:t>
                </a:r>
              </a:p>
            </c:rich>
          </c:tx>
          <c:layout/>
        </c:title>
        <c:numFmt formatCode="General" sourceLinked="1"/>
        <c:tickLblPos val="nextTo"/>
        <c:crossAx val="87711104"/>
        <c:crosses val="autoZero"/>
        <c:crossBetween val="between"/>
      </c:valAx>
    </c:plotArea>
    <c:legend>
      <c:legendPos val="r"/>
      <c:layout/>
    </c:legend>
    <c:plotVisOnly val="1"/>
  </c:chart>
  <c:spPr>
    <a:ln>
      <a:solidFill>
        <a:schemeClr val="tx1"/>
      </a:solidFill>
    </a:ln>
  </c:spPr>
  <c:externalData r:id="rId1"/>
</c:chartSpace>
</file>

<file path=ppt/drawings/drawing1.xml><?xml version="1.0" encoding="utf-8"?>
<c:userShapes xmlns:c="http://schemas.openxmlformats.org/drawingml/2006/chart">
  <cdr:relSizeAnchor xmlns:cdr="http://schemas.openxmlformats.org/drawingml/2006/chartDrawing">
    <cdr:from>
      <cdr:x>0.70588</cdr:x>
      <cdr:y>0.43836</cdr:y>
    </cdr:from>
    <cdr:to>
      <cdr:x>0.72269</cdr:x>
      <cdr:y>0.46575</cdr:y>
    </cdr:to>
    <cdr:sp macro="" textlink="">
      <cdr:nvSpPr>
        <cdr:cNvPr id="3" name="Rectangle 2"/>
        <cdr:cNvSpPr/>
      </cdr:nvSpPr>
      <cdr:spPr>
        <a:xfrm xmlns:a="http://schemas.openxmlformats.org/drawingml/2006/main" flipV="1">
          <a:off x="6000792" y="2286012"/>
          <a:ext cx="142876" cy="142879"/>
        </a:xfrm>
        <a:prstGeom xmlns:a="http://schemas.openxmlformats.org/drawingml/2006/main" prst="rect">
          <a:avLst/>
        </a:prstGeom>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p xmlns:a="http://schemas.openxmlformats.org/drawingml/2006/main">
          <a:endParaRPr lang="en-US"/>
        </a:p>
      </cdr:txBody>
    </cdr: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EC35A1EF-5E18-4B00-BE79-60E452F14209}" type="datetimeFigureOut">
              <a:rPr lang="en-US" smtClean="0"/>
              <a:pPr/>
              <a:t>2/2/2016</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6037F909-7082-4701-966E-88D31957504F}" type="slidenum">
              <a:rPr lang="en-US" smtClean="0"/>
              <a:pPr/>
              <a:t>‹#›</a:t>
            </a:fld>
            <a:endParaRPr lang="en-US"/>
          </a:p>
        </p:txBody>
      </p:sp>
    </p:spTree>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C35A1EF-5E18-4B00-BE79-60E452F14209}" type="datetimeFigureOut">
              <a:rPr lang="en-US" smtClean="0"/>
              <a:pPr/>
              <a:t>2/2/2016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37F909-7082-4701-966E-88D31957504F}" type="slidenum">
              <a:rPr lang="en-US" smtClean="0"/>
              <a:pPr/>
              <a:t>‹#›</a:t>
            </a:fld>
            <a:endParaRPr lang="en-US"/>
          </a:p>
        </p:txBody>
      </p:sp>
    </p:spTree>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EC35A1EF-5E18-4B00-BE79-60E452F14209}" type="datetimeFigureOut">
              <a:rPr lang="en-US" smtClean="0"/>
              <a:pPr/>
              <a:t>2/2/2016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37F909-7082-4701-966E-88D31957504F}" type="slidenum">
              <a:rPr lang="en-US" smtClean="0"/>
              <a:pPr/>
              <a:t>‹#›</a:t>
            </a:fld>
            <a:endParaRPr lang="en-US"/>
          </a:p>
        </p:txBody>
      </p:sp>
    </p:spTree>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EC35A1EF-5E18-4B00-BE79-60E452F14209}" type="datetimeFigureOut">
              <a:rPr lang="en-US" smtClean="0"/>
              <a:pPr/>
              <a:t>2/2/2016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37F909-7082-4701-966E-88D31957504F}" type="slidenum">
              <a:rPr lang="en-US" smtClean="0"/>
              <a:pPr/>
              <a:t>‹#›</a:t>
            </a:fld>
            <a:endParaRPr lang="en-US"/>
          </a:p>
        </p:txBody>
      </p:sp>
    </p:spTree>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EC35A1EF-5E18-4B00-BE79-60E452F14209}" type="datetimeFigureOut">
              <a:rPr lang="en-US" smtClean="0"/>
              <a:pPr/>
              <a:t>2/2/2016</a:t>
            </a:fld>
            <a:endParaRPr lang="en-US"/>
          </a:p>
        </p:txBody>
      </p:sp>
      <p:sp>
        <p:nvSpPr>
          <p:cNvPr id="27" name="Slide Number Placeholder 26"/>
          <p:cNvSpPr>
            <a:spLocks noGrp="1"/>
          </p:cNvSpPr>
          <p:nvPr>
            <p:ph type="sldNum" sz="quarter" idx="11"/>
          </p:nvPr>
        </p:nvSpPr>
        <p:spPr/>
        <p:txBody>
          <a:bodyPr rtlCol="0"/>
          <a:lstStyle/>
          <a:p>
            <a:fld id="{6037F909-7082-4701-966E-88D31957504F}" type="slidenum">
              <a:rPr lang="en-US" smtClean="0"/>
              <a:pPr/>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EC35A1EF-5E18-4B00-BE79-60E452F14209}" type="datetimeFigureOut">
              <a:rPr lang="en-US" smtClean="0"/>
              <a:pPr/>
              <a:t>2/2/2016</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6037F909-7082-4701-966E-88D31957504F}" type="slidenum">
              <a:rPr lang="en-US" smtClean="0"/>
              <a:pPr/>
              <a:t>‹#›</a:t>
            </a:fld>
            <a:endParaRPr lang="en-US"/>
          </a:p>
        </p:txBody>
      </p:sp>
    </p:spTree>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35A1EF-5E18-4B00-BE79-60E452F14209}" type="datetimeFigureOut">
              <a:rPr lang="en-US" smtClean="0"/>
              <a:pPr/>
              <a:t>2/2/2016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037F909-7082-4701-966E-88D31957504F}" type="slidenum">
              <a:rPr lang="en-US" smtClean="0"/>
              <a:pPr/>
              <a:t>‹#›</a:t>
            </a:fld>
            <a:endParaRPr lang="en-US"/>
          </a:p>
        </p:txBody>
      </p:sp>
    </p:spTree>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EC35A1EF-5E18-4B00-BE79-60E452F14209}" type="datetimeFigureOut">
              <a:rPr lang="en-US" smtClean="0"/>
              <a:pPr/>
              <a:t>2/2/2016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37F909-7082-4701-966E-88D31957504F}" type="slidenum">
              <a:rPr lang="en-US" smtClean="0"/>
              <a:pPr/>
              <a:t>‹#›</a:t>
            </a:fld>
            <a:endParaRPr lang="en-US"/>
          </a:p>
        </p:txBody>
      </p:sp>
    </p:spTree>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EC35A1EF-5E18-4B00-BE79-60E452F14209}" type="datetimeFigureOut">
              <a:rPr lang="en-US" smtClean="0"/>
              <a:pPr/>
              <a:t>2/2/2016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37F909-7082-4701-966E-88D31957504F}" type="slidenum">
              <a:rPr lang="en-US" smtClean="0"/>
              <a:pPr/>
              <a:t>‹#›</a:t>
            </a:fld>
            <a:endParaRPr lang="en-US"/>
          </a:p>
        </p:txBody>
      </p:sp>
    </p:spTree>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C35A1EF-5E18-4B00-BE79-60E452F14209}" type="datetimeFigureOut">
              <a:rPr lang="en-US" smtClean="0"/>
              <a:pPr/>
              <a:t>2/2/2016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37F909-7082-4701-966E-88D31957504F}" type="slidenum">
              <a:rPr lang="en-US" smtClean="0"/>
              <a:pPr/>
              <a:t>‹#›</a:t>
            </a:fld>
            <a:endParaRPr lang="en-US"/>
          </a:p>
        </p:txBody>
      </p:sp>
    </p:spTree>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C35A1EF-5E18-4B00-BE79-60E452F14209}" type="datetimeFigureOut">
              <a:rPr lang="en-US" smtClean="0"/>
              <a:pPr/>
              <a:t>2/2/2016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37F909-7082-4701-966E-88D31957504F}" type="slidenum">
              <a:rPr lang="en-US" smtClean="0"/>
              <a:pPr/>
              <a:t>‹#›</a:t>
            </a:fld>
            <a:endParaRPr lang="en-US"/>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EC35A1EF-5E18-4B00-BE79-60E452F14209}" type="datetimeFigureOut">
              <a:rPr lang="en-US" smtClean="0"/>
              <a:pPr/>
              <a:t>2/2/2016</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6037F909-7082-4701-966E-88D31957504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spd="med">
    <p:random/>
  </p:transition>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ctrTitle"/>
          </p:nvPr>
        </p:nvSpPr>
        <p:spPr>
          <a:xfrm>
            <a:off x="71406" y="1142984"/>
            <a:ext cx="8915400" cy="4643470"/>
          </a:xfrm>
        </p:spPr>
        <p:txBody>
          <a:bodyPr anchor="ctr">
            <a:normAutofit fontScale="90000"/>
          </a:bodyPr>
          <a:lstStyle/>
          <a:p>
            <a:pPr algn="ctr"/>
            <a:r>
              <a:rPr lang="en-GB" sz="4800" b="1" dirty="0" smtClean="0">
                <a:effectLst>
                  <a:outerShdw blurRad="38100" dist="38100" dir="2700000" algn="tl">
                    <a:srgbClr val="000000">
                      <a:alpha val="43137"/>
                    </a:srgbClr>
                  </a:outerShdw>
                </a:effectLst>
                <a:latin typeface="Tw Cen MT" pitchFamily="34" charset="0"/>
              </a:rPr>
              <a:t>POSITION OF FACULTY SCIENCE ON ACADEMIC PROGRAMMES VIABILITY, ACCOMODATION, CLASS ROOM, ACCREDITATION, EXAMINATION, </a:t>
            </a:r>
            <a:r>
              <a:rPr lang="en-GB" sz="4800" b="1" dirty="0" smtClean="0">
                <a:solidFill>
                  <a:schemeClr val="tx1"/>
                </a:solidFill>
                <a:effectLst>
                  <a:outerShdw blurRad="38100" dist="38100" dir="2700000" algn="tl">
                    <a:srgbClr val="000000">
                      <a:alpha val="43137"/>
                    </a:srgbClr>
                  </a:outerShdw>
                </a:effectLst>
                <a:latin typeface="Tw Cen MT" pitchFamily="34" charset="0"/>
              </a:rPr>
              <a:t>RESULT PROCESSING, CHALLENGES AND WAY FORWARD TO PROPEL EKSU TO WORLD CLASS UNIVERSITY</a:t>
            </a:r>
            <a:endParaRPr lang="en-US" sz="4800" b="1" dirty="0">
              <a:solidFill>
                <a:schemeClr val="tx1"/>
              </a:solidFill>
              <a:effectLst>
                <a:outerShdw blurRad="38100" dist="38100" dir="2700000" algn="tl">
                  <a:srgbClr val="000000">
                    <a:alpha val="43137"/>
                  </a:srgbClr>
                </a:outerShdw>
              </a:effectLst>
              <a:latin typeface="Tw Cen MT" pitchFamily="34" charset="0"/>
            </a:endParaRPr>
          </a:p>
        </p:txBody>
      </p:sp>
      <p:sp>
        <p:nvSpPr>
          <p:cNvPr id="15" name="Subtitle 14"/>
          <p:cNvSpPr>
            <a:spLocks noGrp="1"/>
          </p:cNvSpPr>
          <p:nvPr>
            <p:ph type="subTitle" idx="1"/>
          </p:nvPr>
        </p:nvSpPr>
        <p:spPr>
          <a:xfrm>
            <a:off x="4119594" y="5971640"/>
            <a:ext cx="4953000" cy="886384"/>
          </a:xfrm>
        </p:spPr>
        <p:txBody>
          <a:bodyPr anchor="ctr">
            <a:normAutofit/>
          </a:bodyPr>
          <a:lstStyle/>
          <a:p>
            <a:pPr algn="r"/>
            <a:r>
              <a:rPr lang="en-GB" sz="1800" dirty="0" smtClean="0">
                <a:effectLst>
                  <a:outerShdw blurRad="38100" dist="38100" dir="2700000" algn="tl">
                    <a:srgbClr val="000000">
                      <a:alpha val="43137"/>
                    </a:srgbClr>
                  </a:outerShdw>
                </a:effectLst>
              </a:rPr>
              <a:t>PROF. L. K. OLOFINTOYE</a:t>
            </a:r>
          </a:p>
          <a:p>
            <a:pPr algn="r"/>
            <a:r>
              <a:rPr lang="en-GB" sz="1800" dirty="0" smtClean="0">
                <a:effectLst>
                  <a:outerShdw blurRad="38100" dist="38100" dir="2700000" algn="tl">
                    <a:srgbClr val="000000">
                      <a:alpha val="43137"/>
                    </a:srgbClr>
                  </a:outerShdw>
                </a:effectLst>
              </a:rPr>
              <a:t>DEAN, FACULTY OF SCIENCE</a:t>
            </a:r>
            <a:endParaRPr lang="en-US" sz="1800" dirty="0">
              <a:effectLst>
                <a:outerShdw blurRad="38100" dist="38100" dir="2700000" algn="tl">
                  <a:srgbClr val="000000">
                    <a:alpha val="43137"/>
                  </a:srgbClr>
                </a:outerShdw>
              </a:effectLst>
            </a:endParaRPr>
          </a:p>
        </p:txBody>
      </p:sp>
      <p:pic>
        <p:nvPicPr>
          <p:cNvPr id="17" name="Picture 16" descr="C:\Documents and Settings\Geology\My Documents\EKSU logo 1.png"/>
          <p:cNvPicPr/>
          <p:nvPr/>
        </p:nvPicPr>
        <p:blipFill>
          <a:blip r:embed="rId2"/>
          <a:srcRect/>
          <a:stretch>
            <a:fillRect/>
          </a:stretch>
        </p:blipFill>
        <p:spPr bwMode="auto">
          <a:xfrm>
            <a:off x="4214810" y="142852"/>
            <a:ext cx="928694" cy="1000132"/>
          </a:xfrm>
          <a:prstGeom prst="rect">
            <a:avLst/>
          </a:prstGeom>
          <a:noFill/>
          <a:ln w="9525">
            <a:noFill/>
            <a:miter lim="800000"/>
            <a:headEnd/>
            <a:tailEnd/>
          </a:ln>
        </p:spPr>
      </p:pic>
    </p:spTree>
  </p:cSld>
  <p:clrMapOvr>
    <a:masterClrMapping/>
  </p:clrMapOvr>
  <p:transition spd="med">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69348"/>
            <a:ext cx="8229600" cy="5074362"/>
          </a:xfrm>
        </p:spPr>
        <p:txBody>
          <a:bodyPr>
            <a:normAutofit/>
          </a:bodyPr>
          <a:lstStyle/>
          <a:p>
            <a:r>
              <a:rPr lang="en-GB" sz="2400" dirty="0" smtClean="0"/>
              <a:t>The Faculty of Science started with the university at the inception in 1982 with few Departments, but today the Faculty has been expanded and comprises of nine (9) solid Departments are as follows:</a:t>
            </a:r>
          </a:p>
          <a:p>
            <a:pPr lvl="1"/>
            <a:r>
              <a:rPr lang="en-GB" sz="2200" dirty="0" smtClean="0">
                <a:solidFill>
                  <a:schemeClr val="tx1"/>
                </a:solidFill>
              </a:rPr>
              <a:t>Department of Biochemistry</a:t>
            </a:r>
          </a:p>
          <a:p>
            <a:pPr lvl="1"/>
            <a:r>
              <a:rPr lang="en-GB" sz="2200" dirty="0" smtClean="0">
                <a:solidFill>
                  <a:schemeClr val="tx1"/>
                </a:solidFill>
              </a:rPr>
              <a:t>Department of Chemistry</a:t>
            </a:r>
          </a:p>
          <a:p>
            <a:pPr lvl="1"/>
            <a:r>
              <a:rPr lang="en-GB" sz="2200" dirty="0" smtClean="0">
                <a:solidFill>
                  <a:schemeClr val="tx1"/>
                </a:solidFill>
              </a:rPr>
              <a:t>Department of Geology</a:t>
            </a:r>
          </a:p>
          <a:p>
            <a:pPr lvl="1"/>
            <a:r>
              <a:rPr lang="en-GB" sz="2200" dirty="0" smtClean="0">
                <a:solidFill>
                  <a:schemeClr val="tx1"/>
                </a:solidFill>
              </a:rPr>
              <a:t>Department of Mathematical Sciences</a:t>
            </a:r>
          </a:p>
          <a:p>
            <a:pPr lvl="1"/>
            <a:r>
              <a:rPr lang="en-GB" sz="2200" dirty="0" smtClean="0">
                <a:solidFill>
                  <a:schemeClr val="tx1"/>
                </a:solidFill>
              </a:rPr>
              <a:t>Department of Microbiology</a:t>
            </a:r>
          </a:p>
          <a:p>
            <a:pPr lvl="1"/>
            <a:r>
              <a:rPr lang="en-GB" sz="2200" dirty="0" smtClean="0">
                <a:solidFill>
                  <a:schemeClr val="tx1"/>
                </a:solidFill>
              </a:rPr>
              <a:t>Department of Physics</a:t>
            </a:r>
          </a:p>
          <a:p>
            <a:pPr lvl="1"/>
            <a:r>
              <a:rPr lang="en-GB" sz="2200" dirty="0" smtClean="0">
                <a:solidFill>
                  <a:schemeClr val="tx1"/>
                </a:solidFill>
              </a:rPr>
              <a:t>Department of Plant Science</a:t>
            </a:r>
          </a:p>
          <a:p>
            <a:pPr lvl="1"/>
            <a:r>
              <a:rPr lang="en-GB" sz="2200" dirty="0" smtClean="0">
                <a:solidFill>
                  <a:schemeClr val="tx1"/>
                </a:solidFill>
              </a:rPr>
              <a:t>Department of Science Laboratory Technology</a:t>
            </a:r>
          </a:p>
          <a:p>
            <a:pPr lvl="1"/>
            <a:r>
              <a:rPr lang="en-GB" sz="2200" dirty="0" smtClean="0">
                <a:solidFill>
                  <a:schemeClr val="tx1"/>
                </a:solidFill>
              </a:rPr>
              <a:t>Department of Zoology</a:t>
            </a:r>
            <a:endParaRPr lang="en-US" sz="2200" dirty="0">
              <a:solidFill>
                <a:schemeClr val="tx1"/>
              </a:solidFill>
            </a:endParaRPr>
          </a:p>
        </p:txBody>
      </p:sp>
      <p:sp>
        <p:nvSpPr>
          <p:cNvPr id="4" name="Title 1"/>
          <p:cNvSpPr>
            <a:spLocks noGrp="1"/>
          </p:cNvSpPr>
          <p:nvPr>
            <p:ph type="title"/>
          </p:nvPr>
        </p:nvSpPr>
        <p:spPr>
          <a:xfrm>
            <a:off x="428596" y="714356"/>
            <a:ext cx="8229600" cy="1066800"/>
          </a:xfrm>
        </p:spPr>
        <p:txBody>
          <a:bodyPr anchor="t"/>
          <a:lstStyle/>
          <a:p>
            <a:r>
              <a:rPr lang="en-GB" b="1" dirty="0" smtClean="0">
                <a:effectLst>
                  <a:outerShdw blurRad="38100" dist="38100" dir="2700000" algn="tl">
                    <a:srgbClr val="000000">
                      <a:alpha val="43137"/>
                    </a:srgbClr>
                  </a:outerShdw>
                </a:effectLst>
              </a:rPr>
              <a:t>INTRODUCTION</a:t>
            </a:r>
            <a:endParaRPr lang="en-US" b="1" dirty="0">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14366" y="1740238"/>
          <a:ext cx="8229600" cy="4617720"/>
        </p:xfrm>
        <a:graphic>
          <a:graphicData uri="http://schemas.openxmlformats.org/drawingml/2006/table">
            <a:tbl>
              <a:tblPr firstRow="1" bandRow="1">
                <a:tableStyleId>{5940675A-B579-460E-94D1-54222C63F5DA}</a:tableStyleId>
              </a:tblPr>
              <a:tblGrid>
                <a:gridCol w="642942"/>
                <a:gridCol w="2500330"/>
                <a:gridCol w="3214710"/>
                <a:gridCol w="1871618"/>
              </a:tblGrid>
              <a:tr h="370840">
                <a:tc>
                  <a:txBody>
                    <a:bodyPr/>
                    <a:lstStyle/>
                    <a:p>
                      <a:r>
                        <a:rPr lang="en-GB" b="1" dirty="0" smtClean="0"/>
                        <a:t>S/N</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DEPARTMENT</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NAME OF PROGRAMME</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STUDENTS’ POPULATION</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en-GB" dirty="0" smtClean="0"/>
                        <a:t>1</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BIOCHEMISTRY</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B. Sc BIOCHEMISTRY</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715</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r>
              <a:tr h="370840">
                <a:tc>
                  <a:txBody>
                    <a:bodyPr/>
                    <a:lstStyle/>
                    <a:p>
                      <a:r>
                        <a:rPr lang="en-GB" dirty="0" smtClean="0"/>
                        <a:t>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CHEMISTRY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B. Sc CHEMISTRY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450</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GEOLOGY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B. Sc  GEOLOGY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347</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4</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MATHEMATICAL SCIENCES</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B. Sc MATHEMATICAL SCIENCES</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1,300</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5</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MICROBIOLOGY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B. Sc MICROBIOLOGY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495</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6</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PHYSICS</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B. Sc  PHYSICS</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102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7</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PLANT</a:t>
                      </a:r>
                      <a:r>
                        <a:rPr lang="en-GB" baseline="0" dirty="0" smtClean="0"/>
                        <a:t> SCIENCE</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B. Sc  PLANT</a:t>
                      </a:r>
                      <a:r>
                        <a:rPr lang="en-GB" baseline="0" dirty="0" smtClean="0"/>
                        <a:t> SCIENCE</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346</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8</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SCIENCE</a:t>
                      </a:r>
                      <a:r>
                        <a:rPr lang="en-GB" baseline="0" dirty="0" smtClean="0"/>
                        <a:t> LAB. TECH.</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B. Sc  SCIENCE</a:t>
                      </a:r>
                      <a:r>
                        <a:rPr lang="en-GB" baseline="0" dirty="0" smtClean="0"/>
                        <a:t> LAB. TECH.</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651</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9</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ZOOLOGY</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B. Sc  ZOOLOGY</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190</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endParaRPr lang="en-US" b="1" dirty="0"/>
                    </a:p>
                  </a:txBody>
                  <a:tcP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r>
                        <a:rPr lang="en-GB" b="1" dirty="0" smtClean="0"/>
                        <a:t>TOTAL</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tc>
                <a:tc>
                  <a:txBody>
                    <a:bodyPr/>
                    <a:lstStyle/>
                    <a:p>
                      <a:r>
                        <a:rPr lang="en-GB" dirty="0" smtClean="0"/>
                        <a:t>4,596</a:t>
                      </a:r>
                      <a:endParaRPr lang="en-US" dirty="0"/>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4" name="Title 1"/>
          <p:cNvSpPr>
            <a:spLocks noGrp="1"/>
          </p:cNvSpPr>
          <p:nvPr>
            <p:ph type="title"/>
          </p:nvPr>
        </p:nvSpPr>
        <p:spPr>
          <a:xfrm>
            <a:off x="428596" y="785794"/>
            <a:ext cx="8229600" cy="857256"/>
          </a:xfrm>
        </p:spPr>
        <p:txBody>
          <a:bodyPr anchor="t">
            <a:normAutofit/>
          </a:bodyPr>
          <a:lstStyle/>
          <a:p>
            <a:r>
              <a:rPr lang="en-GB" sz="2400" b="1" dirty="0" smtClean="0">
                <a:effectLst>
                  <a:outerShdw blurRad="38100" dist="38100" dir="2700000" algn="tl">
                    <a:srgbClr val="000000">
                      <a:alpha val="43137"/>
                    </a:srgbClr>
                  </a:outerShdw>
                </a:effectLst>
              </a:rPr>
              <a:t>Table 1: Shows the Departments, Name of Programmes, and Students’ Population</a:t>
            </a:r>
            <a:endParaRPr lang="en-US" sz="2400" b="1" dirty="0">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28596" y="5929330"/>
            <a:ext cx="8229600" cy="642942"/>
          </a:xfrm>
        </p:spPr>
        <p:txBody>
          <a:bodyPr anchor="t">
            <a:normAutofit fontScale="90000"/>
          </a:bodyPr>
          <a:lstStyle/>
          <a:p>
            <a:r>
              <a:rPr lang="en-GB" sz="2400" b="1" dirty="0" smtClean="0">
                <a:effectLst>
                  <a:outerShdw blurRad="38100" dist="38100" dir="2700000" algn="tl">
                    <a:srgbClr val="000000">
                      <a:alpha val="43137"/>
                    </a:srgbClr>
                  </a:outerShdw>
                </a:effectLst>
              </a:rPr>
              <a:t>Fig. 1: Shows the Departments and Students’ Population in     the Faculty of Science</a:t>
            </a:r>
            <a:endParaRPr lang="en-US" sz="2400" b="1" dirty="0">
              <a:effectLst>
                <a:outerShdw blurRad="38100" dist="38100" dir="2700000" algn="tl">
                  <a:srgbClr val="000000">
                    <a:alpha val="43137"/>
                  </a:srgbClr>
                </a:outerShdw>
              </a:effectLst>
            </a:endParaRPr>
          </a:p>
        </p:txBody>
      </p:sp>
      <p:graphicFrame>
        <p:nvGraphicFramePr>
          <p:cNvPr id="9" name="Chart 8"/>
          <p:cNvGraphicFramePr/>
          <p:nvPr/>
        </p:nvGraphicFramePr>
        <p:xfrm>
          <a:off x="428596" y="571480"/>
          <a:ext cx="8358246" cy="5214974"/>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ransition spd="med">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14366" y="1558948"/>
          <a:ext cx="8229600" cy="4826000"/>
        </p:xfrm>
        <a:graphic>
          <a:graphicData uri="http://schemas.openxmlformats.org/drawingml/2006/table">
            <a:tbl>
              <a:tblPr firstRow="1" bandRow="1">
                <a:tableStyleId>{5940675A-B579-460E-94D1-54222C63F5DA}</a:tableStyleId>
              </a:tblPr>
              <a:tblGrid>
                <a:gridCol w="657172"/>
                <a:gridCol w="2071703"/>
                <a:gridCol w="1714512"/>
                <a:gridCol w="1571636"/>
                <a:gridCol w="1143008"/>
                <a:gridCol w="1071569"/>
              </a:tblGrid>
              <a:tr h="370840">
                <a:tc>
                  <a:txBody>
                    <a:bodyPr/>
                    <a:lstStyle/>
                    <a:p>
                      <a:r>
                        <a:rPr lang="en-GB" sz="1600" b="1" dirty="0" smtClean="0"/>
                        <a:t>S/N</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DEPARTMENT</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PROFESSORIAL RANK</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SENIOR LECTURER</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OTHERS</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TOTAL</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en-GB" dirty="0" smtClean="0"/>
                        <a:t>1</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BIOCHEMISTRY</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6</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Nil</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8</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b="1" dirty="0" smtClean="0"/>
                        <a:t>14</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r>
              <a:tr h="370840">
                <a:tc>
                  <a:txBody>
                    <a:bodyPr/>
                    <a:lstStyle/>
                    <a:p>
                      <a:r>
                        <a:rPr lang="en-GB" dirty="0" smtClean="0"/>
                        <a:t>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CHEMISTRY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7</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9</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19</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GEOLOGY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13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18</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4</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MATHEMATICAL SCIENCES</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4</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18</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24</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5</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MICROBIOLOGY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7</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1</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5</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13</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6</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PHYSICS</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6</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11</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7</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PLANT</a:t>
                      </a:r>
                      <a:r>
                        <a:rPr lang="en-GB" baseline="0" dirty="0" smtClean="0"/>
                        <a:t> SCIENCE</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6</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11</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8</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SCIENCE</a:t>
                      </a:r>
                      <a:r>
                        <a:rPr lang="en-GB" baseline="0" dirty="0" smtClean="0"/>
                        <a:t> LAB. TECH.</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Nil</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Nil</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Nil</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Nil</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9</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ZOOLOGY</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3</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5</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5</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13</a:t>
                      </a:r>
                      <a:endParaRPr lang="en-US" b="1"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endParaRPr lang="en-US" b="1" dirty="0"/>
                    </a:p>
                  </a:txBody>
                  <a:tcP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TOTAL</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35</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18</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70</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123</a:t>
                      </a:r>
                      <a:endParaRPr lang="en-US" b="1" dirty="0"/>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4" name="Title 1"/>
          <p:cNvSpPr>
            <a:spLocks noGrp="1"/>
          </p:cNvSpPr>
          <p:nvPr>
            <p:ph type="title"/>
          </p:nvPr>
        </p:nvSpPr>
        <p:spPr>
          <a:xfrm>
            <a:off x="428596" y="642918"/>
            <a:ext cx="8229600" cy="857256"/>
          </a:xfrm>
        </p:spPr>
        <p:txBody>
          <a:bodyPr anchor="t">
            <a:normAutofit/>
          </a:bodyPr>
          <a:lstStyle/>
          <a:p>
            <a:r>
              <a:rPr lang="en-GB" sz="2400" b="1" dirty="0" smtClean="0">
                <a:effectLst>
                  <a:outerShdw blurRad="38100" dist="38100" dir="2700000" algn="tl">
                    <a:srgbClr val="000000">
                      <a:alpha val="43137"/>
                    </a:srgbClr>
                  </a:outerShdw>
                </a:effectLst>
              </a:rPr>
              <a:t>Table 2: Shows the Number of Academic Staff in the Faculty of Science</a:t>
            </a:r>
            <a:endParaRPr lang="en-US" sz="2400" b="1" dirty="0">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28596" y="6143644"/>
            <a:ext cx="8229600" cy="571504"/>
          </a:xfrm>
        </p:spPr>
        <p:txBody>
          <a:bodyPr anchor="t">
            <a:normAutofit/>
          </a:bodyPr>
          <a:lstStyle/>
          <a:p>
            <a:r>
              <a:rPr lang="en-GB" sz="1800" b="1" dirty="0" smtClean="0">
                <a:effectLst>
                  <a:outerShdw blurRad="38100" dist="38100" dir="2700000" algn="tl">
                    <a:srgbClr val="000000">
                      <a:alpha val="43137"/>
                    </a:srgbClr>
                  </a:outerShdw>
                </a:effectLst>
              </a:rPr>
              <a:t>Fig. 2: Shows the Number of Academic Staff in the Faculty of Science</a:t>
            </a:r>
            <a:endParaRPr lang="en-US" sz="1800" b="1" dirty="0">
              <a:effectLst>
                <a:outerShdw blurRad="38100" dist="38100" dir="2700000" algn="tl">
                  <a:srgbClr val="000000">
                    <a:alpha val="43137"/>
                  </a:srgbClr>
                </a:outerShdw>
              </a:effectLst>
            </a:endParaRPr>
          </a:p>
        </p:txBody>
      </p:sp>
      <p:graphicFrame>
        <p:nvGraphicFramePr>
          <p:cNvPr id="8" name="Chart 7"/>
          <p:cNvGraphicFramePr/>
          <p:nvPr/>
        </p:nvGraphicFramePr>
        <p:xfrm>
          <a:off x="357158" y="785794"/>
          <a:ext cx="8501122" cy="5214974"/>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p:cNvSpPr/>
          <p:nvPr/>
        </p:nvSpPr>
        <p:spPr>
          <a:xfrm>
            <a:off x="6508374" y="2928934"/>
            <a:ext cx="2635658" cy="369332"/>
          </a:xfrm>
          <a:prstGeom prst="rect">
            <a:avLst/>
          </a:prstGeom>
        </p:spPr>
        <p:txBody>
          <a:bodyPr wrap="none">
            <a:spAutoFit/>
          </a:bodyPr>
          <a:lstStyle/>
          <a:p>
            <a:r>
              <a:rPr lang="en-GB" dirty="0" smtClean="0"/>
              <a:t>PROFESSORIAL RANK</a:t>
            </a:r>
            <a:endParaRPr lang="en-US" dirty="0"/>
          </a:p>
        </p:txBody>
      </p:sp>
    </p:spTree>
  </p:cSld>
  <p:clrMapOvr>
    <a:masterClrMapping/>
  </p:clrMapOvr>
  <p:transition spd="med">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14366" y="1500177"/>
          <a:ext cx="8372475" cy="4884771"/>
        </p:xfrm>
        <a:graphic>
          <a:graphicData uri="http://schemas.openxmlformats.org/drawingml/2006/table">
            <a:tbl>
              <a:tblPr firstRow="1" bandRow="1">
                <a:tableStyleId>{5940675A-B579-460E-94D1-54222C63F5DA}</a:tableStyleId>
              </a:tblPr>
              <a:tblGrid>
                <a:gridCol w="844525"/>
                <a:gridCol w="2662325"/>
                <a:gridCol w="2019694"/>
                <a:gridCol w="1468868"/>
                <a:gridCol w="1377063"/>
              </a:tblGrid>
              <a:tr h="586173">
                <a:tc>
                  <a:txBody>
                    <a:bodyPr/>
                    <a:lstStyle/>
                    <a:p>
                      <a:r>
                        <a:rPr lang="en-GB" sz="1600" b="1" dirty="0" smtClean="0"/>
                        <a:t>S/N</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DEPARTMENT</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TECHNOLOGIST</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OTHERS</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TOTAL</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5356">
                <a:tc>
                  <a:txBody>
                    <a:bodyPr/>
                    <a:lstStyle/>
                    <a:p>
                      <a:r>
                        <a:rPr lang="en-GB" dirty="0" smtClean="0"/>
                        <a:t>1</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BIOCHEMISTRY</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4</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1</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b="1" dirty="0" smtClean="0"/>
                        <a:t>5</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r>
              <a:tr h="375356">
                <a:tc>
                  <a:txBody>
                    <a:bodyPr/>
                    <a:lstStyle/>
                    <a:p>
                      <a:r>
                        <a:rPr lang="en-GB" dirty="0" smtClean="0"/>
                        <a:t>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CHEMISTRY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5</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5356">
                <a:tc>
                  <a:txBody>
                    <a:bodyPr/>
                    <a:lstStyle/>
                    <a:p>
                      <a:r>
                        <a:rPr lang="en-GB" dirty="0" smtClean="0"/>
                        <a:t>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GEOLOGY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4</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1</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5</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647875">
                <a:tc>
                  <a:txBody>
                    <a:bodyPr/>
                    <a:lstStyle/>
                    <a:p>
                      <a:r>
                        <a:rPr lang="en-GB" dirty="0" smtClean="0"/>
                        <a:t>4</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MATHEMATICAL SCIENCES</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Nil</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Nil</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Nil</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5356">
                <a:tc>
                  <a:txBody>
                    <a:bodyPr/>
                    <a:lstStyle/>
                    <a:p>
                      <a:r>
                        <a:rPr lang="en-GB" dirty="0" smtClean="0"/>
                        <a:t>5</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MICROBIOLOGY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5</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8</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5356">
                <a:tc>
                  <a:txBody>
                    <a:bodyPr/>
                    <a:lstStyle/>
                    <a:p>
                      <a:r>
                        <a:rPr lang="en-GB" dirty="0" smtClean="0"/>
                        <a:t>6</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PHYSICS</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4</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7</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5356">
                <a:tc>
                  <a:txBody>
                    <a:bodyPr/>
                    <a:lstStyle/>
                    <a:p>
                      <a:r>
                        <a:rPr lang="en-GB" dirty="0" smtClean="0"/>
                        <a:t>7</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PLANT</a:t>
                      </a:r>
                      <a:r>
                        <a:rPr lang="en-GB" baseline="0" dirty="0" smtClean="0"/>
                        <a:t> SCIENCE</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5</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647875">
                <a:tc>
                  <a:txBody>
                    <a:bodyPr/>
                    <a:lstStyle/>
                    <a:p>
                      <a:r>
                        <a:rPr lang="en-GB" dirty="0" smtClean="0"/>
                        <a:t>8</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SCIENCE</a:t>
                      </a:r>
                      <a:r>
                        <a:rPr lang="en-GB" baseline="0" dirty="0" smtClean="0"/>
                        <a:t> LAB. TECH.</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5</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4</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9</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5356">
                <a:tc>
                  <a:txBody>
                    <a:bodyPr/>
                    <a:lstStyle/>
                    <a:p>
                      <a:r>
                        <a:rPr lang="en-GB" dirty="0" smtClean="0"/>
                        <a:t>9</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ZOOLOGY</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3</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2</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5</a:t>
                      </a:r>
                      <a:endParaRPr lang="en-US" b="1"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5356">
                <a:tc>
                  <a:txBody>
                    <a:bodyPr/>
                    <a:lstStyle/>
                    <a:p>
                      <a:endParaRPr lang="en-US" b="1" dirty="0"/>
                    </a:p>
                  </a:txBody>
                  <a:tcP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TOTAL</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29</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20</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49</a:t>
                      </a:r>
                      <a:endParaRPr lang="en-US" b="1" dirty="0"/>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4" name="Title 1"/>
          <p:cNvSpPr>
            <a:spLocks noGrp="1"/>
          </p:cNvSpPr>
          <p:nvPr>
            <p:ph type="title"/>
          </p:nvPr>
        </p:nvSpPr>
        <p:spPr>
          <a:xfrm>
            <a:off x="428596" y="642918"/>
            <a:ext cx="8229600" cy="857256"/>
          </a:xfrm>
        </p:spPr>
        <p:txBody>
          <a:bodyPr anchor="t">
            <a:normAutofit/>
          </a:bodyPr>
          <a:lstStyle/>
          <a:p>
            <a:r>
              <a:rPr lang="en-GB" sz="2400" b="1" dirty="0" smtClean="0">
                <a:effectLst>
                  <a:outerShdw blurRad="38100" dist="38100" dir="2700000" algn="tl">
                    <a:srgbClr val="000000">
                      <a:alpha val="43137"/>
                    </a:srgbClr>
                  </a:outerShdw>
                </a:effectLst>
              </a:rPr>
              <a:t>Table 3: Shows the Number of Technical Staff in the Faculty of Science</a:t>
            </a:r>
            <a:endParaRPr lang="en-US" sz="2400" b="1" dirty="0">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28596" y="6143644"/>
            <a:ext cx="8229600" cy="571504"/>
          </a:xfrm>
        </p:spPr>
        <p:txBody>
          <a:bodyPr anchor="t">
            <a:normAutofit/>
          </a:bodyPr>
          <a:lstStyle/>
          <a:p>
            <a:r>
              <a:rPr lang="en-GB" sz="1800" b="1" dirty="0" smtClean="0">
                <a:effectLst>
                  <a:outerShdw blurRad="38100" dist="38100" dir="2700000" algn="tl">
                    <a:srgbClr val="000000">
                      <a:alpha val="43137"/>
                    </a:srgbClr>
                  </a:outerShdw>
                </a:effectLst>
              </a:rPr>
              <a:t>Fig. 3: Shows the Number of Technical Staff in the Faculty of Science</a:t>
            </a:r>
            <a:endParaRPr lang="en-US" sz="1800" b="1" dirty="0">
              <a:effectLst>
                <a:outerShdw blurRad="38100" dist="38100" dir="2700000" algn="tl">
                  <a:srgbClr val="000000">
                    <a:alpha val="43137"/>
                  </a:srgbClr>
                </a:outerShdw>
              </a:effectLst>
            </a:endParaRPr>
          </a:p>
        </p:txBody>
      </p:sp>
      <p:graphicFrame>
        <p:nvGraphicFramePr>
          <p:cNvPr id="7" name="Chart 6"/>
          <p:cNvGraphicFramePr/>
          <p:nvPr/>
        </p:nvGraphicFramePr>
        <p:xfrm>
          <a:off x="285720" y="642918"/>
          <a:ext cx="8643998" cy="535785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ransition spd="med">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14366" y="1558948"/>
          <a:ext cx="8229600" cy="4826000"/>
        </p:xfrm>
        <a:graphic>
          <a:graphicData uri="http://schemas.openxmlformats.org/drawingml/2006/table">
            <a:tbl>
              <a:tblPr firstRow="1" bandRow="1">
                <a:tableStyleId>{5940675A-B579-460E-94D1-54222C63F5DA}</a:tableStyleId>
              </a:tblPr>
              <a:tblGrid>
                <a:gridCol w="657172"/>
                <a:gridCol w="2071703"/>
                <a:gridCol w="1285883"/>
                <a:gridCol w="1428760"/>
                <a:gridCol w="1714513"/>
                <a:gridCol w="1071569"/>
              </a:tblGrid>
              <a:tr h="370840">
                <a:tc>
                  <a:txBody>
                    <a:bodyPr/>
                    <a:lstStyle/>
                    <a:p>
                      <a:r>
                        <a:rPr lang="en-GB" sz="1600" b="1" dirty="0" smtClean="0"/>
                        <a:t>S/N</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DEPARTMENT</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SENIOR</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JUINOR</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DATA ENTRY CLERK</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TOTAL</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en-GB" dirty="0" smtClean="0"/>
                        <a:t>1</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BIOCHEMISTRY</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2</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1</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Nil</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b="1" dirty="0" smtClean="0"/>
                        <a:t>3</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r>
              <a:tr h="370840">
                <a:tc>
                  <a:txBody>
                    <a:bodyPr/>
                    <a:lstStyle/>
                    <a:p>
                      <a:r>
                        <a:rPr lang="en-GB" dirty="0" smtClean="0"/>
                        <a:t>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CHEMISTRY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1</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Nil</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3</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GEOLOGY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1</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1</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Nil</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2</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4</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MATHEMATICAL SCIENCES</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1</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1</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5</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5</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MICROBIOLOGY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Nil</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Nil</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2</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6</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PHYSICS</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1</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1</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Nil</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2</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7</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PLANT</a:t>
                      </a:r>
                      <a:r>
                        <a:rPr lang="en-GB" baseline="0" dirty="0" smtClean="0"/>
                        <a:t> SCIENCE</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Nil</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Nil</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2</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8</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SCIENCE</a:t>
                      </a:r>
                      <a:r>
                        <a:rPr lang="en-GB" baseline="0" dirty="0" smtClean="0"/>
                        <a:t> LAB. TECH.</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4</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4</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1</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9</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9</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ZOOLOGY</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1</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1</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Nil</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2</a:t>
                      </a:r>
                      <a:endParaRPr lang="en-US" b="1"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endParaRPr lang="en-US" b="1" dirty="0"/>
                    </a:p>
                  </a:txBody>
                  <a:tcP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TOTAL</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18</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10</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2</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30</a:t>
                      </a:r>
                      <a:endParaRPr lang="en-US" b="1" dirty="0"/>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4" name="Title 1"/>
          <p:cNvSpPr>
            <a:spLocks noGrp="1"/>
          </p:cNvSpPr>
          <p:nvPr>
            <p:ph type="title"/>
          </p:nvPr>
        </p:nvSpPr>
        <p:spPr>
          <a:xfrm>
            <a:off x="428596" y="642918"/>
            <a:ext cx="8229600" cy="857256"/>
          </a:xfrm>
        </p:spPr>
        <p:txBody>
          <a:bodyPr anchor="t">
            <a:normAutofit/>
          </a:bodyPr>
          <a:lstStyle/>
          <a:p>
            <a:r>
              <a:rPr lang="en-GB" sz="2400" b="1" dirty="0" smtClean="0">
                <a:effectLst>
                  <a:outerShdw blurRad="38100" dist="38100" dir="2700000" algn="tl">
                    <a:srgbClr val="000000">
                      <a:alpha val="43137"/>
                    </a:srgbClr>
                  </a:outerShdw>
                </a:effectLst>
              </a:rPr>
              <a:t>Table 4: Shows the number of Administrative Staff in the Faculty of Science</a:t>
            </a:r>
            <a:endParaRPr lang="en-US" sz="2400" b="1" dirty="0">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28596" y="6215082"/>
            <a:ext cx="8229600" cy="428628"/>
          </a:xfrm>
        </p:spPr>
        <p:txBody>
          <a:bodyPr anchor="t">
            <a:normAutofit fontScale="90000"/>
          </a:bodyPr>
          <a:lstStyle/>
          <a:p>
            <a:r>
              <a:rPr lang="en-GB" sz="2000" b="1" dirty="0" smtClean="0">
                <a:effectLst>
                  <a:outerShdw blurRad="38100" dist="38100" dir="2700000" algn="tl">
                    <a:srgbClr val="000000">
                      <a:alpha val="43137"/>
                    </a:srgbClr>
                  </a:outerShdw>
                </a:effectLst>
              </a:rPr>
              <a:t>Fig. 4: Shows the number of Administrative Staff in the Faculty of Science</a:t>
            </a:r>
            <a:endParaRPr lang="en-US" sz="2000" b="1" dirty="0">
              <a:effectLst>
                <a:outerShdw blurRad="38100" dist="38100" dir="2700000" algn="tl">
                  <a:srgbClr val="000000">
                    <a:alpha val="43137"/>
                  </a:srgbClr>
                </a:outerShdw>
              </a:effectLst>
            </a:endParaRPr>
          </a:p>
        </p:txBody>
      </p:sp>
      <p:graphicFrame>
        <p:nvGraphicFramePr>
          <p:cNvPr id="7" name="Chart 6"/>
          <p:cNvGraphicFramePr/>
          <p:nvPr/>
        </p:nvGraphicFramePr>
        <p:xfrm>
          <a:off x="357158" y="642918"/>
          <a:ext cx="8429684" cy="5429288"/>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ransition spd="med">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14366" y="2292368"/>
          <a:ext cx="8229601" cy="3977640"/>
        </p:xfrm>
        <a:graphic>
          <a:graphicData uri="http://schemas.openxmlformats.org/drawingml/2006/table">
            <a:tbl>
              <a:tblPr firstRow="1" bandRow="1">
                <a:tableStyleId>{5940675A-B579-460E-94D1-54222C63F5DA}</a:tableStyleId>
              </a:tblPr>
              <a:tblGrid>
                <a:gridCol w="832207"/>
                <a:gridCol w="3236360"/>
                <a:gridCol w="4161034"/>
              </a:tblGrid>
              <a:tr h="370840">
                <a:tc>
                  <a:txBody>
                    <a:bodyPr/>
                    <a:lstStyle/>
                    <a:p>
                      <a:r>
                        <a:rPr lang="en-GB" b="1" dirty="0" smtClean="0"/>
                        <a:t>S/N</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DEPARTMENT</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ACCREDITATION STATUS</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en-GB" dirty="0" smtClean="0"/>
                        <a:t>1</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BIOCHEMISTRY</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FULL</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r>
              <a:tr h="370840">
                <a:tc>
                  <a:txBody>
                    <a:bodyPr/>
                    <a:lstStyle/>
                    <a:p>
                      <a:r>
                        <a:rPr lang="en-GB" dirty="0" smtClean="0"/>
                        <a:t>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CHEMISTRY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mtClean="0"/>
                        <a:t>FULL</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GEOLOGY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mtClean="0"/>
                        <a:t>FULL</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4</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MATHEMATICAL SCIENCES</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mtClean="0"/>
                        <a:t>FULL</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5</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MICROBIOLOGY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mtClean="0"/>
                        <a:t>FULL</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6</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PHYSICS</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mtClean="0"/>
                        <a:t>FULL</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7</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PLANT</a:t>
                      </a:r>
                      <a:r>
                        <a:rPr lang="en-GB" baseline="0" dirty="0" smtClean="0"/>
                        <a:t> SCIENCE</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FULL</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8</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SCIENCE</a:t>
                      </a:r>
                      <a:r>
                        <a:rPr lang="en-GB" baseline="0" dirty="0" smtClean="0"/>
                        <a:t> LAB. TECH.</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NOT YET ACCREDITED (ONLY RESOURCE</a:t>
                      </a:r>
                      <a:r>
                        <a:rPr lang="en-GB" baseline="0" dirty="0" smtClean="0"/>
                        <a:t> ASSESSMENT)</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9</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ZOOLOGY</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FULL</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4" name="Title 1"/>
          <p:cNvSpPr>
            <a:spLocks noGrp="1"/>
          </p:cNvSpPr>
          <p:nvPr>
            <p:ph type="title"/>
          </p:nvPr>
        </p:nvSpPr>
        <p:spPr>
          <a:xfrm>
            <a:off x="428596" y="928670"/>
            <a:ext cx="8229600" cy="857256"/>
          </a:xfrm>
        </p:spPr>
        <p:txBody>
          <a:bodyPr anchor="t">
            <a:normAutofit/>
          </a:bodyPr>
          <a:lstStyle/>
          <a:p>
            <a:r>
              <a:rPr lang="en-GB" sz="2400" b="1" dirty="0" smtClean="0">
                <a:effectLst>
                  <a:outerShdw blurRad="38100" dist="38100" dir="2700000" algn="tl">
                    <a:srgbClr val="000000">
                      <a:alpha val="43137"/>
                    </a:srgbClr>
                  </a:outerShdw>
                </a:effectLst>
              </a:rPr>
              <a:t>Table 5: Shows the Accreditation Status of Courses in the Faculty of Science</a:t>
            </a:r>
            <a:endParaRPr lang="en-US" sz="2400" b="1" dirty="0">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57364"/>
            <a:ext cx="8229600" cy="4786346"/>
          </a:xfrm>
        </p:spPr>
        <p:txBody>
          <a:bodyPr>
            <a:normAutofit/>
          </a:bodyPr>
          <a:lstStyle/>
          <a:p>
            <a:r>
              <a:rPr lang="en-GB" sz="2400" dirty="0" smtClean="0"/>
              <a:t>Water from mains		-inadequate.</a:t>
            </a:r>
          </a:p>
          <a:p>
            <a:r>
              <a:rPr lang="en-GB" sz="2400" dirty="0" smtClean="0"/>
              <a:t>Power from mains		-not</a:t>
            </a:r>
          </a:p>
          <a:p>
            <a:pPr>
              <a:buNone/>
            </a:pPr>
            <a:r>
              <a:rPr lang="en-GB" sz="2400" dirty="0" smtClean="0"/>
              <a:t>						regularly/only on 						special occasions.</a:t>
            </a:r>
            <a:endParaRPr lang="en-US" sz="2400" dirty="0" smtClean="0"/>
          </a:p>
          <a:p>
            <a:r>
              <a:rPr lang="en-GB" sz="2400" dirty="0" smtClean="0"/>
              <a:t>Power from other sources	-Faculty Generator</a:t>
            </a:r>
          </a:p>
          <a:p>
            <a:pPr>
              <a:buNone/>
            </a:pPr>
            <a:r>
              <a:rPr lang="en-GB" sz="2400" dirty="0" smtClean="0"/>
              <a:t>						4hrs daily (Mon-Thurs)</a:t>
            </a:r>
          </a:p>
          <a:p>
            <a:r>
              <a:rPr lang="en-GB" sz="2400" dirty="0" smtClean="0"/>
              <a:t>Staff Toilets			-functional but not</a:t>
            </a:r>
          </a:p>
          <a:p>
            <a:pPr>
              <a:buNone/>
            </a:pPr>
            <a:r>
              <a:rPr lang="en-GB" sz="2400" dirty="0" smtClean="0"/>
              <a:t>						adequate</a:t>
            </a:r>
          </a:p>
          <a:p>
            <a:r>
              <a:rPr lang="en-GB" sz="2400" dirty="0" smtClean="0"/>
              <a:t>Student Toilets			- available/not adequate</a:t>
            </a:r>
          </a:p>
          <a:p>
            <a:r>
              <a:rPr lang="en-GB" sz="2400" dirty="0" smtClean="0"/>
              <a:t>Environment			-needs improvement</a:t>
            </a:r>
          </a:p>
          <a:p>
            <a:r>
              <a:rPr lang="en-GB" sz="2400" dirty="0" smtClean="0"/>
              <a:t>Parking Facilities			-inadequate</a:t>
            </a:r>
          </a:p>
        </p:txBody>
      </p:sp>
      <p:sp>
        <p:nvSpPr>
          <p:cNvPr id="4" name="Title 1"/>
          <p:cNvSpPr>
            <a:spLocks noGrp="1"/>
          </p:cNvSpPr>
          <p:nvPr>
            <p:ph type="title"/>
          </p:nvPr>
        </p:nvSpPr>
        <p:spPr>
          <a:xfrm>
            <a:off x="428596" y="714356"/>
            <a:ext cx="8229600" cy="1066800"/>
          </a:xfrm>
        </p:spPr>
        <p:txBody>
          <a:bodyPr anchor="t"/>
          <a:lstStyle/>
          <a:p>
            <a:r>
              <a:rPr lang="en-GB" b="1" dirty="0" smtClean="0">
                <a:effectLst>
                  <a:outerShdw blurRad="38100" dist="38100" dir="2700000" algn="tl">
                    <a:srgbClr val="000000">
                      <a:alpha val="43137"/>
                    </a:srgbClr>
                  </a:outerShdw>
                </a:effectLst>
              </a:rPr>
              <a:t>STATE OF UTILITIES</a:t>
            </a:r>
            <a:endParaRPr lang="en-US" b="1" dirty="0">
              <a:effectLst>
                <a:outerShdw blurRad="38100" dist="38100" dir="2700000" algn="tl">
                  <a:srgbClr val="000000">
                    <a:alpha val="43137"/>
                  </a:srgbClr>
                </a:outerShdw>
              </a:effectLst>
            </a:endParaRPr>
          </a:p>
        </p:txBody>
      </p:sp>
    </p:spTree>
  </p:cSld>
  <p:clrMapOvr>
    <a:masterClrMapping/>
  </p:clrMapOvr>
  <p:transition spd="med">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57364"/>
            <a:ext cx="8229600" cy="4786346"/>
          </a:xfrm>
        </p:spPr>
        <p:txBody>
          <a:bodyPr>
            <a:normAutofit/>
          </a:bodyPr>
          <a:lstStyle/>
          <a:p>
            <a:r>
              <a:rPr lang="en-GB" sz="2400" dirty="0" smtClean="0"/>
              <a:t>Number of lecture rooms (shared)	-10</a:t>
            </a:r>
          </a:p>
          <a:p>
            <a:r>
              <a:rPr lang="en-GB" sz="2400" dirty="0" smtClean="0"/>
              <a:t>Seating capacity				-ranged from 36 to 						72</a:t>
            </a:r>
          </a:p>
          <a:p>
            <a:r>
              <a:rPr lang="en-GB" sz="2400" dirty="0" smtClean="0"/>
              <a:t>Number of lecture rooms (solely owned)	-nil</a:t>
            </a:r>
          </a:p>
          <a:p>
            <a:r>
              <a:rPr lang="en-GB" sz="2400" dirty="0" smtClean="0"/>
              <a:t>Seating capacity				-N/A</a:t>
            </a:r>
          </a:p>
          <a:p>
            <a:r>
              <a:rPr lang="en-GB" sz="2400" dirty="0" smtClean="0"/>
              <a:t>Number of lecture theatres		-4</a:t>
            </a:r>
          </a:p>
          <a:p>
            <a:r>
              <a:rPr lang="en-GB" sz="2400" dirty="0" smtClean="0"/>
              <a:t>Seating capacity				-750 to 1050</a:t>
            </a:r>
          </a:p>
        </p:txBody>
      </p:sp>
      <p:sp>
        <p:nvSpPr>
          <p:cNvPr id="4" name="Title 1"/>
          <p:cNvSpPr>
            <a:spLocks noGrp="1"/>
          </p:cNvSpPr>
          <p:nvPr>
            <p:ph type="title"/>
          </p:nvPr>
        </p:nvSpPr>
        <p:spPr>
          <a:xfrm>
            <a:off x="428596" y="714356"/>
            <a:ext cx="8229600" cy="1066800"/>
          </a:xfrm>
        </p:spPr>
        <p:txBody>
          <a:bodyPr anchor="t"/>
          <a:lstStyle/>
          <a:p>
            <a:r>
              <a:rPr lang="en-GB" b="1" dirty="0" smtClean="0">
                <a:effectLst>
                  <a:outerShdw blurRad="38100" dist="38100" dir="2700000" algn="tl">
                    <a:srgbClr val="000000">
                      <a:alpha val="43137"/>
                    </a:srgbClr>
                  </a:outerShdw>
                </a:effectLst>
              </a:rPr>
              <a:t>TEACHING UTILITIES</a:t>
            </a:r>
            <a:endParaRPr lang="en-US" b="1" dirty="0">
              <a:effectLst>
                <a:outerShdw blurRad="38100" dist="38100" dir="2700000" algn="tl">
                  <a:srgbClr val="000000">
                    <a:alpha val="43137"/>
                  </a:srgbClr>
                </a:outerShdw>
              </a:effectLst>
            </a:endParaRPr>
          </a:p>
        </p:txBody>
      </p:sp>
    </p:spTree>
  </p:cSld>
  <p:clrMapOvr>
    <a:masterClrMapping/>
  </p:clrMapOvr>
  <p:transition spd="med">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p:cNvPicPr>
          <p:nvPr>
            <p:ph idx="1"/>
          </p:nvPr>
        </p:nvPicPr>
        <p:blipFill>
          <a:blip r:embed="rId2"/>
          <a:srcRect/>
          <a:stretch>
            <a:fillRect/>
          </a:stretch>
        </p:blipFill>
        <p:spPr bwMode="auto">
          <a:xfrm>
            <a:off x="0" y="428604"/>
            <a:ext cx="9144000" cy="5715040"/>
          </a:xfrm>
          <a:prstGeom prst="rect">
            <a:avLst/>
          </a:prstGeom>
          <a:noFill/>
          <a:ln w="9525">
            <a:noFill/>
            <a:miter lim="800000"/>
            <a:headEnd/>
            <a:tailEnd/>
          </a:ln>
        </p:spPr>
      </p:pic>
      <p:sp>
        <p:nvSpPr>
          <p:cNvPr id="53249" name="Rectangle 1"/>
          <p:cNvSpPr>
            <a:spLocks noChangeArrowheads="1"/>
          </p:cNvSpPr>
          <p:nvPr/>
        </p:nvSpPr>
        <p:spPr bwMode="auto">
          <a:xfrm>
            <a:off x="0" y="6143644"/>
            <a:ext cx="9151864"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Plate 7: Shows the Damaged Podium in a lecture room with broken floor</a:t>
            </a:r>
            <a:endParaRPr kumimoji="0" lang="en-GB" sz="36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C:\Users\SCIENCE\Desktop\New folder\IMG_20151214_125332.jpg"/>
          <p:cNvPicPr>
            <a:picLocks noGrp="1"/>
          </p:cNvPicPr>
          <p:nvPr>
            <p:ph idx="1"/>
          </p:nvPr>
        </p:nvPicPr>
        <p:blipFill>
          <a:blip r:embed="rId2"/>
          <a:srcRect l="19887" r="14519"/>
          <a:stretch>
            <a:fillRect/>
          </a:stretch>
        </p:blipFill>
        <p:spPr bwMode="auto">
          <a:xfrm>
            <a:off x="0" y="428604"/>
            <a:ext cx="9144000" cy="5857916"/>
          </a:xfrm>
          <a:prstGeom prst="rect">
            <a:avLst/>
          </a:prstGeom>
          <a:noFill/>
          <a:ln w="9525">
            <a:noFill/>
            <a:miter lim="800000"/>
            <a:headEnd/>
            <a:tailEnd/>
          </a:ln>
        </p:spPr>
      </p:pic>
      <p:sp>
        <p:nvSpPr>
          <p:cNvPr id="52225" name="Rectangle 1"/>
          <p:cNvSpPr>
            <a:spLocks noChangeArrowheads="1"/>
          </p:cNvSpPr>
          <p:nvPr/>
        </p:nvSpPr>
        <p:spPr bwMode="auto">
          <a:xfrm>
            <a:off x="0" y="6357958"/>
            <a:ext cx="914400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Plate 8: Shows the Sample of Lecture rooms with spoilt doors</a:t>
            </a:r>
            <a:endParaRPr kumimoji="0" lang="en-GB" sz="36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71612"/>
            <a:ext cx="8229600" cy="4643470"/>
          </a:xfrm>
        </p:spPr>
        <p:txBody>
          <a:bodyPr>
            <a:normAutofit/>
          </a:bodyPr>
          <a:lstStyle/>
          <a:p>
            <a:pPr>
              <a:buNone/>
            </a:pPr>
            <a:r>
              <a:rPr lang="en-GB" sz="2400" b="1" dirty="0" smtClean="0"/>
              <a:t>State of Infrastructure</a:t>
            </a:r>
          </a:p>
          <a:p>
            <a:r>
              <a:rPr lang="en-GB" sz="2400" dirty="0" smtClean="0"/>
              <a:t>Structural deficiency			-little</a:t>
            </a:r>
          </a:p>
          <a:p>
            <a:r>
              <a:rPr lang="en-GB" sz="2400" dirty="0" smtClean="0"/>
              <a:t>Furniture					-not adequate</a:t>
            </a:r>
          </a:p>
          <a:p>
            <a:r>
              <a:rPr lang="en-GB" sz="2400" dirty="0" smtClean="0"/>
              <a:t>Lighting					-not adequate</a:t>
            </a:r>
          </a:p>
          <a:p>
            <a:r>
              <a:rPr lang="en-GB" sz="2400" dirty="0" smtClean="0"/>
              <a:t>Ventilation				-adequate</a:t>
            </a:r>
          </a:p>
          <a:p>
            <a:r>
              <a:rPr lang="en-GB" sz="2400" dirty="0" smtClean="0"/>
              <a:t>Cleanliness				-averagely okay</a:t>
            </a:r>
          </a:p>
          <a:p>
            <a:r>
              <a:rPr lang="en-GB" sz="2400" dirty="0" smtClean="0"/>
              <a:t>No. of rooms with whiteboards		-10</a:t>
            </a:r>
          </a:p>
          <a:p>
            <a:r>
              <a:rPr lang="en-GB" sz="2400" dirty="0" smtClean="0"/>
              <a:t>No. of rooms with </a:t>
            </a:r>
            <a:r>
              <a:rPr lang="en-GB" sz="2400" dirty="0" err="1" smtClean="0"/>
              <a:t>smartboards</a:t>
            </a:r>
            <a:r>
              <a:rPr lang="en-GB" sz="2400" dirty="0" smtClean="0"/>
              <a:t>		-nil</a:t>
            </a:r>
          </a:p>
          <a:p>
            <a:r>
              <a:rPr lang="en-GB" sz="2400" dirty="0" smtClean="0"/>
              <a:t>No. of rooms without boards		-4 cracked boards</a:t>
            </a:r>
          </a:p>
          <a:p>
            <a:r>
              <a:rPr lang="en-GB" sz="2400" dirty="0" smtClean="0"/>
              <a:t>Power point facilities			-not adequate</a:t>
            </a:r>
          </a:p>
          <a:p>
            <a:r>
              <a:rPr lang="en-GB" sz="2400" dirty="0" smtClean="0"/>
              <a:t>Public address system			-not available</a:t>
            </a:r>
            <a:endParaRPr lang="en-US" sz="2400" dirty="0"/>
          </a:p>
        </p:txBody>
      </p:sp>
      <p:sp>
        <p:nvSpPr>
          <p:cNvPr id="4" name="Title 1"/>
          <p:cNvSpPr>
            <a:spLocks noGrp="1"/>
          </p:cNvSpPr>
          <p:nvPr>
            <p:ph type="title"/>
          </p:nvPr>
        </p:nvSpPr>
        <p:spPr>
          <a:xfrm>
            <a:off x="428596" y="714356"/>
            <a:ext cx="8229600" cy="1066800"/>
          </a:xfrm>
        </p:spPr>
        <p:txBody>
          <a:bodyPr anchor="t"/>
          <a:lstStyle/>
          <a:p>
            <a:r>
              <a:rPr lang="en-GB" b="1" dirty="0" smtClean="0">
                <a:effectLst>
                  <a:outerShdw blurRad="38100" dist="38100" dir="2700000" algn="tl">
                    <a:srgbClr val="000000">
                      <a:alpha val="43137"/>
                    </a:srgbClr>
                  </a:outerShdw>
                </a:effectLst>
              </a:rPr>
              <a:t>DEFICIENCES</a:t>
            </a:r>
            <a:endParaRPr lang="en-US" b="1" dirty="0">
              <a:effectLst>
                <a:outerShdw blurRad="38100" dist="38100" dir="2700000" algn="tl">
                  <a:srgbClr val="000000">
                    <a:alpha val="43137"/>
                  </a:srgbClr>
                </a:outerShdw>
              </a:effectLst>
            </a:endParaRPr>
          </a:p>
        </p:txBody>
      </p:sp>
    </p:spTree>
  </p:cSld>
  <p:clrMapOvr>
    <a:masterClrMapping/>
  </p:clrMapOvr>
  <p:transition spd="med">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rcRect/>
          <a:stretch>
            <a:fillRect/>
          </a:stretch>
        </p:blipFill>
        <p:spPr bwMode="auto">
          <a:xfrm>
            <a:off x="0" y="428604"/>
            <a:ext cx="9144000" cy="5754707"/>
          </a:xfrm>
          <a:prstGeom prst="rect">
            <a:avLst/>
          </a:prstGeom>
          <a:noFill/>
          <a:ln w="9525">
            <a:noFill/>
            <a:miter lim="800000"/>
            <a:headEnd/>
            <a:tailEnd/>
          </a:ln>
        </p:spPr>
      </p:pic>
      <p:sp>
        <p:nvSpPr>
          <p:cNvPr id="51201" name="Rectangle 1"/>
          <p:cNvSpPr>
            <a:spLocks noChangeArrowheads="1"/>
          </p:cNvSpPr>
          <p:nvPr/>
        </p:nvSpPr>
        <p:spPr bwMode="auto">
          <a:xfrm>
            <a:off x="170405" y="6286520"/>
            <a:ext cx="8830751" cy="338554"/>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Plate 4: Shows an overcrowded Lab. with Students struggling to use Lab. materials that are not sufficient</a:t>
            </a:r>
            <a:endParaRPr kumimoji="0" lang="en-GB" sz="24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rcRect l="8495" t="2994" r="6851"/>
          <a:stretch>
            <a:fillRect/>
          </a:stretch>
        </p:blipFill>
        <p:spPr bwMode="auto">
          <a:xfrm>
            <a:off x="214282" y="642918"/>
            <a:ext cx="8643998" cy="5429288"/>
          </a:xfrm>
          <a:prstGeom prst="rect">
            <a:avLst/>
          </a:prstGeom>
          <a:noFill/>
          <a:ln w="9525">
            <a:noFill/>
            <a:miter lim="800000"/>
            <a:headEnd/>
            <a:tailEnd/>
          </a:ln>
        </p:spPr>
      </p:pic>
      <p:sp>
        <p:nvSpPr>
          <p:cNvPr id="50177" name="Rectangle 1"/>
          <p:cNvSpPr>
            <a:spLocks noChangeArrowheads="1"/>
          </p:cNvSpPr>
          <p:nvPr/>
        </p:nvSpPr>
        <p:spPr bwMode="auto">
          <a:xfrm>
            <a:off x="0" y="6143644"/>
            <a:ext cx="8767336"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Plate 5: Shows the Sample of broken Taps and Sinks in the laboratory</a:t>
            </a:r>
            <a:endParaRPr kumimoji="0" lang="en-GB" sz="36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Users\SCIENCE\Desktop\New folder\IMG_20151214_125047.jpg"/>
          <p:cNvPicPr/>
          <p:nvPr/>
        </p:nvPicPr>
        <p:blipFill>
          <a:blip r:embed="rId2"/>
          <a:srcRect l="7367" r="4087" b="11222"/>
          <a:stretch>
            <a:fillRect/>
          </a:stretch>
        </p:blipFill>
        <p:spPr bwMode="auto">
          <a:xfrm>
            <a:off x="0" y="0"/>
            <a:ext cx="9144000" cy="6858000"/>
          </a:xfrm>
          <a:prstGeom prst="rect">
            <a:avLst/>
          </a:prstGeom>
          <a:noFill/>
          <a:ln w="9525">
            <a:noFill/>
            <a:miter lim="800000"/>
            <a:headEnd/>
            <a:tailEnd/>
          </a:ln>
        </p:spPr>
      </p:pic>
      <p:sp>
        <p:nvSpPr>
          <p:cNvPr id="7" name="Title 6"/>
          <p:cNvSpPr>
            <a:spLocks noGrp="1"/>
          </p:cNvSpPr>
          <p:nvPr>
            <p:ph type="title"/>
          </p:nvPr>
        </p:nvSpPr>
        <p:spPr/>
        <p:txBody>
          <a:bodyPr/>
          <a:lstStyle/>
          <a:p>
            <a:endParaRPr lang="en-US" dirty="0"/>
          </a:p>
        </p:txBody>
      </p:sp>
      <p:sp>
        <p:nvSpPr>
          <p:cNvPr id="8" name="Text Placeholder 7"/>
          <p:cNvSpPr>
            <a:spLocks noGrp="1"/>
          </p:cNvSpPr>
          <p:nvPr>
            <p:ph type="body" idx="1"/>
          </p:nvPr>
        </p:nvSpPr>
        <p:spPr>
          <a:xfrm>
            <a:off x="214282" y="5867394"/>
            <a:ext cx="4206877" cy="990606"/>
          </a:xfrm>
        </p:spPr>
        <p:style>
          <a:lnRef idx="2">
            <a:schemeClr val="accent2"/>
          </a:lnRef>
          <a:fillRef idx="1">
            <a:schemeClr val="lt1"/>
          </a:fillRef>
          <a:effectRef idx="0">
            <a:schemeClr val="accent2"/>
          </a:effectRef>
          <a:fontRef idx="minor">
            <a:schemeClr val="dk1"/>
          </a:fontRef>
        </p:style>
        <p:txBody>
          <a:bodyPr>
            <a:normAutofit lnSpcReduction="10000"/>
          </a:bodyPr>
          <a:lstStyle/>
          <a:p>
            <a:r>
              <a:rPr lang="en-GB" b="1" dirty="0" smtClean="0">
                <a:solidFill>
                  <a:srgbClr val="FF0000"/>
                </a:solidFill>
              </a:rPr>
              <a:t>Plates 6A and 6B : Show the dilapidated </a:t>
            </a:r>
            <a:r>
              <a:rPr lang="en-GB" b="1" dirty="0" err="1" smtClean="0">
                <a:solidFill>
                  <a:srgbClr val="FF0000"/>
                </a:solidFill>
              </a:rPr>
              <a:t>Lab.Cupboard</a:t>
            </a:r>
            <a:r>
              <a:rPr lang="en-GB" b="1" dirty="0" smtClean="0">
                <a:solidFill>
                  <a:srgbClr val="FF0000"/>
                </a:solidFill>
              </a:rPr>
              <a:t> (6A) and  whiteboard(6B)</a:t>
            </a:r>
            <a:endParaRPr lang="en-US" b="1" dirty="0" smtClean="0">
              <a:solidFill>
                <a:srgbClr val="FF0000"/>
              </a:solidFill>
            </a:endParaRPr>
          </a:p>
          <a:p>
            <a:endParaRPr lang="en-US" dirty="0"/>
          </a:p>
        </p:txBody>
      </p:sp>
      <p:pic>
        <p:nvPicPr>
          <p:cNvPr id="4" name="Content Placeholder 3"/>
          <p:cNvPicPr>
            <a:picLocks noGrp="1"/>
          </p:cNvPicPr>
          <p:nvPr>
            <p:ph idx="4294967295"/>
          </p:nvPr>
        </p:nvPicPr>
        <p:blipFill>
          <a:blip r:embed="rId3"/>
          <a:srcRect l="7868" t="28154" r="30181" b="14816"/>
          <a:stretch>
            <a:fillRect/>
          </a:stretch>
        </p:blipFill>
        <p:spPr bwMode="auto">
          <a:xfrm>
            <a:off x="4611688" y="4214813"/>
            <a:ext cx="4532312" cy="2643187"/>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med">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14488"/>
            <a:ext cx="8229600" cy="4857784"/>
          </a:xfrm>
        </p:spPr>
        <p:txBody>
          <a:bodyPr>
            <a:normAutofit/>
          </a:bodyPr>
          <a:lstStyle/>
          <a:p>
            <a:r>
              <a:rPr lang="en-GB" sz="2400" dirty="0" smtClean="0"/>
              <a:t>Space			-inadequate</a:t>
            </a:r>
          </a:p>
          <a:p>
            <a:r>
              <a:rPr lang="en-GB" sz="2400" dirty="0" smtClean="0"/>
              <a:t>Equipment		- inadequate</a:t>
            </a:r>
          </a:p>
          <a:p>
            <a:r>
              <a:rPr lang="en-GB" sz="2400" dirty="0" smtClean="0"/>
              <a:t>Power			- inadequate</a:t>
            </a:r>
          </a:p>
          <a:p>
            <a:r>
              <a:rPr lang="en-GB" sz="2400" dirty="0" smtClean="0"/>
              <a:t>Water			- inadequate</a:t>
            </a:r>
          </a:p>
          <a:p>
            <a:r>
              <a:rPr lang="en-GB" sz="2400" dirty="0" smtClean="0"/>
              <a:t>Fire extinguishers	- inadequate</a:t>
            </a:r>
          </a:p>
          <a:p>
            <a:pPr>
              <a:buNone/>
            </a:pPr>
            <a:endParaRPr lang="en-GB" sz="2400" dirty="0" smtClean="0"/>
          </a:p>
          <a:p>
            <a:pPr>
              <a:buNone/>
            </a:pPr>
            <a:r>
              <a:rPr lang="en-GB" sz="2400" b="1" dirty="0" smtClean="0"/>
              <a:t>Deficiencies</a:t>
            </a:r>
          </a:p>
          <a:p>
            <a:r>
              <a:rPr lang="en-GB" sz="2400" dirty="0" smtClean="0"/>
              <a:t>space not enough</a:t>
            </a:r>
          </a:p>
          <a:p>
            <a:r>
              <a:rPr lang="en-GB" sz="2400" dirty="0" smtClean="0"/>
              <a:t>Scanty number of equipment</a:t>
            </a:r>
          </a:p>
          <a:p>
            <a:r>
              <a:rPr lang="en-GB" sz="2400" dirty="0" smtClean="0"/>
              <a:t>No regular supply of electricity</a:t>
            </a:r>
          </a:p>
          <a:p>
            <a:r>
              <a:rPr lang="en-GB" sz="2400" dirty="0" smtClean="0"/>
              <a:t>Extinguishers supplied not enough</a:t>
            </a:r>
            <a:endParaRPr lang="en-US" sz="2400" dirty="0"/>
          </a:p>
        </p:txBody>
      </p:sp>
      <p:sp>
        <p:nvSpPr>
          <p:cNvPr id="4" name="Title 1"/>
          <p:cNvSpPr>
            <a:spLocks noGrp="1"/>
          </p:cNvSpPr>
          <p:nvPr>
            <p:ph type="title"/>
          </p:nvPr>
        </p:nvSpPr>
        <p:spPr>
          <a:xfrm>
            <a:off x="428596" y="714356"/>
            <a:ext cx="8229600" cy="1066800"/>
          </a:xfrm>
        </p:spPr>
        <p:txBody>
          <a:bodyPr anchor="t"/>
          <a:lstStyle/>
          <a:p>
            <a:r>
              <a:rPr lang="en-GB" b="1" dirty="0" smtClean="0">
                <a:effectLst>
                  <a:outerShdw blurRad="38100" dist="38100" dir="2700000" algn="tl">
                    <a:srgbClr val="000000">
                      <a:alpha val="43137"/>
                    </a:srgbClr>
                  </a:outerShdw>
                </a:effectLst>
              </a:rPr>
              <a:t>LABORATORY FACILITIES</a:t>
            </a:r>
            <a:endParaRPr lang="en-US" b="1" dirty="0">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p:cNvPicPr>
          <p:nvPr>
            <p:ph idx="1"/>
          </p:nvPr>
        </p:nvPicPr>
        <p:blipFill>
          <a:blip r:embed="rId2"/>
          <a:srcRect/>
          <a:stretch>
            <a:fillRect/>
          </a:stretch>
        </p:blipFill>
        <p:spPr bwMode="auto">
          <a:xfrm>
            <a:off x="71406" y="642918"/>
            <a:ext cx="8858280" cy="5500726"/>
          </a:xfrm>
          <a:prstGeom prst="rect">
            <a:avLst/>
          </a:prstGeom>
          <a:noFill/>
          <a:ln w="9525">
            <a:noFill/>
            <a:miter lim="800000"/>
            <a:headEnd/>
            <a:tailEnd/>
          </a:ln>
        </p:spPr>
      </p:pic>
      <p:sp>
        <p:nvSpPr>
          <p:cNvPr id="3073" name="Rectangle 1"/>
          <p:cNvSpPr>
            <a:spLocks noChangeArrowheads="1"/>
          </p:cNvSpPr>
          <p:nvPr/>
        </p:nvSpPr>
        <p:spPr bwMode="auto">
          <a:xfrm>
            <a:off x="0" y="6215082"/>
            <a:ext cx="9110187"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Plate 1: Shows the Laboratory that can only accommodate 60 Students when it was built in 1985</a:t>
            </a:r>
            <a:endParaRPr kumimoji="0" lang="en-GB" sz="2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rcRect/>
          <a:stretch>
            <a:fillRect/>
          </a:stretch>
        </p:blipFill>
        <p:spPr bwMode="auto">
          <a:xfrm>
            <a:off x="142844" y="500042"/>
            <a:ext cx="8929718" cy="5786478"/>
          </a:xfrm>
          <a:prstGeom prst="rect">
            <a:avLst/>
          </a:prstGeom>
          <a:noFill/>
          <a:ln w="9525">
            <a:noFill/>
            <a:miter lim="800000"/>
            <a:headEnd/>
            <a:tailEnd/>
          </a:ln>
        </p:spPr>
      </p:pic>
      <p:sp>
        <p:nvSpPr>
          <p:cNvPr id="5" name="Rectangle 1"/>
          <p:cNvSpPr>
            <a:spLocks noChangeArrowheads="1"/>
          </p:cNvSpPr>
          <p:nvPr/>
        </p:nvSpPr>
        <p:spPr bwMode="auto">
          <a:xfrm>
            <a:off x="0" y="6345816"/>
            <a:ext cx="9110187"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Plate 2: Shows the Laboratory that can only accommodate 60 Students when it was built in 1985</a:t>
            </a:r>
            <a:endParaRPr kumimoji="0" lang="en-GB" sz="2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spd="med">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rcRect/>
          <a:stretch>
            <a:fillRect/>
          </a:stretch>
        </p:blipFill>
        <p:spPr bwMode="auto">
          <a:xfrm>
            <a:off x="71406" y="500042"/>
            <a:ext cx="8929718" cy="5786478"/>
          </a:xfrm>
          <a:prstGeom prst="rect">
            <a:avLst/>
          </a:prstGeom>
          <a:noFill/>
          <a:ln w="9525">
            <a:noFill/>
            <a:miter lim="800000"/>
            <a:headEnd/>
            <a:tailEnd/>
          </a:ln>
        </p:spPr>
      </p:pic>
      <p:sp>
        <p:nvSpPr>
          <p:cNvPr id="1025" name="Rectangle 1"/>
          <p:cNvSpPr>
            <a:spLocks noChangeArrowheads="1"/>
          </p:cNvSpPr>
          <p:nvPr/>
        </p:nvSpPr>
        <p:spPr bwMode="auto">
          <a:xfrm>
            <a:off x="940981" y="6400800"/>
            <a:ext cx="677429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Plate 3: Shows a Staff Office in the Lab that is congested and out-dated</a:t>
            </a:r>
            <a:endParaRPr kumimoji="0" lang="en-GB" sz="2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428868"/>
            <a:ext cx="8229600" cy="4000528"/>
          </a:xfrm>
        </p:spPr>
        <p:txBody>
          <a:bodyPr>
            <a:normAutofit/>
          </a:bodyPr>
          <a:lstStyle/>
          <a:p>
            <a:r>
              <a:rPr lang="en-GB" sz="2400" dirty="0" smtClean="0"/>
              <a:t>Space			-inadequate</a:t>
            </a:r>
          </a:p>
          <a:p>
            <a:r>
              <a:rPr lang="en-GB" sz="2400" dirty="0" smtClean="0"/>
              <a:t>Textbooks			- inadequate</a:t>
            </a:r>
          </a:p>
          <a:p>
            <a:r>
              <a:rPr lang="en-GB" sz="2400" dirty="0" smtClean="0"/>
              <a:t>Journals			- inadequate</a:t>
            </a:r>
          </a:p>
          <a:p>
            <a:r>
              <a:rPr lang="en-GB" sz="2400" dirty="0" smtClean="0"/>
              <a:t>Internet facilities		- inadequate</a:t>
            </a:r>
          </a:p>
          <a:p>
            <a:endParaRPr lang="en-GB" sz="2400" dirty="0" smtClean="0"/>
          </a:p>
          <a:p>
            <a:endParaRPr lang="en-GB" sz="2400" dirty="0" smtClean="0"/>
          </a:p>
          <a:p>
            <a:pPr>
              <a:buNone/>
            </a:pPr>
            <a:r>
              <a:rPr lang="en-GB" sz="2400" b="1" dirty="0" smtClean="0"/>
              <a:t>RECREATIONAL FACILITIES</a:t>
            </a:r>
            <a:endParaRPr lang="en-GB" sz="2400" dirty="0" smtClean="0"/>
          </a:p>
          <a:p>
            <a:r>
              <a:rPr lang="en-GB" sz="2400" dirty="0" smtClean="0"/>
              <a:t>Staff common room	-not available</a:t>
            </a:r>
          </a:p>
        </p:txBody>
      </p:sp>
      <p:sp>
        <p:nvSpPr>
          <p:cNvPr id="4" name="Title 1"/>
          <p:cNvSpPr>
            <a:spLocks noGrp="1"/>
          </p:cNvSpPr>
          <p:nvPr>
            <p:ph type="title"/>
          </p:nvPr>
        </p:nvSpPr>
        <p:spPr>
          <a:xfrm>
            <a:off x="428596" y="714356"/>
            <a:ext cx="8229600" cy="1066800"/>
          </a:xfrm>
        </p:spPr>
        <p:txBody>
          <a:bodyPr anchor="t">
            <a:normAutofit fontScale="90000"/>
          </a:bodyPr>
          <a:lstStyle/>
          <a:p>
            <a:r>
              <a:rPr lang="en-GB" b="1" dirty="0" smtClean="0">
                <a:effectLst>
                  <a:outerShdw blurRad="38100" dist="38100" dir="2700000" algn="tl">
                    <a:srgbClr val="000000">
                      <a:alpha val="43137"/>
                    </a:srgbClr>
                  </a:outerShdw>
                </a:effectLst>
              </a:rPr>
              <a:t>FACULTY/DEPARTMENTAL LIBRARY FACILITIES</a:t>
            </a:r>
            <a:endParaRPr lang="en-US" b="1" dirty="0">
              <a:effectLst>
                <a:outerShdw blurRad="38100" dist="38100" dir="2700000" algn="tl">
                  <a:srgbClr val="000000">
                    <a:alpha val="43137"/>
                  </a:srgbClr>
                </a:outerShdw>
              </a:effectLst>
            </a:endParaRPr>
          </a:p>
        </p:txBody>
      </p:sp>
    </p:spTree>
  </p:cSld>
  <p:clrMapOvr>
    <a:masterClrMapping/>
  </p:clrMapOvr>
  <p:transition spd="med">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406" y="1428760"/>
            <a:ext cx="8858312" cy="5286388"/>
          </a:xfrm>
        </p:spPr>
        <p:txBody>
          <a:bodyPr>
            <a:normAutofit lnSpcReduction="10000"/>
          </a:bodyPr>
          <a:lstStyle/>
          <a:p>
            <a:r>
              <a:rPr lang="en-GB" sz="2400" dirty="0" smtClean="0"/>
              <a:t>Average number of days between the examination and submission of score sheets		-15 days</a:t>
            </a:r>
          </a:p>
          <a:p>
            <a:r>
              <a:rPr lang="en-GB" sz="2400" dirty="0" smtClean="0"/>
              <a:t>Average number of days for compilation of results	-15days</a:t>
            </a:r>
          </a:p>
          <a:p>
            <a:r>
              <a:rPr lang="en-GB" sz="2400" dirty="0" smtClean="0"/>
              <a:t>Compilation modalities			-manual</a:t>
            </a:r>
          </a:p>
          <a:p>
            <a:r>
              <a:rPr lang="en-GB" sz="2400" dirty="0" smtClean="0"/>
              <a:t>Challenges				-results of general 							courses not readily 							available within 							scheduled time.</a:t>
            </a:r>
          </a:p>
          <a:p>
            <a:r>
              <a:rPr lang="en-GB" sz="2400" dirty="0" smtClean="0"/>
              <a:t>Storage mode and retrieval of results	-kept in files and 							cabinets and manual 						searching.</a:t>
            </a:r>
          </a:p>
          <a:p>
            <a:r>
              <a:rPr lang="en-GB" sz="2400" dirty="0" smtClean="0"/>
              <a:t>Mode of students’ access to results	-notice boards/level 						advisers/course 							lecturers.</a:t>
            </a:r>
          </a:p>
        </p:txBody>
      </p:sp>
      <p:sp>
        <p:nvSpPr>
          <p:cNvPr id="4" name="Title 1"/>
          <p:cNvSpPr>
            <a:spLocks noGrp="1"/>
          </p:cNvSpPr>
          <p:nvPr>
            <p:ph type="title"/>
          </p:nvPr>
        </p:nvSpPr>
        <p:spPr>
          <a:xfrm>
            <a:off x="428596" y="500042"/>
            <a:ext cx="8358246" cy="1071570"/>
          </a:xfrm>
        </p:spPr>
        <p:txBody>
          <a:bodyPr anchor="ctr">
            <a:normAutofit/>
          </a:bodyPr>
          <a:lstStyle/>
          <a:p>
            <a:r>
              <a:rPr lang="en-GB" b="1" dirty="0" smtClean="0">
                <a:effectLst>
                  <a:outerShdw blurRad="38100" dist="38100" dir="2700000" algn="tl">
                    <a:srgbClr val="000000">
                      <a:alpha val="43137"/>
                    </a:srgbClr>
                  </a:outerShdw>
                </a:effectLst>
              </a:rPr>
              <a:t>STUDENTS’ EXAMINATION RESULTS</a:t>
            </a:r>
            <a:endParaRPr lang="en-US" b="1" dirty="0">
              <a:effectLst>
                <a:outerShdw blurRad="38100" dist="38100" dir="2700000" algn="tl">
                  <a:srgbClr val="000000">
                    <a:alpha val="43137"/>
                  </a:srgbClr>
                </a:outerShdw>
              </a:effectLst>
            </a:endParaRPr>
          </a:p>
        </p:txBody>
      </p:sp>
    </p:spTree>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071678"/>
            <a:ext cx="8229600" cy="4502858"/>
          </a:xfrm>
        </p:spPr>
        <p:txBody>
          <a:bodyPr>
            <a:normAutofit/>
          </a:bodyPr>
          <a:lstStyle/>
          <a:p>
            <a:r>
              <a:rPr lang="en-GB" sz="2400" dirty="0" smtClean="0"/>
              <a:t>Mathematics (B. Sc Mathematics)</a:t>
            </a:r>
          </a:p>
          <a:p>
            <a:r>
              <a:rPr lang="en-GB" sz="2400" dirty="0" smtClean="0"/>
              <a:t>Statistics (B. Sc Statistics)</a:t>
            </a:r>
          </a:p>
          <a:p>
            <a:r>
              <a:rPr lang="en-GB" sz="2400" dirty="0" smtClean="0"/>
              <a:t>Computer Science (B. Sc Computer Science)</a:t>
            </a:r>
          </a:p>
          <a:p>
            <a:r>
              <a:rPr lang="en-GB" sz="2400" dirty="0" smtClean="0"/>
              <a:t>Chemistry (B. Sc Chemistry)</a:t>
            </a:r>
          </a:p>
          <a:p>
            <a:r>
              <a:rPr lang="en-GB" sz="2400" dirty="0" smtClean="0"/>
              <a:t>Industrial Chemistry (B. Sc Industrial Chemistry)</a:t>
            </a:r>
          </a:p>
          <a:p>
            <a:pPr>
              <a:buNone/>
            </a:pPr>
            <a:r>
              <a:rPr lang="en-GB" sz="2400" b="1" dirty="0" smtClean="0"/>
              <a:t> .</a:t>
            </a:r>
            <a:r>
              <a:rPr lang="en-GB" sz="2400" dirty="0" smtClean="0"/>
              <a:t> Diploma  Courses in some Programmes  </a:t>
            </a:r>
          </a:p>
          <a:p>
            <a:pPr algn="just">
              <a:buNone/>
            </a:pPr>
            <a:r>
              <a:rPr lang="en-GB" sz="2400" b="1" dirty="0" smtClean="0"/>
              <a:t>Justification</a:t>
            </a:r>
            <a:endParaRPr lang="en-GB" sz="2400" dirty="0" smtClean="0"/>
          </a:p>
          <a:p>
            <a:pPr algn="just"/>
            <a:r>
              <a:rPr lang="en-GB" sz="2400" dirty="0" smtClean="0"/>
              <a:t>Qualified Academic Staff</a:t>
            </a:r>
          </a:p>
          <a:p>
            <a:pPr algn="just"/>
            <a:r>
              <a:rPr lang="en-GB" sz="2400" dirty="0" smtClean="0"/>
              <a:t>Adequate number of students</a:t>
            </a:r>
            <a:endParaRPr lang="en-US" sz="2400" dirty="0"/>
          </a:p>
        </p:txBody>
      </p:sp>
      <p:sp>
        <p:nvSpPr>
          <p:cNvPr id="4" name="Title 1"/>
          <p:cNvSpPr>
            <a:spLocks noGrp="1"/>
          </p:cNvSpPr>
          <p:nvPr>
            <p:ph type="title"/>
          </p:nvPr>
        </p:nvSpPr>
        <p:spPr>
          <a:xfrm>
            <a:off x="428596" y="714356"/>
            <a:ext cx="8358246" cy="1071570"/>
          </a:xfrm>
        </p:spPr>
        <p:txBody>
          <a:bodyPr anchor="ctr">
            <a:normAutofit/>
          </a:bodyPr>
          <a:lstStyle/>
          <a:p>
            <a:r>
              <a:rPr lang="en-GB" b="1" dirty="0" smtClean="0">
                <a:effectLst>
                  <a:outerShdw blurRad="38100" dist="38100" dir="2700000" algn="tl">
                    <a:srgbClr val="000000">
                      <a:alpha val="43137"/>
                    </a:srgbClr>
                  </a:outerShdw>
                </a:effectLst>
              </a:rPr>
              <a:t>NEW PROGRAMMES IN VIEW</a:t>
            </a:r>
            <a:endParaRPr lang="en-US" b="1" dirty="0">
              <a:effectLst>
                <a:outerShdw blurRad="38100" dist="38100" dir="2700000" algn="tl">
                  <a:srgbClr val="000000">
                    <a:alpha val="43137"/>
                  </a:srgbClr>
                </a:outerShdw>
              </a:effectLst>
            </a:endParaRPr>
          </a:p>
        </p:txBody>
      </p:sp>
    </p:spTree>
  </p:cSld>
  <p:clrMapOvr>
    <a:masterClrMapping/>
  </p:clrMapOvr>
  <p:transition spd="med">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414366" y="1558948"/>
          <a:ext cx="8229600" cy="4988560"/>
        </p:xfrm>
        <a:graphic>
          <a:graphicData uri="http://schemas.openxmlformats.org/drawingml/2006/table">
            <a:tbl>
              <a:tblPr firstRow="1" bandRow="1">
                <a:tableStyleId>{5940675A-B579-460E-94D1-54222C63F5DA}</a:tableStyleId>
              </a:tblPr>
              <a:tblGrid>
                <a:gridCol w="657172"/>
                <a:gridCol w="2071703"/>
                <a:gridCol w="1285883"/>
                <a:gridCol w="1428760"/>
                <a:gridCol w="1714513"/>
                <a:gridCol w="1071569"/>
              </a:tblGrid>
              <a:tr h="370840">
                <a:tc gridSpan="6">
                  <a:txBody>
                    <a:bodyPr/>
                    <a:lstStyle/>
                    <a:p>
                      <a:pPr algn="ctr"/>
                      <a:r>
                        <a:rPr lang="en-GB" sz="1600" b="1" dirty="0" smtClean="0"/>
                        <a:t>Number</a:t>
                      </a:r>
                      <a:r>
                        <a:rPr lang="en-GB" sz="1600" b="1" baseline="0" dirty="0" smtClean="0"/>
                        <a:t> of Students</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en-GB" sz="1600" b="1" dirty="0" smtClean="0"/>
                        <a:t>S/N</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DEPARTMENT</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PGD</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MASTERS</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PhD</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600" b="1" dirty="0" smtClean="0"/>
                        <a:t>TOTAL</a:t>
                      </a:r>
                      <a:endParaRPr 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r>
                        <a:rPr lang="en-GB" dirty="0" smtClean="0"/>
                        <a:t>1</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BIOCHEMISTRY</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23</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dirty="0" smtClean="0"/>
                        <a:t>4</a:t>
                      </a:r>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b="1" dirty="0" smtClean="0"/>
                        <a:t>27</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r>
              <a:tr h="370840">
                <a:tc>
                  <a:txBody>
                    <a:bodyPr/>
                    <a:lstStyle/>
                    <a:p>
                      <a:r>
                        <a:rPr lang="en-GB" dirty="0" smtClean="0"/>
                        <a:t>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CHEMISTRY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10</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4</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14</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GEOLOGY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3</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4</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MATHEMATICAL SCIENCES</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4</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44</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10</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58</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5</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MICROBIOLOGY</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5</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25</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15</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45</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6</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PHYSICS</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6</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5</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11</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7</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PLANT</a:t>
                      </a:r>
                      <a:r>
                        <a:rPr lang="en-GB" baseline="0" dirty="0" smtClean="0"/>
                        <a:t> SCIENCE</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6</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6</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14</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8</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SCIENCE</a:t>
                      </a:r>
                      <a:r>
                        <a:rPr lang="en-GB" baseline="0" dirty="0" smtClean="0"/>
                        <a:t> LAB. TECH.</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dirty="0" smtClean="0"/>
                        <a:t>-</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b="1" dirty="0" smtClean="0"/>
                        <a:t>Nil</a:t>
                      </a:r>
                      <a:endParaRPr lang="en-US"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370840">
                <a:tc>
                  <a:txBody>
                    <a:bodyPr/>
                    <a:lstStyle/>
                    <a:p>
                      <a:r>
                        <a:rPr lang="en-GB" dirty="0" smtClean="0"/>
                        <a:t>9</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ZOOLOGY</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4</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dirty="0" smtClean="0"/>
                        <a:t>4</a:t>
                      </a:r>
                      <a:endParaRPr 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8</a:t>
                      </a:r>
                      <a:endParaRPr lang="en-US" b="1"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endParaRPr lang="en-US" b="1" dirty="0"/>
                    </a:p>
                  </a:txBody>
                  <a:tcP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TOTAL</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11</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121</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48</a:t>
                      </a:r>
                      <a:endParaRPr lang="en-US"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b="1" dirty="0" smtClean="0"/>
                        <a:t>180</a:t>
                      </a:r>
                      <a:endParaRPr lang="en-US" b="1" dirty="0"/>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4" name="Title 1"/>
          <p:cNvSpPr>
            <a:spLocks noGrp="1"/>
          </p:cNvSpPr>
          <p:nvPr>
            <p:ph type="title"/>
          </p:nvPr>
        </p:nvSpPr>
        <p:spPr>
          <a:xfrm>
            <a:off x="428596" y="642918"/>
            <a:ext cx="8229600" cy="857256"/>
          </a:xfrm>
        </p:spPr>
        <p:txBody>
          <a:bodyPr anchor="t">
            <a:normAutofit/>
          </a:bodyPr>
          <a:lstStyle/>
          <a:p>
            <a:r>
              <a:rPr lang="en-GB" sz="2400" b="1" dirty="0" smtClean="0">
                <a:effectLst>
                  <a:outerShdw blurRad="38100" dist="38100" dir="2700000" algn="tl">
                    <a:srgbClr val="000000">
                      <a:alpha val="43137"/>
                    </a:srgbClr>
                  </a:outerShdw>
                </a:effectLst>
              </a:rPr>
              <a:t>Table 6: Shows Postgraduate programmes and number of students in the Faculty of Science</a:t>
            </a:r>
            <a:endParaRPr lang="en-US" sz="2400" b="1" dirty="0">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28596" y="6143620"/>
            <a:ext cx="8229600" cy="500090"/>
          </a:xfrm>
        </p:spPr>
        <p:txBody>
          <a:bodyPr anchor="t">
            <a:normAutofit fontScale="90000"/>
          </a:bodyPr>
          <a:lstStyle/>
          <a:p>
            <a:r>
              <a:rPr lang="en-GB" sz="2000" b="1" dirty="0" smtClean="0">
                <a:effectLst>
                  <a:outerShdw blurRad="38100" dist="38100" dir="2700000" algn="tl">
                    <a:srgbClr val="000000">
                      <a:alpha val="43137"/>
                    </a:srgbClr>
                  </a:outerShdw>
                </a:effectLst>
              </a:rPr>
              <a:t>Fig. 6: Shows Postgraduate programmes and number of students in the Faculty of Science</a:t>
            </a:r>
            <a:endParaRPr lang="en-US" sz="2000" b="1" dirty="0">
              <a:effectLst>
                <a:outerShdw blurRad="38100" dist="38100" dir="2700000" algn="tl">
                  <a:srgbClr val="000000">
                    <a:alpha val="43137"/>
                  </a:srgbClr>
                </a:outerShdw>
              </a:effectLst>
            </a:endParaRPr>
          </a:p>
        </p:txBody>
      </p:sp>
      <p:graphicFrame>
        <p:nvGraphicFramePr>
          <p:cNvPr id="7" name="Chart 6"/>
          <p:cNvGraphicFramePr/>
          <p:nvPr/>
        </p:nvGraphicFramePr>
        <p:xfrm>
          <a:off x="214282" y="642918"/>
          <a:ext cx="8643998" cy="550072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ransition spd="med">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6003056"/>
          </a:xfrm>
        </p:spPr>
        <p:txBody>
          <a:bodyPr>
            <a:normAutofit/>
          </a:bodyPr>
          <a:lstStyle/>
          <a:p>
            <a:pPr>
              <a:buNone/>
            </a:pPr>
            <a:r>
              <a:rPr lang="en-GB" sz="2400" b="1" dirty="0" smtClean="0"/>
              <a:t>AVERAGE PERIOD FOR GRADUATION</a:t>
            </a:r>
            <a:endParaRPr lang="en-GB" sz="2400" dirty="0" smtClean="0"/>
          </a:p>
          <a:p>
            <a:r>
              <a:rPr lang="en-GB" sz="2000" dirty="0" smtClean="0"/>
              <a:t>PGD		               2 semesters</a:t>
            </a:r>
          </a:p>
          <a:p>
            <a:r>
              <a:rPr lang="en-GB" sz="2000" dirty="0" smtClean="0"/>
              <a:t>Masters		4 semesters</a:t>
            </a:r>
          </a:p>
          <a:p>
            <a:r>
              <a:rPr lang="en-GB" sz="2000" dirty="0" smtClean="0"/>
              <a:t>Ph. D		6 semesters</a:t>
            </a:r>
          </a:p>
          <a:p>
            <a:endParaRPr lang="en-GB" sz="2000" dirty="0" smtClean="0"/>
          </a:p>
          <a:p>
            <a:pPr>
              <a:buNone/>
            </a:pPr>
            <a:r>
              <a:rPr lang="en-GB" sz="2400" b="1" dirty="0" smtClean="0"/>
              <a:t>PROFESSIONAL PROGRAMME</a:t>
            </a:r>
            <a:endParaRPr lang="en-GB" sz="2000" dirty="0" smtClean="0"/>
          </a:p>
          <a:p>
            <a:r>
              <a:rPr lang="en-GB" sz="2000" dirty="0" smtClean="0"/>
              <a:t>Programme		-Science Laboratory Technology</a:t>
            </a:r>
          </a:p>
          <a:p>
            <a:r>
              <a:rPr lang="en-GB" sz="2000" dirty="0" smtClean="0"/>
              <a:t>Number of students	-651</a:t>
            </a:r>
          </a:p>
          <a:p>
            <a:r>
              <a:rPr lang="en-GB" sz="2000" dirty="0" smtClean="0"/>
              <a:t>Average Period for</a:t>
            </a:r>
          </a:p>
          <a:p>
            <a:pPr>
              <a:buNone/>
            </a:pPr>
            <a:r>
              <a:rPr lang="en-GB" sz="2000" dirty="0" smtClean="0"/>
              <a:t>	graduation		10 semesters</a:t>
            </a:r>
          </a:p>
          <a:p>
            <a:r>
              <a:rPr lang="en-GB" sz="2000" dirty="0" smtClean="0"/>
              <a:t>Reasons for delay	-Nil</a:t>
            </a:r>
          </a:p>
          <a:p>
            <a:pPr>
              <a:buNone/>
            </a:pPr>
            <a:endParaRPr lang="en-GB" sz="2000" dirty="0" smtClean="0"/>
          </a:p>
          <a:p>
            <a:pPr>
              <a:buNone/>
            </a:pPr>
            <a:r>
              <a:rPr lang="en-GB" sz="2400" b="1" dirty="0" smtClean="0"/>
              <a:t>RESEARCH FACILITIES</a:t>
            </a:r>
          </a:p>
          <a:p>
            <a:r>
              <a:rPr lang="en-GB" sz="2000" dirty="0" smtClean="0"/>
              <a:t>Laboratory space		-inadequate</a:t>
            </a:r>
          </a:p>
          <a:p>
            <a:r>
              <a:rPr lang="en-GB" sz="2000" dirty="0" smtClean="0"/>
              <a:t>Equipment			-inadequate</a:t>
            </a:r>
          </a:p>
          <a:p>
            <a:r>
              <a:rPr lang="en-GB" sz="2000" dirty="0" smtClean="0"/>
              <a:t>Books/Journals		-inadequate</a:t>
            </a:r>
            <a:endParaRPr lang="en-US" sz="2000" dirty="0"/>
          </a:p>
        </p:txBody>
      </p:sp>
    </p:spTree>
  </p:cSld>
  <p:clrMapOvr>
    <a:masterClrMapping/>
  </p:clrMapOvr>
  <p:transition spd="med">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2214554"/>
            <a:ext cx="8501122" cy="4357718"/>
          </a:xfrm>
        </p:spPr>
        <p:txBody>
          <a:bodyPr>
            <a:normAutofit/>
          </a:bodyPr>
          <a:lstStyle/>
          <a:p>
            <a:r>
              <a:rPr lang="en-GB" dirty="0" smtClean="0"/>
              <a:t>Major challenges:</a:t>
            </a:r>
          </a:p>
          <a:p>
            <a:pPr lvl="1"/>
            <a:r>
              <a:rPr lang="en-GB" sz="2400" dirty="0" smtClean="0">
                <a:solidFill>
                  <a:schemeClr val="tx1"/>
                </a:solidFill>
              </a:rPr>
              <a:t>Inadequate Academic Staff</a:t>
            </a:r>
          </a:p>
          <a:p>
            <a:pPr lvl="1"/>
            <a:r>
              <a:rPr lang="en-GB" sz="2400" dirty="0" smtClean="0">
                <a:solidFill>
                  <a:schemeClr val="tx1"/>
                </a:solidFill>
              </a:rPr>
              <a:t>Laboratory space not adequate</a:t>
            </a:r>
          </a:p>
          <a:p>
            <a:pPr lvl="1"/>
            <a:r>
              <a:rPr lang="en-GB" sz="2400" dirty="0" smtClean="0">
                <a:solidFill>
                  <a:schemeClr val="tx1"/>
                </a:solidFill>
              </a:rPr>
              <a:t>Inadequate infrastructures</a:t>
            </a:r>
          </a:p>
          <a:p>
            <a:pPr lvl="1"/>
            <a:r>
              <a:rPr lang="en-GB" sz="2400" dirty="0" smtClean="0">
                <a:solidFill>
                  <a:schemeClr val="tx1"/>
                </a:solidFill>
              </a:rPr>
              <a:t>Non-availability of ICT-enabling environment</a:t>
            </a:r>
          </a:p>
          <a:p>
            <a:pPr lvl="1"/>
            <a:r>
              <a:rPr lang="en-GB" sz="2400" dirty="0" smtClean="0">
                <a:solidFill>
                  <a:schemeClr val="tx1"/>
                </a:solidFill>
              </a:rPr>
              <a:t>Inadequate electricity supply</a:t>
            </a:r>
          </a:p>
          <a:p>
            <a:pPr lvl="1"/>
            <a:r>
              <a:rPr lang="en-GB" sz="2400" dirty="0" smtClean="0">
                <a:solidFill>
                  <a:schemeClr val="tx1"/>
                </a:solidFill>
              </a:rPr>
              <a:t>Inadequate water supply</a:t>
            </a:r>
          </a:p>
          <a:p>
            <a:pPr lvl="1"/>
            <a:r>
              <a:rPr lang="en-GB" sz="2400" dirty="0" smtClean="0">
                <a:solidFill>
                  <a:schemeClr val="tx1"/>
                </a:solidFill>
              </a:rPr>
              <a:t>Equipment not adequate</a:t>
            </a:r>
          </a:p>
          <a:p>
            <a:pPr lvl="1"/>
            <a:r>
              <a:rPr lang="en-GB" sz="2400" dirty="0" smtClean="0">
                <a:solidFill>
                  <a:schemeClr val="tx1"/>
                </a:solidFill>
              </a:rPr>
              <a:t>Zoological garden not available</a:t>
            </a:r>
            <a:endParaRPr lang="en-US" sz="2400" dirty="0">
              <a:solidFill>
                <a:schemeClr val="tx1"/>
              </a:solidFill>
            </a:endParaRPr>
          </a:p>
        </p:txBody>
      </p:sp>
      <p:sp>
        <p:nvSpPr>
          <p:cNvPr id="4" name="Title 1"/>
          <p:cNvSpPr>
            <a:spLocks noGrp="1"/>
          </p:cNvSpPr>
          <p:nvPr>
            <p:ph type="title"/>
          </p:nvPr>
        </p:nvSpPr>
        <p:spPr>
          <a:xfrm>
            <a:off x="142844" y="714356"/>
            <a:ext cx="8715404" cy="1071570"/>
          </a:xfrm>
        </p:spPr>
        <p:txBody>
          <a:bodyPr anchor="ctr">
            <a:normAutofit fontScale="90000"/>
          </a:bodyPr>
          <a:lstStyle/>
          <a:p>
            <a:r>
              <a:rPr lang="en-GB" b="1" dirty="0" smtClean="0">
                <a:effectLst>
                  <a:outerShdw blurRad="38100" dist="38100" dir="2700000" algn="tl">
                    <a:srgbClr val="000000">
                      <a:alpha val="43137"/>
                    </a:srgbClr>
                  </a:outerShdw>
                </a:effectLst>
              </a:rPr>
              <a:t>FREQUENCY OF DEPARTMENTAL SEMINARS                          - MONTHLY</a:t>
            </a:r>
            <a:endParaRPr lang="en-US" b="1" dirty="0">
              <a:effectLst>
                <a:outerShdw blurRad="38100" dist="38100" dir="2700000" algn="tl">
                  <a:srgbClr val="000000">
                    <a:alpha val="43137"/>
                  </a:srgbClr>
                </a:outerShdw>
              </a:effectLst>
            </a:endParaRPr>
          </a:p>
        </p:txBody>
      </p:sp>
    </p:spTree>
  </p:cSld>
  <p:clrMapOvr>
    <a:masterClrMapping/>
  </p:clrMapOvr>
  <p:transition spd="med">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714356"/>
            <a:ext cx="8229600" cy="1066800"/>
          </a:xfrm>
        </p:spPr>
        <p:txBody>
          <a:bodyPr anchor="t"/>
          <a:lstStyle/>
          <a:p>
            <a:r>
              <a:rPr lang="en-GB" b="1" dirty="0" smtClean="0">
                <a:effectLst>
                  <a:outerShdw blurRad="38100" dist="38100" dir="2700000" algn="tl">
                    <a:srgbClr val="000000">
                      <a:alpha val="43137"/>
                    </a:srgbClr>
                  </a:outerShdw>
                </a:effectLst>
              </a:rPr>
              <a:t>FIELD TRIP</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14282" y="1785926"/>
            <a:ext cx="8472518" cy="4788610"/>
          </a:xfrm>
        </p:spPr>
        <p:txBody>
          <a:bodyPr>
            <a:normAutofit/>
          </a:bodyPr>
          <a:lstStyle/>
          <a:p>
            <a:r>
              <a:rPr lang="en-GB" sz="2400" dirty="0" smtClean="0"/>
              <a:t>Field trip is a compulsory exercise for final year students in some departments in the Faculty of Science.</a:t>
            </a:r>
          </a:p>
          <a:p>
            <a:endParaRPr lang="en-GB" sz="2400" dirty="0" smtClean="0"/>
          </a:p>
          <a:p>
            <a:r>
              <a:rPr lang="en-GB" sz="2400" dirty="0" smtClean="0"/>
              <a:t>The field trip is also a main course which must be passed before graduation. It requires some basic things to be on ground for the successful completion of the exercise.</a:t>
            </a:r>
          </a:p>
          <a:p>
            <a:pPr>
              <a:buNone/>
            </a:pPr>
            <a:endParaRPr lang="en-GB" sz="2400" dirty="0" smtClean="0"/>
          </a:p>
          <a:p>
            <a:r>
              <a:rPr lang="en-GB" sz="2400" dirty="0" smtClean="0"/>
              <a:t>These are:</a:t>
            </a:r>
          </a:p>
          <a:p>
            <a:pPr lvl="1"/>
            <a:r>
              <a:rPr lang="en-GB" sz="2400" dirty="0" smtClean="0">
                <a:solidFill>
                  <a:schemeClr val="tx1"/>
                </a:solidFill>
              </a:rPr>
              <a:t>Provision of buses to convey students to the various sites of the field trip.</a:t>
            </a:r>
          </a:p>
          <a:p>
            <a:pPr lvl="1"/>
            <a:r>
              <a:rPr lang="en-GB" sz="2400" dirty="0" smtClean="0">
                <a:solidFill>
                  <a:schemeClr val="tx1"/>
                </a:solidFill>
              </a:rPr>
              <a:t>Provision of DTA for staff.</a:t>
            </a:r>
            <a:endParaRPr lang="en-US" sz="2400" dirty="0">
              <a:solidFill>
                <a:schemeClr val="tx1"/>
              </a:solidFill>
            </a:endParaRPr>
          </a:p>
        </p:txBody>
      </p:sp>
    </p:spTree>
  </p:cSld>
  <p:clrMapOvr>
    <a:masterClrMapping/>
  </p:clrMapOvr>
  <p:transition spd="med">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1480" y="2214554"/>
            <a:ext cx="8686800" cy="4500594"/>
          </a:xfrm>
        </p:spPr>
        <p:txBody>
          <a:bodyPr>
            <a:normAutofit/>
          </a:bodyPr>
          <a:lstStyle/>
          <a:p>
            <a:r>
              <a:rPr lang="en-GB" sz="2400" dirty="0" smtClean="0"/>
              <a:t>The way and manner Halls/Lecture theatres are been allocated for examinations calls for proper re-organisation.</a:t>
            </a:r>
          </a:p>
          <a:p>
            <a:endParaRPr lang="en-GB" sz="2400" dirty="0" smtClean="0"/>
          </a:p>
          <a:p>
            <a:r>
              <a:rPr lang="en-GB" sz="2400" dirty="0" smtClean="0"/>
              <a:t>The stereotype format used every semester must change to consider the number of students offering each course </a:t>
            </a:r>
            <a:r>
              <a:rPr lang="en-GB" sz="2400" dirty="0" err="1" smtClean="0"/>
              <a:t>vis-vis</a:t>
            </a:r>
            <a:r>
              <a:rPr lang="en-GB" sz="2400" dirty="0" smtClean="0"/>
              <a:t> the type and size of halls to be allocated.</a:t>
            </a:r>
          </a:p>
          <a:p>
            <a:endParaRPr lang="en-GB" sz="2400" dirty="0" smtClean="0"/>
          </a:p>
          <a:p>
            <a:r>
              <a:rPr lang="en-GB" sz="2400" dirty="0" smtClean="0"/>
              <a:t>This is to prevent occurrence of various types of examination malpractices every semester.</a:t>
            </a:r>
            <a:endParaRPr lang="en-US" sz="2400" dirty="0"/>
          </a:p>
        </p:txBody>
      </p:sp>
      <p:sp>
        <p:nvSpPr>
          <p:cNvPr id="5" name="Title 1"/>
          <p:cNvSpPr>
            <a:spLocks noGrp="1"/>
          </p:cNvSpPr>
          <p:nvPr>
            <p:ph type="title"/>
          </p:nvPr>
        </p:nvSpPr>
        <p:spPr>
          <a:xfrm>
            <a:off x="428596" y="714356"/>
            <a:ext cx="8229600" cy="1066800"/>
          </a:xfrm>
        </p:spPr>
        <p:txBody>
          <a:bodyPr anchor="t">
            <a:normAutofit fontScale="90000"/>
          </a:bodyPr>
          <a:lstStyle/>
          <a:p>
            <a:r>
              <a:rPr lang="en-GB" b="1" dirty="0" smtClean="0">
                <a:effectLst>
                  <a:outerShdw blurRad="38100" dist="38100" dir="2700000" algn="tl">
                    <a:srgbClr val="000000">
                      <a:alpha val="43137"/>
                    </a:srgbClr>
                  </a:outerShdw>
                </a:effectLst>
              </a:rPr>
              <a:t>ALLOCATION OF HALLS FOR EXAMINATIONS</a:t>
            </a:r>
            <a:endParaRPr lang="en-US" b="1" dirty="0">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4324" y="2285992"/>
            <a:ext cx="8329642" cy="4286280"/>
          </a:xfrm>
        </p:spPr>
        <p:txBody>
          <a:bodyPr>
            <a:normAutofit/>
          </a:bodyPr>
          <a:lstStyle/>
          <a:p>
            <a:r>
              <a:rPr lang="en-GB" sz="2400" dirty="0" smtClean="0"/>
              <a:t>In addition to the new lecture rooms on ground, the old ones need prompt attention in the areas of renovation to include re-roofing, tiling, provision of chairs and tables, interactive boards and painting.</a:t>
            </a:r>
          </a:p>
          <a:p>
            <a:endParaRPr lang="en-GB" sz="2400" dirty="0" smtClean="0"/>
          </a:p>
          <a:p>
            <a:r>
              <a:rPr lang="en-GB" sz="2400" dirty="0" smtClean="0"/>
              <a:t>The laboratories also require renovation and supply of reagents, chemicals and equipment. Practicals are not run adequately as laid down in the student handbook for various courses.</a:t>
            </a:r>
            <a:endParaRPr lang="en-US" sz="2400" dirty="0"/>
          </a:p>
        </p:txBody>
      </p:sp>
      <p:sp>
        <p:nvSpPr>
          <p:cNvPr id="4" name="Title 1"/>
          <p:cNvSpPr>
            <a:spLocks noGrp="1"/>
          </p:cNvSpPr>
          <p:nvPr>
            <p:ph type="title"/>
          </p:nvPr>
        </p:nvSpPr>
        <p:spPr>
          <a:xfrm>
            <a:off x="428596" y="714356"/>
            <a:ext cx="8229600" cy="1066800"/>
          </a:xfrm>
        </p:spPr>
        <p:txBody>
          <a:bodyPr anchor="t">
            <a:normAutofit fontScale="90000"/>
          </a:bodyPr>
          <a:lstStyle/>
          <a:p>
            <a:r>
              <a:rPr lang="en-GB" b="1" dirty="0" smtClean="0">
                <a:effectLst>
                  <a:outerShdw blurRad="38100" dist="38100" dir="2700000" algn="tl">
                    <a:srgbClr val="000000">
                      <a:alpha val="43137"/>
                    </a:srgbClr>
                  </a:outerShdw>
                </a:effectLst>
              </a:rPr>
              <a:t>RENOVATION OF LECTURE ROOMS AND LABORATORIES</a:t>
            </a:r>
            <a:endParaRPr lang="en-US" b="1" dirty="0">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1857364"/>
            <a:ext cx="8401080" cy="4717172"/>
          </a:xfrm>
        </p:spPr>
        <p:txBody>
          <a:bodyPr>
            <a:normAutofit/>
          </a:bodyPr>
          <a:lstStyle/>
          <a:p>
            <a:r>
              <a:rPr lang="en-GB" sz="2400" dirty="0" smtClean="0"/>
              <a:t>The University Calendar for the past five sessions has been overlapping and destructing normal academic activities, changing the normal University system to an abnormal one.</a:t>
            </a:r>
          </a:p>
          <a:p>
            <a:endParaRPr lang="en-GB" sz="2400" dirty="0" smtClean="0"/>
          </a:p>
          <a:p>
            <a:r>
              <a:rPr lang="en-GB" sz="2400" dirty="0" smtClean="0"/>
              <a:t>The effects of this are enormous, ranging from inadequate time to rest by the staff, students not graduating at the right time, newly admitted students resuming a month or less than a month to the first semester examination every session, affecting some academic programmes to be executed in between the end of first semester and the commencement of second semester, such as Field Trip.</a:t>
            </a:r>
            <a:endParaRPr lang="en-US" sz="2400" dirty="0"/>
          </a:p>
        </p:txBody>
      </p:sp>
      <p:sp>
        <p:nvSpPr>
          <p:cNvPr id="4" name="Title 1"/>
          <p:cNvSpPr>
            <a:spLocks noGrp="1"/>
          </p:cNvSpPr>
          <p:nvPr>
            <p:ph type="title"/>
          </p:nvPr>
        </p:nvSpPr>
        <p:spPr>
          <a:xfrm>
            <a:off x="428596" y="714356"/>
            <a:ext cx="8229600" cy="1066800"/>
          </a:xfrm>
        </p:spPr>
        <p:txBody>
          <a:bodyPr anchor="ctr">
            <a:normAutofit/>
          </a:bodyPr>
          <a:lstStyle/>
          <a:p>
            <a:r>
              <a:rPr lang="en-GB" b="1" dirty="0" smtClean="0">
                <a:effectLst>
                  <a:outerShdw blurRad="38100" dist="38100" dir="2700000" algn="tl">
                    <a:srgbClr val="000000">
                      <a:alpha val="43137"/>
                    </a:srgbClr>
                  </a:outerShdw>
                </a:effectLst>
              </a:rPr>
              <a:t>UNIVERSITY CALENDAR</a:t>
            </a:r>
            <a:endParaRPr lang="en-US" b="1" dirty="0">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2918" y="2175722"/>
            <a:ext cx="8686800" cy="4325112"/>
          </a:xfrm>
        </p:spPr>
        <p:txBody>
          <a:bodyPr>
            <a:normAutofit/>
          </a:bodyPr>
          <a:lstStyle/>
          <a:p>
            <a:r>
              <a:rPr lang="en-GB" sz="2400" dirty="0" smtClean="0"/>
              <a:t>There is need to properly re-organise and empower examination officers in each department for efficient result computation instead of loading the Heads of Departments with this responsibility.</a:t>
            </a:r>
            <a:endParaRPr lang="en-US" sz="2400" dirty="0"/>
          </a:p>
        </p:txBody>
      </p:sp>
      <p:sp>
        <p:nvSpPr>
          <p:cNvPr id="4" name="Title 1"/>
          <p:cNvSpPr>
            <a:spLocks noGrp="1"/>
          </p:cNvSpPr>
          <p:nvPr>
            <p:ph type="title"/>
          </p:nvPr>
        </p:nvSpPr>
        <p:spPr>
          <a:xfrm>
            <a:off x="428596" y="714356"/>
            <a:ext cx="8229600" cy="1066800"/>
          </a:xfrm>
        </p:spPr>
        <p:txBody>
          <a:bodyPr anchor="ctr">
            <a:normAutofit/>
          </a:bodyPr>
          <a:lstStyle/>
          <a:p>
            <a:r>
              <a:rPr lang="en-GB" b="1" dirty="0" smtClean="0">
                <a:effectLst>
                  <a:outerShdw blurRad="38100" dist="38100" dir="2700000" algn="tl">
                    <a:srgbClr val="000000">
                      <a:alpha val="43137"/>
                    </a:srgbClr>
                  </a:outerShdw>
                </a:effectLst>
              </a:rPr>
              <a:t>EXAMINATION OFFICERS</a:t>
            </a:r>
            <a:endParaRPr lang="en-US" b="1" dirty="0">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GB" sz="2400" dirty="0" smtClean="0"/>
              <a:t>The mode of presenting applications for conference sponsorship (both local and international) has been established but after the approval of the application, there is always no hope for whether the applicant will enjoy the sponsorship due to administrative non-supportive syndrome.</a:t>
            </a:r>
          </a:p>
          <a:p>
            <a:endParaRPr lang="en-GB" sz="2400" dirty="0" smtClean="0"/>
          </a:p>
          <a:p>
            <a:r>
              <a:rPr lang="en-GB" sz="2400" dirty="0" smtClean="0"/>
              <a:t>And if the applicant will eventually enjoy the sponsorship, it takes almost a year after the conference. In view of this, there should be a smooth processing and payment of this fund to the applicant.</a:t>
            </a:r>
            <a:endParaRPr lang="en-US" sz="2400" dirty="0"/>
          </a:p>
        </p:txBody>
      </p:sp>
      <p:sp>
        <p:nvSpPr>
          <p:cNvPr id="4" name="Title 1"/>
          <p:cNvSpPr>
            <a:spLocks noGrp="1"/>
          </p:cNvSpPr>
          <p:nvPr>
            <p:ph type="title"/>
          </p:nvPr>
        </p:nvSpPr>
        <p:spPr>
          <a:xfrm>
            <a:off x="428596" y="714356"/>
            <a:ext cx="8229600" cy="1066800"/>
          </a:xfrm>
        </p:spPr>
        <p:txBody>
          <a:bodyPr anchor="ctr">
            <a:normAutofit/>
          </a:bodyPr>
          <a:lstStyle/>
          <a:p>
            <a:r>
              <a:rPr lang="en-GB" b="1" dirty="0" smtClean="0">
                <a:effectLst>
                  <a:outerShdw blurRad="38100" dist="38100" dir="2700000" algn="tl">
                    <a:srgbClr val="000000">
                      <a:alpha val="43137"/>
                    </a:srgbClr>
                  </a:outerShdw>
                </a:effectLst>
              </a:rPr>
              <a:t>CONFERENCE SPONSORSHIP</a:t>
            </a:r>
            <a:endParaRPr lang="en-US" b="1" dirty="0">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1643050"/>
            <a:ext cx="8543956" cy="4929222"/>
          </a:xfrm>
        </p:spPr>
        <p:txBody>
          <a:bodyPr>
            <a:normAutofit lnSpcReduction="10000"/>
          </a:bodyPr>
          <a:lstStyle/>
          <a:p>
            <a:r>
              <a:rPr lang="en-GB" sz="2400" dirty="0" smtClean="0"/>
              <a:t>There are various information on academic scholarship, most especially at the postgraduate level available in the information office of the University.</a:t>
            </a:r>
          </a:p>
          <a:p>
            <a:endParaRPr lang="en-GB" sz="2400" dirty="0" smtClean="0"/>
          </a:p>
          <a:p>
            <a:r>
              <a:rPr lang="en-GB" sz="2400" dirty="0" smtClean="0"/>
              <a:t>The information do not reach their destinations until a week to the closing date of such applications. </a:t>
            </a:r>
          </a:p>
          <a:p>
            <a:endParaRPr lang="en-GB" sz="2400" dirty="0" smtClean="0"/>
          </a:p>
          <a:p>
            <a:r>
              <a:rPr lang="en-GB" sz="2400" dirty="0" smtClean="0"/>
              <a:t>This has hampered the processing of some applications and what we only gain is just to read and drop it, since the processing of the application form will not meet the deadline stipulated.</a:t>
            </a:r>
          </a:p>
          <a:p>
            <a:endParaRPr lang="en-GB" sz="2400" dirty="0" smtClean="0"/>
          </a:p>
          <a:p>
            <a:r>
              <a:rPr lang="en-GB" sz="2400" dirty="0" smtClean="0"/>
              <a:t>It is therefore advised that such information be given prompt attention to facilitate smooth and early processing.</a:t>
            </a:r>
            <a:endParaRPr lang="en-US" sz="2400" dirty="0"/>
          </a:p>
        </p:txBody>
      </p:sp>
      <p:sp>
        <p:nvSpPr>
          <p:cNvPr id="4" name="Title 1"/>
          <p:cNvSpPr>
            <a:spLocks noGrp="1"/>
          </p:cNvSpPr>
          <p:nvPr>
            <p:ph type="title"/>
          </p:nvPr>
        </p:nvSpPr>
        <p:spPr>
          <a:xfrm>
            <a:off x="428596" y="714356"/>
            <a:ext cx="8229600" cy="1066800"/>
          </a:xfrm>
        </p:spPr>
        <p:txBody>
          <a:bodyPr anchor="ctr">
            <a:normAutofit/>
          </a:bodyPr>
          <a:lstStyle/>
          <a:p>
            <a:r>
              <a:rPr lang="en-GB" b="1" dirty="0" smtClean="0">
                <a:effectLst>
                  <a:outerShdw blurRad="38100" dist="38100" dir="2700000" algn="tl">
                    <a:srgbClr val="000000">
                      <a:alpha val="43137"/>
                    </a:srgbClr>
                  </a:outerShdw>
                </a:effectLst>
              </a:rPr>
              <a:t>SCHOLARSHIP</a:t>
            </a:r>
            <a:endParaRPr lang="en-US" b="1" dirty="0">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000240"/>
            <a:ext cx="8229600" cy="4325112"/>
          </a:xfrm>
        </p:spPr>
        <p:txBody>
          <a:bodyPr>
            <a:normAutofit/>
          </a:bodyPr>
          <a:lstStyle/>
          <a:p>
            <a:r>
              <a:rPr lang="en-GB" sz="2400" dirty="0" smtClean="0"/>
              <a:t>Admissions are not properly done the way it should be, when it comes to the issue of discretional list either from the VC.</a:t>
            </a:r>
          </a:p>
          <a:p>
            <a:endParaRPr lang="en-GB" sz="2400" dirty="0" smtClean="0"/>
          </a:p>
          <a:p>
            <a:r>
              <a:rPr lang="en-GB" sz="2400" dirty="0" smtClean="0"/>
              <a:t>The gate keepers use this opportunity to load the admission list in disguise of the VC’s list.</a:t>
            </a:r>
          </a:p>
          <a:p>
            <a:endParaRPr lang="en-GB" sz="2400" dirty="0" smtClean="0"/>
          </a:p>
          <a:p>
            <a:r>
              <a:rPr lang="en-GB" sz="2400" dirty="0" smtClean="0"/>
              <a:t>The neater way of doing this is to compile the VC’s list, signed by the VC, to avoid loading of names. There is no H.O.D or Dean that will not recognise the VC’s list.</a:t>
            </a:r>
            <a:endParaRPr lang="en-US" sz="2400" dirty="0"/>
          </a:p>
        </p:txBody>
      </p:sp>
      <p:sp>
        <p:nvSpPr>
          <p:cNvPr id="4" name="Title 1"/>
          <p:cNvSpPr>
            <a:spLocks noGrp="1"/>
          </p:cNvSpPr>
          <p:nvPr>
            <p:ph type="title"/>
          </p:nvPr>
        </p:nvSpPr>
        <p:spPr>
          <a:xfrm>
            <a:off x="428596" y="714356"/>
            <a:ext cx="8229600" cy="1066800"/>
          </a:xfrm>
        </p:spPr>
        <p:txBody>
          <a:bodyPr anchor="ctr">
            <a:normAutofit/>
          </a:bodyPr>
          <a:lstStyle/>
          <a:p>
            <a:r>
              <a:rPr lang="en-GB" b="1" dirty="0" smtClean="0">
                <a:effectLst>
                  <a:outerShdw blurRad="38100" dist="38100" dir="2700000" algn="tl">
                    <a:srgbClr val="000000">
                      <a:alpha val="43137"/>
                    </a:srgbClr>
                  </a:outerShdw>
                </a:effectLst>
              </a:rPr>
              <a:t>ADMISSION PROCESSING</a:t>
            </a:r>
            <a:endParaRPr lang="en-US" b="1" dirty="0">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14488"/>
            <a:ext cx="8229600" cy="4929198"/>
          </a:xfrm>
        </p:spPr>
        <p:txBody>
          <a:bodyPr>
            <a:normAutofit/>
          </a:bodyPr>
          <a:lstStyle/>
          <a:p>
            <a:r>
              <a:rPr lang="en-GB" sz="2600" dirty="0" smtClean="0"/>
              <a:t>It is disheartening to find out that some academic staff are not bold enough to submit their marked scripts for scrutiny before the NUC accreditation team because of the insanity and fraud they have committed during markings.</a:t>
            </a:r>
          </a:p>
          <a:p>
            <a:endParaRPr lang="en-GB" sz="2600" dirty="0" smtClean="0"/>
          </a:p>
          <a:p>
            <a:r>
              <a:rPr lang="en-GB" sz="2600" dirty="0" smtClean="0"/>
              <a:t>To avoid this, all scripts marked must be submitted to the office of the Head of Department as the score sheets are submitted.</a:t>
            </a:r>
          </a:p>
          <a:p>
            <a:pPr>
              <a:buNone/>
            </a:pPr>
            <a:endParaRPr lang="en-GB" sz="2600" dirty="0" smtClean="0"/>
          </a:p>
        </p:txBody>
      </p:sp>
      <p:sp>
        <p:nvSpPr>
          <p:cNvPr id="4" name="Title 1"/>
          <p:cNvSpPr>
            <a:spLocks noGrp="1"/>
          </p:cNvSpPr>
          <p:nvPr>
            <p:ph type="title"/>
          </p:nvPr>
        </p:nvSpPr>
        <p:spPr>
          <a:xfrm>
            <a:off x="428596" y="714356"/>
            <a:ext cx="8229600" cy="1066800"/>
          </a:xfrm>
        </p:spPr>
        <p:txBody>
          <a:bodyPr anchor="ctr">
            <a:normAutofit/>
          </a:bodyPr>
          <a:lstStyle/>
          <a:p>
            <a:r>
              <a:rPr lang="en-GB" b="1" dirty="0" smtClean="0">
                <a:effectLst>
                  <a:outerShdw blurRad="38100" dist="38100" dir="2700000" algn="tl">
                    <a:srgbClr val="000000">
                      <a:alpha val="43137"/>
                    </a:srgbClr>
                  </a:outerShdw>
                </a:effectLst>
              </a:rPr>
              <a:t>MARKING EXERCISE</a:t>
            </a:r>
            <a:endParaRPr lang="en-US" b="1" dirty="0">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28802"/>
            <a:ext cx="8229600" cy="4325112"/>
          </a:xfrm>
        </p:spPr>
        <p:txBody>
          <a:bodyPr>
            <a:normAutofit fontScale="92500" lnSpcReduction="10000"/>
          </a:bodyPr>
          <a:lstStyle/>
          <a:p>
            <a:r>
              <a:rPr lang="en-GB" sz="2400" dirty="0" smtClean="0"/>
              <a:t>Some cases are pending on plagiarism, falsification of research results, must be re-visited.</a:t>
            </a:r>
          </a:p>
          <a:p>
            <a:r>
              <a:rPr lang="en-GB" sz="2400" dirty="0" smtClean="0"/>
              <a:t>Extorting students on project supervision, must be checked.</a:t>
            </a:r>
          </a:p>
          <a:p>
            <a:r>
              <a:rPr lang="en-GB" sz="2400" dirty="0" smtClean="0"/>
              <a:t>Sexual harassment must stop.</a:t>
            </a:r>
          </a:p>
          <a:p>
            <a:r>
              <a:rPr lang="en-GB" sz="2400" dirty="0" smtClean="0"/>
              <a:t>Low level of accessibility of staff to students.</a:t>
            </a:r>
          </a:p>
          <a:p>
            <a:r>
              <a:rPr lang="en-GB" sz="2400" dirty="0" smtClean="0"/>
              <a:t>Using foul languages on students.</a:t>
            </a:r>
          </a:p>
          <a:p>
            <a:r>
              <a:rPr lang="en-GB" sz="2400" dirty="0" smtClean="0"/>
              <a:t>Delay in attending to mails.</a:t>
            </a:r>
          </a:p>
          <a:p>
            <a:r>
              <a:rPr lang="en-GB" sz="2400" dirty="0" smtClean="0"/>
              <a:t>Lateness to meetings.</a:t>
            </a:r>
          </a:p>
          <a:p>
            <a:r>
              <a:rPr lang="en-GB" sz="2400" dirty="0" smtClean="0"/>
              <a:t>Lateness to work and examination hall</a:t>
            </a:r>
          </a:p>
          <a:p>
            <a:r>
              <a:rPr lang="en-GB" sz="2400" dirty="0" smtClean="0"/>
              <a:t>Absence from work without permission</a:t>
            </a:r>
          </a:p>
          <a:p>
            <a:r>
              <a:rPr lang="en-GB" sz="2400" dirty="0" smtClean="0"/>
              <a:t>Delay in submission of exams scores.</a:t>
            </a:r>
          </a:p>
          <a:p>
            <a:r>
              <a:rPr lang="en-GB" sz="2400" dirty="0" smtClean="0"/>
              <a:t>Delay in computation of results.</a:t>
            </a:r>
            <a:endParaRPr lang="en-US" sz="2400" dirty="0"/>
          </a:p>
        </p:txBody>
      </p:sp>
      <p:sp>
        <p:nvSpPr>
          <p:cNvPr id="4" name="Title 1"/>
          <p:cNvSpPr>
            <a:spLocks noGrp="1"/>
          </p:cNvSpPr>
          <p:nvPr>
            <p:ph type="title"/>
          </p:nvPr>
        </p:nvSpPr>
        <p:spPr>
          <a:xfrm>
            <a:off x="428596" y="714356"/>
            <a:ext cx="8229600" cy="1066800"/>
          </a:xfrm>
        </p:spPr>
        <p:txBody>
          <a:bodyPr anchor="ctr">
            <a:normAutofit fontScale="90000"/>
          </a:bodyPr>
          <a:lstStyle/>
          <a:p>
            <a:r>
              <a:rPr lang="en-GB" b="1" dirty="0" smtClean="0">
                <a:effectLst>
                  <a:outerShdw blurRad="38100" dist="38100" dir="2700000" algn="tl">
                    <a:srgbClr val="000000">
                      <a:alpha val="43137"/>
                    </a:srgbClr>
                  </a:outerShdw>
                </a:effectLst>
              </a:rPr>
              <a:t>Other Academic Frauds and lawlessness</a:t>
            </a:r>
            <a:endParaRPr lang="en-US" b="1" dirty="0">
              <a:effectLst>
                <a:outerShdw blurRad="38100" dist="38100" dir="2700000" algn="tl">
                  <a:srgbClr val="000000">
                    <a:alpha val="43137"/>
                  </a:srgbClr>
                </a:outerShdw>
              </a:effectLst>
            </a:endParaRPr>
          </a:p>
        </p:txBody>
      </p:sp>
    </p:spTree>
  </p:cSld>
  <p:clrMapOvr>
    <a:masterClrMapping/>
  </p:clrMapOvr>
  <p:transition spd="med">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500034" y="2786058"/>
            <a:ext cx="5000660" cy="1285884"/>
          </a:xfrm>
        </p:spPr>
        <p:txBody>
          <a:bodyPr anchor="t">
            <a:normAutofit/>
          </a:bodyPr>
          <a:lstStyle/>
          <a:p>
            <a:r>
              <a:rPr lang="en-GB" sz="6000" b="1" dirty="0" smtClean="0">
                <a:effectLst>
                  <a:outerShdw blurRad="38100" dist="38100" dir="2700000" algn="tl">
                    <a:srgbClr val="000000">
                      <a:alpha val="43137"/>
                    </a:srgbClr>
                  </a:outerShdw>
                </a:effectLst>
              </a:rPr>
              <a:t>Thank You.</a:t>
            </a:r>
            <a:endParaRPr lang="en-US" sz="6000" b="1" dirty="0">
              <a:effectLst>
                <a:outerShdw blurRad="38100" dist="38100" dir="2700000" algn="tl">
                  <a:srgbClr val="000000">
                    <a:alpha val="43137"/>
                  </a:srgbClr>
                </a:outerShdw>
              </a:effectLst>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636</TotalTime>
  <Words>1724</Words>
  <Application>Microsoft Office PowerPoint</Application>
  <PresentationFormat>On-screen Show (4:3)</PresentationFormat>
  <Paragraphs>517</Paragraphs>
  <Slides>41</Slides>
  <Notes>0</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Urban</vt:lpstr>
      <vt:lpstr>POSITION OF FACULTY SCIENCE ON ACADEMIC PROGRAMMES VIABILITY, ACCOMODATION, CLASS ROOM, ACCREDITATION, EXAMINATION, RESULT PROCESSING, CHALLENGES AND WAY FORWARD TO PROPEL EKSU TO WORLD CLASS UNIVERSITY</vt:lpstr>
      <vt:lpstr>INTRODUCTION</vt:lpstr>
      <vt:lpstr>Table 1: Shows the Departments, Name of Programmes, and Students’ Population</vt:lpstr>
      <vt:lpstr>Fig. 1: Shows the Departments and Students’ Population in     the Faculty of Science</vt:lpstr>
      <vt:lpstr>Table 2: Shows the Number of Academic Staff in the Faculty of Science</vt:lpstr>
      <vt:lpstr>Fig. 2: Shows the Number of Academic Staff in the Faculty of Science</vt:lpstr>
      <vt:lpstr>Table 3: Shows the Number of Technical Staff in the Faculty of Science</vt:lpstr>
      <vt:lpstr>Fig. 3: Shows the Number of Technical Staff in the Faculty of Science</vt:lpstr>
      <vt:lpstr>Table 4: Shows the number of Administrative Staff in the Faculty of Science</vt:lpstr>
      <vt:lpstr>Fig. 4: Shows the number of Administrative Staff in the Faculty of Science</vt:lpstr>
      <vt:lpstr>Table 5: Shows the Accreditation Status of Courses in the Faculty of Science</vt:lpstr>
      <vt:lpstr>STATE OF UTILITIES</vt:lpstr>
      <vt:lpstr>TEACHING UTILITIES</vt:lpstr>
      <vt:lpstr>Slide 14</vt:lpstr>
      <vt:lpstr>Slide 15</vt:lpstr>
      <vt:lpstr>DEFICIENCES</vt:lpstr>
      <vt:lpstr>Slide 17</vt:lpstr>
      <vt:lpstr>Slide 18</vt:lpstr>
      <vt:lpstr>Slide 19</vt:lpstr>
      <vt:lpstr>LABORATORY FACILITIES</vt:lpstr>
      <vt:lpstr>Slide 21</vt:lpstr>
      <vt:lpstr>Slide 22</vt:lpstr>
      <vt:lpstr>Slide 23</vt:lpstr>
      <vt:lpstr>FACULTY/DEPARTMENTAL LIBRARY FACILITIES</vt:lpstr>
      <vt:lpstr>STUDENTS’ EXAMINATION RESULTS</vt:lpstr>
      <vt:lpstr>NEW PROGRAMMES IN VIEW</vt:lpstr>
      <vt:lpstr>Table 6: Shows Postgraduate programmes and number of students in the Faculty of Science</vt:lpstr>
      <vt:lpstr>Fig. 6: Shows Postgraduate programmes and number of students in the Faculty of Science</vt:lpstr>
      <vt:lpstr>Slide 29</vt:lpstr>
      <vt:lpstr>FREQUENCY OF DEPARTMENTAL SEMINARS                          - MONTHLY</vt:lpstr>
      <vt:lpstr>FIELD TRIP</vt:lpstr>
      <vt:lpstr>ALLOCATION OF HALLS FOR EXAMINATIONS</vt:lpstr>
      <vt:lpstr>RENOVATION OF LECTURE ROOMS AND LABORATORIES</vt:lpstr>
      <vt:lpstr>UNIVERSITY CALENDAR</vt:lpstr>
      <vt:lpstr>EXAMINATION OFFICERS</vt:lpstr>
      <vt:lpstr>CONFERENCE SPONSORSHIP</vt:lpstr>
      <vt:lpstr>SCHOLARSHIP</vt:lpstr>
      <vt:lpstr>ADMISSION PROCESSING</vt:lpstr>
      <vt:lpstr>MARKING EXERCISE</vt:lpstr>
      <vt:lpstr>Other Academic Frauds and lawlessness</vt:lpstr>
      <vt:lpstr>Thank You.</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SUBMISSION OF MEMORANDUM ON ACADEMIC SUMMIT</dc:title>
  <dc:creator>SCIENCE</dc:creator>
  <cp:lastModifiedBy>SCIENCE</cp:lastModifiedBy>
  <cp:revision>64</cp:revision>
  <dcterms:created xsi:type="dcterms:W3CDTF">2016-01-26T10:44:22Z</dcterms:created>
  <dcterms:modified xsi:type="dcterms:W3CDTF">2016-02-02T09:27:29Z</dcterms:modified>
</cp:coreProperties>
</file>