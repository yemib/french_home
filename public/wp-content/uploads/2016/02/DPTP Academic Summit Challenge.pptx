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sldIdLst>
    <p:sldId id="257" r:id="rId2"/>
    <p:sldId id="258" r:id="rId3"/>
    <p:sldId id="260" r:id="rId4"/>
    <p:sldId id="261" r:id="rId5"/>
    <p:sldId id="259" r:id="rId6"/>
    <p:sldId id="265" r:id="rId7"/>
    <p:sldId id="266" r:id="rId8"/>
    <p:sldId id="262" r:id="rId9"/>
    <p:sldId id="263" r:id="rId10"/>
    <p:sldId id="264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983" autoAdjust="0"/>
    <p:restoredTop sz="94660"/>
  </p:normalViewPr>
  <p:slideViewPr>
    <p:cSldViewPr snapToGrid="0">
      <p:cViewPr varScale="1">
        <p:scale>
          <a:sx n="43" d="100"/>
          <a:sy n="43" d="100"/>
        </p:scale>
        <p:origin x="-81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54179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53746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91357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03703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3037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430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56799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37909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96592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006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21041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55656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69093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38591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05164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6250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5DCF5-ADA1-4148-A364-09C113864537}" type="datetimeFigureOut">
              <a:rPr lang="en-US" smtClean="0"/>
              <a:pPr/>
              <a:t>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754C8D6-BF85-4BF9-A3B7-F946C22639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7742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591" y="251791"/>
            <a:ext cx="11247783" cy="5897218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/>
              <a:t/>
            </a:r>
            <a:br>
              <a:rPr lang="en-US" sz="4800" b="1" dirty="0" smtClean="0"/>
            </a:br>
            <a:r>
              <a:rPr lang="en-US" sz="4800" b="1" dirty="0"/>
              <a:t/>
            </a:r>
            <a:br>
              <a:rPr lang="en-US" sz="4800" b="1" dirty="0"/>
            </a:br>
            <a:r>
              <a:rPr lang="en-US" sz="4800" b="1" dirty="0" smtClean="0"/>
              <a:t>ACADEMIC PROGRAMMES VIABILITY, </a:t>
            </a:r>
            <a:br>
              <a:rPr lang="en-US" sz="4800" b="1" dirty="0" smtClean="0"/>
            </a:br>
            <a:r>
              <a:rPr lang="en-US" sz="4800" b="1" dirty="0" smtClean="0"/>
              <a:t>THE </a:t>
            </a:r>
            <a:r>
              <a:rPr lang="en-US" sz="4800" b="1" dirty="0"/>
              <a:t>CHALLENGES IN DPTP </a:t>
            </a:r>
            <a:r>
              <a:rPr lang="en-US" sz="4800" b="1" dirty="0" smtClean="0"/>
              <a:t>AND WAY FORWARD TO PROPEL EKSU TO A WORLD CLASS UNIVERSITY.</a:t>
            </a:r>
            <a:r>
              <a:rPr lang="en-US" sz="4800" dirty="0" smtClean="0"/>
              <a:t/>
            </a:r>
            <a:br>
              <a:rPr lang="en-US" sz="4800" dirty="0" smtClean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xmlns="" val="65881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INTRODUCTION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7983"/>
            <a:ext cx="8596668" cy="5128591"/>
          </a:xfrm>
        </p:spPr>
        <p:txBody>
          <a:bodyPr>
            <a:normAutofit/>
          </a:bodyPr>
          <a:lstStyle/>
          <a:p>
            <a:r>
              <a:rPr lang="en-US" sz="2400" dirty="0"/>
              <a:t>Academic </a:t>
            </a:r>
            <a:r>
              <a:rPr lang="en-US" sz="2400" dirty="0" err="1"/>
              <a:t>programmes</a:t>
            </a:r>
            <a:r>
              <a:rPr lang="en-US" sz="2400" dirty="0"/>
              <a:t> viability is a process meant to ensure that the </a:t>
            </a:r>
            <a:r>
              <a:rPr lang="en-US" sz="2400" dirty="0" smtClean="0"/>
              <a:t>University’s </a:t>
            </a:r>
            <a:r>
              <a:rPr lang="en-US" sz="2400" dirty="0"/>
              <a:t>instructional resources are used to meet </a:t>
            </a:r>
            <a:r>
              <a:rPr lang="en-US" sz="2400" dirty="0" smtClean="0"/>
              <a:t>the </a:t>
            </a:r>
            <a:r>
              <a:rPr lang="en-US" sz="2400" dirty="0"/>
              <a:t>Educational Master Plan, the needs of the students and the requirements of both academic and non-academic staff within the University </a:t>
            </a:r>
            <a:r>
              <a:rPr lang="en-US" sz="2400" dirty="0" smtClean="0"/>
              <a:t>community</a:t>
            </a:r>
          </a:p>
          <a:p>
            <a:r>
              <a:rPr lang="en-US" sz="2400" dirty="0"/>
              <a:t>It is a known fact that the achievement of any goal is first marred with challenges and difficulties; but once these challenges are overcome, then the realization of the goal. </a:t>
            </a:r>
          </a:p>
        </p:txBody>
      </p:sp>
    </p:spTree>
    <p:extLst>
      <p:ext uri="{BB962C8B-B14F-4D97-AF65-F5344CB8AC3E}">
        <p14:creationId xmlns:p14="http://schemas.microsoft.com/office/powerpoint/2010/main" xmlns="" val="2630561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CHALLENGES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98713"/>
            <a:ext cx="9208788" cy="5274365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800" b="1" dirty="0"/>
              <a:t>Prolonged Sessions</a:t>
            </a:r>
            <a:r>
              <a:rPr lang="en-US" sz="2800" dirty="0"/>
              <a:t>: for the past 4 years, no set has spent less than 7 years instead of the expected/required 4 or 5 years </a:t>
            </a:r>
            <a:r>
              <a:rPr lang="en-US" sz="2800" dirty="0" smtClean="0"/>
              <a:t>as applicable to </a:t>
            </a:r>
            <a:r>
              <a:rPr lang="en-US" sz="2800" dirty="0" err="1" smtClean="0"/>
              <a:t>programmes</a:t>
            </a:r>
            <a:r>
              <a:rPr lang="en-US" sz="2800" dirty="0" smtClean="0"/>
              <a:t>, </a:t>
            </a:r>
            <a:r>
              <a:rPr lang="en-US" sz="2800" dirty="0"/>
              <a:t>as a result of incessant strike.</a:t>
            </a:r>
          </a:p>
          <a:p>
            <a:pPr lvl="0"/>
            <a:r>
              <a:rPr lang="en-US" sz="2800" b="1" dirty="0"/>
              <a:t>Late Submission of Results by </a:t>
            </a:r>
            <a:r>
              <a:rPr lang="en-US" sz="2800" b="1" dirty="0" smtClean="0"/>
              <a:t>Lecturers: </a:t>
            </a:r>
            <a:r>
              <a:rPr lang="en-US" sz="2800" dirty="0" smtClean="0"/>
              <a:t>Consequently</a:t>
            </a:r>
            <a:r>
              <a:rPr lang="en-US" sz="2800" dirty="0"/>
              <a:t>, students do not receive prompt and regular feedback on their level of academic performance. This situation may weaken the </a:t>
            </a:r>
            <a:r>
              <a:rPr lang="en-US" sz="2800" dirty="0" smtClean="0"/>
              <a:t>morale and motivation </a:t>
            </a:r>
            <a:r>
              <a:rPr lang="en-US" sz="2800" dirty="0"/>
              <a:t>of students towards learning</a:t>
            </a:r>
            <a:r>
              <a:rPr lang="en-US" sz="2800" b="1" dirty="0"/>
              <a:t>. </a:t>
            </a:r>
            <a:endParaRPr lang="en-US" sz="2800" dirty="0"/>
          </a:p>
          <a:p>
            <a:pPr lvl="0"/>
            <a:r>
              <a:rPr lang="en-US" sz="2800" b="1" dirty="0"/>
              <a:t>Inadequate Lecture Rooms at the DPTP, </a:t>
            </a:r>
            <a:r>
              <a:rPr lang="en-US" sz="2800" b="1" dirty="0" err="1"/>
              <a:t>Ifaki</a:t>
            </a:r>
            <a:r>
              <a:rPr lang="en-US" sz="2800" b="1" dirty="0"/>
              <a:t> Campus:</a:t>
            </a:r>
            <a:r>
              <a:rPr lang="en-US" sz="2800" dirty="0"/>
              <a:t> Lecturers have to struggle for space during the lecture periods.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39107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5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CHALLENGES </a:t>
            </a:r>
            <a:r>
              <a:rPr lang="en-US" b="1" dirty="0" err="1" smtClean="0"/>
              <a:t>contd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04" y="1113184"/>
            <a:ext cx="9740349" cy="5420138"/>
          </a:xfrm>
        </p:spPr>
        <p:txBody>
          <a:bodyPr>
            <a:normAutofit/>
          </a:bodyPr>
          <a:lstStyle/>
          <a:p>
            <a:pPr lvl="0" algn="just"/>
            <a:r>
              <a:rPr lang="en-US" sz="2400" b="1" dirty="0"/>
              <a:t>Reading culture of students is low:</a:t>
            </a:r>
            <a:r>
              <a:rPr lang="en-US" sz="2400" dirty="0"/>
              <a:t> many of these students would come to lecture rooms without writing </a:t>
            </a:r>
            <a:r>
              <a:rPr lang="en-US" sz="2400" dirty="0" smtClean="0"/>
              <a:t>materials, Library facility is not available to them at </a:t>
            </a:r>
            <a:r>
              <a:rPr lang="en-US" sz="2400" dirty="0" err="1" smtClean="0"/>
              <a:t>Ifaki</a:t>
            </a:r>
            <a:endParaRPr lang="en-US" sz="2400" dirty="0" smtClean="0"/>
          </a:p>
          <a:p>
            <a:pPr lvl="0" algn="just"/>
            <a:r>
              <a:rPr lang="en-US" sz="2400" b="1" dirty="0" smtClean="0"/>
              <a:t>Transportation </a:t>
            </a:r>
            <a:r>
              <a:rPr lang="en-US" sz="2400" b="1" dirty="0"/>
              <a:t>problems</a:t>
            </a:r>
            <a:r>
              <a:rPr lang="en-US" sz="2400" dirty="0"/>
              <a:t>: some students do trek from </a:t>
            </a:r>
            <a:r>
              <a:rPr lang="en-US" sz="2400" dirty="0" err="1"/>
              <a:t>Ifaki</a:t>
            </a:r>
            <a:r>
              <a:rPr lang="en-US" sz="2400" dirty="0"/>
              <a:t> to </a:t>
            </a:r>
            <a:r>
              <a:rPr lang="en-US" sz="2400" dirty="0" err="1"/>
              <a:t>Iworoko</a:t>
            </a:r>
            <a:r>
              <a:rPr lang="en-US" sz="2400" dirty="0"/>
              <a:t> before getting vehicles to Ado Ekiti.</a:t>
            </a:r>
          </a:p>
          <a:p>
            <a:pPr lvl="0" algn="just"/>
            <a:r>
              <a:rPr lang="en-US" sz="2400" dirty="0"/>
              <a:t>Some lecturers will not come for lectures until when examination is approaching</a:t>
            </a:r>
          </a:p>
          <a:p>
            <a:pPr lvl="0" algn="just"/>
            <a:r>
              <a:rPr lang="en-US" sz="2400" b="1" dirty="0"/>
              <a:t>Mass failure of students:</a:t>
            </a:r>
            <a:r>
              <a:rPr lang="en-US" sz="2400" dirty="0"/>
              <a:t> the Directorate has been experiencing mass failure of students, for example, in Business Administration 2008 set, over 400 students were asked to withdraw in a single class of over 2,000 students after spending 7 years on the </a:t>
            </a:r>
            <a:r>
              <a:rPr lang="en-US" sz="2400" dirty="0" err="1"/>
              <a:t>programme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594264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58958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ACCREDITATION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8958"/>
            <a:ext cx="9445487" cy="49180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The </a:t>
            </a:r>
            <a:r>
              <a:rPr lang="en-US" sz="2800" dirty="0"/>
              <a:t>Part-Time </a:t>
            </a:r>
            <a:r>
              <a:rPr lang="en-US" sz="2800" dirty="0" err="1"/>
              <a:t>Programme</a:t>
            </a:r>
            <a:r>
              <a:rPr lang="en-US" sz="2800" dirty="0"/>
              <a:t> lost some </a:t>
            </a:r>
            <a:r>
              <a:rPr lang="en-US" sz="2800" dirty="0" err="1"/>
              <a:t>programmes</a:t>
            </a:r>
            <a:r>
              <a:rPr lang="en-US" sz="2800" dirty="0"/>
              <a:t> due to lack of accreditation of these courses by NUC. Such </a:t>
            </a:r>
            <a:r>
              <a:rPr lang="en-US" sz="2800" dirty="0" err="1"/>
              <a:t>programmes</a:t>
            </a:r>
            <a:r>
              <a:rPr lang="en-US" sz="2800" dirty="0"/>
              <a:t> include: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Environmental Management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Criminology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Industrial Psychology Personnel Management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Public Administration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Social Works </a:t>
            </a:r>
            <a:r>
              <a:rPr lang="en-US" sz="2800" dirty="0" smtClean="0"/>
              <a:t> 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18286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708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WAY FORWARD!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2210"/>
            <a:ext cx="9551504" cy="53008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ADMISSIONS: </a:t>
            </a:r>
            <a:r>
              <a:rPr lang="en-US" sz="2400" dirty="0" smtClean="0"/>
              <a:t>The </a:t>
            </a:r>
            <a:r>
              <a:rPr lang="en-US" sz="2400" dirty="0"/>
              <a:t>University should encourage intended students to be admitted into the newly approved </a:t>
            </a:r>
            <a:r>
              <a:rPr lang="en-US" sz="2400" dirty="0" err="1"/>
              <a:t>programmes</a:t>
            </a:r>
            <a:r>
              <a:rPr lang="en-US" sz="2400" dirty="0"/>
              <a:t> in the </a:t>
            </a:r>
            <a:r>
              <a:rPr lang="en-US" sz="2400" dirty="0" smtClean="0"/>
              <a:t>Faculties </a:t>
            </a:r>
            <a:r>
              <a:rPr lang="en-US" sz="2400" dirty="0"/>
              <a:t>of Management </a:t>
            </a:r>
            <a:r>
              <a:rPr lang="en-US" sz="2400" dirty="0" smtClean="0"/>
              <a:t>Science </a:t>
            </a:r>
            <a:r>
              <a:rPr lang="en-US" sz="2400" dirty="0"/>
              <a:t>and The Social Sciences to DPTP. These </a:t>
            </a:r>
            <a:r>
              <a:rPr lang="en-US" sz="2400" dirty="0" err="1"/>
              <a:t>programmes</a:t>
            </a:r>
            <a:r>
              <a:rPr lang="en-US" sz="2400" dirty="0"/>
              <a:t> are: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Management Science Faculty;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Co-operative Studies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Insurance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/>
              <a:t>Marketing</a:t>
            </a: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Social Sciences Faculty;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Tourism and Hospitality Management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Environmental Management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Criminology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Industrial Psychology and Personnel Management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80853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7078" y="1119907"/>
            <a:ext cx="9992138" cy="5507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2200" dirty="0">
                <a:cs typeface="Times New Roman" panose="02020603050405020304" pitchFamily="18" charset="0"/>
              </a:rPr>
              <a:t>Still on admissions, it will be more economically viable for the University, if the professional </a:t>
            </a:r>
            <a:r>
              <a:rPr lang="en-US" sz="2200" dirty="0" err="1">
                <a:cs typeface="Times New Roman" panose="02020603050405020304" pitchFamily="18" charset="0"/>
              </a:rPr>
              <a:t>programmes</a:t>
            </a:r>
            <a:r>
              <a:rPr lang="en-US" sz="2200" dirty="0">
                <a:cs typeface="Times New Roman" panose="02020603050405020304" pitchFamily="18" charset="0"/>
              </a:rPr>
              <a:t>, which were run initially by the DPTP, now domiciled at </a:t>
            </a:r>
            <a:r>
              <a:rPr lang="en-US" sz="2200" dirty="0" smtClean="0">
                <a:cs typeface="Times New Roman" panose="02020603050405020304" pitchFamily="18" charset="0"/>
              </a:rPr>
              <a:t>the</a:t>
            </a:r>
            <a:r>
              <a:rPr lang="en-US" sz="2200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College of Post-Graduate Studies be returned to DPTP.</a:t>
            </a:r>
            <a:endParaRPr lang="en-US" sz="2200" dirty="0" smtClea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 These </a:t>
            </a:r>
            <a:r>
              <a:rPr lang="en-US" sz="22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programmes</a:t>
            </a:r>
            <a:r>
              <a:rPr lang="en-US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 include: </a:t>
            </a:r>
            <a:endParaRPr lang="en-US" sz="2200" dirty="0" smtClea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arenBoth"/>
            </a:pPr>
            <a:r>
              <a:rPr lang="en-US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Masters in Business Administration (MBA)</a:t>
            </a:r>
            <a:endParaRPr lang="en-US" sz="2200" dirty="0" smtClea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arenBoth"/>
            </a:pPr>
            <a:r>
              <a:rPr lang="en-US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Masters in Petroleum Economics (MPE)</a:t>
            </a:r>
            <a:endParaRPr lang="en-US" sz="2200" dirty="0" smtClea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arenBoth"/>
            </a:pPr>
            <a:r>
              <a:rPr lang="en-US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Masters in Recreation and Tourism (MRT)</a:t>
            </a:r>
            <a:endParaRPr lang="en-US" sz="2200" dirty="0" smtClea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arenBoth"/>
            </a:pPr>
            <a:r>
              <a:rPr lang="en-US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Masters in Environmental Management (MEM)</a:t>
            </a:r>
            <a:endParaRPr lang="en-US" sz="2200" dirty="0" smtClea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arenBoth"/>
            </a:pPr>
            <a:r>
              <a:rPr lang="en-US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Masters in Public Administration (MPA)</a:t>
            </a:r>
            <a:endParaRPr lang="en-US" sz="2200" dirty="0" smtClea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romanLcParenBoth"/>
            </a:pPr>
            <a:r>
              <a:rPr lang="en-US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Masters in Industrial Psychology and Personnel </a:t>
            </a:r>
            <a:r>
              <a:rPr lang="en-US" sz="2200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US" sz="2200" dirty="0" smtClea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sz="22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programmes</a:t>
            </a:r>
            <a:r>
              <a:rPr lang="en-US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 are no longer attractive to professionals, since their admission requirements and academic activities are now being run like the regular Post-Graduate </a:t>
            </a:r>
            <a:r>
              <a:rPr lang="en-US" sz="22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programmes</a:t>
            </a:r>
            <a:r>
              <a:rPr lang="en-US" sz="2200" dirty="0">
                <a:ea typeface="Times New Roman" panose="02020603050405020304" pitchFamily="18" charset="0"/>
                <a:cs typeface="Times New Roman" panose="02020603050405020304" pitchFamily="18" charset="0"/>
              </a:rPr>
              <a:t> by the college of Post Graduate Studies.</a:t>
            </a:r>
            <a:endParaRPr lang="en-US" sz="2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0703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131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WAY </a:t>
            </a:r>
            <a:r>
              <a:rPr lang="en-US" b="1" dirty="0" smtClean="0"/>
              <a:t>FORWARD! </a:t>
            </a:r>
            <a:r>
              <a:rPr lang="en-US" b="1" dirty="0" err="1" smtClean="0"/>
              <a:t>contd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49" y="1245704"/>
            <a:ext cx="10084904" cy="5612296"/>
          </a:xfrm>
        </p:spPr>
        <p:txBody>
          <a:bodyPr>
            <a:normAutofit fontScale="55000" lnSpcReduction="20000"/>
          </a:bodyPr>
          <a:lstStyle/>
          <a:p>
            <a:pPr lvl="0" algn="just">
              <a:buFont typeface="Wingdings" panose="05000000000000000000" pitchFamily="2" charset="2"/>
              <a:buChar char="Ø"/>
            </a:pPr>
            <a:r>
              <a:rPr lang="en-US" sz="4200" dirty="0">
                <a:cs typeface="Times New Roman" panose="02020603050405020304" pitchFamily="18" charset="0"/>
              </a:rPr>
              <a:t>DPTP should be given the autonomy to operate as an entity in the University without being affected by </a:t>
            </a:r>
            <a:r>
              <a:rPr lang="en-US" sz="4200" dirty="0">
                <a:solidFill>
                  <a:schemeClr val="accent4"/>
                </a:solidFill>
                <a:cs typeface="Times New Roman" panose="02020603050405020304" pitchFamily="18" charset="0"/>
              </a:rPr>
              <a:t>strike actions</a:t>
            </a:r>
            <a:r>
              <a:rPr lang="en-US" sz="4200" dirty="0" smtClean="0"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4200" dirty="0" smtClean="0">
                <a:cs typeface="Times New Roman" panose="02020603050405020304" pitchFamily="18" charset="0"/>
              </a:rPr>
              <a:t>Strict adherence to the academic calendar of the Directorate of part-time </a:t>
            </a:r>
            <a:r>
              <a:rPr lang="en-US" sz="4200" dirty="0" err="1" smtClean="0">
                <a:cs typeface="Times New Roman" panose="02020603050405020304" pitchFamily="18" charset="0"/>
              </a:rPr>
              <a:t>programmes</a:t>
            </a:r>
            <a:r>
              <a:rPr lang="en-US" sz="4200" dirty="0" smtClean="0">
                <a:cs typeface="Times New Roman" panose="02020603050405020304" pitchFamily="18" charset="0"/>
              </a:rPr>
              <a:t> by ensuring that the period stipulated for writing of examinations is followed.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US" sz="4200" b="1" dirty="0" smtClean="0">
                <a:cs typeface="Times New Roman" panose="02020603050405020304" pitchFamily="18" charset="0"/>
              </a:rPr>
              <a:t> Improved quality of infrastructure and learning environment:  </a:t>
            </a:r>
            <a:r>
              <a:rPr lang="en-US" sz="4200" dirty="0" smtClean="0">
                <a:cs typeface="Times New Roman" panose="02020603050405020304" pitchFamily="18" charset="0"/>
              </a:rPr>
              <a:t>Expansion of the available facilities- most especially the classrooms and Lecture theatres-to cater for the teaching needs of students, provision of tuck-shops, eateries, bookshop, staff common room for lecturers at </a:t>
            </a:r>
            <a:r>
              <a:rPr lang="en-US" sz="4200" dirty="0" err="1" smtClean="0">
                <a:cs typeface="Times New Roman" panose="02020603050405020304" pitchFamily="18" charset="0"/>
              </a:rPr>
              <a:t>Ifaki</a:t>
            </a:r>
            <a:r>
              <a:rPr lang="en-US" sz="4200" dirty="0" smtClean="0">
                <a:cs typeface="Times New Roman" panose="02020603050405020304" pitchFamily="18" charset="0"/>
              </a:rPr>
              <a:t> campus and toilet facilities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US" sz="4200" dirty="0" smtClean="0">
                <a:cs typeface="Times New Roman" panose="02020603050405020304" pitchFamily="18" charset="0"/>
              </a:rPr>
              <a:t>Prompt </a:t>
            </a:r>
            <a:r>
              <a:rPr lang="en-US" sz="4200" dirty="0">
                <a:cs typeface="Times New Roman" panose="02020603050405020304" pitchFamily="18" charset="0"/>
              </a:rPr>
              <a:t>release of results for computation. Students should be allowed to have access to their results regularly.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4200" dirty="0" smtClean="0">
                <a:cs typeface="Times New Roman" panose="02020603050405020304" pitchFamily="18" charset="0"/>
              </a:rPr>
              <a:t>Effective </a:t>
            </a:r>
            <a:r>
              <a:rPr lang="en-US" sz="4200" dirty="0">
                <a:cs typeface="Times New Roman" panose="02020603050405020304" pitchFamily="18" charset="0"/>
              </a:rPr>
              <a:t>deployment of ICT as interactive platforms for teaching and </a:t>
            </a:r>
            <a:r>
              <a:rPr lang="en-US" sz="4200" dirty="0" smtClean="0">
                <a:cs typeface="Times New Roman" panose="02020603050405020304" pitchFamily="18" charset="0"/>
              </a:rPr>
              <a:t>learning, having efficient ICT </a:t>
            </a:r>
            <a:r>
              <a:rPr lang="en-US" sz="4200" dirty="0" err="1" smtClean="0">
                <a:cs typeface="Times New Roman" panose="02020603050405020304" pitchFamily="18" charset="0"/>
              </a:rPr>
              <a:t>centre</a:t>
            </a:r>
            <a:r>
              <a:rPr lang="en-US" sz="4200" dirty="0" smtClean="0">
                <a:cs typeface="Times New Roman" panose="02020603050405020304" pitchFamily="18" charset="0"/>
              </a:rPr>
              <a:t> for uploading of results. Hardcopies of the results to be submitted to the Directorate in </a:t>
            </a:r>
            <a:r>
              <a:rPr lang="en-US" sz="4200" dirty="0">
                <a:cs typeface="Times New Roman" panose="02020603050405020304" pitchFamily="18" charset="0"/>
              </a:rPr>
              <a:t>order to combat the delay in processing of results which is a major source of discouragement to the </a:t>
            </a:r>
            <a:r>
              <a:rPr lang="en-US" sz="4200" dirty="0" smtClean="0">
                <a:cs typeface="Times New Roman" panose="02020603050405020304" pitchFamily="18" charset="0"/>
              </a:rPr>
              <a:t>students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775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25287"/>
            <a:ext cx="8596668" cy="808383"/>
          </a:xfrm>
        </p:spPr>
        <p:txBody>
          <a:bodyPr/>
          <a:lstStyle/>
          <a:p>
            <a:r>
              <a:rPr lang="en-US" b="1" dirty="0" smtClean="0"/>
              <a:t>WAY FORWARD </a:t>
            </a:r>
            <a:r>
              <a:rPr lang="en-US" b="1" dirty="0" err="1" smtClean="0"/>
              <a:t>contd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810" y="901148"/>
            <a:ext cx="10389704" cy="5956852"/>
          </a:xfrm>
        </p:spPr>
        <p:txBody>
          <a:bodyPr>
            <a:normAutofit lnSpcReduction="10000"/>
          </a:bodyPr>
          <a:lstStyle/>
          <a:p>
            <a:pPr lvl="0" algn="just"/>
            <a:r>
              <a:rPr lang="en-US" sz="2400" dirty="0" smtClean="0"/>
              <a:t>Introduction </a:t>
            </a:r>
            <a:r>
              <a:rPr lang="en-US" sz="2400" dirty="0"/>
              <a:t>of MODULES as teaching aids for students. These modules should be </a:t>
            </a:r>
            <a:r>
              <a:rPr lang="en-US" sz="2400" dirty="0" smtClean="0"/>
              <a:t>peer </a:t>
            </a:r>
            <a:r>
              <a:rPr lang="en-US" sz="2400" dirty="0"/>
              <a:t>reviewed, published by the University Press and sold to students </a:t>
            </a:r>
            <a:r>
              <a:rPr lang="en-US" sz="2400" dirty="0" smtClean="0"/>
              <a:t>through </a:t>
            </a:r>
            <a:r>
              <a:rPr lang="en-US" sz="2400" dirty="0"/>
              <a:t>the University Bookshops. The proceeds to be shared among the 3 tiers within the University, that is, University, Faculty/Department and </a:t>
            </a:r>
            <a:r>
              <a:rPr lang="en-US" sz="2400" dirty="0" smtClean="0"/>
              <a:t>Lecturers, </a:t>
            </a:r>
          </a:p>
          <a:p>
            <a:pPr marL="3200400" lvl="7" indent="0" algn="just">
              <a:buNone/>
            </a:pPr>
            <a:r>
              <a:rPr lang="en-US" sz="2400" b="1" dirty="0" smtClean="0"/>
              <a:t> alternatively</a:t>
            </a:r>
          </a:p>
          <a:p>
            <a:pPr algn="just"/>
            <a:r>
              <a:rPr lang="en-US" sz="2400" dirty="0"/>
              <a:t>Encourage Lecturers to write text books </a:t>
            </a:r>
            <a:r>
              <a:rPr lang="en-US" sz="2400" dirty="0" smtClean="0"/>
              <a:t>in </a:t>
            </a:r>
            <a:r>
              <a:rPr lang="en-US" sz="2400" dirty="0"/>
              <a:t>their areas of specialization, set up a unit to control the quality of the books produced in order to maintain standard, and also for the books to be sold at a controlled price. </a:t>
            </a:r>
          </a:p>
          <a:p>
            <a:pPr lvl="0" algn="just"/>
            <a:r>
              <a:rPr lang="en-US" sz="2400" dirty="0"/>
              <a:t>Rebranding of the Academic </a:t>
            </a:r>
            <a:r>
              <a:rPr lang="en-US" sz="2400" dirty="0" err="1" smtClean="0"/>
              <a:t>Programmes</a:t>
            </a:r>
            <a:r>
              <a:rPr lang="en-US" sz="2400" dirty="0" smtClean="0"/>
              <a:t>: All </a:t>
            </a:r>
            <a:r>
              <a:rPr lang="en-US" sz="2400" dirty="0"/>
              <a:t>courses that are not yet accredited should be accredited and brought back to DPTP to enhance the performance and effectiveness </a:t>
            </a:r>
            <a:r>
              <a:rPr lang="en-US" sz="2400" dirty="0" smtClean="0"/>
              <a:t>of </a:t>
            </a:r>
            <a:r>
              <a:rPr lang="en-US" sz="2400" dirty="0"/>
              <a:t>existing </a:t>
            </a:r>
            <a:r>
              <a:rPr lang="en-US" sz="2400" dirty="0" err="1" smtClean="0"/>
              <a:t>programmes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 smtClean="0"/>
              <a:t>HND conversion </a:t>
            </a:r>
            <a:r>
              <a:rPr lang="en-US" sz="2400" dirty="0" err="1" smtClean="0"/>
              <a:t>programme</a:t>
            </a:r>
            <a:r>
              <a:rPr lang="en-US" sz="2400" dirty="0" smtClean="0"/>
              <a:t> of 2 years to be allowed with minimum of  Lower Credit</a:t>
            </a:r>
          </a:p>
          <a:p>
            <a:pPr lvl="0"/>
            <a:endParaRPr lang="en-US" dirty="0" smtClean="0"/>
          </a:p>
          <a:p>
            <a:pPr lvl="0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25338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WAY FORWARD </a:t>
            </a:r>
            <a:r>
              <a:rPr lang="en-US" b="1" dirty="0" err="1" smtClean="0"/>
              <a:t>contd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10748"/>
            <a:ext cx="8596668" cy="4863547"/>
          </a:xfrm>
        </p:spPr>
        <p:txBody>
          <a:bodyPr>
            <a:normAutofit/>
          </a:bodyPr>
          <a:lstStyle/>
          <a:p>
            <a:pPr algn="just"/>
            <a:r>
              <a:rPr lang="en-US" sz="2400" dirty="0" err="1" smtClean="0"/>
              <a:t>Programme</a:t>
            </a:r>
            <a:r>
              <a:rPr lang="en-US" sz="2400" dirty="0" smtClean="0"/>
              <a:t> Initiation: Other Faculties/Departments which are non-laboratories based that are yet to have their courses at DPTP should be inculcated into the DPT </a:t>
            </a:r>
            <a:r>
              <a:rPr lang="en-US" sz="2400" dirty="0" err="1" smtClean="0"/>
              <a:t>programmes</a:t>
            </a:r>
            <a:r>
              <a:rPr lang="en-US" sz="2400" dirty="0" smtClean="0"/>
              <a:t>  </a:t>
            </a:r>
          </a:p>
          <a:p>
            <a:pPr lvl="0" algn="just"/>
            <a:r>
              <a:rPr lang="en-US" sz="2400" dirty="0" smtClean="0"/>
              <a:t>Lecture/Examination monitoring team should be given more encouragement and logistics support</a:t>
            </a:r>
          </a:p>
          <a:p>
            <a:pPr lvl="0" algn="just"/>
            <a:r>
              <a:rPr lang="en-US" sz="2400" dirty="0" smtClean="0"/>
              <a:t>Increase the teaching honoraria for lecturers at DPTP to motivate them</a:t>
            </a:r>
          </a:p>
          <a:p>
            <a:pPr lvl="0" algn="just"/>
            <a:endParaRPr lang="en-US" dirty="0" smtClean="0"/>
          </a:p>
          <a:p>
            <a:pPr lvl="0" algn="just"/>
            <a:endParaRPr lang="en-US" dirty="0" smtClean="0"/>
          </a:p>
          <a:p>
            <a:pPr algn="just"/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xmlns="" val="1495201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sz="5300" dirty="0" smtClean="0"/>
              <a:t>SEEK YE FIRST ACADEMIC EXCELLENCE, </a:t>
            </a:r>
            <a:r>
              <a:rPr lang="en-US" sz="5300" dirty="0" smtClean="0"/>
              <a:t>ALL</a:t>
            </a:r>
            <a:r>
              <a:rPr lang="en-US" sz="5300" dirty="0" smtClean="0"/>
              <a:t> </a:t>
            </a:r>
            <a:r>
              <a:rPr lang="en-US" sz="5300" dirty="0" smtClean="0"/>
              <a:t>OTHER </a:t>
            </a:r>
            <a:r>
              <a:rPr lang="en-US" sz="5300" dirty="0" smtClean="0"/>
              <a:t>BENEFITS WILL FOLLOW</a:t>
            </a:r>
            <a:br>
              <a:rPr lang="en-US" sz="5300" dirty="0" smtClean="0"/>
            </a:br>
            <a:r>
              <a:rPr lang="en-US" sz="5300" dirty="0"/>
              <a:t/>
            </a:r>
            <a:br>
              <a:rPr lang="en-US" sz="5300" dirty="0"/>
            </a:br>
            <a:r>
              <a:rPr lang="en-US" sz="5300" dirty="0" smtClean="0"/>
              <a:t/>
            </a:r>
            <a:br>
              <a:rPr lang="en-US" sz="5300" dirty="0" smtClean="0"/>
            </a:br>
            <a:r>
              <a:rPr lang="en-US" sz="5300" dirty="0" smtClean="0"/>
              <a:t>Thanks for Listening </a:t>
            </a:r>
            <a:endParaRPr lang="en-US" sz="5300" dirty="0"/>
          </a:p>
        </p:txBody>
      </p:sp>
    </p:spTree>
    <p:extLst>
      <p:ext uri="{BB962C8B-B14F-4D97-AF65-F5344CB8AC3E}">
        <p14:creationId xmlns:p14="http://schemas.microsoft.com/office/powerpoint/2010/main" xmlns="" val="247241529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146</TotalTime>
  <Words>856</Words>
  <Application>Microsoft Office PowerPoint</Application>
  <PresentationFormat>Custom</PresentationFormat>
  <Paragraphs>59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Facet</vt:lpstr>
      <vt:lpstr>  ACADEMIC PROGRAMMES VIABILITY,  THE CHALLENGES IN DPTP AND WAY FORWARD TO PROPEL EKSU TO A WORLD CLASS UNIVERSITY. </vt:lpstr>
      <vt:lpstr>INTRODUCTION </vt:lpstr>
      <vt:lpstr>CHALLENGES </vt:lpstr>
      <vt:lpstr>CHALLENGES contd </vt:lpstr>
      <vt:lpstr>ACCREDITATION </vt:lpstr>
      <vt:lpstr>WAY FORWARD!   </vt:lpstr>
      <vt:lpstr>Slide 7</vt:lpstr>
      <vt:lpstr>WAY FORWARD! contd</vt:lpstr>
      <vt:lpstr>WAY FORWARD contd</vt:lpstr>
      <vt:lpstr>WAY FORWARD contd</vt:lpstr>
      <vt:lpstr> SEEK YE FIRST ACADEMIC EXCELLENCE, ALL OTHER BENEFITS WILL FOLLOW   Thanks for Listening 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POSITION PAPER ON ACADEMIC PROGRAMMES VIABLITIY, ACCOMMODATION, CLASSROOM, ACCREDITATION, EXAMINATION, RESULTS PROCESSING, CHALLENGES AND WAY FORWARD TO PROPEL EKSU TO A WORLD CLASS UNIVERSITY.</dc:title>
  <dc:creator>Owner</dc:creator>
  <cp:lastModifiedBy>DPTP EKSU</cp:lastModifiedBy>
  <cp:revision>18</cp:revision>
  <dcterms:created xsi:type="dcterms:W3CDTF">2016-02-03T03:30:12Z</dcterms:created>
  <dcterms:modified xsi:type="dcterms:W3CDTF">2016-02-02T18:20:31Z</dcterms:modified>
</cp:coreProperties>
</file>