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6" r:id="rId4"/>
    <p:sldId id="259" r:id="rId5"/>
    <p:sldId id="301" r:id="rId6"/>
    <p:sldId id="302" r:id="rId7"/>
    <p:sldId id="303" r:id="rId8"/>
    <p:sldId id="306" r:id="rId9"/>
    <p:sldId id="307" r:id="rId10"/>
    <p:sldId id="308" r:id="rId11"/>
    <p:sldId id="310" r:id="rId12"/>
    <p:sldId id="304" r:id="rId13"/>
    <p:sldId id="311" r:id="rId14"/>
    <p:sldId id="313" r:id="rId15"/>
    <p:sldId id="312" r:id="rId16"/>
    <p:sldId id="314" r:id="rId17"/>
    <p:sldId id="315" r:id="rId18"/>
    <p:sldId id="316" r:id="rId19"/>
    <p:sldId id="317" r:id="rId20"/>
    <p:sldId id="318" r:id="rId21"/>
    <p:sldId id="319" r:id="rId22"/>
    <p:sldId id="30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96" y="-3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16C71E-01C6-4FD1-AE83-6687E76E26EA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EBF6F852-BEF8-4305-9601-0CC77EDD738F}">
      <dgm:prSet phldrT="[Text]"/>
      <dgm:spPr/>
      <dgm:t>
        <a:bodyPr/>
        <a:lstStyle/>
        <a:p>
          <a:r>
            <a:rPr lang="en-GB" dirty="0" smtClean="0"/>
            <a:t>Current Situation in the Faculty of Engineering</a:t>
          </a:r>
          <a:endParaRPr lang="en-GB" b="1" dirty="0"/>
        </a:p>
      </dgm:t>
    </dgm:pt>
    <dgm:pt modelId="{E04DC190-3CAF-4B20-AE16-631EDE366123}" type="parTrans" cxnId="{4AAFBC20-6238-481B-A5C3-C3C7E62CA65C}">
      <dgm:prSet/>
      <dgm:spPr/>
      <dgm:t>
        <a:bodyPr/>
        <a:lstStyle/>
        <a:p>
          <a:endParaRPr lang="en-GB"/>
        </a:p>
      </dgm:t>
    </dgm:pt>
    <dgm:pt modelId="{371743A2-2D4A-4EB2-931B-BB70D19162D4}" type="sibTrans" cxnId="{4AAFBC20-6238-481B-A5C3-C3C7E62CA65C}">
      <dgm:prSet/>
      <dgm:spPr/>
      <dgm:t>
        <a:bodyPr/>
        <a:lstStyle/>
        <a:p>
          <a:endParaRPr lang="en-GB"/>
        </a:p>
      </dgm:t>
    </dgm:pt>
    <dgm:pt modelId="{71BA65F8-AAAA-4002-B7F4-E66FACD3C86A}">
      <dgm:prSet phldrT="[Text]"/>
      <dgm:spPr/>
      <dgm:t>
        <a:bodyPr/>
        <a:lstStyle/>
        <a:p>
          <a:r>
            <a:rPr lang="en-GB" dirty="0" smtClean="0"/>
            <a:t>Challenges and the Way Forward</a:t>
          </a:r>
          <a:endParaRPr lang="en-GB" dirty="0"/>
        </a:p>
      </dgm:t>
    </dgm:pt>
    <dgm:pt modelId="{27866D4D-2F0E-485F-AFF7-02393F51C48B}" type="parTrans" cxnId="{8A9903B8-63E1-42F6-BE99-CEF853B41207}">
      <dgm:prSet/>
      <dgm:spPr/>
      <dgm:t>
        <a:bodyPr/>
        <a:lstStyle/>
        <a:p>
          <a:endParaRPr lang="en-GB"/>
        </a:p>
      </dgm:t>
    </dgm:pt>
    <dgm:pt modelId="{8FB8416A-0B34-41D8-91A6-F9CC738519B6}" type="sibTrans" cxnId="{8A9903B8-63E1-42F6-BE99-CEF853B41207}">
      <dgm:prSet/>
      <dgm:spPr/>
      <dgm:t>
        <a:bodyPr/>
        <a:lstStyle/>
        <a:p>
          <a:endParaRPr lang="en-GB"/>
        </a:p>
      </dgm:t>
    </dgm:pt>
    <dgm:pt modelId="{EB86F9D8-44A7-4F57-83D1-7213955EE782}">
      <dgm:prSet phldrT="[Text]"/>
      <dgm:spPr/>
      <dgm:t>
        <a:bodyPr/>
        <a:lstStyle/>
        <a:p>
          <a:r>
            <a:rPr lang="en-GB" dirty="0" smtClean="0"/>
            <a:t>Policies to Consider</a:t>
          </a:r>
          <a:endParaRPr lang="en-GB" dirty="0"/>
        </a:p>
      </dgm:t>
    </dgm:pt>
    <dgm:pt modelId="{BDF87CDE-8258-44EB-BEFB-7FCC766EE9E1}" type="parTrans" cxnId="{5FC76A7F-64E5-4A67-B1EA-747DDF811E33}">
      <dgm:prSet/>
      <dgm:spPr/>
      <dgm:t>
        <a:bodyPr/>
        <a:lstStyle/>
        <a:p>
          <a:endParaRPr lang="en-GB"/>
        </a:p>
      </dgm:t>
    </dgm:pt>
    <dgm:pt modelId="{20CA03E4-F83C-437B-881C-9EB578FD9D37}" type="sibTrans" cxnId="{5FC76A7F-64E5-4A67-B1EA-747DDF811E33}">
      <dgm:prSet/>
      <dgm:spPr/>
      <dgm:t>
        <a:bodyPr/>
        <a:lstStyle/>
        <a:p>
          <a:endParaRPr lang="en-GB"/>
        </a:p>
      </dgm:t>
    </dgm:pt>
    <dgm:pt modelId="{5C27F720-5221-4ACF-98FC-E9B5C18BD73C}" type="pres">
      <dgm:prSet presAssocID="{1416C71E-01C6-4FD1-AE83-6687E76E26EA}" presName="compositeShape" presStyleCnt="0">
        <dgm:presLayoutVars>
          <dgm:dir/>
          <dgm:resizeHandles/>
        </dgm:presLayoutVars>
      </dgm:prSet>
      <dgm:spPr/>
    </dgm:pt>
    <dgm:pt modelId="{835D9BA7-B5D9-4958-832E-104FAA071E42}" type="pres">
      <dgm:prSet presAssocID="{1416C71E-01C6-4FD1-AE83-6687E76E26EA}" presName="pyramid" presStyleLbl="node1" presStyleIdx="0" presStyleCnt="1" custLinFactNeighborX="-3539"/>
      <dgm:spPr/>
    </dgm:pt>
    <dgm:pt modelId="{46E7ED6D-ABA3-4A79-91D8-BCCF27F33242}" type="pres">
      <dgm:prSet presAssocID="{1416C71E-01C6-4FD1-AE83-6687E76E26EA}" presName="theList" presStyleCnt="0"/>
      <dgm:spPr/>
    </dgm:pt>
    <dgm:pt modelId="{86D6CF8D-B5A1-4E1E-B6CF-F4D581BF0CCA}" type="pres">
      <dgm:prSet presAssocID="{EBF6F852-BEF8-4305-9601-0CC77EDD738F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C52D684-45A4-4FB2-9F24-9029FDCAF496}" type="pres">
      <dgm:prSet presAssocID="{EBF6F852-BEF8-4305-9601-0CC77EDD738F}" presName="aSpace" presStyleCnt="0"/>
      <dgm:spPr/>
    </dgm:pt>
    <dgm:pt modelId="{D8D41D76-DCDC-49B7-A5D5-F46F7F5A3F6C}" type="pres">
      <dgm:prSet presAssocID="{71BA65F8-AAAA-4002-B7F4-E66FACD3C86A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A575563-1388-4D8F-B9CA-FF16163F2A20}" type="pres">
      <dgm:prSet presAssocID="{71BA65F8-AAAA-4002-B7F4-E66FACD3C86A}" presName="aSpace" presStyleCnt="0"/>
      <dgm:spPr/>
    </dgm:pt>
    <dgm:pt modelId="{39076F96-C7DD-4F91-8239-156A7ED5D1A1}" type="pres">
      <dgm:prSet presAssocID="{EB86F9D8-44A7-4F57-83D1-7213955EE78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6CE5FDE-1789-4AED-B6D2-7753C31BFEE1}" type="pres">
      <dgm:prSet presAssocID="{EB86F9D8-44A7-4F57-83D1-7213955EE782}" presName="aSpace" presStyleCnt="0"/>
      <dgm:spPr/>
    </dgm:pt>
  </dgm:ptLst>
  <dgm:cxnLst>
    <dgm:cxn modelId="{1921C405-86F2-472D-BAE6-C45098DCF369}" type="presOf" srcId="{71BA65F8-AAAA-4002-B7F4-E66FACD3C86A}" destId="{D8D41D76-DCDC-49B7-A5D5-F46F7F5A3F6C}" srcOrd="0" destOrd="0" presId="urn:microsoft.com/office/officeart/2005/8/layout/pyramid2"/>
    <dgm:cxn modelId="{8A9903B8-63E1-42F6-BE99-CEF853B41207}" srcId="{1416C71E-01C6-4FD1-AE83-6687E76E26EA}" destId="{71BA65F8-AAAA-4002-B7F4-E66FACD3C86A}" srcOrd="1" destOrd="0" parTransId="{27866D4D-2F0E-485F-AFF7-02393F51C48B}" sibTransId="{8FB8416A-0B34-41D8-91A6-F9CC738519B6}"/>
    <dgm:cxn modelId="{4AAFBC20-6238-481B-A5C3-C3C7E62CA65C}" srcId="{1416C71E-01C6-4FD1-AE83-6687E76E26EA}" destId="{EBF6F852-BEF8-4305-9601-0CC77EDD738F}" srcOrd="0" destOrd="0" parTransId="{E04DC190-3CAF-4B20-AE16-631EDE366123}" sibTransId="{371743A2-2D4A-4EB2-931B-BB70D19162D4}"/>
    <dgm:cxn modelId="{4BA0BFE3-19F5-4E6B-9395-4D8A081BB9A2}" type="presOf" srcId="{1416C71E-01C6-4FD1-AE83-6687E76E26EA}" destId="{5C27F720-5221-4ACF-98FC-E9B5C18BD73C}" srcOrd="0" destOrd="0" presId="urn:microsoft.com/office/officeart/2005/8/layout/pyramid2"/>
    <dgm:cxn modelId="{2C280733-27A0-4731-946B-FB9596B3A43B}" type="presOf" srcId="{EB86F9D8-44A7-4F57-83D1-7213955EE782}" destId="{39076F96-C7DD-4F91-8239-156A7ED5D1A1}" srcOrd="0" destOrd="0" presId="urn:microsoft.com/office/officeart/2005/8/layout/pyramid2"/>
    <dgm:cxn modelId="{5FC76A7F-64E5-4A67-B1EA-747DDF811E33}" srcId="{1416C71E-01C6-4FD1-AE83-6687E76E26EA}" destId="{EB86F9D8-44A7-4F57-83D1-7213955EE782}" srcOrd="2" destOrd="0" parTransId="{BDF87CDE-8258-44EB-BEFB-7FCC766EE9E1}" sibTransId="{20CA03E4-F83C-437B-881C-9EB578FD9D37}"/>
    <dgm:cxn modelId="{F7930B9E-6D17-48E2-B652-303D3E2745ED}" type="presOf" srcId="{EBF6F852-BEF8-4305-9601-0CC77EDD738F}" destId="{86D6CF8D-B5A1-4E1E-B6CF-F4D581BF0CCA}" srcOrd="0" destOrd="0" presId="urn:microsoft.com/office/officeart/2005/8/layout/pyramid2"/>
    <dgm:cxn modelId="{7D83901F-0C83-4485-A746-15837C9F1F6B}" type="presParOf" srcId="{5C27F720-5221-4ACF-98FC-E9B5C18BD73C}" destId="{835D9BA7-B5D9-4958-832E-104FAA071E42}" srcOrd="0" destOrd="0" presId="urn:microsoft.com/office/officeart/2005/8/layout/pyramid2"/>
    <dgm:cxn modelId="{0B8C98AA-4143-412A-B7E4-C42A57108883}" type="presParOf" srcId="{5C27F720-5221-4ACF-98FC-E9B5C18BD73C}" destId="{46E7ED6D-ABA3-4A79-91D8-BCCF27F33242}" srcOrd="1" destOrd="0" presId="urn:microsoft.com/office/officeart/2005/8/layout/pyramid2"/>
    <dgm:cxn modelId="{A5F64042-00DC-473A-9156-C9DA9CD0AB80}" type="presParOf" srcId="{46E7ED6D-ABA3-4A79-91D8-BCCF27F33242}" destId="{86D6CF8D-B5A1-4E1E-B6CF-F4D581BF0CCA}" srcOrd="0" destOrd="0" presId="urn:microsoft.com/office/officeart/2005/8/layout/pyramid2"/>
    <dgm:cxn modelId="{2CED55A3-CA98-4698-83CC-8E13D48770B0}" type="presParOf" srcId="{46E7ED6D-ABA3-4A79-91D8-BCCF27F33242}" destId="{FC52D684-45A4-4FB2-9F24-9029FDCAF496}" srcOrd="1" destOrd="0" presId="urn:microsoft.com/office/officeart/2005/8/layout/pyramid2"/>
    <dgm:cxn modelId="{43FF3079-5CF9-4831-8A0B-72E38CA13509}" type="presParOf" srcId="{46E7ED6D-ABA3-4A79-91D8-BCCF27F33242}" destId="{D8D41D76-DCDC-49B7-A5D5-F46F7F5A3F6C}" srcOrd="2" destOrd="0" presId="urn:microsoft.com/office/officeart/2005/8/layout/pyramid2"/>
    <dgm:cxn modelId="{EE181CDC-B940-453E-9A5E-8E9D67EC2E12}" type="presParOf" srcId="{46E7ED6D-ABA3-4A79-91D8-BCCF27F33242}" destId="{BA575563-1388-4D8F-B9CA-FF16163F2A20}" srcOrd="3" destOrd="0" presId="urn:microsoft.com/office/officeart/2005/8/layout/pyramid2"/>
    <dgm:cxn modelId="{06329DD9-8163-4EA3-ABAA-93C4D800807D}" type="presParOf" srcId="{46E7ED6D-ABA3-4A79-91D8-BCCF27F33242}" destId="{39076F96-C7DD-4F91-8239-156A7ED5D1A1}" srcOrd="4" destOrd="0" presId="urn:microsoft.com/office/officeart/2005/8/layout/pyramid2"/>
    <dgm:cxn modelId="{AB6E81D7-006C-4313-81E0-C0E6622CB61E}" type="presParOf" srcId="{46E7ED6D-ABA3-4A79-91D8-BCCF27F33242}" destId="{B6CE5FDE-1789-4AED-B6D2-7753C31BFEE1}" srcOrd="5" destOrd="0" presId="urn:microsoft.com/office/officeart/2005/8/layout/pyramid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07F58CF-949D-4198-9B7B-4D5F34B0F7D9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C45587D-3718-494F-80AD-DE0A20F745D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Autofit/>
          </a:bodyPr>
          <a:lstStyle/>
          <a:p>
            <a:r>
              <a:rPr lang="en-GB" sz="4400" dirty="0" smtClean="0"/>
              <a:t>Ekiti State University, Ado Ekiti Academic Summit</a:t>
            </a:r>
            <a:endParaRPr lang="en-GB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7772400" cy="1752600"/>
          </a:xfrm>
        </p:spPr>
        <p:txBody>
          <a:bodyPr>
            <a:normAutofit fontScale="77500" lnSpcReduction="20000"/>
          </a:bodyPr>
          <a:lstStyle/>
          <a:p>
            <a:r>
              <a:rPr lang="en-GB" sz="4700" dirty="0" smtClean="0"/>
              <a:t>Faculty of Engineering’s Position</a:t>
            </a:r>
          </a:p>
          <a:p>
            <a:r>
              <a:rPr lang="en-GB" dirty="0" smtClean="0"/>
              <a:t>By</a:t>
            </a:r>
          </a:p>
          <a:p>
            <a:r>
              <a:rPr lang="en-GB" dirty="0" smtClean="0"/>
              <a:t>Prof E A </a:t>
            </a:r>
            <a:r>
              <a:rPr lang="en-GB" dirty="0" err="1" smtClean="0"/>
              <a:t>Okunade</a:t>
            </a:r>
            <a:endParaRPr lang="en-GB" dirty="0" smtClean="0"/>
          </a:p>
          <a:p>
            <a:r>
              <a:rPr lang="en-GB" dirty="0" smtClean="0"/>
              <a:t>Dean, Faculty of Engineering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/>
        </p:nvGraphicFramePr>
        <p:xfrm>
          <a:off x="533400" y="457200"/>
          <a:ext cx="8077200" cy="586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Placeholder 2"/>
          <p:cNvSpPr txBox="1">
            <a:spLocks/>
          </p:cNvSpPr>
          <p:nvPr/>
        </p:nvSpPr>
        <p:spPr>
          <a:xfrm rot="16200000">
            <a:off x="1485106" y="3772694"/>
            <a:ext cx="4040188" cy="762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Discussion themes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5400" b="1" dirty="0" smtClean="0">
              <a:latin typeface="Agency FB" pitchFamily="34" charset="0"/>
            </a:endParaRPr>
          </a:p>
          <a:p>
            <a:pPr algn="ctr"/>
            <a:r>
              <a:rPr lang="en-US" sz="5400" b="1" dirty="0" smtClean="0">
                <a:latin typeface="Agency FB" pitchFamily="34" charset="0"/>
              </a:rPr>
              <a:t>Situation of the Faculty of Engineering</a:t>
            </a:r>
            <a:endParaRPr lang="en-GB" sz="5400" dirty="0" smtClean="0">
              <a:latin typeface="Agency FB" pitchFamily="34" charset="0"/>
            </a:endParaRPr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A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2133600" y="1752600"/>
            <a:ext cx="6705600" cy="28194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Civil Engineering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Computer Engineering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Electrical &amp; Electronic Engineering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Mechanical Engineering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55626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b="1" dirty="0" smtClean="0"/>
              <a:t>Four Departments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kumimoji="0" lang="en-GB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2133600" y="1752600"/>
            <a:ext cx="6705600" cy="28194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Degree </a:t>
            </a:r>
            <a:r>
              <a:rPr lang="en-US" sz="2800" dirty="0" err="1" smtClean="0"/>
              <a:t>programmes</a:t>
            </a:r>
            <a:r>
              <a:rPr lang="en-US" sz="2800" dirty="0" smtClean="0"/>
              <a:t> (in </a:t>
            </a:r>
            <a:r>
              <a:rPr lang="en-US" sz="2800" dirty="0" smtClean="0"/>
              <a:t>all </a:t>
            </a:r>
            <a:r>
              <a:rPr lang="en-US" sz="2800" dirty="0" err="1" smtClean="0"/>
              <a:t>depts</a:t>
            </a:r>
            <a:r>
              <a:rPr lang="en-US" sz="2800" dirty="0" smtClean="0"/>
              <a:t>)</a:t>
            </a: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PGD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err="1" smtClean="0"/>
              <a:t>M.Eng</a:t>
            </a: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err="1" smtClean="0"/>
              <a:t>Ph.D</a:t>
            </a:r>
            <a:r>
              <a:rPr lang="en-US" sz="2800" dirty="0" smtClean="0"/>
              <a:t> (</a:t>
            </a:r>
            <a:r>
              <a:rPr lang="en-US" sz="2400" dirty="0" smtClean="0"/>
              <a:t>in all except Computer Engineering</a:t>
            </a:r>
            <a:r>
              <a:rPr lang="en-US" sz="2800" dirty="0" smtClean="0"/>
              <a:t>)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55626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b="1" dirty="0" smtClean="0"/>
              <a:t>Programmes Being Run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700" dirty="0" smtClean="0"/>
              <a:t>2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676400" y="1752600"/>
            <a:ext cx="7162800" cy="426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500" dirty="0" smtClean="0"/>
              <a:t>NUC </a:t>
            </a:r>
            <a:r>
              <a:rPr lang="en-US" sz="2500" dirty="0" smtClean="0"/>
              <a:t>and COREN </a:t>
            </a:r>
            <a:r>
              <a:rPr lang="en-US" sz="2500" dirty="0" smtClean="0"/>
              <a:t>Re-accreditation are due in</a:t>
            </a:r>
            <a:endParaRPr lang="en-US" sz="2500" dirty="0" smtClean="0"/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Civil Engineering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Electrical </a:t>
            </a:r>
            <a:r>
              <a:rPr lang="en-US" sz="2800" dirty="0" smtClean="0"/>
              <a:t>and Electronics </a:t>
            </a:r>
            <a:r>
              <a:rPr lang="en-US" sz="2800" dirty="0" smtClean="0"/>
              <a:t>Engineering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Mechanical Engineering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No NUC Resource accreditation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Computer Engineering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55626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b="1" dirty="0" smtClean="0"/>
              <a:t>Accreditation Status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kumimoji="0" lang="en-GB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5400" b="1" dirty="0" smtClean="0">
              <a:latin typeface="Agency FB" pitchFamily="34" charset="0"/>
            </a:endParaRPr>
          </a:p>
          <a:p>
            <a:pPr algn="ctr"/>
            <a:r>
              <a:rPr lang="en-US" sz="5400" b="1" dirty="0" smtClean="0">
                <a:latin typeface="Agency FB" pitchFamily="34" charset="0"/>
              </a:rPr>
              <a:t>Challenges and Way Forward</a:t>
            </a:r>
            <a:endParaRPr lang="en-GB" dirty="0">
              <a:latin typeface="Agency FB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B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2133600" y="1752600"/>
            <a:ext cx="6705600" cy="28194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800" dirty="0" smtClean="0"/>
              <a:t>Senior positions such as: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Professors</a:t>
            </a: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Readers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Senior Lecturers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55626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b="1" dirty="0" smtClean="0"/>
              <a:t>Academic Vacancies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kumimoji="0" lang="en-GB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2133600" y="1752600"/>
            <a:ext cx="6705600" cy="4114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Shortage </a:t>
            </a:r>
            <a:r>
              <a:rPr lang="en-US" sz="2800" dirty="0" smtClean="0"/>
              <a:t>of technical staff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Lack of functional Faculty and Departmental Libraries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Lack of access to reputable e-journals </a:t>
            </a:r>
            <a:r>
              <a:rPr lang="en-US" sz="2800" dirty="0" smtClean="0"/>
              <a:t>(the </a:t>
            </a:r>
            <a:r>
              <a:rPr lang="en-US" sz="2800" dirty="0" smtClean="0"/>
              <a:t>university should start subscribing) 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Poor postgraduate students population</a:t>
            </a: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55626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b="1" dirty="0" smtClean="0"/>
              <a:t>Other challenges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700" dirty="0" smtClean="0"/>
              <a:t>2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2133600" y="1752600"/>
            <a:ext cx="6705600" cy="3733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dirty="0" smtClean="0"/>
              <a:t>Lack </a:t>
            </a:r>
            <a:r>
              <a:rPr lang="en-GB" sz="2800" dirty="0" smtClean="0"/>
              <a:t>of teaching aids and classroom / lecture theatres</a:t>
            </a: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Lack of cutting edge research equipment/laboratory/workshop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Outdated methods of pedagogy (not ICT compliant and limited use of technology)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55626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b="1" dirty="0" smtClean="0"/>
              <a:t>Other challenges (cont’d)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kumimoji="0" lang="en-GB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2133600" y="1752600"/>
            <a:ext cx="6705600" cy="4114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Poor </a:t>
            </a:r>
            <a:r>
              <a:rPr lang="en-US" sz="2800" dirty="0" smtClean="0"/>
              <a:t>electric power supply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Lack of reliable Internet facility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dirty="0" smtClean="0"/>
              <a:t>Lack of tools to work with (computers etc)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dirty="0" smtClean="0"/>
              <a:t>Lack of intranet, LAN other facilities/tools for prompt information dissemination within the university system.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55626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b="1" dirty="0" smtClean="0"/>
              <a:t>Other challenges (cont’d)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kumimoji="0" lang="en-GB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5400" b="1" dirty="0" smtClean="0">
              <a:latin typeface="Agency FB" pitchFamily="34" charset="0"/>
            </a:endParaRPr>
          </a:p>
          <a:p>
            <a:pPr algn="ctr"/>
            <a:endParaRPr lang="en-US" sz="5400" b="1" dirty="0" smtClean="0">
              <a:latin typeface="Agency FB" pitchFamily="34" charset="0"/>
            </a:endParaRPr>
          </a:p>
          <a:p>
            <a:pPr algn="ctr"/>
            <a:r>
              <a:rPr lang="en-US" sz="5400" b="1" dirty="0" smtClean="0">
                <a:latin typeface="Agency FB" pitchFamily="34" charset="0"/>
              </a:rPr>
              <a:t>Policies to Consider</a:t>
            </a:r>
            <a:endParaRPr lang="en-GB" sz="5400" dirty="0" smtClean="0">
              <a:latin typeface="Agency FB" pitchFamily="34" charset="0"/>
            </a:endParaRPr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C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981200" y="1828800"/>
            <a:ext cx="6705600" cy="32766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600" dirty="0" smtClean="0"/>
              <a:t>Enhancement of postgraduate </a:t>
            </a:r>
            <a:r>
              <a:rPr lang="en-US" sz="2600" dirty="0" err="1" smtClean="0"/>
              <a:t>programmes</a:t>
            </a:r>
            <a:endParaRPr lang="en-US" sz="2600" dirty="0" smtClean="0"/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600" dirty="0" smtClean="0"/>
              <a:t>Attract </a:t>
            </a:r>
            <a:r>
              <a:rPr lang="en-US" sz="2600" dirty="0" smtClean="0"/>
              <a:t>more students through significant improvement in degree completion rate without compromising quality.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72390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Enrichment of academic </a:t>
            </a:r>
            <a:r>
              <a:rPr lang="en-US" sz="2800" dirty="0" err="1" smtClean="0"/>
              <a:t>programmes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700" dirty="0" smtClean="0"/>
              <a:t>1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981200" y="1828800"/>
            <a:ext cx="6705600" cy="4495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600" dirty="0" smtClean="0"/>
              <a:t>Eradication </a:t>
            </a:r>
            <a:r>
              <a:rPr lang="en-US" sz="2600" dirty="0" smtClean="0"/>
              <a:t>of start date for research Ph.D. </a:t>
            </a:r>
            <a:r>
              <a:rPr lang="en-US" sz="2600" dirty="0" err="1" smtClean="0"/>
              <a:t>programmes</a:t>
            </a:r>
            <a:r>
              <a:rPr lang="en-US" sz="2600" dirty="0" smtClean="0"/>
              <a:t>. Thus admission forms for PhD </a:t>
            </a:r>
            <a:r>
              <a:rPr lang="en-US" sz="2600" dirty="0" err="1" smtClean="0"/>
              <a:t>programmes</a:t>
            </a:r>
            <a:r>
              <a:rPr lang="en-US" sz="2600" dirty="0" smtClean="0"/>
              <a:t> should be available all year round</a:t>
            </a:r>
            <a:r>
              <a:rPr lang="en-GB" sz="2600" dirty="0" smtClean="0"/>
              <a:t>.</a:t>
            </a:r>
            <a:r>
              <a:rPr lang="en-US" sz="2800" dirty="0" smtClean="0"/>
              <a:t> 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Provision of incentives for staff who publish in high impact journals to deepen research works carried out in our University</a:t>
            </a:r>
            <a:endParaRPr lang="en-GB" sz="26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72390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Enrichment of academic </a:t>
            </a:r>
            <a:r>
              <a:rPr lang="en-US" sz="2800" dirty="0" err="1" smtClean="0"/>
              <a:t>programmes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700" dirty="0" smtClean="0"/>
              <a:t>2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981200" y="1828800"/>
            <a:ext cx="6705600" cy="381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Central </a:t>
            </a:r>
            <a:r>
              <a:rPr lang="en-US" sz="2800" dirty="0" smtClean="0"/>
              <a:t>computation of results is most desirable and should be implemented. </a:t>
            </a:r>
            <a:endParaRPr lang="en-GB" sz="28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dirty="0" smtClean="0"/>
              <a:t>Curriculum review should be done routinely to ensure that EKSU’s programmes meet the needs of the society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6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72390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Enrichment of academic </a:t>
            </a:r>
            <a:r>
              <a:rPr lang="en-US" sz="2800" dirty="0" err="1" smtClean="0"/>
              <a:t>programmes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700" dirty="0" smtClean="0"/>
              <a:t>3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981200" y="1828800"/>
            <a:ext cx="6705600" cy="44196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Introduction </a:t>
            </a:r>
            <a:r>
              <a:rPr lang="en-US" sz="2800" dirty="0" smtClean="0"/>
              <a:t>of compulsory annual seminar presentation for academic staff 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on a monthly </a:t>
            </a:r>
            <a:r>
              <a:rPr lang="en-US" sz="2800" dirty="0" smtClean="0"/>
              <a:t>basis</a:t>
            </a:r>
            <a:endParaRPr lang="en-US" sz="2800" dirty="0" smtClean="0"/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should be tied to annual increment/promotion.  </a:t>
            </a:r>
            <a:endParaRPr lang="en-GB" sz="28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Such should promote academic excellence and as well enrich our academic culture as a University.</a:t>
            </a:r>
            <a:endParaRPr lang="en-US" sz="26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72390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Enrichment of academic </a:t>
            </a:r>
            <a:r>
              <a:rPr lang="en-US" sz="2800" dirty="0" err="1" smtClean="0"/>
              <a:t>programmes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kumimoji="0" lang="en-GB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981200" y="1828800"/>
            <a:ext cx="6705600" cy="381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Re-structuring of students’ research projects to meet current needs of the society</a:t>
            </a: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Improvement/overhaul of laboratory equipment to state of the art level which should facilitate cutting edge research works</a:t>
            </a:r>
            <a:endParaRPr lang="en-US" sz="26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72390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Enrichment of academic </a:t>
            </a:r>
            <a:r>
              <a:rPr lang="en-US" sz="2800" dirty="0" err="1" smtClean="0"/>
              <a:t>programmes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700" dirty="0" smtClean="0"/>
              <a:t>5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981200" y="1828800"/>
            <a:ext cx="6705600" cy="4495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dirty="0" smtClean="0"/>
              <a:t>Conduct </a:t>
            </a:r>
            <a:r>
              <a:rPr lang="en-GB" sz="2800" dirty="0" smtClean="0"/>
              <a:t>of orientation programme for academic staff 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dirty="0" smtClean="0"/>
              <a:t>on their roles and responsibilities in running the University business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dirty="0" smtClean="0"/>
              <a:t>There is also need for provision of job description/specification for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dirty="0" smtClean="0"/>
              <a:t>new academic members of staff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800" dirty="0" smtClean="0"/>
              <a:t>non academic members of staff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6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72390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Enrichment of academic </a:t>
            </a:r>
            <a:r>
              <a:rPr lang="en-US" sz="2800" dirty="0" err="1" smtClean="0"/>
              <a:t>programmes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700" dirty="0" smtClean="0"/>
              <a:t>6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981200" y="1828800"/>
            <a:ext cx="6705600" cy="381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B</a:t>
            </a:r>
            <a:r>
              <a:rPr lang="en-US" sz="2800" dirty="0" smtClean="0"/>
              <a:t>oosting the </a:t>
            </a:r>
            <a:r>
              <a:rPr lang="en-US" sz="2800" dirty="0" smtClean="0"/>
              <a:t>financial viability of academic </a:t>
            </a:r>
            <a:r>
              <a:rPr lang="en-US" sz="2800" dirty="0" err="1" smtClean="0"/>
              <a:t>programmes</a:t>
            </a:r>
            <a:r>
              <a:rPr lang="en-US" sz="2800" dirty="0" smtClean="0"/>
              <a:t> through </a:t>
            </a:r>
            <a:r>
              <a:rPr lang="en-US" sz="2800" dirty="0" smtClean="0"/>
              <a:t>Collaboration with 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the industry, 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Alumni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sponsoring </a:t>
            </a:r>
            <a:r>
              <a:rPr lang="en-US" sz="2800" dirty="0" err="1" smtClean="0"/>
              <a:t>organisations</a:t>
            </a: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6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72390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Enrichment of academic </a:t>
            </a:r>
            <a:r>
              <a:rPr lang="en-US" sz="2800" dirty="0" err="1" smtClean="0"/>
              <a:t>programmes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700" dirty="0" smtClean="0"/>
              <a:t>7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981200" y="1828800"/>
            <a:ext cx="6705600" cy="4495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The </a:t>
            </a:r>
            <a:r>
              <a:rPr lang="en-US" sz="2800" dirty="0" smtClean="0"/>
              <a:t>University </a:t>
            </a:r>
            <a:r>
              <a:rPr lang="en-US" sz="2800" dirty="0" smtClean="0"/>
              <a:t>and </a:t>
            </a:r>
            <a:r>
              <a:rPr lang="en-US" sz="2800" dirty="0" smtClean="0"/>
              <a:t>individual departments to </a:t>
            </a:r>
            <a:r>
              <a:rPr lang="en-US" sz="2800" dirty="0" smtClean="0"/>
              <a:t>get on the social </a:t>
            </a:r>
            <a:r>
              <a:rPr lang="en-US" sz="2800" dirty="0" smtClean="0"/>
              <a:t>media</a:t>
            </a:r>
            <a:endParaRPr lang="en-GB" sz="28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Introduce platforms </a:t>
            </a:r>
            <a:r>
              <a:rPr lang="en-US" sz="2800" dirty="0" smtClean="0"/>
              <a:t>for </a:t>
            </a:r>
            <a:r>
              <a:rPr lang="en-US" sz="2800" dirty="0" smtClean="0"/>
              <a:t>parents </a:t>
            </a:r>
            <a:r>
              <a:rPr lang="en-US" sz="2800" dirty="0" smtClean="0"/>
              <a:t>and guardians </a:t>
            </a:r>
            <a:r>
              <a:rPr lang="en-US" sz="2800" dirty="0" smtClean="0"/>
              <a:t>to be </a:t>
            </a:r>
            <a:r>
              <a:rPr lang="en-US" sz="2800" dirty="0" smtClean="0"/>
              <a:t>abreast of the academic status of </a:t>
            </a:r>
            <a:r>
              <a:rPr lang="en-US" sz="2800" dirty="0" smtClean="0"/>
              <a:t>their ward </a:t>
            </a:r>
            <a:r>
              <a:rPr lang="en-US" sz="2800" dirty="0" smtClean="0"/>
              <a:t>through 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web interface, 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e-mail, 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text messages, etc.</a:t>
            </a:r>
            <a:endParaRPr lang="en-US" sz="2600" dirty="0" smtClean="0"/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GB" sz="2800" dirty="0" smtClean="0"/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72390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Enrichment of academic </a:t>
            </a:r>
            <a:r>
              <a:rPr lang="en-US" sz="2800" dirty="0" err="1" smtClean="0"/>
              <a:t>programmes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GB" sz="2700" dirty="0" smtClean="0"/>
              <a:t>8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981200" y="1828800"/>
            <a:ext cx="6705600" cy="4495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E-learning should be implemented. Assignments submitted online, affording opportunities to lock out students not duly registered</a:t>
            </a:r>
            <a:endParaRPr lang="en-GB" sz="2800" dirty="0" smtClean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47800" y="1066800"/>
            <a:ext cx="7239000" cy="45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/>
              <a:t>Enrichment of academic </a:t>
            </a:r>
            <a:r>
              <a:rPr lang="en-US" sz="2800" dirty="0" err="1" smtClean="0"/>
              <a:t>programmes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228600" y="1219200"/>
            <a:ext cx="9906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kumimoji="0" lang="en-GB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5400" b="1" dirty="0" smtClean="0">
              <a:latin typeface="Agency FB" pitchFamily="34" charset="0"/>
            </a:endParaRPr>
          </a:p>
          <a:p>
            <a:pPr algn="ctr"/>
            <a:r>
              <a:rPr lang="en-US" sz="5400" b="1" dirty="0" smtClean="0">
                <a:latin typeface="Agency FB" pitchFamily="34" charset="0"/>
              </a:rPr>
              <a:t>Thank you for your listening pleasure</a:t>
            </a:r>
            <a:endParaRPr lang="en-GB" sz="5400" dirty="0" smtClean="0">
              <a:latin typeface="Agency FB" pitchFamily="34" charset="0"/>
            </a:endParaRPr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178</TotalTime>
  <Words>548</Words>
  <Application>Microsoft Office PowerPoint</Application>
  <PresentationFormat>On-screen Show (4:3)</PresentationFormat>
  <Paragraphs>119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Concourse</vt:lpstr>
      <vt:lpstr>Ekiti State University, Ado Ekiti Academic Summit</vt:lpstr>
      <vt:lpstr>Slide 2</vt:lpstr>
      <vt:lpstr>A</vt:lpstr>
      <vt:lpstr>Slide 4</vt:lpstr>
      <vt:lpstr>Slide 5</vt:lpstr>
      <vt:lpstr>Slide 6</vt:lpstr>
      <vt:lpstr>B</vt:lpstr>
      <vt:lpstr>Slide 8</vt:lpstr>
      <vt:lpstr>Slide 9</vt:lpstr>
      <vt:lpstr>Slide 10</vt:lpstr>
      <vt:lpstr>Slide 11</vt:lpstr>
      <vt:lpstr>C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Ekiti State University, Ado Ekiti IGR Summit</dc:title>
  <dc:creator>Tofunmi</dc:creator>
  <cp:lastModifiedBy>Tofunmi</cp:lastModifiedBy>
  <cp:revision>42</cp:revision>
  <dcterms:created xsi:type="dcterms:W3CDTF">2016-01-26T12:49:43Z</dcterms:created>
  <dcterms:modified xsi:type="dcterms:W3CDTF">2016-02-02T12:35:59Z</dcterms:modified>
</cp:coreProperties>
</file>