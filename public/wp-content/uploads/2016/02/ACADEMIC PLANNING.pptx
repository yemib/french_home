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9" r:id="rId1"/>
  </p:sldMasterIdLst>
  <p:sldIdLst>
    <p:sldId id="268" r:id="rId2"/>
    <p:sldId id="257" r:id="rId3"/>
    <p:sldId id="258" r:id="rId4"/>
    <p:sldId id="259" r:id="rId5"/>
    <p:sldId id="260" r:id="rId6"/>
    <p:sldId id="261" r:id="rId7"/>
    <p:sldId id="269" r:id="rId8"/>
    <p:sldId id="262" r:id="rId9"/>
    <p:sldId id="263" r:id="rId10"/>
    <p:sldId id="270" r:id="rId11"/>
    <p:sldId id="264" r:id="rId12"/>
    <p:sldId id="265" r:id="rId13"/>
    <p:sldId id="266" r:id="rId14"/>
    <p:sldId id="271" r:id="rId15"/>
    <p:sldId id="267" r:id="rId16"/>
  </p:sldIdLst>
  <p:sldSz cx="9144000" cy="6858000" type="screen4x3"/>
  <p:notesSz cx="6797675" cy="99282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A3DE0E3-B2FB-49CC-A7BD-91E188EE0E79}">
          <p14:sldIdLst>
            <p14:sldId id="268"/>
            <p14:sldId id="257"/>
            <p14:sldId id="258"/>
            <p14:sldId id="259"/>
            <p14:sldId id="260"/>
            <p14:sldId id="261"/>
            <p14:sldId id="269"/>
            <p14:sldId id="262"/>
            <p14:sldId id="263"/>
            <p14:sldId id="270"/>
            <p14:sldId id="264"/>
            <p14:sldId id="265"/>
            <p14:sldId id="266"/>
            <p14:sldId id="271"/>
            <p14:sldId id="26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1296" y="60"/>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862" b="0" i="0" u="none" strike="noStrike" kern="1200" spc="0" baseline="0">
                <a:solidFill>
                  <a:schemeClr val="tx1">
                    <a:lumMod val="65000"/>
                    <a:lumOff val="35000"/>
                  </a:schemeClr>
                </a:solidFill>
                <a:latin typeface="Algerian" pitchFamily="82" charset="0"/>
                <a:ea typeface="+mn-ea"/>
                <a:cs typeface="+mn-cs"/>
              </a:defRPr>
            </a:pPr>
            <a:r>
              <a:rPr lang="en-US" dirty="0" smtClean="0">
                <a:latin typeface="Algerian" pitchFamily="82" charset="0"/>
              </a:rPr>
              <a:t>EKSU</a:t>
            </a:r>
            <a:r>
              <a:rPr lang="en-US" baseline="0" dirty="0" smtClean="0">
                <a:latin typeface="Algerian" pitchFamily="82" charset="0"/>
              </a:rPr>
              <a:t> ACCREDITATION STATUS</a:t>
            </a:r>
          </a:p>
          <a:p>
            <a:pPr>
              <a:defRPr lang="en-US" sz="1862" b="0" i="0" u="none" strike="noStrike" kern="1200" spc="0" baseline="0">
                <a:solidFill>
                  <a:schemeClr val="tx1">
                    <a:lumMod val="65000"/>
                    <a:lumOff val="35000"/>
                  </a:schemeClr>
                </a:solidFill>
                <a:latin typeface="Algerian" pitchFamily="82" charset="0"/>
                <a:ea typeface="+mn-ea"/>
                <a:cs typeface="+mn-cs"/>
              </a:defRPr>
            </a:pPr>
            <a:endParaRPr lang="en-US" dirty="0">
              <a:latin typeface="Algerian" pitchFamily="82" charset="0"/>
            </a:endParaRPr>
          </a:p>
        </c:rich>
      </c:tx>
      <c:overlay val="0"/>
      <c:spPr>
        <a:noFill/>
        <a:ln>
          <a:noFill/>
        </a:ln>
        <a:effectLst/>
      </c:sp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EKSU ACCREDITATION STATUS</c:v>
                </c:pt>
              </c:strCache>
            </c:strRef>
          </c:tx>
          <c:dPt>
            <c:idx val="0"/>
            <c:bubble3D val="0"/>
            <c:spPr>
              <a:solidFill>
                <a:schemeClr val="accent1"/>
              </a:solidFill>
              <a:ln w="25400">
                <a:solidFill>
                  <a:schemeClr val="lt1"/>
                </a:solidFill>
              </a:ln>
              <a:effectLst/>
              <a:sp3d contourW="25400">
                <a:contourClr>
                  <a:schemeClr val="lt1"/>
                </a:contourClr>
              </a:sp3d>
            </c:spPr>
          </c:dPt>
          <c:dPt>
            <c:idx val="1"/>
            <c:bubble3D val="0"/>
            <c:spPr>
              <a:solidFill>
                <a:schemeClr val="accent2"/>
              </a:solidFill>
              <a:ln w="25400">
                <a:solidFill>
                  <a:schemeClr val="lt1"/>
                </a:solidFill>
              </a:ln>
              <a:effectLst/>
              <a:sp3d contourW="25400">
                <a:contourClr>
                  <a:schemeClr val="lt1"/>
                </a:contourClr>
              </a:sp3d>
            </c:spPr>
          </c:dPt>
          <c:dPt>
            <c:idx val="2"/>
            <c:bubble3D val="0"/>
            <c:spPr>
              <a:solidFill>
                <a:schemeClr val="accent3"/>
              </a:solidFill>
              <a:ln w="25400">
                <a:solidFill>
                  <a:schemeClr val="lt1"/>
                </a:solidFill>
              </a:ln>
              <a:effectLst/>
              <a:sp3d contourW="25400">
                <a:contourClr>
                  <a:schemeClr val="lt1"/>
                </a:contourClr>
              </a:sp3d>
            </c:spPr>
          </c:dPt>
          <c:dPt>
            <c:idx val="3"/>
            <c:bubble3D val="0"/>
            <c:spPr>
              <a:solidFill>
                <a:schemeClr val="accent4"/>
              </a:solidFill>
              <a:ln w="25400">
                <a:solidFill>
                  <a:schemeClr val="lt1"/>
                </a:solidFill>
              </a:ln>
              <a:effectLst/>
              <a:sp3d contourW="25400">
                <a:contourClr>
                  <a:schemeClr val="lt1"/>
                </a:contourClr>
              </a:sp3d>
            </c:spPr>
          </c:dPt>
          <c:cat>
            <c:strRef>
              <c:f>Sheet1!$A$2:$A$5</c:f>
              <c:strCache>
                <c:ptCount val="4"/>
                <c:pt idx="0">
                  <c:v>FULL</c:v>
                </c:pt>
                <c:pt idx="1">
                  <c:v>INTERIM</c:v>
                </c:pt>
                <c:pt idx="2">
                  <c:v>DENIED</c:v>
                </c:pt>
                <c:pt idx="3">
                  <c:v>YET TO BE VISITED</c:v>
                </c:pt>
              </c:strCache>
            </c:strRef>
          </c:cat>
          <c:val>
            <c:numRef>
              <c:f>Sheet1!$B$2:$B$5</c:f>
              <c:numCache>
                <c:formatCode>0.00%</c:formatCode>
                <c:ptCount val="4"/>
                <c:pt idx="0">
                  <c:v>0.76800000000000013</c:v>
                </c:pt>
                <c:pt idx="1">
                  <c:v>0.15900000000000003</c:v>
                </c:pt>
                <c:pt idx="2" formatCode="General">
                  <c:v>0</c:v>
                </c:pt>
                <c:pt idx="3">
                  <c:v>7.3000000000000009E-2</c:v>
                </c:pt>
              </c:numCache>
            </c:numRef>
          </c:val>
        </c:ser>
        <c:dLbls>
          <c:showLegendKey val="0"/>
          <c:showVal val="0"/>
          <c:showCatName val="0"/>
          <c:showSerName val="0"/>
          <c:showPercent val="0"/>
          <c:showBubbleSize val="0"/>
          <c:showLeaderLines val="0"/>
        </c:dLbls>
      </c:pie3DChart>
      <c:spPr>
        <a:noFill/>
        <a:ln>
          <a:noFill/>
        </a:ln>
        <a:effectLst/>
      </c:spPr>
    </c:plotArea>
    <c:legend>
      <c:legendPos val="t"/>
      <c:overlay val="0"/>
      <c:spPr>
        <a:noFill/>
        <a:ln>
          <a:noFill/>
        </a:ln>
        <a:effectLst/>
      </c:spPr>
      <c:txPr>
        <a:bodyPr rot="0" spcFirstLastPara="1" vertOverflow="ellipsis" vert="horz" wrap="square" anchor="ctr" anchorCtr="1"/>
        <a:lstStyle/>
        <a:p>
          <a:pPr>
            <a:defRPr lang="en-US" sz="1197" b="1" i="0" u="none" strike="noStrike" kern="1200" baseline="0">
              <a:solidFill>
                <a:schemeClr val="tx1">
                  <a:lumMod val="65000"/>
                  <a:lumOff val="35000"/>
                </a:schemeClr>
              </a:solidFill>
              <a:latin typeface="Algerian" pitchFamily="82" charset="0"/>
              <a:ea typeface="+mn-ea"/>
              <a:cs typeface="+mn-cs"/>
            </a:defRPr>
          </a:pPr>
          <a:endParaRPr lang="en-US"/>
        </a:p>
      </c:txPr>
    </c:legend>
    <c:plotVisOnly val="1"/>
    <c:dispBlanksAs val="zero"/>
    <c:showDLblsOverMax val="0"/>
  </c:chart>
  <c:spPr>
    <a:noFill/>
    <a:ln>
      <a:noFill/>
    </a:ln>
    <a:effectLst/>
  </c:spPr>
  <c:txPr>
    <a:bodyPr/>
    <a:lstStyle/>
    <a:p>
      <a:pPr>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4AAD347D-5ACD-4C99-B74B-A9C85AD731AF}" type="datetimeFigureOut">
              <a:rPr lang="en-US" smtClean="0"/>
              <a:pPr/>
              <a:t>2/3/2016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4509A250-FF31-4206-8172-F9D3106AACB1}" type="datetimeFigureOut">
              <a:rPr lang="en-US" smtClean="0"/>
              <a:pPr/>
              <a:t>2/3/2016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pPr/>
              <a:t>2/3/2016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4509A250-FF31-4206-8172-F9D3106AACB1}" type="datetimeFigureOut">
              <a:rPr lang="en-US" smtClean="0"/>
              <a:pPr/>
              <a:t>2/3/2016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4509A250-FF31-4206-8172-F9D3106AACB1}" type="datetimeFigureOut">
              <a:rPr lang="en-US" smtClean="0"/>
              <a:pPr/>
              <a:t>2/3/2016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4509A250-FF31-4206-8172-F9D3106AACB1}" type="datetimeFigureOut">
              <a:rPr lang="en-US" smtClean="0"/>
              <a:pPr/>
              <a:t>2/3/2016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pPr/>
              <a:t>2/3/2016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pPr/>
              <a:t>2/3/2016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pPr/>
              <a:t>2/3/2016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4509A250-FF31-4206-8172-F9D3106AACB1}" type="datetimeFigureOut">
              <a:rPr lang="en-US" smtClean="0"/>
              <a:pPr/>
              <a:t>2/3/2016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4509A250-FF31-4206-8172-F9D3106AACB1}" type="datetimeFigureOut">
              <a:rPr lang="en-US" smtClean="0"/>
              <a:pPr/>
              <a:t>2/3/2016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09A250-FF31-4206-8172-F9D3106AACB1}" type="datetimeFigureOut">
              <a:rPr lang="en-US" smtClean="0"/>
              <a:pPr/>
              <a:t>2/3/2016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02111984F565}"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457325"/>
            <a:ext cx="7772400" cy="1470025"/>
          </a:xfrm>
        </p:spPr>
        <p:txBody>
          <a:bodyPr>
            <a:noAutofit/>
          </a:bodyPr>
          <a:lstStyle/>
          <a:p>
            <a:pPr algn="ctr"/>
            <a:r>
              <a:rPr lang="en-GB" sz="2400" dirty="0" smtClean="0">
                <a:latin typeface="Eras Bold ITC" pitchFamily="34" charset="0"/>
              </a:rPr>
              <a:t>ACADEMIC PROGRAMMES VIABILITY REGARDING TO ACCREDITATION STATUS AND VALID STATISTICAL DATA: CHALLENGES AND WAY FORWARD.</a:t>
            </a:r>
            <a:endParaRPr lang="en-GB" sz="2400" dirty="0">
              <a:latin typeface="Eras Bold ITC" pitchFamily="34" charset="0"/>
            </a:endParaRPr>
          </a:p>
        </p:txBody>
      </p:sp>
      <p:sp>
        <p:nvSpPr>
          <p:cNvPr id="4" name="Subtitle 3"/>
          <p:cNvSpPr>
            <a:spLocks noGrp="1"/>
          </p:cNvSpPr>
          <p:nvPr>
            <p:ph type="subTitle" idx="1"/>
          </p:nvPr>
        </p:nvSpPr>
        <p:spPr/>
        <p:txBody>
          <a:bodyPr>
            <a:normAutofit fontScale="62500" lnSpcReduction="20000"/>
          </a:bodyPr>
          <a:lstStyle/>
          <a:p>
            <a:r>
              <a:rPr lang="en-GB" dirty="0" smtClean="0">
                <a:solidFill>
                  <a:schemeClr val="tx1"/>
                </a:solidFill>
              </a:rPr>
              <a:t>BY</a:t>
            </a:r>
          </a:p>
          <a:p>
            <a:r>
              <a:rPr lang="en-US" b="1" dirty="0">
                <a:solidFill>
                  <a:schemeClr val="tx1"/>
                </a:solidFill>
              </a:rPr>
              <a:t>MR. OGUNNIYI OLASANMI </a:t>
            </a:r>
            <a:endParaRPr lang="en-US" b="1" dirty="0" smtClean="0">
              <a:solidFill>
                <a:schemeClr val="tx1"/>
              </a:solidFill>
            </a:endParaRPr>
          </a:p>
          <a:p>
            <a:pPr>
              <a:spcBef>
                <a:spcPts val="0"/>
              </a:spcBef>
            </a:pPr>
            <a:r>
              <a:rPr lang="en-US" dirty="0" smtClean="0">
                <a:solidFill>
                  <a:schemeClr val="tx1"/>
                </a:solidFill>
              </a:rPr>
              <a:t>Deputy </a:t>
            </a:r>
            <a:r>
              <a:rPr lang="en-US" smtClean="0">
                <a:solidFill>
                  <a:schemeClr val="tx1"/>
                </a:solidFill>
              </a:rPr>
              <a:t>Director of </a:t>
            </a:r>
            <a:r>
              <a:rPr lang="en-US" dirty="0" smtClean="0">
                <a:solidFill>
                  <a:schemeClr val="tx1"/>
                </a:solidFill>
              </a:rPr>
              <a:t>Academic Planning</a:t>
            </a:r>
          </a:p>
          <a:p>
            <a:pPr>
              <a:spcBef>
                <a:spcPts val="0"/>
              </a:spcBef>
            </a:pPr>
            <a:endParaRPr lang="en-US" dirty="0" smtClean="0">
              <a:solidFill>
                <a:schemeClr val="tx1"/>
              </a:solidFill>
            </a:endParaRPr>
          </a:p>
          <a:p>
            <a:pPr>
              <a:spcBef>
                <a:spcPts val="0"/>
              </a:spcBef>
            </a:pPr>
            <a:r>
              <a:rPr lang="en-US" dirty="0" smtClean="0">
                <a:solidFill>
                  <a:schemeClr val="tx1"/>
                </a:solidFill>
              </a:rPr>
              <a:t>A Paper Presented at the 1</a:t>
            </a:r>
            <a:r>
              <a:rPr lang="en-US" baseline="30000" dirty="0" smtClean="0">
                <a:solidFill>
                  <a:schemeClr val="tx1"/>
                </a:solidFill>
              </a:rPr>
              <a:t>ST</a:t>
            </a:r>
            <a:r>
              <a:rPr lang="en-US" dirty="0" smtClean="0">
                <a:solidFill>
                  <a:schemeClr val="tx1"/>
                </a:solidFill>
              </a:rPr>
              <a:t> Ekiti State University Academic Summit holding on Thursday, 4</a:t>
            </a:r>
            <a:r>
              <a:rPr lang="en-US" baseline="30000" dirty="0" smtClean="0">
                <a:solidFill>
                  <a:schemeClr val="tx1"/>
                </a:solidFill>
              </a:rPr>
              <a:t>th</a:t>
            </a:r>
            <a:r>
              <a:rPr lang="en-US" dirty="0" smtClean="0">
                <a:solidFill>
                  <a:schemeClr val="tx1"/>
                </a:solidFill>
              </a:rPr>
              <a:t> February, 2016</a:t>
            </a:r>
            <a:endParaRPr lang="en-GB" dirty="0">
              <a:solidFill>
                <a:schemeClr val="tx1"/>
              </a:solidFill>
            </a:endParaRPr>
          </a:p>
        </p:txBody>
      </p:sp>
    </p:spTree>
  </p:cSld>
  <p:clrMapOvr>
    <a:masterClrMapping/>
  </p:clrMapOvr>
  <p:transition>
    <p:rand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sz="3600" dirty="0">
                <a:latin typeface="Algerian" pitchFamily="82" charset="0"/>
              </a:rPr>
              <a:t>INTRODUCTION</a:t>
            </a:r>
          </a:p>
        </p:txBody>
      </p:sp>
      <p:sp>
        <p:nvSpPr>
          <p:cNvPr id="4" name="Text Placeholder 3"/>
          <p:cNvSpPr>
            <a:spLocks noGrp="1"/>
          </p:cNvSpPr>
          <p:nvPr>
            <p:ph idx="1"/>
          </p:nvPr>
        </p:nvSpPr>
        <p:spPr/>
        <p:txBody>
          <a:bodyPr>
            <a:noAutofit/>
          </a:bodyPr>
          <a:lstStyle/>
          <a:p>
            <a:pPr marL="214313" indent="-214313" algn="just">
              <a:buFont typeface="Wingdings" panose="05000000000000000000" pitchFamily="2" charset="2"/>
              <a:buChar char="q"/>
            </a:pPr>
            <a:r>
              <a:rPr lang="en-US" sz="2200" dirty="0">
                <a:latin typeface="Arial" pitchFamily="34" charset="0"/>
                <a:cs typeface="Arial" pitchFamily="34" charset="0"/>
              </a:rPr>
              <a:t>University Education is crucial to the production of a critical mass of human capital that will turn the fortunes of a country around. As such, its quality needs to be guided and continuously improved to ensure that it is well equipped to pass the viability test to be able to perform its fundamental and social functions and respond effectively and efficiently to societal needs and aspiration</a:t>
            </a:r>
            <a:r>
              <a:rPr lang="en-US" sz="2200" dirty="0" smtClean="0">
                <a:latin typeface="Arial" pitchFamily="34" charset="0"/>
                <a:cs typeface="Arial" pitchFamily="34" charset="0"/>
              </a:rPr>
              <a:t>.</a:t>
            </a:r>
            <a:endParaRPr lang="en-US" sz="2200" dirty="0">
              <a:latin typeface="Arial" pitchFamily="34" charset="0"/>
              <a:cs typeface="Arial" pitchFamily="34" charset="0"/>
            </a:endParaRPr>
          </a:p>
          <a:p>
            <a:pPr marL="214313" indent="-214313" algn="just">
              <a:buFont typeface="Wingdings" panose="05000000000000000000" pitchFamily="2" charset="2"/>
              <a:buChar char="q"/>
            </a:pPr>
            <a:r>
              <a:rPr lang="en-US" sz="2200" dirty="0">
                <a:latin typeface="Arial" pitchFamily="34" charset="0"/>
                <a:cs typeface="Arial" pitchFamily="34" charset="0"/>
              </a:rPr>
              <a:t>The National Universities Commission (NUC) as the regulatory agency for University education in Nigeria has among its mandates to carry out viability test on academic </a:t>
            </a:r>
            <a:r>
              <a:rPr lang="en-US" sz="2200" dirty="0" err="1">
                <a:latin typeface="Arial" pitchFamily="34" charset="0"/>
                <a:cs typeface="Arial" pitchFamily="34" charset="0"/>
              </a:rPr>
              <a:t>programmes</a:t>
            </a:r>
            <a:r>
              <a:rPr lang="en-US" sz="2200" dirty="0">
                <a:latin typeface="Arial" pitchFamily="34" charset="0"/>
                <a:cs typeface="Arial" pitchFamily="34" charset="0"/>
              </a:rPr>
              <a:t> in Nigerian Universities through what is known as PROGRAMME ACCREDITATION.</a:t>
            </a:r>
          </a:p>
          <a:p>
            <a:pPr marL="214313" indent="-214313" algn="just">
              <a:buFont typeface="Wingdings" panose="05000000000000000000" pitchFamily="2" charset="2"/>
              <a:buChar char="q"/>
            </a:pPr>
            <a:endParaRPr lang="en-GB" sz="2200" dirty="0">
              <a:latin typeface="Arial" pitchFamily="34" charset="0"/>
              <a:cs typeface="Arial" pitchFamily="34" charset="0"/>
            </a:endParaRPr>
          </a:p>
        </p:txBody>
      </p:sp>
    </p:spTree>
    <p:extLst>
      <p:ext uri="{BB962C8B-B14F-4D97-AF65-F5344CB8AC3E}">
        <p14:creationId xmlns:p14="http://schemas.microsoft.com/office/powerpoint/2010/main" val="2097425066"/>
      </p:ext>
    </p:extLst>
  </p:cSld>
  <p:clrMapOvr>
    <a:masterClrMapping/>
  </p:clrMapOvr>
  <p:transition>
    <p:rand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72836" y="2262009"/>
            <a:ext cx="7346372" cy="3139321"/>
          </a:xfrm>
          <a:prstGeom prst="rect">
            <a:avLst/>
          </a:prstGeom>
        </p:spPr>
        <p:txBody>
          <a:bodyPr wrap="square">
            <a:spAutoFit/>
          </a:bodyPr>
          <a:lstStyle/>
          <a:p>
            <a:pPr marL="342900" indent="-342900">
              <a:buFont typeface="Wingdings" panose="05000000000000000000" pitchFamily="2" charset="2"/>
              <a:buChar char="q"/>
            </a:pPr>
            <a:r>
              <a:rPr lang="en-US" sz="2400" dirty="0">
                <a:latin typeface="Times New Roman" panose="02020603050405020304" pitchFamily="18" charset="0"/>
              </a:rPr>
              <a:t>RESOURCE ASSESSMENT AND VERIFICATION</a:t>
            </a:r>
          </a:p>
          <a:p>
            <a:pPr marL="685800" lvl="1" indent="-342900">
              <a:buFont typeface="Wingdings" panose="05000000000000000000" pitchFamily="2" charset="2"/>
              <a:buChar char="ü"/>
            </a:pPr>
            <a:r>
              <a:rPr lang="en-US" sz="2400" dirty="0">
                <a:latin typeface="Times New Roman" panose="02020603050405020304" pitchFamily="18" charset="0"/>
              </a:rPr>
              <a:t>First Viability test for every </a:t>
            </a:r>
            <a:r>
              <a:rPr lang="en-US" sz="2400" dirty="0" err="1">
                <a:latin typeface="Times New Roman" panose="02020603050405020304" pitchFamily="18" charset="0"/>
              </a:rPr>
              <a:t>p</a:t>
            </a:r>
            <a:r>
              <a:rPr lang="en-US" sz="2400" dirty="0" err="1" smtClean="0">
                <a:latin typeface="Times New Roman" panose="02020603050405020304" pitchFamily="18" charset="0"/>
              </a:rPr>
              <a:t>rogramme</a:t>
            </a:r>
            <a:r>
              <a:rPr lang="en-US" sz="2400" dirty="0" smtClean="0">
                <a:latin typeface="Times New Roman" panose="02020603050405020304" pitchFamily="18" charset="0"/>
              </a:rPr>
              <a:t> </a:t>
            </a:r>
            <a:r>
              <a:rPr lang="en-US" sz="2400" dirty="0">
                <a:latin typeface="Times New Roman" panose="02020603050405020304" pitchFamily="18" charset="0"/>
              </a:rPr>
              <a:t>introduced by any institution</a:t>
            </a:r>
          </a:p>
          <a:p>
            <a:pPr marL="342900" indent="-342900">
              <a:buFont typeface="Wingdings" panose="05000000000000000000" pitchFamily="2" charset="2"/>
              <a:buChar char="q"/>
            </a:pPr>
            <a:r>
              <a:rPr lang="en-US" sz="2400" dirty="0">
                <a:latin typeface="Times New Roman" panose="02020603050405020304" pitchFamily="18" charset="0"/>
              </a:rPr>
              <a:t>PROGRAMME ACCREDITATION</a:t>
            </a:r>
          </a:p>
          <a:p>
            <a:pPr marL="342900" indent="-342900">
              <a:buFont typeface="Wingdings" panose="05000000000000000000" pitchFamily="2" charset="2"/>
              <a:buChar char="q"/>
            </a:pPr>
            <a:endParaRPr lang="en-US" sz="2400" dirty="0">
              <a:latin typeface="Times New Roman" panose="02020603050405020304" pitchFamily="18" charset="0"/>
            </a:endParaRPr>
          </a:p>
          <a:p>
            <a:pPr marL="342900" indent="-342900">
              <a:buFont typeface="Wingdings" panose="05000000000000000000" pitchFamily="2" charset="2"/>
              <a:buChar char="q"/>
            </a:pPr>
            <a:r>
              <a:rPr lang="en-US" sz="2400" dirty="0">
                <a:latin typeface="Times New Roman" panose="02020603050405020304" pitchFamily="18" charset="0"/>
              </a:rPr>
              <a:t>INSTITUTIONAL ACCREDITATION</a:t>
            </a:r>
          </a:p>
          <a:p>
            <a:pPr marL="342900" indent="-342900">
              <a:buFont typeface="Wingdings" panose="05000000000000000000" pitchFamily="2" charset="2"/>
              <a:buChar char="q"/>
            </a:pPr>
            <a:endParaRPr lang="en-US" sz="1350" dirty="0">
              <a:latin typeface="Times New Roman" panose="02020603050405020304" pitchFamily="18" charset="0"/>
            </a:endParaRPr>
          </a:p>
          <a:p>
            <a:endParaRPr lang="en-US" sz="1350" dirty="0">
              <a:latin typeface="Times New Roman" panose="02020603050405020304" pitchFamily="18" charset="0"/>
            </a:endParaRPr>
          </a:p>
          <a:p>
            <a:endParaRPr lang="en-US" sz="1350" dirty="0">
              <a:latin typeface="Times New Roman" panose="02020603050405020304" pitchFamily="18" charset="0"/>
            </a:endParaRPr>
          </a:p>
          <a:p>
            <a:endParaRPr lang="en-GB" sz="1350" dirty="0"/>
          </a:p>
        </p:txBody>
      </p:sp>
      <p:sp>
        <p:nvSpPr>
          <p:cNvPr id="6" name="Title 1"/>
          <p:cNvSpPr>
            <a:spLocks noGrp="1"/>
          </p:cNvSpPr>
          <p:nvPr>
            <p:ph type="title"/>
          </p:nvPr>
        </p:nvSpPr>
        <p:spPr>
          <a:xfrm>
            <a:off x="932602" y="854941"/>
            <a:ext cx="6802276" cy="716973"/>
          </a:xfrm>
        </p:spPr>
        <p:txBody>
          <a:bodyPr/>
          <a:lstStyle/>
          <a:p>
            <a:pPr algn="ctr"/>
            <a:r>
              <a:rPr lang="en-GB" sz="3600" dirty="0">
                <a:latin typeface="Algerian" pitchFamily="82" charset="0"/>
              </a:rPr>
              <a:t>TYPES OF VIABILITY TEST</a:t>
            </a:r>
          </a:p>
        </p:txBody>
      </p:sp>
    </p:spTree>
    <p:extLst>
      <p:ext uri="{BB962C8B-B14F-4D97-AF65-F5344CB8AC3E}">
        <p14:creationId xmlns:p14="http://schemas.microsoft.com/office/powerpoint/2010/main" val="631397378"/>
      </p:ext>
    </p:extLst>
  </p:cSld>
  <p:clrMapOvr>
    <a:masterClrMapping/>
  </p:clrMapOvr>
  <p:transition>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pPr algn="ctr"/>
            <a:r>
              <a:rPr lang="en-GB" sz="3600" dirty="0" smtClean="0">
                <a:latin typeface="Algerian" pitchFamily="82" charset="0"/>
              </a:rPr>
              <a:t>What is ACCREDITATION</a:t>
            </a:r>
            <a:endParaRPr lang="en-GB" sz="3600" dirty="0">
              <a:latin typeface="Algerian" pitchFamily="82" charset="0"/>
            </a:endParaRPr>
          </a:p>
        </p:txBody>
      </p:sp>
      <p:sp>
        <p:nvSpPr>
          <p:cNvPr id="8" name="Content Placeholder 7"/>
          <p:cNvSpPr>
            <a:spLocks noGrp="1"/>
          </p:cNvSpPr>
          <p:nvPr>
            <p:ph idx="1"/>
          </p:nvPr>
        </p:nvSpPr>
        <p:spPr/>
        <p:txBody>
          <a:bodyPr/>
          <a:lstStyle/>
          <a:p>
            <a:pPr marL="0" indent="0" algn="just">
              <a:buNone/>
            </a:pPr>
            <a:r>
              <a:rPr lang="en-US" dirty="0" smtClean="0"/>
              <a:t>The term accreditation in this context is used to connote a system for recognizing Universities and </a:t>
            </a:r>
            <a:r>
              <a:rPr lang="en-US" dirty="0" err="1" smtClean="0"/>
              <a:t>Programme</a:t>
            </a:r>
            <a:r>
              <a:rPr lang="en-US" dirty="0" smtClean="0"/>
              <a:t> offered for a level of performance, integrity and quality which entitles them to the confidence of the educational community, the public they serve and the employment of </a:t>
            </a:r>
            <a:r>
              <a:rPr lang="en-US" dirty="0" err="1" smtClean="0"/>
              <a:t>labour</a:t>
            </a:r>
            <a:r>
              <a:rPr lang="en-US" dirty="0" smtClean="0"/>
              <a:t> (NUC 1989).</a:t>
            </a:r>
            <a:endParaRPr lang="en-GB" sz="1800" dirty="0" smtClean="0"/>
          </a:p>
        </p:txBody>
      </p:sp>
    </p:spTree>
    <p:extLst>
      <p:ext uri="{BB962C8B-B14F-4D97-AF65-F5344CB8AC3E}">
        <p14:creationId xmlns:p14="http://schemas.microsoft.com/office/powerpoint/2010/main" val="360034091"/>
      </p:ext>
    </p:extLst>
  </p:cSld>
  <p:clrMapOvr>
    <a:masterClrMapping/>
  </p:clrMapOvr>
  <p:transition>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normAutofit fontScale="90000"/>
          </a:bodyPr>
          <a:lstStyle/>
          <a:p>
            <a:r>
              <a:rPr lang="en-GB" sz="3600" dirty="0">
                <a:latin typeface="Algerian" pitchFamily="82" charset="0"/>
              </a:rPr>
              <a:t>Programme ACCREDITATION PARAMETERS</a:t>
            </a:r>
          </a:p>
        </p:txBody>
      </p:sp>
      <p:sp>
        <p:nvSpPr>
          <p:cNvPr id="7" name="Content Placeholder 6"/>
          <p:cNvSpPr>
            <a:spLocks noGrp="1"/>
          </p:cNvSpPr>
          <p:nvPr>
            <p:ph idx="1"/>
          </p:nvPr>
        </p:nvSpPr>
        <p:spPr/>
        <p:txBody>
          <a:bodyPr/>
          <a:lstStyle/>
          <a:p>
            <a:pPr marL="466725" indent="-466725" algn="just">
              <a:buFont typeface="Wingdings" panose="05000000000000000000" pitchFamily="2" charset="2"/>
              <a:buChar char="q"/>
            </a:pPr>
            <a:r>
              <a:rPr lang="en-GB" sz="2400" b="1" dirty="0" smtClean="0">
                <a:latin typeface="Algerian" pitchFamily="82" charset="0"/>
              </a:rPr>
              <a:t>ACADEMIC CONTENT</a:t>
            </a:r>
          </a:p>
          <a:p>
            <a:pPr marL="557213" lvl="1" indent="-214313" algn="just">
              <a:buFont typeface="Wingdings" panose="05000000000000000000" pitchFamily="2" charset="2"/>
              <a:buChar char="Ø"/>
            </a:pPr>
            <a:r>
              <a:rPr lang="en-GB" sz="2400" dirty="0" smtClean="0"/>
              <a:t>	</a:t>
            </a:r>
            <a:r>
              <a:rPr lang="en-US" sz="2400" dirty="0" smtClean="0">
                <a:latin typeface="Arial" pitchFamily="34" charset="0"/>
                <a:cs typeface="Arial" pitchFamily="34" charset="0"/>
              </a:rPr>
              <a:t>Philosophy and objectives of </a:t>
            </a:r>
            <a:r>
              <a:rPr lang="en-US" sz="2400" dirty="0" err="1" smtClean="0">
                <a:latin typeface="Arial" pitchFamily="34" charset="0"/>
                <a:cs typeface="Arial" pitchFamily="34" charset="0"/>
              </a:rPr>
              <a:t>programmes</a:t>
            </a:r>
            <a:r>
              <a:rPr lang="en-US" sz="2400" dirty="0" smtClean="0">
                <a:latin typeface="Arial" pitchFamily="34" charset="0"/>
                <a:cs typeface="Arial" pitchFamily="34" charset="0"/>
              </a:rPr>
              <a:t>.</a:t>
            </a:r>
          </a:p>
          <a:p>
            <a:pPr marL="557213" lvl="1" indent="-214313" algn="just">
              <a:buFont typeface="Wingdings" panose="05000000000000000000" pitchFamily="2" charset="2"/>
              <a:buChar char="Ø"/>
            </a:pPr>
            <a:r>
              <a:rPr lang="en-US" sz="2400" dirty="0" smtClean="0">
                <a:latin typeface="Arial" pitchFamily="34" charset="0"/>
                <a:cs typeface="Arial" pitchFamily="34" charset="0"/>
              </a:rPr>
              <a:t>   	Curriculum of the </a:t>
            </a:r>
            <a:r>
              <a:rPr lang="en-US" sz="2400" dirty="0" err="1" smtClean="0">
                <a:latin typeface="Arial" pitchFamily="34" charset="0"/>
                <a:cs typeface="Arial" pitchFamily="34" charset="0"/>
              </a:rPr>
              <a:t>programme</a:t>
            </a:r>
            <a:endParaRPr lang="en-US" sz="2400" dirty="0" smtClean="0">
              <a:latin typeface="Arial" pitchFamily="34" charset="0"/>
              <a:cs typeface="Arial" pitchFamily="34" charset="0"/>
            </a:endParaRPr>
          </a:p>
          <a:p>
            <a:pPr marL="557213" lvl="1" indent="-214313" algn="just">
              <a:buFont typeface="Wingdings" panose="05000000000000000000" pitchFamily="2" charset="2"/>
              <a:buChar char="Ø"/>
            </a:pPr>
            <a:r>
              <a:rPr lang="en-US" sz="2400" dirty="0" smtClean="0">
                <a:latin typeface="Arial" pitchFamily="34" charset="0"/>
                <a:cs typeface="Arial" pitchFamily="34" charset="0"/>
              </a:rPr>
              <a:t>   	Strict Adherence to Admission Requirements</a:t>
            </a:r>
          </a:p>
          <a:p>
            <a:pPr marL="557213" lvl="1" indent="-214313" algn="just">
              <a:buFont typeface="Wingdings" panose="05000000000000000000" pitchFamily="2" charset="2"/>
              <a:buChar char="Ø"/>
            </a:pPr>
            <a:r>
              <a:rPr lang="en-US" sz="2400" dirty="0" smtClean="0">
                <a:latin typeface="Arial" pitchFamily="34" charset="0"/>
                <a:cs typeface="Arial" pitchFamily="34" charset="0"/>
              </a:rPr>
              <a:t>	Academic Regulations (well publicized)</a:t>
            </a:r>
            <a:endParaRPr lang="en-GB" sz="2400" dirty="0" smtClean="0">
              <a:latin typeface="Arial" pitchFamily="34" charset="0"/>
              <a:cs typeface="Arial" pitchFamily="34" charset="0"/>
            </a:endParaRPr>
          </a:p>
          <a:p>
            <a:pPr marL="557213" lvl="1" indent="-214313" algn="just">
              <a:buFont typeface="Wingdings" panose="05000000000000000000" pitchFamily="2" charset="2"/>
              <a:buChar char="Ø"/>
            </a:pPr>
            <a:r>
              <a:rPr lang="en-US" sz="2400" dirty="0" smtClean="0">
                <a:latin typeface="Arial" pitchFamily="34" charset="0"/>
                <a:cs typeface="Arial" pitchFamily="34" charset="0"/>
              </a:rPr>
              <a:t>	Standard of Test and Examinations: The test 	and     	examination must be of good standard 	and 	adequately cover the curriculum</a:t>
            </a:r>
            <a:endParaRPr lang="en-GB" sz="2400" dirty="0" smtClean="0">
              <a:latin typeface="Arial" pitchFamily="34" charset="0"/>
              <a:cs typeface="Arial" pitchFamily="34" charset="0"/>
            </a:endParaRPr>
          </a:p>
          <a:p>
            <a:pPr marL="557213" lvl="1" indent="-214313" algn="just">
              <a:buFont typeface="Wingdings" panose="05000000000000000000" pitchFamily="2" charset="2"/>
              <a:buChar char="Ø"/>
            </a:pPr>
            <a:r>
              <a:rPr lang="en-US" sz="2400" dirty="0" smtClean="0">
                <a:latin typeface="Arial" pitchFamily="34" charset="0"/>
                <a:cs typeface="Arial" pitchFamily="34" charset="0"/>
              </a:rPr>
              <a:t>	Evaluation of students’ work</a:t>
            </a:r>
          </a:p>
          <a:p>
            <a:pPr marL="557213" lvl="1" indent="-214313" algn="just">
              <a:buFont typeface="Wingdings" panose="05000000000000000000" pitchFamily="2" charset="2"/>
              <a:buChar char="Ø"/>
            </a:pPr>
            <a:r>
              <a:rPr lang="en-US" sz="2400" dirty="0" smtClean="0">
                <a:latin typeface="Arial" pitchFamily="34" charset="0"/>
                <a:cs typeface="Arial" pitchFamily="34" charset="0"/>
              </a:rPr>
              <a:t>	Practical Work/Degree Project</a:t>
            </a:r>
            <a:endParaRPr lang="en-GB" sz="2400" dirty="0" smtClean="0">
              <a:latin typeface="Arial" pitchFamily="34" charset="0"/>
              <a:cs typeface="Arial" pitchFamily="34" charset="0"/>
            </a:endParaRPr>
          </a:p>
        </p:txBody>
      </p:sp>
    </p:spTree>
    <p:extLst>
      <p:ext uri="{BB962C8B-B14F-4D97-AF65-F5344CB8AC3E}">
        <p14:creationId xmlns:p14="http://schemas.microsoft.com/office/powerpoint/2010/main" val="3769943065"/>
      </p:ext>
    </p:extLst>
  </p:cSld>
  <p:clrMapOvr>
    <a:masterClrMapping/>
  </p:clrMapOvr>
  <p:transition>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normAutofit/>
          </a:bodyPr>
          <a:lstStyle/>
          <a:p>
            <a:pPr algn="ctr"/>
            <a:r>
              <a:rPr lang="en-GB" sz="2800" dirty="0" smtClean="0">
                <a:latin typeface="Algerian" pitchFamily="82" charset="0"/>
              </a:rPr>
              <a:t>Programme ACCREDITATION </a:t>
            </a:r>
            <a:r>
              <a:rPr lang="en-GB" sz="2800" dirty="0">
                <a:latin typeface="Algerian" pitchFamily="82" charset="0"/>
              </a:rPr>
              <a:t>PARAMETERS</a:t>
            </a:r>
          </a:p>
        </p:txBody>
      </p:sp>
      <p:sp>
        <p:nvSpPr>
          <p:cNvPr id="7" name="Content Placeholder 6"/>
          <p:cNvSpPr>
            <a:spLocks noGrp="1"/>
          </p:cNvSpPr>
          <p:nvPr>
            <p:ph idx="1"/>
          </p:nvPr>
        </p:nvSpPr>
        <p:spPr/>
        <p:txBody>
          <a:bodyPr>
            <a:normAutofit fontScale="70000" lnSpcReduction="20000"/>
          </a:bodyPr>
          <a:lstStyle/>
          <a:p>
            <a:pPr marL="600075" indent="-600075">
              <a:buFont typeface="Wingdings" panose="05000000000000000000" pitchFamily="2" charset="2"/>
              <a:buChar char="q"/>
            </a:pPr>
            <a:r>
              <a:rPr lang="en-GB" sz="2600" b="1" dirty="0" smtClean="0">
                <a:latin typeface="Arial" pitchFamily="34" charset="0"/>
                <a:cs typeface="Arial" pitchFamily="34" charset="0"/>
              </a:rPr>
              <a:t>STAFFING</a:t>
            </a:r>
            <a:endParaRPr lang="en-GB" sz="2000" b="1" dirty="0" smtClean="0">
              <a:latin typeface="Arial" pitchFamily="34" charset="0"/>
              <a:cs typeface="Arial" pitchFamily="34" charset="0"/>
            </a:endParaRPr>
          </a:p>
          <a:p>
            <a:pPr marL="900113" lvl="2" indent="-214313">
              <a:buFont typeface="Wingdings" panose="05000000000000000000" pitchFamily="2" charset="2"/>
              <a:buChar char="q"/>
            </a:pPr>
            <a:r>
              <a:rPr lang="en-GB" b="1" dirty="0" smtClean="0">
                <a:latin typeface="Arial" pitchFamily="34" charset="0"/>
                <a:cs typeface="Arial" pitchFamily="34" charset="0"/>
              </a:rPr>
              <a:t>STAFF MIX RATIO</a:t>
            </a:r>
          </a:p>
          <a:p>
            <a:pPr lvl="1"/>
            <a:r>
              <a:rPr lang="en-GB" dirty="0" smtClean="0">
                <a:latin typeface="Arial" pitchFamily="34" charset="0"/>
                <a:cs typeface="Arial" pitchFamily="34" charset="0"/>
              </a:rPr>
              <a:t>	Professor/Reader :Senior Lecturer : Lecturer   </a:t>
            </a:r>
          </a:p>
          <a:p>
            <a:pPr lvl="1">
              <a:buNone/>
            </a:pPr>
            <a:r>
              <a:rPr lang="en-GB" dirty="0">
                <a:latin typeface="Arial" pitchFamily="34" charset="0"/>
                <a:cs typeface="Arial" pitchFamily="34" charset="0"/>
              </a:rPr>
              <a:t>	</a:t>
            </a:r>
            <a:r>
              <a:rPr lang="en-GB" dirty="0" smtClean="0">
                <a:latin typeface="Arial" pitchFamily="34" charset="0"/>
                <a:cs typeface="Arial" pitchFamily="34" charset="0"/>
              </a:rPr>
              <a:t>		= 20</a:t>
            </a:r>
            <a:r>
              <a:rPr lang="en-GB" dirty="0">
                <a:latin typeface="Arial" pitchFamily="34" charset="0"/>
                <a:cs typeface="Arial" pitchFamily="34" charset="0"/>
              </a:rPr>
              <a:t>	</a:t>
            </a:r>
            <a:r>
              <a:rPr lang="en-GB" dirty="0" smtClean="0">
                <a:latin typeface="Arial" pitchFamily="34" charset="0"/>
                <a:cs typeface="Arial" pitchFamily="34" charset="0"/>
              </a:rPr>
              <a:t>:	35	:	45</a:t>
            </a:r>
          </a:p>
          <a:p>
            <a:pPr marL="900113" lvl="2" indent="-214313">
              <a:buFont typeface="Wingdings" panose="05000000000000000000" pitchFamily="2" charset="2"/>
              <a:buChar char="q"/>
            </a:pPr>
            <a:r>
              <a:rPr lang="en-GB" b="1" dirty="0" smtClean="0">
                <a:latin typeface="Arial" pitchFamily="34" charset="0"/>
                <a:cs typeface="Arial" pitchFamily="34" charset="0"/>
              </a:rPr>
              <a:t>STAFF/STUDENT RATIO</a:t>
            </a:r>
          </a:p>
          <a:p>
            <a:pPr>
              <a:buNone/>
            </a:pPr>
            <a:r>
              <a:rPr lang="en-US" dirty="0" smtClean="0">
                <a:latin typeface="Arial" pitchFamily="34" charset="0"/>
                <a:cs typeface="Arial" pitchFamily="34" charset="0"/>
              </a:rPr>
              <a:t>		Administration/Management	1:30</a:t>
            </a:r>
            <a:endParaRPr lang="en-GB" dirty="0" smtClean="0">
              <a:latin typeface="Arial" pitchFamily="34" charset="0"/>
              <a:cs typeface="Arial" pitchFamily="34" charset="0"/>
            </a:endParaRPr>
          </a:p>
          <a:p>
            <a:pPr>
              <a:buNone/>
            </a:pPr>
            <a:r>
              <a:rPr lang="en-US" dirty="0" smtClean="0">
                <a:latin typeface="Arial" pitchFamily="34" charset="0"/>
                <a:cs typeface="Arial" pitchFamily="34" charset="0"/>
              </a:rPr>
              <a:t>		Arts/Humanities		1:30</a:t>
            </a:r>
            <a:endParaRPr lang="en-GB" dirty="0" smtClean="0">
              <a:latin typeface="Arial" pitchFamily="34" charset="0"/>
              <a:cs typeface="Arial" pitchFamily="34" charset="0"/>
            </a:endParaRPr>
          </a:p>
          <a:p>
            <a:pPr>
              <a:buNone/>
            </a:pPr>
            <a:r>
              <a:rPr lang="en-US" dirty="0" smtClean="0">
                <a:latin typeface="Arial" pitchFamily="34" charset="0"/>
                <a:cs typeface="Arial" pitchFamily="34" charset="0"/>
              </a:rPr>
              <a:t>		Social Sciences		1:30</a:t>
            </a:r>
            <a:endParaRPr lang="en-GB" dirty="0" smtClean="0">
              <a:latin typeface="Arial" pitchFamily="34" charset="0"/>
              <a:cs typeface="Arial" pitchFamily="34" charset="0"/>
            </a:endParaRPr>
          </a:p>
          <a:p>
            <a:pPr>
              <a:buNone/>
            </a:pPr>
            <a:r>
              <a:rPr lang="en-US" dirty="0" smtClean="0">
                <a:latin typeface="Arial" pitchFamily="34" charset="0"/>
                <a:cs typeface="Arial" pitchFamily="34" charset="0"/>
              </a:rPr>
              <a:t>	</a:t>
            </a:r>
            <a:r>
              <a:rPr lang="en-US" dirty="0">
                <a:latin typeface="Arial" pitchFamily="34" charset="0"/>
                <a:cs typeface="Arial" pitchFamily="34" charset="0"/>
              </a:rPr>
              <a:t>	</a:t>
            </a:r>
            <a:r>
              <a:rPr lang="en-US" dirty="0" smtClean="0">
                <a:latin typeface="Arial" pitchFamily="34" charset="0"/>
                <a:cs typeface="Arial" pitchFamily="34" charset="0"/>
              </a:rPr>
              <a:t>Law				1:30</a:t>
            </a:r>
            <a:endParaRPr lang="en-GB" dirty="0" smtClean="0">
              <a:latin typeface="Arial" pitchFamily="34" charset="0"/>
              <a:cs typeface="Arial" pitchFamily="34" charset="0"/>
            </a:endParaRPr>
          </a:p>
          <a:p>
            <a:pPr>
              <a:buNone/>
            </a:pPr>
            <a:r>
              <a:rPr lang="en-US" dirty="0" smtClean="0">
                <a:latin typeface="Arial" pitchFamily="34" charset="0"/>
                <a:cs typeface="Arial" pitchFamily="34" charset="0"/>
              </a:rPr>
              <a:t>		Education			1:30</a:t>
            </a:r>
            <a:endParaRPr lang="en-GB" dirty="0" smtClean="0">
              <a:latin typeface="Arial" pitchFamily="34" charset="0"/>
              <a:cs typeface="Arial" pitchFamily="34" charset="0"/>
            </a:endParaRPr>
          </a:p>
          <a:p>
            <a:pPr>
              <a:buNone/>
            </a:pPr>
            <a:r>
              <a:rPr lang="en-US" dirty="0" smtClean="0">
                <a:latin typeface="Arial" pitchFamily="34" charset="0"/>
                <a:cs typeface="Arial" pitchFamily="34" charset="0"/>
              </a:rPr>
              <a:t>		Science			1:20</a:t>
            </a:r>
            <a:endParaRPr lang="en-GB" dirty="0" smtClean="0">
              <a:latin typeface="Arial" pitchFamily="34" charset="0"/>
              <a:cs typeface="Arial" pitchFamily="34" charset="0"/>
            </a:endParaRPr>
          </a:p>
          <a:p>
            <a:pPr>
              <a:buNone/>
            </a:pPr>
            <a:r>
              <a:rPr lang="en-US" dirty="0" smtClean="0">
                <a:latin typeface="Arial" pitchFamily="34" charset="0"/>
                <a:cs typeface="Arial" pitchFamily="34" charset="0"/>
              </a:rPr>
              <a:t>		Agricultural Science		1:15</a:t>
            </a:r>
            <a:endParaRPr lang="en-GB" dirty="0" smtClean="0">
              <a:latin typeface="Arial" pitchFamily="34" charset="0"/>
              <a:cs typeface="Arial" pitchFamily="34" charset="0"/>
            </a:endParaRPr>
          </a:p>
          <a:p>
            <a:pPr>
              <a:buNone/>
            </a:pPr>
            <a:r>
              <a:rPr lang="en-US" dirty="0" smtClean="0">
                <a:latin typeface="Arial" pitchFamily="34" charset="0"/>
                <a:cs typeface="Arial" pitchFamily="34" charset="0"/>
              </a:rPr>
              <a:t>		Engineering			1:15</a:t>
            </a:r>
            <a:endParaRPr lang="en-GB" dirty="0" smtClean="0">
              <a:latin typeface="Arial" pitchFamily="34" charset="0"/>
              <a:cs typeface="Arial" pitchFamily="34" charset="0"/>
            </a:endParaRPr>
          </a:p>
          <a:p>
            <a:pPr>
              <a:buNone/>
            </a:pPr>
            <a:r>
              <a:rPr lang="en-US" dirty="0" smtClean="0">
                <a:latin typeface="Arial" pitchFamily="34" charset="0"/>
                <a:cs typeface="Arial" pitchFamily="34" charset="0"/>
              </a:rPr>
              <a:t>		Medicine			1:10</a:t>
            </a:r>
          </a:p>
        </p:txBody>
      </p:sp>
    </p:spTree>
    <p:extLst>
      <p:ext uri="{BB962C8B-B14F-4D97-AF65-F5344CB8AC3E}">
        <p14:creationId xmlns:p14="http://schemas.microsoft.com/office/powerpoint/2010/main" val="585752224"/>
      </p:ext>
    </p:extLst>
  </p:cSld>
  <p:clrMapOvr>
    <a:masterClrMapping/>
  </p:clrMapOvr>
  <p:transition>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GB" sz="2800" dirty="0">
                <a:latin typeface="Algerian" pitchFamily="82" charset="0"/>
              </a:rPr>
              <a:t>Programme ACCREDITATION </a:t>
            </a:r>
            <a:r>
              <a:rPr lang="en-GB" sz="2800" dirty="0" smtClean="0">
                <a:latin typeface="Algerian" pitchFamily="82" charset="0"/>
              </a:rPr>
              <a:t>PARAMETERS</a:t>
            </a:r>
            <a:endParaRPr lang="en-GB" sz="2800" dirty="0"/>
          </a:p>
        </p:txBody>
      </p:sp>
      <p:sp>
        <p:nvSpPr>
          <p:cNvPr id="6" name="Content Placeholder 5"/>
          <p:cNvSpPr>
            <a:spLocks noGrp="1"/>
          </p:cNvSpPr>
          <p:nvPr>
            <p:ph idx="1"/>
          </p:nvPr>
        </p:nvSpPr>
        <p:spPr/>
        <p:txBody>
          <a:bodyPr/>
          <a:lstStyle/>
          <a:p>
            <a:pPr marL="900113" lvl="2" indent="-214313" defTabSz="723900">
              <a:buFont typeface="Wingdings" panose="05000000000000000000" pitchFamily="2" charset="2"/>
              <a:buChar char="q"/>
            </a:pPr>
            <a:r>
              <a:rPr lang="en-US" b="1" dirty="0">
                <a:latin typeface="Arial" pitchFamily="34" charset="0"/>
                <a:cs typeface="Arial" pitchFamily="34" charset="0"/>
              </a:rPr>
              <a:t> </a:t>
            </a:r>
            <a:r>
              <a:rPr lang="en-US" b="1" dirty="0" smtClean="0">
                <a:latin typeface="Arial" pitchFamily="34" charset="0"/>
                <a:cs typeface="Arial" pitchFamily="34" charset="0"/>
              </a:rPr>
              <a:t>  QUALIFICATIONS OF THE TEACHING STAFF</a:t>
            </a:r>
          </a:p>
          <a:p>
            <a:pPr marL="685800" lvl="2" indent="0" defTabSz="723900">
              <a:buNone/>
            </a:pPr>
            <a:r>
              <a:rPr lang="en-US" b="1" dirty="0">
                <a:latin typeface="Arial" pitchFamily="34" charset="0"/>
                <a:cs typeface="Arial" pitchFamily="34" charset="0"/>
              </a:rPr>
              <a:t>	</a:t>
            </a:r>
            <a:r>
              <a:rPr lang="en-US" b="1" dirty="0" smtClean="0">
                <a:latin typeface="Arial" pitchFamily="34" charset="0"/>
                <a:cs typeface="Arial" pitchFamily="34" charset="0"/>
              </a:rPr>
              <a:t>	</a:t>
            </a:r>
            <a:r>
              <a:rPr lang="en-US" dirty="0" smtClean="0">
                <a:latin typeface="Arial" pitchFamily="34" charset="0"/>
                <a:cs typeface="Arial" pitchFamily="34" charset="0"/>
              </a:rPr>
              <a:t>At Least 70% Should have PHD</a:t>
            </a:r>
            <a:r>
              <a:rPr lang="en-US" b="1" dirty="0" smtClean="0">
                <a:latin typeface="Arial" pitchFamily="34" charset="0"/>
                <a:cs typeface="Arial" pitchFamily="34" charset="0"/>
              </a:rPr>
              <a:t> </a:t>
            </a:r>
          </a:p>
          <a:p>
            <a:pPr marL="900113" lvl="2" indent="-214313" defTabSz="723900">
              <a:buFont typeface="Wingdings" panose="05000000000000000000" pitchFamily="2" charset="2"/>
              <a:buChar char="q"/>
            </a:pPr>
            <a:r>
              <a:rPr lang="en-US" dirty="0" smtClean="0">
                <a:latin typeface="Arial" pitchFamily="34" charset="0"/>
                <a:cs typeface="Arial" pitchFamily="34" charset="0"/>
              </a:rPr>
              <a:t>   </a:t>
            </a:r>
            <a:r>
              <a:rPr lang="en-US" b="1" dirty="0" smtClean="0">
                <a:latin typeface="Arial" pitchFamily="34" charset="0"/>
                <a:cs typeface="Arial" pitchFamily="34" charset="0"/>
              </a:rPr>
              <a:t>NON-TEACHING STAFF</a:t>
            </a:r>
          </a:p>
          <a:p>
            <a:pPr marL="685800" lvl="2" indent="0" defTabSz="723900">
              <a:buNone/>
            </a:pPr>
            <a:r>
              <a:rPr lang="en-US" b="1" dirty="0">
                <a:latin typeface="Arial" pitchFamily="34" charset="0"/>
                <a:cs typeface="Arial" pitchFamily="34" charset="0"/>
              </a:rPr>
              <a:t>	</a:t>
            </a:r>
            <a:r>
              <a:rPr lang="en-US" b="1" dirty="0" smtClean="0">
                <a:latin typeface="Arial" pitchFamily="34" charset="0"/>
                <a:cs typeface="Arial" pitchFamily="34" charset="0"/>
              </a:rPr>
              <a:t>	</a:t>
            </a:r>
            <a:r>
              <a:rPr lang="en-US" dirty="0" smtClean="0">
                <a:latin typeface="Arial" pitchFamily="34" charset="0"/>
                <a:cs typeface="Arial" pitchFamily="34" charset="0"/>
              </a:rPr>
              <a:t>Adequate with respect to the need of 					different </a:t>
            </a:r>
            <a:r>
              <a:rPr lang="en-US" dirty="0" err="1" smtClean="0">
                <a:latin typeface="Arial" pitchFamily="34" charset="0"/>
                <a:cs typeface="Arial" pitchFamily="34" charset="0"/>
              </a:rPr>
              <a:t>programmes</a:t>
            </a:r>
            <a:endParaRPr lang="en-US" dirty="0" smtClean="0">
              <a:latin typeface="Arial" pitchFamily="34" charset="0"/>
              <a:cs typeface="Arial" pitchFamily="34" charset="0"/>
            </a:endParaRPr>
          </a:p>
          <a:p>
            <a:pPr marL="900113" lvl="2" indent="-214313" defTabSz="723900">
              <a:buFont typeface="Wingdings" panose="05000000000000000000" pitchFamily="2" charset="2"/>
              <a:buChar char="q"/>
            </a:pPr>
            <a:r>
              <a:rPr lang="en-US" b="1" dirty="0" smtClean="0">
                <a:latin typeface="Arial" pitchFamily="34" charset="0"/>
                <a:cs typeface="Arial" pitchFamily="34" charset="0"/>
              </a:rPr>
              <a:t>   STAFF DEVELOPMENT PROGRAMME</a:t>
            </a:r>
          </a:p>
          <a:p>
            <a:pPr marL="685800" lvl="2" indent="0" defTabSz="723900">
              <a:buNone/>
            </a:pPr>
            <a:r>
              <a:rPr lang="en-US" b="1" dirty="0" smtClean="0">
                <a:latin typeface="Arial" pitchFamily="34" charset="0"/>
                <a:cs typeface="Arial" pitchFamily="34" charset="0"/>
              </a:rPr>
              <a:t>	</a:t>
            </a:r>
            <a:r>
              <a:rPr lang="en-US" b="1" dirty="0">
                <a:latin typeface="Arial" pitchFamily="34" charset="0"/>
                <a:cs typeface="Arial" pitchFamily="34" charset="0"/>
              </a:rPr>
              <a:t>	</a:t>
            </a:r>
            <a:r>
              <a:rPr lang="en-US" dirty="0" smtClean="0">
                <a:latin typeface="Arial" pitchFamily="34" charset="0"/>
                <a:cs typeface="Arial" pitchFamily="34" charset="0"/>
              </a:rPr>
              <a:t>There must be an evidence of the existence 			of this.</a:t>
            </a:r>
            <a:endParaRPr lang="en-GB"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fontScale="92500" lnSpcReduction="10000"/>
          </a:bodyPr>
          <a:lstStyle/>
          <a:p>
            <a:endParaRPr lang="en-GB" dirty="0" smtClean="0">
              <a:latin typeface="Arial" pitchFamily="34" charset="0"/>
              <a:cs typeface="Arial" pitchFamily="34" charset="0"/>
            </a:endParaRPr>
          </a:p>
          <a:p>
            <a:pPr marL="214313" indent="-214313">
              <a:buFont typeface="Wingdings" panose="05000000000000000000" pitchFamily="2" charset="2"/>
              <a:buChar char="q"/>
            </a:pPr>
            <a:r>
              <a:rPr lang="en-GB" b="1" dirty="0" smtClean="0">
                <a:latin typeface="Arial" pitchFamily="34" charset="0"/>
                <a:cs typeface="Arial" pitchFamily="34" charset="0"/>
              </a:rPr>
              <a:t>PHYSICAL FACILITIES</a:t>
            </a:r>
          </a:p>
          <a:p>
            <a:pPr marL="614363" lvl="1" indent="-214313">
              <a:buFont typeface="Wingdings" panose="05000000000000000000" pitchFamily="2" charset="2"/>
              <a:buChar char="v"/>
            </a:pPr>
            <a:r>
              <a:rPr lang="en-GB" b="1" dirty="0">
                <a:latin typeface="Arial" pitchFamily="34" charset="0"/>
                <a:cs typeface="Arial" pitchFamily="34" charset="0"/>
              </a:rPr>
              <a:t> </a:t>
            </a:r>
            <a:r>
              <a:rPr lang="en-GB" b="1" dirty="0" smtClean="0">
                <a:latin typeface="Arial" pitchFamily="34" charset="0"/>
                <a:cs typeface="Arial" pitchFamily="34" charset="0"/>
              </a:rPr>
              <a:t>  </a:t>
            </a:r>
            <a:r>
              <a:rPr lang="en-US" dirty="0" smtClean="0">
                <a:latin typeface="Arial" pitchFamily="34" charset="0"/>
                <a:cs typeface="Arial" pitchFamily="34" charset="0"/>
              </a:rPr>
              <a:t>Laboratories/Clinics (Well Equipped)</a:t>
            </a:r>
            <a:endParaRPr lang="en-GB" dirty="0" smtClean="0">
              <a:latin typeface="Arial" pitchFamily="34" charset="0"/>
              <a:cs typeface="Arial" pitchFamily="34" charset="0"/>
            </a:endParaRPr>
          </a:p>
          <a:p>
            <a:pPr marL="614363" lvl="1" indent="-214313">
              <a:buFont typeface="Wingdings" panose="05000000000000000000" pitchFamily="2" charset="2"/>
              <a:buChar char="v"/>
            </a:pPr>
            <a:r>
              <a:rPr lang="en-US" dirty="0" smtClean="0">
                <a:latin typeface="Arial" pitchFamily="34" charset="0"/>
                <a:cs typeface="Arial" pitchFamily="34" charset="0"/>
              </a:rPr>
              <a:t>  Adequacy of Office Accommodation</a:t>
            </a:r>
          </a:p>
          <a:p>
            <a:pPr marL="214313" indent="-214313">
              <a:buFont typeface="Wingdings" panose="05000000000000000000" pitchFamily="2" charset="2"/>
              <a:buChar char="q"/>
            </a:pPr>
            <a:r>
              <a:rPr lang="en-US" b="1" dirty="0" smtClean="0">
                <a:latin typeface="Arial" pitchFamily="34" charset="0"/>
                <a:cs typeface="Arial" pitchFamily="34" charset="0"/>
              </a:rPr>
              <a:t>LIBRARY</a:t>
            </a:r>
          </a:p>
          <a:p>
            <a:pPr marL="0" indent="0">
              <a:buNone/>
            </a:pPr>
            <a:r>
              <a:rPr lang="en-US" b="1" dirty="0" smtClean="0">
                <a:latin typeface="Arial" pitchFamily="34" charset="0"/>
                <a:cs typeface="Arial" pitchFamily="34" charset="0"/>
              </a:rPr>
              <a:t>	</a:t>
            </a:r>
            <a:r>
              <a:rPr lang="en-US" dirty="0" smtClean="0">
                <a:latin typeface="Arial" pitchFamily="34" charset="0"/>
                <a:cs typeface="Arial" pitchFamily="34" charset="0"/>
              </a:rPr>
              <a:t>Library holdings must include recent 	works</a:t>
            </a:r>
          </a:p>
          <a:p>
            <a:pPr marL="0" indent="0">
              <a:buNone/>
            </a:pPr>
            <a:r>
              <a:rPr lang="en-US" dirty="0">
                <a:latin typeface="Arial" pitchFamily="34" charset="0"/>
                <a:cs typeface="Arial" pitchFamily="34" charset="0"/>
              </a:rPr>
              <a:t>	</a:t>
            </a:r>
            <a:r>
              <a:rPr lang="en-US" dirty="0" smtClean="0">
                <a:latin typeface="Arial" pitchFamily="34" charset="0"/>
                <a:cs typeface="Arial" pitchFamily="34" charset="0"/>
              </a:rPr>
              <a:t>e-Library is now a </a:t>
            </a:r>
            <a:r>
              <a:rPr lang="en-US" dirty="0" err="1" smtClean="0">
                <a:latin typeface="Arial" pitchFamily="34" charset="0"/>
                <a:cs typeface="Arial" pitchFamily="34" charset="0"/>
              </a:rPr>
              <a:t>neccessity</a:t>
            </a:r>
            <a:endParaRPr lang="en-US" dirty="0" smtClean="0">
              <a:latin typeface="Arial" pitchFamily="34" charset="0"/>
              <a:cs typeface="Arial" pitchFamily="34" charset="0"/>
            </a:endParaRPr>
          </a:p>
          <a:p>
            <a:pPr marL="214313" indent="-214313">
              <a:buFont typeface="Wingdings" panose="05000000000000000000" pitchFamily="2" charset="2"/>
              <a:buChar char="q"/>
            </a:pPr>
            <a:r>
              <a:rPr lang="en-US" b="1" dirty="0" smtClean="0">
                <a:latin typeface="Arial" pitchFamily="34" charset="0"/>
                <a:cs typeface="Arial" pitchFamily="34" charset="0"/>
              </a:rPr>
              <a:t>FUNDING</a:t>
            </a:r>
            <a:endParaRPr lang="en-GB" dirty="0" smtClean="0">
              <a:latin typeface="Arial" pitchFamily="34" charset="0"/>
              <a:cs typeface="Arial" pitchFamily="34" charset="0"/>
            </a:endParaRPr>
          </a:p>
        </p:txBody>
      </p:sp>
      <p:sp>
        <p:nvSpPr>
          <p:cNvPr id="9" name="Title 4"/>
          <p:cNvSpPr>
            <a:spLocks noGrp="1"/>
          </p:cNvSpPr>
          <p:nvPr>
            <p:ph type="title"/>
          </p:nvPr>
        </p:nvSpPr>
        <p:spPr/>
        <p:txBody>
          <a:bodyPr>
            <a:normAutofit/>
          </a:bodyPr>
          <a:lstStyle/>
          <a:p>
            <a:r>
              <a:rPr lang="en-GB" sz="2800" dirty="0">
                <a:latin typeface="Algerian" pitchFamily="82" charset="0"/>
              </a:rPr>
              <a:t>Programme ACCREDITATION PARAMETERS</a:t>
            </a:r>
            <a:endParaRPr lang="en-GB" sz="2800" dirty="0"/>
          </a:p>
        </p:txBody>
      </p:sp>
    </p:spTree>
    <p:extLst>
      <p:ext uri="{BB962C8B-B14F-4D97-AF65-F5344CB8AC3E}">
        <p14:creationId xmlns:p14="http://schemas.microsoft.com/office/powerpoint/2010/main" val="4104180275"/>
      </p:ext>
    </p:extLst>
  </p:cSld>
  <p:clrMapOvr>
    <a:masterClrMapping/>
  </p:clrMapOvr>
  <p:transition>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457200" y="259697"/>
            <a:ext cx="8229600" cy="1143000"/>
          </a:xfrm>
        </p:spPr>
        <p:txBody>
          <a:bodyPr>
            <a:normAutofit/>
          </a:bodyPr>
          <a:lstStyle/>
          <a:p>
            <a:r>
              <a:rPr lang="en-GB" sz="2800" dirty="0">
                <a:latin typeface="Algerian" pitchFamily="82" charset="0"/>
              </a:rPr>
              <a:t>Programme ACCREDITATION </a:t>
            </a:r>
            <a:r>
              <a:rPr lang="en-GB" sz="2800" dirty="0" smtClean="0">
                <a:latin typeface="Algerian" pitchFamily="82" charset="0"/>
              </a:rPr>
              <a:t>RESULTS</a:t>
            </a:r>
            <a:endParaRPr lang="en-GB" sz="2800" dirty="0"/>
          </a:p>
        </p:txBody>
      </p:sp>
      <p:sp>
        <p:nvSpPr>
          <p:cNvPr id="7" name="Content Placeholder 6"/>
          <p:cNvSpPr>
            <a:spLocks noGrp="1"/>
          </p:cNvSpPr>
          <p:nvPr>
            <p:ph idx="1"/>
          </p:nvPr>
        </p:nvSpPr>
        <p:spPr/>
        <p:txBody>
          <a:bodyPr>
            <a:normAutofit fontScale="77500" lnSpcReduction="20000"/>
          </a:bodyPr>
          <a:lstStyle/>
          <a:p>
            <a:endParaRPr lang="en-GB" dirty="0" smtClean="0">
              <a:latin typeface="Arial" pitchFamily="34" charset="0"/>
              <a:cs typeface="Arial" pitchFamily="34" charset="0"/>
            </a:endParaRPr>
          </a:p>
          <a:p>
            <a:pPr marL="214313" indent="-214313">
              <a:buFont typeface="Wingdings" panose="05000000000000000000" pitchFamily="2" charset="2"/>
              <a:buChar char="q"/>
            </a:pPr>
            <a:r>
              <a:rPr lang="en-GB" b="1" dirty="0" smtClean="0">
                <a:latin typeface="Arial" pitchFamily="34" charset="0"/>
                <a:cs typeface="Arial" pitchFamily="34" charset="0"/>
              </a:rPr>
              <a:t>FULL ACCREDITATION</a:t>
            </a:r>
          </a:p>
          <a:p>
            <a:pPr marL="214313" indent="-214313">
              <a:buFont typeface="Wingdings" panose="05000000000000000000" pitchFamily="2" charset="2"/>
              <a:buChar char="v"/>
            </a:pPr>
            <a:r>
              <a:rPr lang="en-GB" b="1" dirty="0" smtClean="0">
                <a:latin typeface="Arial" pitchFamily="34" charset="0"/>
                <a:cs typeface="Arial" pitchFamily="34" charset="0"/>
              </a:rPr>
              <a:t>	</a:t>
            </a:r>
            <a:r>
              <a:rPr lang="en-GB" dirty="0" smtClean="0">
                <a:latin typeface="Arial" pitchFamily="34" charset="0"/>
                <a:cs typeface="Arial" pitchFamily="34" charset="0"/>
              </a:rPr>
              <a:t>70% and Above in 4 Core Parameters </a:t>
            </a:r>
          </a:p>
          <a:p>
            <a:pPr marL="1471613" lvl="3" indent="-214313">
              <a:buFont typeface="Wingdings" panose="05000000000000000000" pitchFamily="2" charset="2"/>
              <a:buChar char="v"/>
            </a:pPr>
            <a:r>
              <a:rPr lang="en-GB" dirty="0" smtClean="0">
                <a:latin typeface="Arial" pitchFamily="34" charset="0"/>
                <a:cs typeface="Arial" pitchFamily="34" charset="0"/>
              </a:rPr>
              <a:t>ACADEMIC CONTENT</a:t>
            </a:r>
          </a:p>
          <a:p>
            <a:pPr marL="1471613" lvl="3" indent="-214313">
              <a:buFont typeface="Wingdings" panose="05000000000000000000" pitchFamily="2" charset="2"/>
              <a:buChar char="v"/>
            </a:pPr>
            <a:r>
              <a:rPr lang="en-GB" dirty="0" smtClean="0">
                <a:latin typeface="Arial" pitchFamily="34" charset="0"/>
                <a:cs typeface="Arial" pitchFamily="34" charset="0"/>
              </a:rPr>
              <a:t>STAFFING</a:t>
            </a:r>
          </a:p>
          <a:p>
            <a:pPr marL="1471613" lvl="3" indent="-214313">
              <a:buFont typeface="Wingdings" panose="05000000000000000000" pitchFamily="2" charset="2"/>
              <a:buChar char="v"/>
            </a:pPr>
            <a:r>
              <a:rPr lang="en-GB" dirty="0" smtClean="0">
                <a:latin typeface="Arial" pitchFamily="34" charset="0"/>
                <a:cs typeface="Arial" pitchFamily="34" charset="0"/>
              </a:rPr>
              <a:t>PHYSICAL FACILITIES</a:t>
            </a:r>
          </a:p>
          <a:p>
            <a:pPr marL="1471613" lvl="3" indent="-214313">
              <a:buFont typeface="Wingdings" panose="05000000000000000000" pitchFamily="2" charset="2"/>
              <a:buChar char="v"/>
            </a:pPr>
            <a:r>
              <a:rPr lang="en-GB" dirty="0" smtClean="0">
                <a:latin typeface="Arial" pitchFamily="34" charset="0"/>
                <a:cs typeface="Arial" pitchFamily="34" charset="0"/>
              </a:rPr>
              <a:t>LIBRARY</a:t>
            </a:r>
          </a:p>
          <a:p>
            <a:pPr marL="214313" indent="-214313">
              <a:buFont typeface="Wingdings" panose="05000000000000000000" pitchFamily="2" charset="2"/>
              <a:buChar char="v"/>
            </a:pPr>
            <a:r>
              <a:rPr lang="en-GB" dirty="0" smtClean="0">
                <a:latin typeface="Arial" pitchFamily="34" charset="0"/>
                <a:cs typeface="Arial" pitchFamily="34" charset="0"/>
              </a:rPr>
              <a:t> 	and an overall score of 70%</a:t>
            </a:r>
          </a:p>
          <a:p>
            <a:pPr marL="214313" indent="-214313">
              <a:buFont typeface="Wingdings" panose="05000000000000000000" pitchFamily="2" charset="2"/>
              <a:buChar char="v"/>
            </a:pPr>
            <a:r>
              <a:rPr lang="en-US" dirty="0" smtClean="0">
                <a:latin typeface="Arial" pitchFamily="34" charset="0"/>
                <a:cs typeface="Arial" pitchFamily="34" charset="0"/>
              </a:rPr>
              <a:t>   	Valid for 5 years</a:t>
            </a:r>
          </a:p>
          <a:p>
            <a:pPr marL="214313" indent="-214313">
              <a:buFont typeface="Wingdings" panose="05000000000000000000" pitchFamily="2" charset="2"/>
              <a:buChar char="q"/>
            </a:pPr>
            <a:r>
              <a:rPr lang="en-US" b="1" dirty="0" smtClean="0">
                <a:latin typeface="Arial" pitchFamily="34" charset="0"/>
                <a:cs typeface="Arial" pitchFamily="34" charset="0"/>
              </a:rPr>
              <a:t>INTERIM ACCREDITATION</a:t>
            </a:r>
          </a:p>
          <a:p>
            <a:pPr marL="557213" lvl="1" indent="-214313" algn="just">
              <a:buFont typeface="Wingdings" panose="05000000000000000000" pitchFamily="2" charset="2"/>
              <a:buChar char="v"/>
            </a:pPr>
            <a:r>
              <a:rPr lang="en-GB" dirty="0" smtClean="0">
                <a:latin typeface="Arial" pitchFamily="34" charset="0"/>
                <a:cs typeface="Arial" pitchFamily="34" charset="0"/>
              </a:rPr>
              <a:t>60% and Above but less than 70% in any of the FOUR Core Parameters (An Overall score of 70% does not literarily translate to a FULL Accreditation Status)</a:t>
            </a:r>
          </a:p>
          <a:p>
            <a:pPr marL="557213" lvl="1" indent="-214313">
              <a:buFont typeface="Wingdings" panose="05000000000000000000" pitchFamily="2" charset="2"/>
              <a:buChar char="v"/>
            </a:pPr>
            <a:r>
              <a:rPr lang="en-US" dirty="0" smtClean="0">
                <a:latin typeface="Arial" pitchFamily="34" charset="0"/>
                <a:cs typeface="Arial" pitchFamily="34" charset="0"/>
              </a:rPr>
              <a:t>Valid for 2 years</a:t>
            </a:r>
          </a:p>
        </p:txBody>
      </p:sp>
    </p:spTree>
    <p:extLst>
      <p:ext uri="{BB962C8B-B14F-4D97-AF65-F5344CB8AC3E}">
        <p14:creationId xmlns:p14="http://schemas.microsoft.com/office/powerpoint/2010/main" val="1460641745"/>
      </p:ext>
    </p:extLst>
  </p:cSld>
  <p:clrMapOvr>
    <a:masterClrMapping/>
  </p:clrMapOvr>
  <p:transition>
    <p:rand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GB" dirty="0">
                <a:latin typeface="Algerian" pitchFamily="82" charset="0"/>
              </a:rPr>
              <a:t>Programme ACCREDITATION RESULTS</a:t>
            </a:r>
            <a:endParaRPr lang="en-GB" dirty="0"/>
          </a:p>
        </p:txBody>
      </p:sp>
      <p:sp>
        <p:nvSpPr>
          <p:cNvPr id="6" name="Content Placeholder 5"/>
          <p:cNvSpPr>
            <a:spLocks noGrp="1"/>
          </p:cNvSpPr>
          <p:nvPr>
            <p:ph idx="1"/>
          </p:nvPr>
        </p:nvSpPr>
        <p:spPr/>
        <p:txBody>
          <a:bodyPr>
            <a:normAutofit lnSpcReduction="10000"/>
          </a:bodyPr>
          <a:lstStyle/>
          <a:p>
            <a:pPr marL="557213" lvl="1" indent="-214313">
              <a:buFont typeface="Wingdings" panose="05000000000000000000" pitchFamily="2" charset="2"/>
              <a:buChar char="v"/>
            </a:pPr>
            <a:endParaRPr lang="en-US" dirty="0" smtClean="0">
              <a:latin typeface="Arial" pitchFamily="34" charset="0"/>
              <a:cs typeface="Arial" pitchFamily="34" charset="0"/>
            </a:endParaRPr>
          </a:p>
          <a:p>
            <a:pPr marL="214313" indent="-214313">
              <a:buFont typeface="Wingdings" panose="05000000000000000000" pitchFamily="2" charset="2"/>
              <a:buChar char="q"/>
            </a:pPr>
            <a:r>
              <a:rPr lang="en-US" b="1" dirty="0" smtClean="0">
                <a:latin typeface="Arial" pitchFamily="34" charset="0"/>
                <a:cs typeface="Arial" pitchFamily="34" charset="0"/>
              </a:rPr>
              <a:t>DENIED ACCREDITATION</a:t>
            </a:r>
            <a:endParaRPr lang="en-GB" b="1" dirty="0" smtClean="0">
              <a:latin typeface="Arial" pitchFamily="34" charset="0"/>
              <a:cs typeface="Arial" pitchFamily="34" charset="0"/>
            </a:endParaRPr>
          </a:p>
          <a:p>
            <a:pPr marL="557213" lvl="1" indent="-214313">
              <a:buFont typeface="Wingdings" panose="05000000000000000000" pitchFamily="2" charset="2"/>
              <a:buChar char="v"/>
            </a:pPr>
            <a:r>
              <a:rPr lang="en-GB" dirty="0" smtClean="0">
                <a:latin typeface="Arial" pitchFamily="34" charset="0"/>
                <a:cs typeface="Arial" pitchFamily="34" charset="0"/>
              </a:rPr>
              <a:t>Overall Score  of less </a:t>
            </a:r>
            <a:r>
              <a:rPr lang="en-GB" dirty="0">
                <a:latin typeface="Arial" pitchFamily="34" charset="0"/>
                <a:cs typeface="Arial" pitchFamily="34" charset="0"/>
              </a:rPr>
              <a:t>than 60% </a:t>
            </a:r>
            <a:endParaRPr lang="en-GB" dirty="0" smtClean="0">
              <a:latin typeface="Arial" pitchFamily="34" charset="0"/>
              <a:cs typeface="Arial" pitchFamily="34" charset="0"/>
            </a:endParaRPr>
          </a:p>
          <a:p>
            <a:pPr marL="557213" lvl="1" indent="-214313">
              <a:buNone/>
            </a:pPr>
            <a:endParaRPr lang="en-GB" dirty="0" smtClean="0">
              <a:latin typeface="Arial" pitchFamily="34" charset="0"/>
              <a:cs typeface="Arial" pitchFamily="34" charset="0"/>
            </a:endParaRPr>
          </a:p>
          <a:p>
            <a:pPr marL="214313" lvl="1" indent="-214313">
              <a:buFont typeface="Wingdings" panose="05000000000000000000" pitchFamily="2" charset="2"/>
              <a:buChar char="q"/>
            </a:pPr>
            <a:r>
              <a:rPr lang="en-GB" b="1" dirty="0" smtClean="0">
                <a:latin typeface="Arial" pitchFamily="34" charset="0"/>
                <a:cs typeface="Arial" pitchFamily="34" charset="0"/>
              </a:rPr>
              <a:t>SANCTIONS OF DENIED ACCREDITATION STATUS</a:t>
            </a:r>
          </a:p>
          <a:p>
            <a:pPr marL="557213" lvl="2" indent="-214313">
              <a:buFont typeface="Wingdings" panose="05000000000000000000" pitchFamily="2" charset="2"/>
              <a:buChar char="v"/>
            </a:pPr>
            <a:r>
              <a:rPr lang="en-GB" dirty="0" smtClean="0">
                <a:latin typeface="Arial" pitchFamily="34" charset="0"/>
                <a:cs typeface="Arial" pitchFamily="34" charset="0"/>
              </a:rPr>
              <a:t>Ban On Student Admission</a:t>
            </a:r>
          </a:p>
          <a:p>
            <a:pPr marL="557213" lvl="2" indent="-214313">
              <a:buFont typeface="Wingdings" panose="05000000000000000000" pitchFamily="2" charset="2"/>
              <a:buChar char="v"/>
            </a:pPr>
            <a:r>
              <a:rPr lang="en-GB" dirty="0" smtClean="0">
                <a:latin typeface="Arial" pitchFamily="34" charset="0"/>
                <a:cs typeface="Arial" pitchFamily="34" charset="0"/>
              </a:rPr>
              <a:t>Students Admitted into such programme will not be mobilized for NYSC</a:t>
            </a:r>
          </a:p>
          <a:p>
            <a:pPr marL="557213" lvl="2" indent="-214313">
              <a:buFont typeface="Wingdings" panose="05000000000000000000" pitchFamily="2" charset="2"/>
              <a:buChar char="v"/>
            </a:pPr>
            <a:r>
              <a:rPr lang="en-GB" dirty="0" smtClean="0">
                <a:latin typeface="Arial" pitchFamily="34" charset="0"/>
                <a:cs typeface="Arial" pitchFamily="34" charset="0"/>
              </a:rPr>
              <a:t>Non-Recognition of Certificates issued after the ban</a:t>
            </a:r>
            <a:endParaRPr lang="en-US" dirty="0" smtClean="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57200" y="1541805"/>
            <a:ext cx="5041900" cy="4832092"/>
          </a:xfrm>
          <a:prstGeom prst="rect">
            <a:avLst/>
          </a:prstGeom>
        </p:spPr>
        <p:txBody>
          <a:bodyPr wrap="square" anchor="b">
            <a:spAutoFit/>
          </a:bodyPr>
          <a:lstStyle/>
          <a:p>
            <a:pPr>
              <a:lnSpc>
                <a:spcPct val="200000"/>
              </a:lnSpc>
            </a:pPr>
            <a:r>
              <a:rPr lang="en-US" b="1" dirty="0">
                <a:latin typeface="Arial" pitchFamily="34" charset="0"/>
                <a:cs typeface="Arial" pitchFamily="34" charset="0"/>
              </a:rPr>
              <a:t>Full Accreditation status		-	53	76.8%</a:t>
            </a:r>
            <a:endParaRPr lang="en-GB" b="1" dirty="0">
              <a:latin typeface="Arial" pitchFamily="34" charset="0"/>
              <a:cs typeface="Arial" pitchFamily="34" charset="0"/>
            </a:endParaRPr>
          </a:p>
          <a:p>
            <a:pPr>
              <a:lnSpc>
                <a:spcPct val="200000"/>
              </a:lnSpc>
            </a:pPr>
            <a:r>
              <a:rPr lang="en-US" b="1" dirty="0">
                <a:latin typeface="Arial" pitchFamily="34" charset="0"/>
                <a:cs typeface="Arial" pitchFamily="34" charset="0"/>
              </a:rPr>
              <a:t>Interim Accreditation status	-	11	15.9%</a:t>
            </a:r>
            <a:endParaRPr lang="en-GB" b="1" dirty="0">
              <a:latin typeface="Arial" pitchFamily="34" charset="0"/>
              <a:cs typeface="Arial" pitchFamily="34" charset="0"/>
            </a:endParaRPr>
          </a:p>
          <a:p>
            <a:pPr>
              <a:lnSpc>
                <a:spcPct val="200000"/>
              </a:lnSpc>
            </a:pPr>
            <a:r>
              <a:rPr lang="en-US" b="1" dirty="0">
                <a:latin typeface="Arial" pitchFamily="34" charset="0"/>
                <a:cs typeface="Arial" pitchFamily="34" charset="0"/>
              </a:rPr>
              <a:t>Denied Accreditation status 	</a:t>
            </a:r>
            <a:r>
              <a:rPr lang="en-US" b="1" dirty="0" smtClean="0">
                <a:latin typeface="Arial" pitchFamily="34" charset="0"/>
                <a:cs typeface="Arial" pitchFamily="34" charset="0"/>
              </a:rPr>
              <a:t>-</a:t>
            </a:r>
            <a:r>
              <a:rPr lang="en-US" b="1" dirty="0">
                <a:latin typeface="Arial" pitchFamily="34" charset="0"/>
                <a:cs typeface="Arial" pitchFamily="34" charset="0"/>
              </a:rPr>
              <a:t>	0	0.0%</a:t>
            </a:r>
            <a:endParaRPr lang="en-GB" b="1" dirty="0">
              <a:latin typeface="Arial" pitchFamily="34" charset="0"/>
              <a:cs typeface="Arial" pitchFamily="34" charset="0"/>
            </a:endParaRPr>
          </a:p>
          <a:p>
            <a:pPr>
              <a:lnSpc>
                <a:spcPct val="200000"/>
              </a:lnSpc>
            </a:pPr>
            <a:r>
              <a:rPr lang="en-US" b="1" dirty="0">
                <a:latin typeface="Arial" pitchFamily="34" charset="0"/>
                <a:cs typeface="Arial" pitchFamily="34" charset="0"/>
              </a:rPr>
              <a:t>Yet to be visited  			-	5	7.3%</a:t>
            </a:r>
            <a:endParaRPr lang="en-GB" b="1" dirty="0">
              <a:latin typeface="Arial" pitchFamily="34" charset="0"/>
              <a:cs typeface="Arial" pitchFamily="34" charset="0"/>
            </a:endParaRPr>
          </a:p>
          <a:p>
            <a:pPr>
              <a:lnSpc>
                <a:spcPct val="200000"/>
              </a:lnSpc>
            </a:pPr>
            <a:r>
              <a:rPr lang="en-US" b="1" dirty="0">
                <a:latin typeface="Arial" pitchFamily="34" charset="0"/>
                <a:cs typeface="Arial" pitchFamily="34" charset="0"/>
              </a:rPr>
              <a:t>Total Number of </a:t>
            </a:r>
            <a:r>
              <a:rPr lang="en-US" b="1" dirty="0" err="1">
                <a:latin typeface="Arial" pitchFamily="34" charset="0"/>
                <a:cs typeface="Arial" pitchFamily="34" charset="0"/>
              </a:rPr>
              <a:t>programmes</a:t>
            </a:r>
            <a:r>
              <a:rPr lang="en-US" b="1" dirty="0">
                <a:latin typeface="Arial" pitchFamily="34" charset="0"/>
                <a:cs typeface="Arial" pitchFamily="34" charset="0"/>
              </a:rPr>
              <a:t>	-	69</a:t>
            </a:r>
            <a:endParaRPr lang="en-GB" b="1" dirty="0">
              <a:latin typeface="Arial" pitchFamily="34" charset="0"/>
              <a:cs typeface="Arial" pitchFamily="34" charset="0"/>
            </a:endParaRPr>
          </a:p>
          <a:p>
            <a:pPr>
              <a:lnSpc>
                <a:spcPct val="200000"/>
              </a:lnSpc>
            </a:pPr>
            <a:r>
              <a:rPr lang="en-US" sz="1600" b="1" dirty="0" smtClean="0">
                <a:latin typeface="Algerian" panose="04020705040A02060702" pitchFamily="82" charset="0"/>
                <a:cs typeface="Arial" pitchFamily="34" charset="0"/>
              </a:rPr>
              <a:t>Twenty-Three </a:t>
            </a:r>
            <a:r>
              <a:rPr lang="en-US" sz="1600" b="1" dirty="0" err="1">
                <a:latin typeface="Algerian" panose="04020705040A02060702" pitchFamily="82" charset="0"/>
                <a:cs typeface="Arial" pitchFamily="34" charset="0"/>
              </a:rPr>
              <a:t>Programmes</a:t>
            </a:r>
            <a:r>
              <a:rPr lang="en-US" sz="1600" b="1" dirty="0">
                <a:latin typeface="Algerian" panose="04020705040A02060702" pitchFamily="82" charset="0"/>
                <a:cs typeface="Arial" pitchFamily="34" charset="0"/>
              </a:rPr>
              <a:t> </a:t>
            </a:r>
            <a:r>
              <a:rPr lang="en-US" sz="1600" b="1" dirty="0" smtClean="0">
                <a:latin typeface="Algerian" panose="04020705040A02060702" pitchFamily="82" charset="0"/>
                <a:cs typeface="Arial" pitchFamily="34" charset="0"/>
              </a:rPr>
              <a:t>were </a:t>
            </a:r>
            <a:r>
              <a:rPr lang="en-US" sz="1600" b="1" dirty="0">
                <a:latin typeface="Algerian" panose="04020705040A02060702" pitchFamily="82" charset="0"/>
                <a:cs typeface="Arial" pitchFamily="34" charset="0"/>
              </a:rPr>
              <a:t>due for </a:t>
            </a:r>
            <a:r>
              <a:rPr lang="en-US" sz="1600" b="1" dirty="0" smtClean="0">
                <a:latin typeface="Algerian" panose="04020705040A02060702" pitchFamily="82" charset="0"/>
                <a:cs typeface="Arial" pitchFamily="34" charset="0"/>
              </a:rPr>
              <a:t>Accreditation in 2015 but could not hold due to paucity of fund to pay the prescribed levy by NUC.</a:t>
            </a:r>
            <a:endParaRPr lang="en-GB" sz="1600" b="1" dirty="0">
              <a:latin typeface="Algerian" panose="04020705040A02060702" pitchFamily="82" charset="0"/>
              <a:cs typeface="Arial" pitchFamily="34" charset="0"/>
            </a:endParaRPr>
          </a:p>
        </p:txBody>
      </p:sp>
      <p:sp>
        <p:nvSpPr>
          <p:cNvPr id="6" name="Title 1"/>
          <p:cNvSpPr>
            <a:spLocks noGrp="1"/>
          </p:cNvSpPr>
          <p:nvPr>
            <p:ph type="title"/>
          </p:nvPr>
        </p:nvSpPr>
        <p:spPr/>
        <p:txBody>
          <a:bodyPr>
            <a:normAutofit/>
          </a:bodyPr>
          <a:lstStyle/>
          <a:p>
            <a:pPr algn="ctr"/>
            <a:r>
              <a:rPr lang="en-GB" sz="3600" dirty="0">
                <a:latin typeface="Algerian" pitchFamily="82" charset="0"/>
              </a:rPr>
              <a:t>WHERE IS EKSU?</a:t>
            </a:r>
          </a:p>
        </p:txBody>
      </p:sp>
      <p:graphicFrame>
        <p:nvGraphicFramePr>
          <p:cNvPr id="9" name="Chart 8"/>
          <p:cNvGraphicFramePr/>
          <p:nvPr>
            <p:extLst>
              <p:ext uri="{D42A27DB-BD31-4B8C-83A1-F6EECF244321}">
                <p14:modId xmlns:p14="http://schemas.microsoft.com/office/powerpoint/2010/main" val="664144088"/>
              </p:ext>
            </p:extLst>
          </p:nvPr>
        </p:nvGraphicFramePr>
        <p:xfrm>
          <a:off x="5670550" y="1612900"/>
          <a:ext cx="3352800" cy="46130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82619979"/>
      </p:ext>
    </p:extLst>
  </p:cSld>
  <p:clrMapOvr>
    <a:masterClrMapping/>
  </p:clrMapOvr>
  <p:transition>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normAutofit/>
          </a:bodyPr>
          <a:lstStyle/>
          <a:p>
            <a:pPr algn="ctr"/>
            <a:r>
              <a:rPr lang="en-GB" sz="3600" dirty="0">
                <a:latin typeface="Algerian" pitchFamily="82" charset="0"/>
              </a:rPr>
              <a:t>CHALLENGES</a:t>
            </a:r>
          </a:p>
        </p:txBody>
      </p:sp>
      <p:sp>
        <p:nvSpPr>
          <p:cNvPr id="4" name="Content Placeholder 3"/>
          <p:cNvSpPr>
            <a:spLocks noGrp="1"/>
          </p:cNvSpPr>
          <p:nvPr>
            <p:ph idx="1"/>
          </p:nvPr>
        </p:nvSpPr>
        <p:spPr/>
        <p:txBody>
          <a:bodyPr>
            <a:normAutofit fontScale="70000" lnSpcReduction="20000"/>
          </a:bodyPr>
          <a:lstStyle/>
          <a:p>
            <a:pPr>
              <a:lnSpc>
                <a:spcPct val="200000"/>
              </a:lnSpc>
              <a:buFont typeface="Wingdings" panose="05000000000000000000" pitchFamily="2" charset="2"/>
              <a:buChar char="q"/>
            </a:pPr>
            <a:r>
              <a:rPr lang="en-US" dirty="0" smtClean="0">
                <a:latin typeface="Arial" pitchFamily="34" charset="0"/>
                <a:cs typeface="Arial" pitchFamily="34" charset="0"/>
              </a:rPr>
              <a:t>FUNDING</a:t>
            </a:r>
          </a:p>
          <a:p>
            <a:pPr>
              <a:lnSpc>
                <a:spcPct val="200000"/>
              </a:lnSpc>
              <a:buFont typeface="Wingdings" panose="05000000000000000000" pitchFamily="2" charset="2"/>
              <a:buChar char="q"/>
            </a:pPr>
            <a:r>
              <a:rPr lang="en-US" dirty="0" smtClean="0">
                <a:latin typeface="Arial" pitchFamily="34" charset="0"/>
                <a:cs typeface="Arial" pitchFamily="34" charset="0"/>
              </a:rPr>
              <a:t>INADEQUATE INFRASTRUCTURE AND EQUIPMENTS</a:t>
            </a:r>
          </a:p>
          <a:p>
            <a:pPr>
              <a:lnSpc>
                <a:spcPct val="200000"/>
              </a:lnSpc>
              <a:buFont typeface="Wingdings" panose="05000000000000000000" pitchFamily="2" charset="2"/>
              <a:buChar char="q"/>
            </a:pPr>
            <a:r>
              <a:rPr lang="en-US" dirty="0" smtClean="0">
                <a:latin typeface="Arial" pitchFamily="34" charset="0"/>
                <a:cs typeface="Arial" pitchFamily="34" charset="0"/>
              </a:rPr>
              <a:t>LATE RESPONSE TO DATA REQUESTS FROM FACULTIES</a:t>
            </a:r>
          </a:p>
          <a:p>
            <a:pPr>
              <a:lnSpc>
                <a:spcPct val="150000"/>
              </a:lnSpc>
              <a:buFont typeface="Wingdings" panose="05000000000000000000" pitchFamily="2" charset="2"/>
              <a:buChar char="q"/>
            </a:pPr>
            <a:r>
              <a:rPr lang="en-US" dirty="0" smtClean="0">
                <a:latin typeface="Arial" pitchFamily="34" charset="0"/>
                <a:cs typeface="Arial" pitchFamily="34" charset="0"/>
              </a:rPr>
              <a:t>MISUNDERSTANDINGS OF NUC REQUESTS BY STAFF UNIONS</a:t>
            </a:r>
          </a:p>
          <a:p>
            <a:pPr>
              <a:lnSpc>
                <a:spcPct val="150000"/>
              </a:lnSpc>
              <a:buFont typeface="Wingdings" panose="05000000000000000000" pitchFamily="2" charset="2"/>
              <a:buChar char="q"/>
            </a:pPr>
            <a:r>
              <a:rPr lang="en-US" dirty="0" smtClean="0">
                <a:latin typeface="Arial" pitchFamily="34" charset="0"/>
                <a:cs typeface="Arial" pitchFamily="34" charset="0"/>
              </a:rPr>
              <a:t>NON-COMPLIANCE TO NUC DIRECTIVES ON SUBMISSION OF SELF STUDY FORMS (SSF)</a:t>
            </a:r>
          </a:p>
        </p:txBody>
      </p:sp>
    </p:spTree>
    <p:extLst>
      <p:ext uri="{BB962C8B-B14F-4D97-AF65-F5344CB8AC3E}">
        <p14:creationId xmlns:p14="http://schemas.microsoft.com/office/powerpoint/2010/main" val="2445370787"/>
      </p:ext>
    </p:extLst>
  </p:cSld>
  <p:clrMapOvr>
    <a:masterClrMapping/>
  </p:clrMapOvr>
  <p:transition>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605577" y="556491"/>
            <a:ext cx="6802276" cy="594267"/>
          </a:xfrm>
        </p:spPr>
        <p:txBody>
          <a:bodyPr>
            <a:normAutofit fontScale="90000"/>
          </a:bodyPr>
          <a:lstStyle/>
          <a:p>
            <a:pPr algn="ctr"/>
            <a:r>
              <a:rPr lang="en-GB" sz="3600" dirty="0">
                <a:latin typeface="Algerian" pitchFamily="82" charset="0"/>
              </a:rPr>
              <a:t>WAY </a:t>
            </a:r>
            <a:r>
              <a:rPr lang="en-GB" sz="3600" dirty="0" smtClean="0">
                <a:latin typeface="Algerian" pitchFamily="82" charset="0"/>
              </a:rPr>
              <a:t>FORWARD</a:t>
            </a:r>
            <a:endParaRPr lang="en-GB" sz="3600" dirty="0">
              <a:latin typeface="Algerian" pitchFamily="82" charset="0"/>
            </a:endParaRPr>
          </a:p>
        </p:txBody>
      </p:sp>
      <p:sp>
        <p:nvSpPr>
          <p:cNvPr id="7" name="Rectangle 6"/>
          <p:cNvSpPr/>
          <p:nvPr/>
        </p:nvSpPr>
        <p:spPr>
          <a:xfrm>
            <a:off x="419100" y="1409700"/>
            <a:ext cx="7933458" cy="4401205"/>
          </a:xfrm>
          <a:prstGeom prst="rect">
            <a:avLst/>
          </a:prstGeom>
        </p:spPr>
        <p:txBody>
          <a:bodyPr wrap="square">
            <a:spAutoFit/>
          </a:bodyPr>
          <a:lstStyle/>
          <a:p>
            <a:pPr marL="342900" indent="-342900">
              <a:buFont typeface="Wingdings" panose="05000000000000000000" pitchFamily="2" charset="2"/>
              <a:buChar char="q"/>
            </a:pPr>
            <a:r>
              <a:rPr lang="en-US" sz="2800" dirty="0">
                <a:latin typeface="Arial" pitchFamily="34" charset="0"/>
                <a:cs typeface="Arial" pitchFamily="34" charset="0"/>
              </a:rPr>
              <a:t>Generation of more funds through IGR to augment Government Subventions.</a:t>
            </a:r>
          </a:p>
          <a:p>
            <a:pPr marL="342900" indent="-342900">
              <a:buFont typeface="Wingdings" panose="05000000000000000000" pitchFamily="2" charset="2"/>
              <a:buChar char="q"/>
            </a:pPr>
            <a:r>
              <a:rPr lang="en-US" sz="2800" dirty="0">
                <a:latin typeface="Arial" pitchFamily="34" charset="0"/>
                <a:cs typeface="Arial" pitchFamily="34" charset="0"/>
              </a:rPr>
              <a:t>Involvement of Alumni in the Development of the University’s Infrastructure.</a:t>
            </a:r>
          </a:p>
          <a:p>
            <a:pPr marL="342900" indent="-342900">
              <a:buFont typeface="Wingdings" panose="05000000000000000000" pitchFamily="2" charset="2"/>
              <a:buChar char="q"/>
            </a:pPr>
            <a:r>
              <a:rPr lang="en-US" sz="2800" dirty="0">
                <a:latin typeface="Arial" pitchFamily="34" charset="0"/>
                <a:cs typeface="Arial" pitchFamily="34" charset="0"/>
              </a:rPr>
              <a:t>Responses from Faculties to Data </a:t>
            </a:r>
            <a:r>
              <a:rPr lang="en-US" sz="2800" dirty="0" smtClean="0">
                <a:latin typeface="Arial" pitchFamily="34" charset="0"/>
                <a:cs typeface="Arial" pitchFamily="34" charset="0"/>
              </a:rPr>
              <a:t>Requests </a:t>
            </a:r>
            <a:r>
              <a:rPr lang="en-US" sz="2800" dirty="0">
                <a:latin typeface="Arial" pitchFamily="34" charset="0"/>
                <a:cs typeface="Arial" pitchFamily="34" charset="0"/>
              </a:rPr>
              <a:t>Should be </a:t>
            </a:r>
            <a:r>
              <a:rPr lang="en-US" sz="2800" dirty="0" smtClean="0">
                <a:latin typeface="Arial" pitchFamily="34" charset="0"/>
                <a:cs typeface="Arial" pitchFamily="34" charset="0"/>
              </a:rPr>
              <a:t>Swift.</a:t>
            </a:r>
            <a:endParaRPr lang="en-US" sz="2800" dirty="0">
              <a:latin typeface="Arial" pitchFamily="34" charset="0"/>
              <a:cs typeface="Arial" pitchFamily="34" charset="0"/>
            </a:endParaRPr>
          </a:p>
          <a:p>
            <a:pPr marL="342900" indent="-342900">
              <a:buFont typeface="Wingdings" panose="05000000000000000000" pitchFamily="2" charset="2"/>
              <a:buChar char="q"/>
            </a:pPr>
            <a:r>
              <a:rPr lang="en-US" sz="2800" dirty="0">
                <a:latin typeface="Arial" pitchFamily="34" charset="0"/>
                <a:cs typeface="Arial" pitchFamily="34" charset="0"/>
              </a:rPr>
              <a:t>Trade Unions should always </a:t>
            </a:r>
            <a:r>
              <a:rPr lang="en-US" sz="2800" dirty="0" err="1" smtClean="0">
                <a:latin typeface="Arial" pitchFamily="34" charset="0"/>
                <a:cs typeface="Arial" pitchFamily="34" charset="0"/>
              </a:rPr>
              <a:t>endeavour</a:t>
            </a:r>
            <a:r>
              <a:rPr lang="en-US" sz="2800" dirty="0" smtClean="0">
                <a:latin typeface="Arial" pitchFamily="34" charset="0"/>
                <a:cs typeface="Arial" pitchFamily="34" charset="0"/>
              </a:rPr>
              <a:t> </a:t>
            </a:r>
            <a:r>
              <a:rPr lang="en-US" sz="2800" dirty="0">
                <a:latin typeface="Arial" pitchFamily="34" charset="0"/>
                <a:cs typeface="Arial" pitchFamily="34" charset="0"/>
              </a:rPr>
              <a:t>to seek clarifications on grey areas whenever statistical </a:t>
            </a:r>
            <a:r>
              <a:rPr lang="en-US" sz="2800" dirty="0" smtClean="0">
                <a:latin typeface="Arial" pitchFamily="34" charset="0"/>
                <a:cs typeface="Arial" pitchFamily="34" charset="0"/>
              </a:rPr>
              <a:t>requests </a:t>
            </a:r>
            <a:r>
              <a:rPr lang="en-US" sz="2800" dirty="0">
                <a:latin typeface="Arial" pitchFamily="34" charset="0"/>
                <a:cs typeface="Arial" pitchFamily="34" charset="0"/>
              </a:rPr>
              <a:t>on staff </a:t>
            </a:r>
            <a:r>
              <a:rPr lang="en-US" sz="2800" dirty="0" smtClean="0">
                <a:latin typeface="Arial" pitchFamily="34" charset="0"/>
                <a:cs typeface="Arial" pitchFamily="34" charset="0"/>
              </a:rPr>
              <a:t>are </a:t>
            </a:r>
            <a:r>
              <a:rPr lang="en-US" sz="2800" dirty="0">
                <a:latin typeface="Arial" pitchFamily="34" charset="0"/>
                <a:cs typeface="Arial" pitchFamily="34" charset="0"/>
              </a:rPr>
              <a:t>made before denying access to such</a:t>
            </a:r>
            <a:r>
              <a:rPr lang="en-US" sz="2800" dirty="0" smtClean="0">
                <a:latin typeface="Arial" pitchFamily="34" charset="0"/>
                <a:cs typeface="Arial" pitchFamily="34" charset="0"/>
              </a:rPr>
              <a:t>.</a:t>
            </a:r>
            <a:endParaRPr lang="en-US" sz="2800" dirty="0">
              <a:latin typeface="Arial" pitchFamily="34" charset="0"/>
              <a:cs typeface="Arial" pitchFamily="34" charset="0"/>
            </a:endParaRPr>
          </a:p>
        </p:txBody>
      </p:sp>
    </p:spTree>
    <p:extLst>
      <p:ext uri="{BB962C8B-B14F-4D97-AF65-F5344CB8AC3E}">
        <p14:creationId xmlns:p14="http://schemas.microsoft.com/office/powerpoint/2010/main" val="816785153"/>
      </p:ext>
    </p:extLst>
  </p:cSld>
  <p:clrMapOvr>
    <a:masterClrMapping/>
  </p:clrMapOvr>
  <p:transition>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605577" y="556491"/>
            <a:ext cx="6802276" cy="594267"/>
          </a:xfrm>
        </p:spPr>
        <p:txBody>
          <a:bodyPr>
            <a:normAutofit fontScale="90000"/>
          </a:bodyPr>
          <a:lstStyle/>
          <a:p>
            <a:pPr algn="ctr"/>
            <a:r>
              <a:rPr lang="en-GB" sz="3600" dirty="0">
                <a:latin typeface="Algerian" pitchFamily="82" charset="0"/>
              </a:rPr>
              <a:t>WAY </a:t>
            </a:r>
            <a:r>
              <a:rPr lang="en-GB" sz="3600" dirty="0" smtClean="0">
                <a:latin typeface="Algerian" pitchFamily="82" charset="0"/>
              </a:rPr>
              <a:t>FORWARD</a:t>
            </a:r>
            <a:endParaRPr lang="en-GB" sz="3600" dirty="0">
              <a:latin typeface="Algerian" pitchFamily="82" charset="0"/>
            </a:endParaRPr>
          </a:p>
        </p:txBody>
      </p:sp>
      <p:sp>
        <p:nvSpPr>
          <p:cNvPr id="7" name="Rectangle 6"/>
          <p:cNvSpPr/>
          <p:nvPr/>
        </p:nvSpPr>
        <p:spPr>
          <a:xfrm>
            <a:off x="419100" y="1409700"/>
            <a:ext cx="7933458" cy="4462760"/>
          </a:xfrm>
          <a:prstGeom prst="rect">
            <a:avLst/>
          </a:prstGeom>
        </p:spPr>
        <p:txBody>
          <a:bodyPr wrap="square">
            <a:spAutoFit/>
          </a:bodyPr>
          <a:lstStyle/>
          <a:p>
            <a:pPr marL="342900" indent="-342900">
              <a:buFont typeface="Wingdings" panose="05000000000000000000" pitchFamily="2" charset="2"/>
              <a:buChar char="q"/>
            </a:pPr>
            <a:r>
              <a:rPr lang="en-US" sz="2400" dirty="0" smtClean="0">
                <a:latin typeface="Arial" pitchFamily="34" charset="0"/>
                <a:cs typeface="Arial" pitchFamily="34" charset="0"/>
              </a:rPr>
              <a:t>Academic </a:t>
            </a:r>
            <a:r>
              <a:rPr lang="en-US" sz="2400" dirty="0">
                <a:latin typeface="Arial" pitchFamily="34" charset="0"/>
                <a:cs typeface="Arial" pitchFamily="34" charset="0"/>
              </a:rPr>
              <a:t>Planning as the Desk Office of NUC in the University is ready to guide Faculties in their responses to </a:t>
            </a:r>
            <a:r>
              <a:rPr lang="en-US" sz="2400">
                <a:latin typeface="Arial" pitchFamily="34" charset="0"/>
                <a:cs typeface="Arial" pitchFamily="34" charset="0"/>
              </a:rPr>
              <a:t>Data </a:t>
            </a:r>
            <a:r>
              <a:rPr lang="en-US" sz="2400" smtClean="0">
                <a:latin typeface="Arial" pitchFamily="34" charset="0"/>
                <a:cs typeface="Arial" pitchFamily="34" charset="0"/>
              </a:rPr>
              <a:t>requests </a:t>
            </a:r>
            <a:r>
              <a:rPr lang="en-US" sz="2400" dirty="0">
                <a:latin typeface="Arial" pitchFamily="34" charset="0"/>
                <a:cs typeface="Arial" pitchFamily="34" charset="0"/>
              </a:rPr>
              <a:t>from NUC</a:t>
            </a:r>
            <a:r>
              <a:rPr lang="en-US" sz="2400" dirty="0" smtClean="0">
                <a:latin typeface="Arial" pitchFamily="34" charset="0"/>
                <a:cs typeface="Arial" pitchFamily="34" charset="0"/>
              </a:rPr>
              <a:t>.</a:t>
            </a:r>
          </a:p>
          <a:p>
            <a:pPr marL="800100" lvl="1" indent="-342900">
              <a:buFont typeface="Wingdings" panose="05000000000000000000" pitchFamily="2" charset="2"/>
              <a:buChar char="q"/>
            </a:pPr>
            <a:r>
              <a:rPr lang="en-US" sz="2400" dirty="0" smtClean="0">
                <a:latin typeface="Arial" pitchFamily="34" charset="0"/>
                <a:cs typeface="Arial" pitchFamily="34" charset="0"/>
              </a:rPr>
              <a:t>Such Guide should be seen and accepted as the True position of NUC.</a:t>
            </a:r>
            <a:endParaRPr lang="en-US" sz="2400" dirty="0">
              <a:latin typeface="Arial" pitchFamily="34" charset="0"/>
              <a:cs typeface="Arial" pitchFamily="34" charset="0"/>
            </a:endParaRPr>
          </a:p>
          <a:p>
            <a:pPr marL="342900" indent="-342900">
              <a:buFont typeface="Wingdings" panose="05000000000000000000" pitchFamily="2" charset="2"/>
              <a:buChar char="q"/>
            </a:pPr>
            <a:r>
              <a:rPr lang="en-US" sz="2400" dirty="0">
                <a:latin typeface="Arial" pitchFamily="34" charset="0"/>
                <a:cs typeface="Arial" pitchFamily="34" charset="0"/>
              </a:rPr>
              <a:t>Regular Access to Internet Connectivity should be provided in the Directorate of Academic Planning to facilitate easy access and communication with NUC</a:t>
            </a:r>
          </a:p>
          <a:p>
            <a:pPr marL="342900" indent="-342900">
              <a:buFont typeface="Wingdings" panose="05000000000000000000" pitchFamily="2" charset="2"/>
              <a:buChar char="q"/>
            </a:pPr>
            <a:r>
              <a:rPr lang="en-US" sz="2400" dirty="0">
                <a:latin typeface="Arial" pitchFamily="34" charset="0"/>
                <a:cs typeface="Arial" pitchFamily="34" charset="0"/>
              </a:rPr>
              <a:t>Self Study Forms are to be filled promptly electronically and submitted to Academic Planning for onward transmission to NUC</a:t>
            </a:r>
          </a:p>
          <a:p>
            <a:pPr marL="342900" indent="-342900">
              <a:buFont typeface="Wingdings" panose="05000000000000000000" pitchFamily="2" charset="2"/>
              <a:buChar char="q"/>
            </a:pPr>
            <a:endParaRPr lang="en-GB" sz="2000" dirty="0">
              <a:latin typeface="Arial" pitchFamily="34" charset="0"/>
              <a:cs typeface="Arial" pitchFamily="34" charset="0"/>
            </a:endParaRPr>
          </a:p>
        </p:txBody>
      </p:sp>
    </p:spTree>
    <p:extLst>
      <p:ext uri="{BB962C8B-B14F-4D97-AF65-F5344CB8AC3E}">
        <p14:creationId xmlns:p14="http://schemas.microsoft.com/office/powerpoint/2010/main" val="3544479305"/>
      </p:ext>
    </p:extLst>
  </p:cSld>
  <p:clrMapOvr>
    <a:masterClrMapping/>
  </p:clrMapOvr>
  <p:transition>
    <p:rand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3200" dirty="0" smtClean="0">
                <a:latin typeface="Albertus Extra Bold" pitchFamily="34" charset="0"/>
              </a:rPr>
              <a:t/>
            </a:r>
            <a:br>
              <a:rPr lang="en-US" sz="3200" dirty="0" smtClean="0">
                <a:latin typeface="Albertus Extra Bold" pitchFamily="34" charset="0"/>
              </a:rPr>
            </a:br>
            <a:r>
              <a:rPr lang="en-US" sz="3200" dirty="0" smtClean="0">
                <a:latin typeface="Albertus Extra Bold" pitchFamily="34" charset="0"/>
              </a:rPr>
              <a:t>THANK </a:t>
            </a:r>
            <a:r>
              <a:rPr lang="en-US" sz="3200" dirty="0">
                <a:latin typeface="Albertus Extra Bold" pitchFamily="34" charset="0"/>
              </a:rPr>
              <a:t>YOU</a:t>
            </a:r>
            <a:br>
              <a:rPr lang="en-US" sz="3200" dirty="0">
                <a:latin typeface="Albertus Extra Bold" pitchFamily="34" charset="0"/>
              </a:rPr>
            </a:br>
            <a:r>
              <a:rPr lang="en-US" sz="3200" dirty="0" smtClean="0">
                <a:latin typeface="Albertus Extra Bold" pitchFamily="34" charset="0"/>
              </a:rPr>
              <a:t>GOD </a:t>
            </a:r>
            <a:r>
              <a:rPr lang="en-US" sz="3200" dirty="0">
                <a:latin typeface="Albertus Extra Bold" pitchFamily="34" charset="0"/>
              </a:rPr>
              <a:t>BLESS YOU </a:t>
            </a:r>
            <a:r>
              <a:rPr lang="en-US" sz="3200" dirty="0" smtClean="0">
                <a:latin typeface="Albertus Extra Bold" pitchFamily="34" charset="0"/>
              </a:rPr>
              <a:t>ALL</a:t>
            </a:r>
            <a:endParaRPr lang="en-GB" sz="3200" dirty="0">
              <a:latin typeface="Albertus Extra Bold" pitchFamily="34" charset="0"/>
            </a:endParaRPr>
          </a:p>
        </p:txBody>
      </p:sp>
      <p:sp>
        <p:nvSpPr>
          <p:cNvPr id="3" name="Text Placeholder 2"/>
          <p:cNvSpPr>
            <a:spLocks noGrp="1"/>
          </p:cNvSpPr>
          <p:nvPr>
            <p:ph type="body" idx="1"/>
          </p:nvPr>
        </p:nvSpPr>
        <p:spPr/>
        <p:txBody>
          <a:bodyPr/>
          <a:lstStyle/>
          <a:p>
            <a:pPr algn="ctr"/>
            <a:r>
              <a:rPr lang="en-US" dirty="0" smtClean="0">
                <a:latin typeface="Albertus Extra Bold" pitchFamily="34" charset="0"/>
              </a:rPr>
              <a:t>ALL PROGRAMMES IN EKSU ARE VIABLE PROVIDED WE ARE READY TO WORK HAND IN HAND TO MAKE EKSU GREAT. </a:t>
            </a:r>
            <a:endParaRPr lang="en-GB" dirty="0"/>
          </a:p>
        </p:txBody>
      </p:sp>
      <p:pic>
        <p:nvPicPr>
          <p:cNvPr id="4" name="Picture 3" descr="clap-animated-animation-clap-smiley-emoticon-000340-large.gif"/>
          <p:cNvPicPr>
            <a:picLocks noChangeAspect="1"/>
          </p:cNvPicPr>
          <p:nvPr/>
        </p:nvPicPr>
        <p:blipFill>
          <a:blip r:embed="rId2"/>
          <a:stretch>
            <a:fillRect/>
          </a:stretch>
        </p:blipFill>
        <p:spPr>
          <a:xfrm>
            <a:off x="3100277" y="641350"/>
            <a:ext cx="2461447" cy="2482850"/>
          </a:xfrm>
          <a:prstGeom prst="rect">
            <a:avLst/>
          </a:prstGeom>
        </p:spPr>
      </p:pic>
    </p:spTree>
    <p:extLst>
      <p:ext uri="{BB962C8B-B14F-4D97-AF65-F5344CB8AC3E}">
        <p14:creationId xmlns:p14="http://schemas.microsoft.com/office/powerpoint/2010/main" val="1341760898"/>
      </p:ext>
    </p:extLst>
  </p:cSld>
  <p:clrMapOvr>
    <a:masterClrMapping/>
  </p:clrMapOvr>
  <p:transition>
    <p:random/>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323</TotalTime>
  <Words>516</Words>
  <Application>Microsoft Office PowerPoint</Application>
  <PresentationFormat>On-screen Show (4:3)</PresentationFormat>
  <Paragraphs>107</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Albertus Extra Bold</vt:lpstr>
      <vt:lpstr>Algerian</vt:lpstr>
      <vt:lpstr>Arial</vt:lpstr>
      <vt:lpstr>Calibri</vt:lpstr>
      <vt:lpstr>Eras Bold ITC</vt:lpstr>
      <vt:lpstr>Times New Roman</vt:lpstr>
      <vt:lpstr>Wingdings</vt:lpstr>
      <vt:lpstr>Office Theme</vt:lpstr>
      <vt:lpstr>ACADEMIC PROGRAMMES VIABILITY REGARDING TO ACCREDITATION STATUS AND VALID STATISTICAL DATA: CHALLENGES AND WAY FORWARD.</vt:lpstr>
      <vt:lpstr>INTRODUCTION</vt:lpstr>
      <vt:lpstr>TYPES OF VIABILITY TEST</vt:lpstr>
      <vt:lpstr>What is ACCREDITATION</vt:lpstr>
      <vt:lpstr>Programme ACCREDITATION PARAMETERS</vt:lpstr>
      <vt:lpstr>Programme ACCREDITATION PARAMETERS</vt:lpstr>
      <vt:lpstr>Programme ACCREDITATION PARAMETERS</vt:lpstr>
      <vt:lpstr>Programme ACCREDITATION PARAMETERS</vt:lpstr>
      <vt:lpstr>Programme ACCREDITATION RESULTS</vt:lpstr>
      <vt:lpstr>Programme ACCREDITATION RESULTS</vt:lpstr>
      <vt:lpstr>WHERE IS EKSU?</vt:lpstr>
      <vt:lpstr>CHALLENGES</vt:lpstr>
      <vt:lpstr>WAY FORWARD</vt:lpstr>
      <vt:lpstr>WAY FORWARD</vt:lpstr>
      <vt:lpstr> THANK YOU GOD BLESS YOU ALL</vt:lpstr>
    </vt:vector>
  </TitlesOfParts>
  <Company>Hewlett-Packard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ACADEMIC PROGRAMME VIABILITY REGARDING TO ACCREDITATION STATUS AND VALID STATISTICAL DATA: CHALLENGES AND WAY FORWARD.</dc:title>
  <dc:creator>DAP</dc:creator>
  <cp:lastModifiedBy>DAP</cp:lastModifiedBy>
  <cp:revision>39</cp:revision>
  <cp:lastPrinted>2016-02-03T08:19:53Z</cp:lastPrinted>
  <dcterms:created xsi:type="dcterms:W3CDTF">2016-02-02T13:52:17Z</dcterms:created>
  <dcterms:modified xsi:type="dcterms:W3CDTF">2016-02-03T08:39:41Z</dcterms:modified>
</cp:coreProperties>
</file>