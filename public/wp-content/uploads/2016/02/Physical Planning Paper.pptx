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923F103-BC34-4FE4-A40E-EDDEECFDA5D0}" type="datetimeFigureOut">
              <a:rPr lang="en-US" smtClean="0"/>
              <a:pPr/>
              <a:t>2/3/2016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66765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19C9CA7B-DFD4-44B5-8C60-D14B8CD1FB59}" type="datetimeFigureOut">
              <a:rPr lang="en-US" smtClean="0"/>
              <a:t>2/3/2016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3736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smtClean="0"/>
              <a:t>2/3/2016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8574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2/3/2016</a:t>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35334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2/3/2016</a:t>
            </a:fld>
            <a:endParaRPr lang="en-US" dirty="0"/>
          </a:p>
        </p:txBody>
      </p:sp>
      <p:sp>
        <p:nvSpPr>
          <p:cNvPr id="8" name="Footer Placeholder 7"/>
          <p:cNvSpPr>
            <a:spLocks noGrp="1"/>
          </p:cNvSpPr>
          <p:nvPr>
            <p:ph type="ftr" sz="quarter" idx="11"/>
          </p:nvPr>
        </p:nvSpPr>
        <p:spPr/>
        <p:txBody>
          <a:bodyPr/>
          <a:lstStyle/>
          <a:p>
            <a:r>
              <a:rPr lang="en-US" smtClean="0"/>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2412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7AA18ACC-A947-437B-A130-35BD54FDF1E9}" type="datetimeFigureOut">
              <a:rPr lang="en-US" smtClean="0"/>
              <a:t>2/3/2016</a:t>
            </a:fld>
            <a:endParaRPr lang="en-US" dirty="0"/>
          </a:p>
        </p:txBody>
      </p:sp>
      <p:sp>
        <p:nvSpPr>
          <p:cNvPr id="5" name="Footer Placeholder 3"/>
          <p:cNvSpPr>
            <a:spLocks noGrp="1"/>
          </p:cNvSpPr>
          <p:nvPr>
            <p:ph type="ftr" sz="quarter" idx="11"/>
          </p:nvPr>
        </p:nvSpPr>
        <p:spPr/>
        <p:txBody>
          <a:bodyPr/>
          <a:lstStyle/>
          <a:p>
            <a:r>
              <a:rPr lang="en-US" smtClean="0"/>
              <a:t>
              </a:t>
            </a:r>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74412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C8D7E02-BCB8-4D50-A234-369438C08659}" type="datetimeFigureOut">
              <a:rPr lang="en-US" smtClean="0"/>
              <a:t>2/3/2016</a:t>
            </a:fld>
            <a:endParaRPr lang="en-US" dirty="0"/>
          </a:p>
        </p:txBody>
      </p:sp>
      <p:sp>
        <p:nvSpPr>
          <p:cNvPr id="5" name="Footer Placeholder 2"/>
          <p:cNvSpPr>
            <a:spLocks noGrp="1"/>
          </p:cNvSpPr>
          <p:nvPr>
            <p:ph type="ftr" sz="quarter" idx="11"/>
          </p:nvPr>
        </p:nvSpPr>
        <p:spPr/>
        <p:txBody>
          <a:bodyPr/>
          <a:lstStyle/>
          <a:p>
            <a:r>
              <a:rPr lang="en-US" smtClean="0"/>
              <a:t>
              </a:t>
            </a:r>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02763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76E86A4C-8E40-4F87-A4F0-01A0687C5742}" type="datetimeFigureOut">
              <a:rPr lang="en-US" smtClean="0"/>
              <a:t>2/3/2016</a:t>
            </a:fld>
            <a:endParaRPr lang="en-US" dirty="0"/>
          </a:p>
        </p:txBody>
      </p:sp>
      <p:sp>
        <p:nvSpPr>
          <p:cNvPr id="5" name="Footer Placeholder 5"/>
          <p:cNvSpPr>
            <a:spLocks noGrp="1"/>
          </p:cNvSpPr>
          <p:nvPr>
            <p:ph type="ftr" sz="quarter" idx="11"/>
          </p:nvPr>
        </p:nvSpPr>
        <p:spPr/>
        <p:txBody>
          <a:bodyPr/>
          <a:lstStyle/>
          <a:p>
            <a:r>
              <a:rPr lang="en-US" smtClean="0"/>
              <a:t>
              </a:t>
            </a:r>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07157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2/3/2016</a:t>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94071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smtClean="0"/>
              <a:t>2/3/2016</a:t>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0261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smtClean="0"/>
              <a:t>2/3/2016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46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smtClean="0"/>
              <a:t>2/3/2016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41463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smtClean="0"/>
              <a:t>2/3/2016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5806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FE86839-B9D8-4651-8783-F325ECE74E65}" type="datetimeFigureOut">
              <a:rPr lang="en-US" smtClean="0"/>
              <a:t>2/3/2016</a:t>
            </a:fld>
            <a:endParaRPr lang="en-US" dirty="0"/>
          </a:p>
        </p:txBody>
      </p:sp>
      <p:sp>
        <p:nvSpPr>
          <p:cNvPr id="4"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44257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D484F64-32F6-45C5-931F-ADC1662401D0}" type="datetimeFigureOut">
              <a:rPr lang="en-US" smtClean="0"/>
              <a:t>2/3/2016</a:t>
            </a:fld>
            <a:endParaRPr lang="en-US" dirty="0"/>
          </a:p>
        </p:txBody>
      </p:sp>
      <p:sp>
        <p:nvSpPr>
          <p:cNvPr id="4"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79467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2/3/2016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90548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2/3/2016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5561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BE451C3-0FF4-47C4-B829-773ADF60F88C}" type="datetimeFigureOut">
              <a:rPr lang="en-US" smtClean="0"/>
              <a:t>2/3/2016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smtClean="0"/>
              <a:t>
              </a:t>
            </a:r>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96472990"/>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3608" y="587992"/>
            <a:ext cx="8248352" cy="2046026"/>
          </a:xfrm>
        </p:spPr>
        <p:txBody>
          <a:bodyPr/>
          <a:lstStyle/>
          <a:p>
            <a:r>
              <a:rPr lang="en-US" sz="3600" b="1" dirty="0" smtClean="0"/>
              <a:t>	EKITI </a:t>
            </a:r>
            <a:r>
              <a:rPr lang="en-US" sz="3600" b="1" dirty="0"/>
              <a:t>STATE UNIVERSITY, NIGERIA</a:t>
            </a:r>
            <a:r>
              <a:rPr lang="en-GB" sz="3600" dirty="0"/>
              <a:t/>
            </a:r>
            <a:br>
              <a:rPr lang="en-GB" sz="3600" dirty="0"/>
            </a:br>
            <a:r>
              <a:rPr lang="en-US" sz="3600" b="1" dirty="0"/>
              <a:t>    PHYSICAL PLANNING DEPARTMENT</a:t>
            </a:r>
            <a:r>
              <a:rPr lang="en-GB" sz="3600" dirty="0"/>
              <a:t/>
            </a:r>
            <a:br>
              <a:rPr lang="en-GB" sz="3600" dirty="0"/>
            </a:br>
            <a:endParaRPr lang="en-GB" sz="3600" dirty="0"/>
          </a:p>
        </p:txBody>
      </p:sp>
      <p:sp>
        <p:nvSpPr>
          <p:cNvPr id="3" name="Subtitle 2"/>
          <p:cNvSpPr>
            <a:spLocks noGrp="1"/>
          </p:cNvSpPr>
          <p:nvPr>
            <p:ph type="subTitle" idx="1"/>
          </p:nvPr>
        </p:nvSpPr>
        <p:spPr>
          <a:xfrm>
            <a:off x="354842" y="2634018"/>
            <a:ext cx="11354937" cy="3591636"/>
          </a:xfrm>
        </p:spPr>
        <p:txBody>
          <a:bodyPr>
            <a:normAutofit/>
          </a:bodyPr>
          <a:lstStyle/>
          <a:p>
            <a:pPr algn="ctr"/>
            <a:r>
              <a:rPr lang="en-US" sz="2400" b="1" dirty="0"/>
              <a:t>PHYSICAL PLANNING DEPARTMENT:  POSITION PAPER ON THE STATE AND SECURITY OF INFRASTRUCTURAL FACILITIES AT EKITI STATE UNIVERISTY, ADO-EKITI CAMPUS AT THE ACADEMIC SUMMIT </a:t>
            </a:r>
            <a:r>
              <a:rPr lang="en-US" sz="2400" b="1" dirty="0" smtClean="0"/>
              <a:t>2016</a:t>
            </a:r>
            <a:endParaRPr lang="en-GB" sz="2400" dirty="0"/>
          </a:p>
          <a:p>
            <a:pPr algn="ctr"/>
            <a:r>
              <a:rPr lang="en-US" sz="2400" b="1" dirty="0" smtClean="0"/>
              <a:t>PRESENTED </a:t>
            </a:r>
            <a:r>
              <a:rPr lang="en-US" sz="2400" b="1" dirty="0"/>
              <a:t>BY BLDR. E. O. ABULEFON, COORDINATOR PHYSICAL PLANNING</a:t>
            </a:r>
            <a:endParaRPr lang="en-GB" sz="2400" dirty="0"/>
          </a:p>
        </p:txBody>
      </p:sp>
    </p:spTree>
    <p:extLst>
      <p:ext uri="{BB962C8B-B14F-4D97-AF65-F5344CB8AC3E}">
        <p14:creationId xmlns:p14="http://schemas.microsoft.com/office/powerpoint/2010/main" val="1869464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1444" y="330735"/>
            <a:ext cx="11163869" cy="5693866"/>
          </a:xfrm>
          <a:prstGeom prst="rect">
            <a:avLst/>
          </a:prstGeom>
        </p:spPr>
        <p:txBody>
          <a:bodyPr wrap="square">
            <a:spAutoFit/>
          </a:bodyPr>
          <a:lstStyle/>
          <a:p>
            <a:pPr>
              <a:lnSpc>
                <a:spcPct val="150000"/>
              </a:lnSpc>
              <a:spcAft>
                <a:spcPts val="0"/>
              </a:spcAft>
            </a:pPr>
            <a:r>
              <a:rPr lang="en-US" sz="2800" dirty="0">
                <a:latin typeface="Calibri" panose="020F0502020204030204" pitchFamily="34" charset="0"/>
                <a:ea typeface="Calibri" panose="020F0502020204030204" pitchFamily="34" charset="0"/>
                <a:cs typeface="Times New Roman" panose="02020603050405020304" pitchFamily="18" charset="0"/>
              </a:rPr>
              <a:t>The University management started off in a modest way at Old Catering Rest House, </a:t>
            </a:r>
            <a:r>
              <a:rPr lang="en-US" sz="2800" dirty="0" err="1">
                <a:latin typeface="Calibri" panose="020F0502020204030204" pitchFamily="34" charset="0"/>
                <a:ea typeface="Calibri" panose="020F0502020204030204" pitchFamily="34" charset="0"/>
                <a:cs typeface="Times New Roman" panose="02020603050405020304" pitchFamily="18" charset="0"/>
              </a:rPr>
              <a:t>Akure</a:t>
            </a:r>
            <a:r>
              <a:rPr lang="en-US" sz="2800" dirty="0">
                <a:latin typeface="Calibri" panose="020F0502020204030204" pitchFamily="34" charset="0"/>
                <a:ea typeface="Calibri" panose="020F0502020204030204" pitchFamily="34" charset="0"/>
                <a:cs typeface="Times New Roman" panose="02020603050405020304" pitchFamily="18" charset="0"/>
              </a:rPr>
              <a:t>.</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pPr>
            <a:r>
              <a:rPr lang="en-US" sz="2800" dirty="0">
                <a:latin typeface="Calibri" panose="020F0502020204030204" pitchFamily="34" charset="0"/>
                <a:ea typeface="Calibri" panose="020F0502020204030204" pitchFamily="34" charset="0"/>
                <a:cs typeface="Times New Roman" panose="02020603050405020304" pitchFamily="18" charset="0"/>
              </a:rPr>
              <a:t>Subsequently, the University Administration Office moved to </a:t>
            </a:r>
            <a:r>
              <a:rPr lang="en-US" sz="2800" dirty="0" err="1">
                <a:latin typeface="Calibri" panose="020F0502020204030204" pitchFamily="34" charset="0"/>
                <a:ea typeface="Calibri" panose="020F0502020204030204" pitchFamily="34" charset="0"/>
                <a:cs typeface="Times New Roman" panose="02020603050405020304" pitchFamily="18" charset="0"/>
              </a:rPr>
              <a:t>Odoba</a:t>
            </a:r>
            <a:r>
              <a:rPr lang="en-US" sz="2800" dirty="0">
                <a:latin typeface="Calibri" panose="020F0502020204030204" pitchFamily="34" charset="0"/>
                <a:ea typeface="Calibri" panose="020F0502020204030204" pitchFamily="34" charset="0"/>
                <a:cs typeface="Times New Roman" panose="02020603050405020304" pitchFamily="18" charset="0"/>
              </a:rPr>
              <a:t> Castle at </a:t>
            </a:r>
            <a:r>
              <a:rPr lang="en-US" sz="2800" dirty="0" err="1">
                <a:latin typeface="Calibri" panose="020F0502020204030204" pitchFamily="34" charset="0"/>
                <a:ea typeface="Calibri" panose="020F0502020204030204" pitchFamily="34" charset="0"/>
                <a:cs typeface="Times New Roman" panose="02020603050405020304" pitchFamily="18" charset="0"/>
              </a:rPr>
              <a:t>Oke</a:t>
            </a:r>
            <a:r>
              <a:rPr lang="en-US" sz="2800" dirty="0">
                <a:latin typeface="Calibri" panose="020F0502020204030204" pitchFamily="34" charset="0"/>
                <a:ea typeface="Calibri" panose="020F0502020204030204" pitchFamily="34" charset="0"/>
                <a:cs typeface="Times New Roman" panose="02020603050405020304" pitchFamily="18" charset="0"/>
              </a:rPr>
              <a:t>-Ori Omi, Ado-</a:t>
            </a:r>
            <a:r>
              <a:rPr lang="en-US" sz="2800" dirty="0" err="1">
                <a:latin typeface="Calibri" panose="020F0502020204030204" pitchFamily="34" charset="0"/>
                <a:ea typeface="Calibri" panose="020F0502020204030204" pitchFamily="34" charset="0"/>
                <a:cs typeface="Times New Roman" panose="02020603050405020304" pitchFamily="18" charset="0"/>
              </a:rPr>
              <a:t>Ekiti</a:t>
            </a:r>
            <a:r>
              <a:rPr lang="en-US" sz="2800" dirty="0">
                <a:latin typeface="Calibri" panose="020F0502020204030204" pitchFamily="34" charset="0"/>
                <a:ea typeface="Calibri" panose="020F0502020204030204" pitchFamily="34" charset="0"/>
                <a:cs typeface="Times New Roman" panose="02020603050405020304" pitchFamily="18" charset="0"/>
              </a:rPr>
              <a:t> while the temporary sited was located at </a:t>
            </a:r>
            <a:r>
              <a:rPr lang="en-US" sz="2800" dirty="0" err="1">
                <a:latin typeface="Calibri" panose="020F0502020204030204" pitchFamily="34" charset="0"/>
                <a:ea typeface="Calibri" panose="020F0502020204030204" pitchFamily="34" charset="0"/>
                <a:cs typeface="Times New Roman" panose="02020603050405020304" pitchFamily="18" charset="0"/>
              </a:rPr>
              <a:t>Ajitadidun</a:t>
            </a:r>
            <a:r>
              <a:rPr lang="en-US" sz="2800" dirty="0">
                <a:latin typeface="Calibri" panose="020F0502020204030204" pitchFamily="34" charset="0"/>
                <a:ea typeface="Calibri" panose="020F0502020204030204" pitchFamily="34" charset="0"/>
                <a:cs typeface="Times New Roman" panose="02020603050405020304" pitchFamily="18" charset="0"/>
              </a:rPr>
              <a:t> Campus </a:t>
            </a:r>
            <a:r>
              <a:rPr lang="en-US" sz="2800" dirty="0" err="1">
                <a:latin typeface="Calibri" panose="020F0502020204030204" pitchFamily="34" charset="0"/>
                <a:ea typeface="Calibri" panose="020F0502020204030204" pitchFamily="34" charset="0"/>
                <a:cs typeface="Times New Roman" panose="02020603050405020304" pitchFamily="18" charset="0"/>
              </a:rPr>
              <a:t>Olora</a:t>
            </a:r>
            <a:r>
              <a:rPr lang="en-US" sz="2800" dirty="0">
                <a:latin typeface="Calibri" panose="020F0502020204030204" pitchFamily="34" charset="0"/>
                <a:ea typeface="Calibri" panose="020F0502020204030204" pitchFamily="34" charset="0"/>
                <a:cs typeface="Times New Roman" panose="02020603050405020304" pitchFamily="18" charset="0"/>
              </a:rPr>
              <a:t> Layout </a:t>
            </a:r>
            <a:r>
              <a:rPr lang="en-US" sz="2800" dirty="0" err="1">
                <a:latin typeface="Calibri" panose="020F0502020204030204" pitchFamily="34" charset="0"/>
                <a:ea typeface="Calibri" panose="020F0502020204030204" pitchFamily="34" charset="0"/>
                <a:cs typeface="Times New Roman" panose="02020603050405020304" pitchFamily="18" charset="0"/>
              </a:rPr>
              <a:t>Opopgbooro</a:t>
            </a:r>
            <a:r>
              <a:rPr lang="en-US" sz="2800" dirty="0">
                <a:latin typeface="Calibri" panose="020F0502020204030204" pitchFamily="34" charset="0"/>
                <a:ea typeface="Calibri" panose="020F0502020204030204" pitchFamily="34" charset="0"/>
                <a:cs typeface="Times New Roman" panose="02020603050405020304" pitchFamily="18" charset="0"/>
              </a:rPr>
              <a:t>, Ado-</a:t>
            </a:r>
            <a:r>
              <a:rPr lang="en-US" sz="2800" dirty="0" err="1">
                <a:latin typeface="Calibri" panose="020F0502020204030204" pitchFamily="34" charset="0"/>
                <a:ea typeface="Calibri" panose="020F0502020204030204" pitchFamily="34" charset="0"/>
                <a:cs typeface="Times New Roman" panose="02020603050405020304" pitchFamily="18" charset="0"/>
              </a:rPr>
              <a:t>Ekiti</a:t>
            </a:r>
            <a:r>
              <a:rPr lang="en-US" sz="2800" dirty="0">
                <a:latin typeface="Calibri" panose="020F0502020204030204" pitchFamily="34" charset="0"/>
                <a:ea typeface="Calibri" panose="020F0502020204030204" pitchFamily="34" charset="0"/>
                <a:cs typeface="Times New Roman" panose="02020603050405020304" pitchFamily="18" charset="0"/>
              </a:rPr>
              <a:t>.  When academic activities began, the Science Laboratory was sited at Christ’s School, Ado-</a:t>
            </a:r>
            <a:r>
              <a:rPr lang="en-US" sz="2800" dirty="0" err="1">
                <a:latin typeface="Calibri" panose="020F0502020204030204" pitchFamily="34" charset="0"/>
                <a:ea typeface="Calibri" panose="020F0502020204030204" pitchFamily="34" charset="0"/>
                <a:cs typeface="Times New Roman" panose="02020603050405020304" pitchFamily="18" charset="0"/>
              </a:rPr>
              <a:t>Ekiti</a:t>
            </a:r>
            <a:r>
              <a:rPr lang="en-US" sz="2800" dirty="0">
                <a:latin typeface="Calibri" panose="020F0502020204030204" pitchFamily="34" charset="0"/>
                <a:ea typeface="Calibri" panose="020F0502020204030204" pitchFamily="34" charset="0"/>
                <a:cs typeface="Times New Roman" panose="02020603050405020304" pitchFamily="18" charset="0"/>
              </a:rPr>
              <a:t> and the University Library operated from </a:t>
            </a:r>
            <a:r>
              <a:rPr lang="en-US" sz="2800" dirty="0" err="1">
                <a:latin typeface="Calibri" panose="020F0502020204030204" pitchFamily="34" charset="0"/>
                <a:ea typeface="Calibri" panose="020F0502020204030204" pitchFamily="34" charset="0"/>
                <a:cs typeface="Times New Roman" panose="02020603050405020304" pitchFamily="18" charset="0"/>
              </a:rPr>
              <a:t>Jinadu</a:t>
            </a:r>
            <a:r>
              <a:rPr lang="en-US" sz="2800" dirty="0">
                <a:latin typeface="Calibri" panose="020F0502020204030204" pitchFamily="34" charset="0"/>
                <a:ea typeface="Calibri" panose="020F0502020204030204" pitchFamily="34" charset="0"/>
                <a:cs typeface="Times New Roman" panose="02020603050405020304" pitchFamily="18" charset="0"/>
              </a:rPr>
              <a:t> Building Opposite State Hospital Building Opposite State Hospital (now EKSUTH) Ado-</a:t>
            </a:r>
            <a:r>
              <a:rPr lang="en-US" sz="2800" dirty="0" err="1">
                <a:latin typeface="Calibri" panose="020F0502020204030204" pitchFamily="34" charset="0"/>
                <a:ea typeface="Calibri" panose="020F0502020204030204" pitchFamily="34" charset="0"/>
                <a:cs typeface="Times New Roman" panose="02020603050405020304" pitchFamily="18" charset="0"/>
              </a:rPr>
              <a:t>Ekiti</a:t>
            </a:r>
            <a:r>
              <a:rPr lang="en-US" sz="2800" dirty="0">
                <a:latin typeface="Calibri" panose="020F0502020204030204" pitchFamily="34" charset="0"/>
                <a:ea typeface="Calibri" panose="020F0502020204030204" pitchFamily="34" charset="0"/>
                <a:cs typeface="Times New Roman" panose="02020603050405020304" pitchFamily="18" charset="0"/>
              </a:rPr>
              <a:t>.</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sz="2800" dirty="0">
                <a:latin typeface="Calibri" panose="020F0502020204030204" pitchFamily="34" charset="0"/>
                <a:ea typeface="Calibri" panose="020F0502020204030204" pitchFamily="34" charset="0"/>
                <a:cs typeface="Times New Roman" panose="02020603050405020304" pitchFamily="18" charset="0"/>
              </a:rPr>
              <a:t> </a:t>
            </a:r>
            <a:endParaRPr lang="en-GB"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61207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6980" y="650250"/>
            <a:ext cx="10495128" cy="5842497"/>
          </a:xfrm>
          <a:prstGeom prst="rect">
            <a:avLst/>
          </a:prstGeom>
        </p:spPr>
        <p:txBody>
          <a:bodyPr wrap="square">
            <a:spAutoFit/>
          </a:bodyPr>
          <a:lstStyle/>
          <a:p>
            <a:pPr>
              <a:lnSpc>
                <a:spcPct val="150000"/>
              </a:lnSpc>
              <a:spcAft>
                <a:spcPts val="0"/>
              </a:spcAft>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Physical Planning Department is in charge of the Physical Development of the University.  Based on the projected space requirements and also in consideration of the provisions of the Master plan.  The Physical Planning Department advises the Vice-Chancellor on the Physical development </a:t>
            </a:r>
            <a:r>
              <a:rPr lang="en-US" sz="2800" dirty="0" err="1">
                <a:latin typeface="Calibri" panose="020F0502020204030204" pitchFamily="34" charset="0"/>
                <a:ea typeface="Calibri" panose="020F0502020204030204" pitchFamily="34" charset="0"/>
                <a:cs typeface="Times New Roman" panose="02020603050405020304" pitchFamily="18" charset="0"/>
              </a:rPr>
              <a:t>programmes</a:t>
            </a:r>
            <a:r>
              <a:rPr lang="en-US" sz="2800" dirty="0">
                <a:latin typeface="Calibri" panose="020F0502020204030204" pitchFamily="34" charset="0"/>
                <a:ea typeface="Calibri" panose="020F0502020204030204" pitchFamily="34" charset="0"/>
                <a:cs typeface="Times New Roman" panose="02020603050405020304" pitchFamily="18" charset="0"/>
              </a:rPr>
              <a:t> of the University vis-à-vis the master plan and responsible to the Vice-Chancellor for day to day activities.  It involves an efficient space utilization policy and procedure for the University, monitors it adequately, revises and update it promptly and ensure compliance. </a:t>
            </a:r>
            <a:endParaRPr lang="en-GB"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15072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604" y="0"/>
            <a:ext cx="11477767" cy="6124754"/>
          </a:xfrm>
          <a:prstGeom prst="rect">
            <a:avLst/>
          </a:prstGeom>
        </p:spPr>
        <p:txBody>
          <a:bodyPr wrap="square">
            <a:spAutoFit/>
          </a:bodyPr>
          <a:lstStyle/>
          <a:p>
            <a:pPr>
              <a:lnSpc>
                <a:spcPct val="150000"/>
              </a:lnSpc>
              <a:spcAft>
                <a:spcPts val="0"/>
              </a:spcAft>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The University has an initial total land Area of 3,525.731 Hectare, Government has taken over 1,749.897 Hectare Area left for the University is now 1,776.834 Hectares.  Out of the 1,776.834 Hectare of land left for the University the land owners (</a:t>
            </a:r>
            <a:r>
              <a:rPr lang="en-US" sz="2800" dirty="0" err="1">
                <a:latin typeface="Calibri" panose="020F0502020204030204" pitchFamily="34" charset="0"/>
                <a:ea typeface="Calibri" panose="020F0502020204030204" pitchFamily="34" charset="0"/>
                <a:cs typeface="Times New Roman" panose="02020603050405020304" pitchFamily="18" charset="0"/>
              </a:rPr>
              <a:t>Omo</a:t>
            </a:r>
            <a:r>
              <a:rPr lang="en-US" sz="2800" dirty="0">
                <a:latin typeface="Calibri" panose="020F0502020204030204" pitchFamily="34" charset="0"/>
                <a:ea typeface="Calibri" panose="020F0502020204030204" pitchFamily="34" charset="0"/>
                <a:cs typeface="Times New Roman" panose="02020603050405020304" pitchFamily="18" charset="0"/>
              </a:rPr>
              <a:t> </a:t>
            </a:r>
            <a:r>
              <a:rPr lang="en-US" sz="2800" dirty="0" err="1">
                <a:latin typeface="Calibri" panose="020F0502020204030204" pitchFamily="34" charset="0"/>
                <a:ea typeface="Calibri" panose="020F0502020204030204" pitchFamily="34" charset="0"/>
                <a:cs typeface="Times New Roman" panose="02020603050405020304" pitchFamily="18" charset="0"/>
              </a:rPr>
              <a:t>onile</a:t>
            </a:r>
            <a:r>
              <a:rPr lang="en-US" sz="2800" dirty="0">
                <a:latin typeface="Calibri" panose="020F0502020204030204" pitchFamily="34" charset="0"/>
                <a:ea typeface="Calibri" panose="020F0502020204030204" pitchFamily="34" charset="0"/>
                <a:cs typeface="Times New Roman" panose="02020603050405020304" pitchFamily="18" charset="0"/>
              </a:rPr>
              <a:t>) did not allow the University to develop structures or even farm on it, they were claiming that compensations were not paid to them.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6320790" algn="r"/>
              </a:tabLst>
            </a:pPr>
            <a:r>
              <a:rPr lang="en-US" sz="2800" dirty="0">
                <a:latin typeface="Calibri" panose="020F0502020204030204" pitchFamily="34" charset="0"/>
                <a:ea typeface="Calibri" panose="020F0502020204030204" pitchFamily="34" charset="0"/>
                <a:cs typeface="Times New Roman" panose="02020603050405020304" pitchFamily="18" charset="0"/>
              </a:rPr>
              <a:t>The area used is 1.8 hectare.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0"/>
              </a:spcAft>
              <a:buFont typeface="+mj-lt"/>
              <a:buAutoNum type="arabicPeriod"/>
              <a:tabLst>
                <a:tab pos="5248275" algn="l"/>
              </a:tabLst>
            </a:pPr>
            <a:r>
              <a:rPr lang="en-US" sz="2800" b="1" dirty="0">
                <a:latin typeface="Calibri" panose="020F0502020204030204" pitchFamily="34" charset="0"/>
                <a:ea typeface="Calibri" panose="020F0502020204030204" pitchFamily="34" charset="0"/>
                <a:cs typeface="Times New Roman" panose="02020603050405020304" pitchFamily="18" charset="0"/>
              </a:rPr>
              <a:t>STRUCTURES ON </a:t>
            </a:r>
            <a:r>
              <a:rPr lang="en-US" sz="2800" b="1" dirty="0" smtClean="0">
                <a:latin typeface="Calibri" panose="020F0502020204030204" pitchFamily="34" charset="0"/>
                <a:ea typeface="Calibri" panose="020F0502020204030204" pitchFamily="34" charset="0"/>
                <a:cs typeface="Times New Roman" panose="02020603050405020304" pitchFamily="18" charset="0"/>
              </a:rPr>
              <a:t>GROUND</a:t>
            </a:r>
            <a:r>
              <a:rPr lang="en-US" sz="2800" dirty="0">
                <a:latin typeface="Calibri" panose="020F0502020204030204" pitchFamily="34" charset="0"/>
                <a:ea typeface="Calibri" panose="020F0502020204030204" pitchFamily="34" charset="0"/>
                <a:cs typeface="Times New Roman" panose="02020603050405020304" pitchFamily="18" charset="0"/>
              </a:rPr>
              <a:t>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0"/>
              </a:spcAft>
              <a:buFont typeface="+mj-lt"/>
              <a:buAutoNum type="alphaLcPeriod"/>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Lecture theatres completed and in use     -     26Nos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0"/>
              </a:spcAft>
              <a:buFont typeface="+mj-lt"/>
              <a:buAutoNum type="alphaLcPeriod"/>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Laboratories                                                    -    40Nos</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0"/>
              </a:spcAft>
              <a:buFont typeface="+mj-lt"/>
              <a:buAutoNum type="alphaLcPeriod"/>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Administrative Offices                                   -    43Nos</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0"/>
              </a:spcAft>
              <a:buFont typeface="+mj-lt"/>
              <a:buAutoNum type="alphaLcPeriod"/>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Hostels                                                              -   </a:t>
            </a:r>
            <a:r>
              <a:rPr lang="en-US" sz="2800" dirty="0" smtClean="0">
                <a:latin typeface="Calibri" panose="020F0502020204030204" pitchFamily="34" charset="0"/>
                <a:ea typeface="Calibri" panose="020F0502020204030204" pitchFamily="34" charset="0"/>
                <a:cs typeface="Times New Roman" panose="02020603050405020304" pitchFamily="18" charset="0"/>
              </a:rPr>
              <a:t>4Nos</a:t>
            </a:r>
            <a:endParaRPr lang="en-GB"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03329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0251" y="382137"/>
            <a:ext cx="11409528" cy="5693866"/>
          </a:xfrm>
          <a:prstGeom prst="rect">
            <a:avLst/>
          </a:prstGeom>
        </p:spPr>
        <p:txBody>
          <a:bodyPr wrap="square">
            <a:spAutoFit/>
          </a:bodyPr>
          <a:lstStyle/>
          <a:p>
            <a:pPr lvl="0">
              <a:spcAft>
                <a:spcPts val="0"/>
              </a:spcAft>
              <a:tabLst>
                <a:tab pos="5248275" algn="l"/>
              </a:tabLst>
            </a:pPr>
            <a:r>
              <a:rPr lang="en-US" sz="2800" dirty="0" smtClean="0">
                <a:latin typeface="Calibri" panose="020F0502020204030204" pitchFamily="34" charset="0"/>
                <a:ea typeface="Calibri" panose="020F0502020204030204" pitchFamily="34" charset="0"/>
                <a:cs typeface="Times New Roman" panose="02020603050405020304" pitchFamily="18" charset="0"/>
              </a:rPr>
              <a:t>2. </a:t>
            </a:r>
            <a:r>
              <a:rPr lang="en-US" sz="2800" b="1" dirty="0" smtClean="0">
                <a:latin typeface="Calibri" panose="020F0502020204030204" pitchFamily="34" charset="0"/>
                <a:ea typeface="Calibri" panose="020F0502020204030204" pitchFamily="34" charset="0"/>
                <a:cs typeface="Times New Roman" panose="02020603050405020304" pitchFamily="18" charset="0"/>
              </a:rPr>
              <a:t>ROAD NETWORK </a:t>
            </a:r>
            <a:r>
              <a:rPr lang="en-US" sz="2800" dirty="0" smtClean="0">
                <a:latin typeface="Calibri" panose="020F0502020204030204" pitchFamily="34" charset="0"/>
                <a:ea typeface="Calibri" panose="020F0502020204030204" pitchFamily="34" charset="0"/>
                <a:cs typeface="Times New Roman" panose="02020603050405020304" pitchFamily="18" charset="0"/>
              </a:rPr>
              <a:t>– </a:t>
            </a:r>
            <a:r>
              <a:rPr lang="en-US" sz="2800" dirty="0">
                <a:latin typeface="Calibri" panose="020F0502020204030204" pitchFamily="34" charset="0"/>
                <a:ea typeface="Calibri" panose="020F0502020204030204" pitchFamily="34" charset="0"/>
                <a:cs typeface="Times New Roman" panose="02020603050405020304" pitchFamily="18" charset="0"/>
              </a:rPr>
              <a:t>good access roads network to all the existing structures except to the new buildings under construction.</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r>
              <a:rPr lang="en-US" sz="2800" dirty="0" smtClean="0">
                <a:latin typeface="Calibri" panose="020F0502020204030204" pitchFamily="34" charset="0"/>
                <a:cs typeface="Times New Roman" panose="02020603050405020304" pitchFamily="18" charset="0"/>
              </a:rPr>
              <a:t>3. </a:t>
            </a:r>
            <a:r>
              <a:rPr lang="en-US" sz="2800" b="1" dirty="0" smtClean="0">
                <a:latin typeface="Calibri" panose="020F0502020204030204" pitchFamily="34" charset="0"/>
              </a:rPr>
              <a:t>ELECTRICITY </a:t>
            </a:r>
            <a:r>
              <a:rPr lang="en-US" sz="2800" b="1" dirty="0">
                <a:latin typeface="Calibri" panose="020F0502020204030204" pitchFamily="34" charset="0"/>
              </a:rPr>
              <a:t>SUPPLY</a:t>
            </a:r>
            <a:endParaRPr lang="en-GB" sz="2800" dirty="0">
              <a:latin typeface="Calibri" panose="020F0502020204030204" pitchFamily="34" charset="0"/>
            </a:endParaRPr>
          </a:p>
          <a:p>
            <a:r>
              <a:rPr lang="en-US" sz="2800" b="1" dirty="0">
                <a:latin typeface="Calibri" panose="020F0502020204030204" pitchFamily="34" charset="0"/>
              </a:rPr>
              <a:t> </a:t>
            </a:r>
            <a:endParaRPr lang="en-GB" sz="2800" dirty="0">
              <a:latin typeface="Calibri" panose="020F0502020204030204" pitchFamily="34" charset="0"/>
            </a:endParaRPr>
          </a:p>
          <a:p>
            <a:r>
              <a:rPr lang="en-US" sz="2800" dirty="0">
                <a:latin typeface="Calibri" panose="020F0502020204030204" pitchFamily="34" charset="0"/>
              </a:rPr>
              <a:t>The University has dedicated power line from </a:t>
            </a:r>
            <a:r>
              <a:rPr lang="en-US" sz="2800" dirty="0" err="1">
                <a:latin typeface="Calibri" panose="020F0502020204030204" pitchFamily="34" charset="0"/>
              </a:rPr>
              <a:t>Basiri</a:t>
            </a:r>
            <a:r>
              <a:rPr lang="en-US" sz="2800" dirty="0">
                <a:latin typeface="Calibri" panose="020F0502020204030204" pitchFamily="34" charset="0"/>
              </a:rPr>
              <a:t> to University Campus.  Although the dedicated lines had been tampered with  extension to other neighboring Communities. </a:t>
            </a:r>
            <a:endParaRPr lang="en-GB" sz="2800" dirty="0">
              <a:latin typeface="Calibri" panose="020F0502020204030204" pitchFamily="34" charset="0"/>
            </a:endParaRPr>
          </a:p>
          <a:p>
            <a:r>
              <a:rPr lang="en-US" sz="2800" dirty="0">
                <a:latin typeface="Calibri" panose="020F0502020204030204" pitchFamily="34" charset="0"/>
              </a:rPr>
              <a:t>	</a:t>
            </a:r>
            <a:endParaRPr lang="en-GB" sz="2800" dirty="0">
              <a:latin typeface="Calibri" panose="020F0502020204030204" pitchFamily="34" charset="0"/>
            </a:endParaRPr>
          </a:p>
          <a:p>
            <a:r>
              <a:rPr lang="en-US" sz="2800" dirty="0">
                <a:latin typeface="Calibri" panose="020F0502020204030204" pitchFamily="34" charset="0"/>
              </a:rPr>
              <a:t>The alternative source of power supply which is by means of generating sets which were put in place to solve the problem of Electricity on the Campus,  we have 1000KVA generator, 500KVA generator, 250 KVA generator, 350KVA generators and the solar system. </a:t>
            </a:r>
            <a:endParaRPr lang="en-GB" sz="2800" dirty="0">
              <a:latin typeface="Calibri" panose="020F0502020204030204" pitchFamily="34" charset="0"/>
            </a:endParaRPr>
          </a:p>
          <a:p>
            <a:r>
              <a:rPr lang="en-US" sz="2800" dirty="0">
                <a:latin typeface="Calibri" panose="020F0502020204030204" pitchFamily="34" charset="0"/>
              </a:rPr>
              <a:t> </a:t>
            </a:r>
            <a:endParaRPr lang="en-GB" sz="2800" dirty="0">
              <a:latin typeface="Calibri" panose="020F0502020204030204" pitchFamily="34" charset="0"/>
            </a:endParaRPr>
          </a:p>
        </p:txBody>
      </p:sp>
    </p:spTree>
    <p:extLst>
      <p:ext uri="{BB962C8B-B14F-4D97-AF65-F5344CB8AC3E}">
        <p14:creationId xmlns:p14="http://schemas.microsoft.com/office/powerpoint/2010/main" val="677417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899" y="0"/>
            <a:ext cx="11436824" cy="6986528"/>
          </a:xfrm>
          <a:prstGeom prst="rect">
            <a:avLst/>
          </a:prstGeom>
        </p:spPr>
        <p:txBody>
          <a:bodyPr wrap="square">
            <a:spAutoFit/>
          </a:bodyPr>
          <a:lstStyle/>
          <a:p>
            <a:pPr lvl="0"/>
            <a:r>
              <a:rPr lang="en-US" sz="2800" b="1" dirty="0">
                <a:latin typeface="Calibri" panose="020F0502020204030204" pitchFamily="34" charset="0"/>
              </a:rPr>
              <a:t>4. SPORTS  </a:t>
            </a:r>
            <a:r>
              <a:rPr lang="en-US" sz="2800" b="1" dirty="0" smtClean="0">
                <a:latin typeface="Calibri" panose="020F0502020204030204" pitchFamily="34" charset="0"/>
              </a:rPr>
              <a:t>CENTRES</a:t>
            </a:r>
            <a:endParaRPr lang="en-GB" sz="2800" dirty="0">
              <a:latin typeface="Calibri" panose="020F0502020204030204" pitchFamily="34" charset="0"/>
            </a:endParaRPr>
          </a:p>
          <a:p>
            <a:r>
              <a:rPr lang="en-US" sz="2800" dirty="0">
                <a:latin typeface="Calibri" panose="020F0502020204030204" pitchFamily="34" charset="0"/>
              </a:rPr>
              <a:t>We have sports </a:t>
            </a:r>
            <a:r>
              <a:rPr lang="en-US" sz="2800" dirty="0" err="1">
                <a:latin typeface="Calibri" panose="020F0502020204030204" pitchFamily="34" charset="0"/>
              </a:rPr>
              <a:t>centre</a:t>
            </a:r>
            <a:r>
              <a:rPr lang="en-US" sz="2800" dirty="0">
                <a:latin typeface="Calibri" panose="020F0502020204030204" pitchFamily="34" charset="0"/>
              </a:rPr>
              <a:t> which comprises of  </a:t>
            </a:r>
            <a:endParaRPr lang="en-GB" sz="2800" dirty="0">
              <a:latin typeface="Calibri" panose="020F0502020204030204" pitchFamily="34" charset="0"/>
            </a:endParaRPr>
          </a:p>
          <a:p>
            <a:r>
              <a:rPr lang="en-US" sz="2800" dirty="0">
                <a:latin typeface="Calibri" panose="020F0502020204030204" pitchFamily="34" charset="0"/>
              </a:rPr>
              <a:t> </a:t>
            </a:r>
            <a:endParaRPr lang="en-GB" sz="2800" dirty="0">
              <a:latin typeface="Calibri" panose="020F0502020204030204" pitchFamily="34" charset="0"/>
            </a:endParaRPr>
          </a:p>
          <a:p>
            <a:pPr lvl="0"/>
            <a:r>
              <a:rPr lang="en-US" sz="2800" dirty="0">
                <a:latin typeface="Calibri" panose="020F0502020204030204" pitchFamily="34" charset="0"/>
              </a:rPr>
              <a:t>Basket ball</a:t>
            </a:r>
            <a:endParaRPr lang="en-GB" sz="2800" dirty="0">
              <a:latin typeface="Calibri" panose="020F0502020204030204" pitchFamily="34" charset="0"/>
            </a:endParaRPr>
          </a:p>
          <a:p>
            <a:pPr lvl="0"/>
            <a:r>
              <a:rPr lang="en-US" sz="2800" dirty="0">
                <a:latin typeface="Calibri" panose="020F0502020204030204" pitchFamily="34" charset="0"/>
              </a:rPr>
              <a:t>Football field with Cinder Track</a:t>
            </a:r>
            <a:endParaRPr lang="en-GB" sz="2800" dirty="0">
              <a:latin typeface="Calibri" panose="020F0502020204030204" pitchFamily="34" charset="0"/>
            </a:endParaRPr>
          </a:p>
          <a:p>
            <a:pPr lvl="0"/>
            <a:r>
              <a:rPr lang="en-US" sz="2800" dirty="0">
                <a:latin typeface="Calibri" panose="020F0502020204030204" pitchFamily="34" charset="0"/>
              </a:rPr>
              <a:t>Tennis Court etc.</a:t>
            </a:r>
            <a:endParaRPr lang="en-GB" sz="2800" dirty="0">
              <a:latin typeface="Calibri" panose="020F0502020204030204" pitchFamily="34" charset="0"/>
            </a:endParaRPr>
          </a:p>
          <a:p>
            <a:r>
              <a:rPr lang="en-US" sz="2800" dirty="0">
                <a:latin typeface="Calibri" panose="020F0502020204030204" pitchFamily="34" charset="0"/>
              </a:rPr>
              <a:t>	 </a:t>
            </a:r>
            <a:endParaRPr lang="en-GB" sz="2800" dirty="0">
              <a:latin typeface="Calibri" panose="020F0502020204030204" pitchFamily="34" charset="0"/>
            </a:endParaRPr>
          </a:p>
          <a:p>
            <a:pPr lvl="0"/>
            <a:r>
              <a:rPr lang="en-US" sz="2800" b="1" dirty="0">
                <a:latin typeface="Calibri" panose="020F0502020204030204" pitchFamily="34" charset="0"/>
              </a:rPr>
              <a:t>5. TELECOMMUNICATION NETWORK</a:t>
            </a:r>
            <a:endParaRPr lang="en-GB" sz="2800" dirty="0">
              <a:latin typeface="Calibri" panose="020F0502020204030204" pitchFamily="34" charset="0"/>
            </a:endParaRPr>
          </a:p>
          <a:p>
            <a:r>
              <a:rPr lang="en-US" sz="2800" b="1" dirty="0">
                <a:latin typeface="Calibri" panose="020F0502020204030204" pitchFamily="34" charset="0"/>
              </a:rPr>
              <a:t> </a:t>
            </a:r>
            <a:r>
              <a:rPr lang="en-US" sz="2800" dirty="0" smtClean="0">
                <a:latin typeface="Calibri" panose="020F0502020204030204" pitchFamily="34" charset="0"/>
              </a:rPr>
              <a:t>The </a:t>
            </a:r>
            <a:r>
              <a:rPr lang="en-US" sz="2800" dirty="0">
                <a:latin typeface="Calibri" panose="020F0502020204030204" pitchFamily="34" charset="0"/>
              </a:rPr>
              <a:t>University had carried out the supply and Installation of Telephone lines and PABX and intercom connections in the University before but it is unfortunate, it is no more working.</a:t>
            </a:r>
            <a:endParaRPr lang="en-GB" sz="2800" dirty="0">
              <a:latin typeface="Calibri" panose="020F0502020204030204" pitchFamily="34" charset="0"/>
            </a:endParaRPr>
          </a:p>
          <a:p>
            <a:r>
              <a:rPr lang="en-US" sz="2800" dirty="0">
                <a:latin typeface="Calibri" panose="020F0502020204030204" pitchFamily="34" charset="0"/>
              </a:rPr>
              <a:t> </a:t>
            </a:r>
            <a:endParaRPr lang="en-GB" sz="2800" dirty="0">
              <a:latin typeface="Calibri" panose="020F0502020204030204" pitchFamily="34" charset="0"/>
            </a:endParaRPr>
          </a:p>
          <a:p>
            <a:r>
              <a:rPr lang="en-US" sz="2800" dirty="0">
                <a:latin typeface="Calibri" panose="020F0502020204030204" pitchFamily="34" charset="0"/>
              </a:rPr>
              <a:t>There are also Telecommunication providers such MTN, </a:t>
            </a:r>
            <a:r>
              <a:rPr lang="en-US" sz="2800" dirty="0" err="1">
                <a:latin typeface="Calibri" panose="020F0502020204030204" pitchFamily="34" charset="0"/>
              </a:rPr>
              <a:t>Globacom</a:t>
            </a:r>
            <a:r>
              <a:rPr lang="en-US" sz="2800" dirty="0">
                <a:latin typeface="Calibri" panose="020F0502020204030204" pitchFamily="34" charset="0"/>
              </a:rPr>
              <a:t>, </a:t>
            </a:r>
            <a:r>
              <a:rPr lang="en-US" sz="2800" dirty="0" err="1">
                <a:latin typeface="Calibri" panose="020F0502020204030204" pitchFamily="34" charset="0"/>
              </a:rPr>
              <a:t>airtel</a:t>
            </a:r>
            <a:r>
              <a:rPr lang="en-US" sz="2800" dirty="0">
                <a:latin typeface="Calibri" panose="020F0502020204030204" pitchFamily="34" charset="0"/>
              </a:rPr>
              <a:t> and Etisalat on Campus which ease the means of Communication in the University.</a:t>
            </a:r>
            <a:endParaRPr lang="en-GB" sz="2800" dirty="0">
              <a:latin typeface="Calibri" panose="020F0502020204030204" pitchFamily="34" charset="0"/>
            </a:endParaRPr>
          </a:p>
          <a:p>
            <a:pPr marL="457200">
              <a:spcAft>
                <a:spcPts val="0"/>
              </a:spcAft>
              <a:tabLst>
                <a:tab pos="5248275" algn="l"/>
              </a:tabLst>
            </a:pPr>
            <a:endParaRPr lang="en-GB"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9478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4717" y="214532"/>
            <a:ext cx="11641540" cy="6771084"/>
          </a:xfrm>
          <a:prstGeom prst="rect">
            <a:avLst/>
          </a:prstGeom>
        </p:spPr>
        <p:txBody>
          <a:bodyPr wrap="square">
            <a:spAutoFit/>
          </a:bodyPr>
          <a:lstStyle/>
          <a:p>
            <a:pPr lvl="0">
              <a:spcAft>
                <a:spcPts val="0"/>
              </a:spcAft>
              <a:tabLst>
                <a:tab pos="5248275" algn="l"/>
              </a:tabLst>
            </a:pPr>
            <a:r>
              <a:rPr lang="en-US" sz="2800" b="1" dirty="0" smtClean="0">
                <a:latin typeface="Calibri" panose="020F0502020204030204" pitchFamily="34" charset="0"/>
                <a:ea typeface="Calibri" panose="020F0502020204030204" pitchFamily="34" charset="0"/>
                <a:cs typeface="Times New Roman" panose="02020603050405020304" pitchFamily="18" charset="0"/>
              </a:rPr>
              <a:t>6. WATER </a:t>
            </a:r>
            <a:r>
              <a:rPr lang="en-US" sz="2800" b="1" dirty="0">
                <a:latin typeface="Calibri" panose="020F0502020204030204" pitchFamily="34" charset="0"/>
                <a:ea typeface="Calibri" panose="020F0502020204030204" pitchFamily="34" charset="0"/>
                <a:cs typeface="Times New Roman" panose="02020603050405020304" pitchFamily="18" charset="0"/>
              </a:rPr>
              <a:t>SUPPLY SYSTEM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tabLst>
                <a:tab pos="5248275" algn="l"/>
              </a:tabLst>
            </a:pPr>
            <a:r>
              <a:rPr lang="en-US" sz="2800" b="1" dirty="0">
                <a:latin typeface="Calibri" panose="020F0502020204030204" pitchFamily="34" charset="0"/>
                <a:ea typeface="Calibri" panose="020F0502020204030204" pitchFamily="34" charset="0"/>
                <a:cs typeface="Times New Roman" panose="02020603050405020304" pitchFamily="18" charset="0"/>
              </a:rPr>
              <a:t> </a:t>
            </a:r>
            <a:r>
              <a:rPr lang="en-US" sz="2800" dirty="0" smtClean="0">
                <a:latin typeface="Calibri" panose="020F0502020204030204" pitchFamily="34" charset="0"/>
                <a:ea typeface="Calibri" panose="020F0502020204030204" pitchFamily="34" charset="0"/>
                <a:cs typeface="Times New Roman" panose="02020603050405020304" pitchFamily="18" charset="0"/>
              </a:rPr>
              <a:t>Currently </a:t>
            </a:r>
            <a:r>
              <a:rPr lang="en-US" sz="2800" dirty="0">
                <a:latin typeface="Calibri" panose="020F0502020204030204" pitchFamily="34" charset="0"/>
                <a:ea typeface="Calibri" panose="020F0502020204030204" pitchFamily="34" charset="0"/>
                <a:cs typeface="Times New Roman" panose="02020603050405020304" pitchFamily="18" charset="0"/>
              </a:rPr>
              <a:t>there are boreholes, servicing the administrative buildings, faculties’, although not enough but water reticulations to all nooks and cranes of the University is  in progress and shortage of water in the University will be a thing of the past.</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248275" algn="l"/>
              </a:tabLst>
            </a:pPr>
            <a:r>
              <a:rPr lang="en-US" sz="2800" b="1" dirty="0">
                <a:latin typeface="Calibri" panose="020F0502020204030204" pitchFamily="34" charset="0"/>
                <a:ea typeface="Calibri" panose="020F0502020204030204" pitchFamily="34" charset="0"/>
                <a:cs typeface="Times New Roman" panose="02020603050405020304" pitchFamily="18" charset="0"/>
              </a:rPr>
              <a:t> </a:t>
            </a:r>
            <a:r>
              <a:rPr lang="en-US" sz="2800" b="1" dirty="0" smtClean="0">
                <a:latin typeface="Calibri" panose="020F0502020204030204" pitchFamily="34" charset="0"/>
                <a:ea typeface="Calibri" panose="020F0502020204030204" pitchFamily="34" charset="0"/>
                <a:cs typeface="Times New Roman" panose="02020603050405020304" pitchFamily="18" charset="0"/>
              </a:rPr>
              <a:t>7. MARKET</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457200">
              <a:spcAft>
                <a:spcPts val="0"/>
              </a:spcAft>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The market available on Campus is not up to the University standards, therefore</a:t>
            </a:r>
            <a:r>
              <a:rPr lang="en-US" sz="2800" b="1" dirty="0">
                <a:latin typeface="Calibri" panose="020F0502020204030204" pitchFamily="34" charset="0"/>
                <a:ea typeface="Calibri" panose="020F0502020204030204" pitchFamily="34" charset="0"/>
                <a:cs typeface="Times New Roman" panose="02020603050405020304" pitchFamily="18" charset="0"/>
              </a:rPr>
              <a:t> </a:t>
            </a:r>
            <a:r>
              <a:rPr lang="en-US" sz="2800" dirty="0">
                <a:latin typeface="Calibri" panose="020F0502020204030204" pitchFamily="34" charset="0"/>
                <a:ea typeface="Calibri" panose="020F0502020204030204" pitchFamily="34" charset="0"/>
                <a:cs typeface="Times New Roman" panose="02020603050405020304" pitchFamily="18" charset="0"/>
              </a:rPr>
              <a:t>a suitable markets that will serve the staff and students need to be put in place.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457200">
              <a:spcAft>
                <a:spcPts val="0"/>
              </a:spcAft>
              <a:tabLst>
                <a:tab pos="5248275" algn="l"/>
              </a:tabLst>
            </a:pPr>
            <a:r>
              <a:rPr lang="en-US" sz="2800" b="1" dirty="0">
                <a:latin typeface="Calibri" panose="020F0502020204030204" pitchFamily="34" charset="0"/>
                <a:ea typeface="Calibri" panose="020F0502020204030204" pitchFamily="34" charset="0"/>
                <a:cs typeface="Times New Roman" panose="02020603050405020304" pitchFamily="18" charset="0"/>
              </a:rPr>
              <a:t> </a:t>
            </a:r>
            <a:endParaRPr lang="en-GB" sz="2800" dirty="0" smtClean="0">
              <a:latin typeface="Calibri" panose="020F0502020204030204" pitchFamily="34" charset="0"/>
              <a:ea typeface="Calibri" panose="020F0502020204030204" pitchFamily="34" charset="0"/>
              <a:cs typeface="Times New Roman" panose="02020603050405020304" pitchFamily="18" charset="0"/>
            </a:endParaRPr>
          </a:p>
          <a:p>
            <a:pPr lvl="0">
              <a:spcAft>
                <a:spcPts val="0"/>
              </a:spcAft>
              <a:tabLst>
                <a:tab pos="5248275" algn="l"/>
              </a:tabLst>
            </a:pPr>
            <a:r>
              <a:rPr lang="en-US" sz="2800" b="1" dirty="0" smtClean="0">
                <a:latin typeface="Calibri" panose="020F0502020204030204" pitchFamily="34" charset="0"/>
                <a:ea typeface="Calibri" panose="020F0502020204030204" pitchFamily="34" charset="0"/>
                <a:cs typeface="Times New Roman" panose="02020603050405020304" pitchFamily="18" charset="0"/>
              </a:rPr>
              <a:t>8.PUBLIC TOILET FACILITIES ON CAMPUS</a:t>
            </a:r>
            <a:endParaRPr lang="en-GB" sz="2800" dirty="0" smtClean="0">
              <a:latin typeface="Calibri" panose="020F0502020204030204" pitchFamily="34" charset="0"/>
              <a:ea typeface="Calibri" panose="020F0502020204030204" pitchFamily="34" charset="0"/>
              <a:cs typeface="Times New Roman" panose="02020603050405020304" pitchFamily="18" charset="0"/>
            </a:endParaRPr>
          </a:p>
          <a:p>
            <a:pPr marL="457200">
              <a:spcAft>
                <a:spcPts val="0"/>
              </a:spcAft>
              <a:tabLst>
                <a:tab pos="5248275" algn="l"/>
              </a:tabLst>
            </a:pPr>
            <a:r>
              <a:rPr lang="en-US" sz="2800" dirty="0" smtClean="0">
                <a:latin typeface="Calibri" panose="020F0502020204030204" pitchFamily="34" charset="0"/>
                <a:ea typeface="Calibri" panose="020F0502020204030204" pitchFamily="34" charset="0"/>
                <a:cs typeface="Times New Roman" panose="02020603050405020304" pitchFamily="18" charset="0"/>
              </a:rPr>
              <a:t>There </a:t>
            </a:r>
            <a:r>
              <a:rPr lang="en-US" sz="2800" dirty="0">
                <a:latin typeface="Calibri" panose="020F0502020204030204" pitchFamily="34" charset="0"/>
                <a:ea typeface="Calibri" panose="020F0502020204030204" pitchFamily="34" charset="0"/>
                <a:cs typeface="Times New Roman" panose="02020603050405020304" pitchFamily="18" charset="0"/>
              </a:rPr>
              <a:t>is problems of public toilets facilities on Campus, therefore we ensure that all our new buildings projects meet with the minimum man ratio per Faculty lecture zones by providing adequate toilets facilities.</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457200">
              <a:spcAft>
                <a:spcPts val="0"/>
              </a:spcAft>
              <a:tabLst>
                <a:tab pos="5248275" algn="l"/>
              </a:tabLst>
            </a:pPr>
            <a:endParaRPr lang="en-GB"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355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2137" y="0"/>
            <a:ext cx="11559653" cy="3108543"/>
          </a:xfrm>
          <a:prstGeom prst="rect">
            <a:avLst/>
          </a:prstGeom>
        </p:spPr>
        <p:txBody>
          <a:bodyPr wrap="square">
            <a:spAutoFit/>
          </a:bodyPr>
          <a:lstStyle/>
          <a:p>
            <a:pPr marL="457200">
              <a:spcAft>
                <a:spcPts val="0"/>
              </a:spcAft>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spcAft>
                <a:spcPts val="0"/>
              </a:spcAft>
              <a:tabLst>
                <a:tab pos="5248275" algn="l"/>
              </a:tabLst>
            </a:pPr>
            <a:r>
              <a:rPr lang="en-US" sz="2800" dirty="0" smtClean="0">
                <a:latin typeface="Calibri" panose="020F0502020204030204" pitchFamily="34" charset="0"/>
                <a:ea typeface="Calibri" panose="020F0502020204030204" pitchFamily="34" charset="0"/>
                <a:cs typeface="Times New Roman" panose="02020603050405020304" pitchFamily="18" charset="0"/>
              </a:rPr>
              <a:t>9. </a:t>
            </a:r>
            <a:r>
              <a:rPr lang="en-US" sz="2800" b="1" dirty="0" smtClean="0">
                <a:latin typeface="Calibri" panose="020F0502020204030204" pitchFamily="34" charset="0"/>
                <a:ea typeface="Calibri" panose="020F0502020204030204" pitchFamily="34" charset="0"/>
                <a:cs typeface="Times New Roman" panose="02020603050405020304" pitchFamily="18" charset="0"/>
              </a:rPr>
              <a:t>BEAUTIFICATION </a:t>
            </a:r>
            <a:r>
              <a:rPr lang="en-US" sz="2800" b="1" dirty="0">
                <a:latin typeface="Calibri" panose="020F0502020204030204" pitchFamily="34" charset="0"/>
                <a:ea typeface="Calibri" panose="020F0502020204030204" pitchFamily="34" charset="0"/>
                <a:cs typeface="Times New Roman" panose="02020603050405020304" pitchFamily="18" charset="0"/>
              </a:rPr>
              <a:t>OF THE UNIVERSITY CAMPUS</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228600">
              <a:spcAft>
                <a:spcPts val="0"/>
              </a:spcAft>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         Proper planting of trees and landscaping.  There is the need for tree planting and landscaping of the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228600">
              <a:spcAft>
                <a:spcPts val="0"/>
              </a:spcAft>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         old infrastructures of the University project and to the new projects to ensure good aesthetically</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228600">
              <a:spcAft>
                <a:spcPts val="0"/>
              </a:spcAft>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         pleasing </a:t>
            </a:r>
            <a:endParaRPr lang="en-GB" sz="2800" dirty="0"/>
          </a:p>
        </p:txBody>
      </p:sp>
    </p:spTree>
    <p:extLst>
      <p:ext uri="{BB962C8B-B14F-4D97-AF65-F5344CB8AC3E}">
        <p14:creationId xmlns:p14="http://schemas.microsoft.com/office/powerpoint/2010/main" val="777794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3081" y="149831"/>
            <a:ext cx="11286698" cy="6555641"/>
          </a:xfrm>
          <a:prstGeom prst="rect">
            <a:avLst/>
          </a:prstGeom>
        </p:spPr>
        <p:txBody>
          <a:bodyPr wrap="square">
            <a:spAutoFit/>
          </a:bodyPr>
          <a:lstStyle/>
          <a:p>
            <a:pPr>
              <a:spcAft>
                <a:spcPts val="0"/>
              </a:spcAft>
            </a:pPr>
            <a:r>
              <a:rPr lang="en-US" sz="2800" b="1" dirty="0">
                <a:latin typeface="Calibri" panose="020F0502020204030204" pitchFamily="34" charset="0"/>
                <a:ea typeface="Calibri" panose="020F0502020204030204" pitchFamily="34" charset="0"/>
                <a:cs typeface="Times New Roman" panose="02020603050405020304" pitchFamily="18" charset="0"/>
              </a:rPr>
              <a:t>INFRASTRUCTURAL DEVELOPMENT AND EXPANSION OF THE UNIVERSITY </a:t>
            </a:r>
            <a:r>
              <a:rPr lang="en-US" sz="2800" b="1" dirty="0" smtClean="0">
                <a:latin typeface="Calibri" panose="020F0502020204030204" pitchFamily="34" charset="0"/>
                <a:ea typeface="Calibri" panose="020F0502020204030204" pitchFamily="34" charset="0"/>
                <a:cs typeface="Times New Roman" panose="02020603050405020304" pitchFamily="18" charset="0"/>
              </a:rPr>
              <a:t>LANDSCAPE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pPr>
            <a:r>
              <a:rPr lang="en-US" sz="2800" dirty="0">
                <a:latin typeface="Calibri" panose="020F0502020204030204" pitchFamily="34" charset="0"/>
                <a:ea typeface="Calibri" panose="020F0502020204030204" pitchFamily="34" charset="0"/>
                <a:cs typeface="Times New Roman" panose="02020603050405020304" pitchFamily="18" charset="0"/>
              </a:rPr>
              <a:t>The University recorded success in recent years by facilitating different capital projects funded through internally generated funds,  </a:t>
            </a:r>
            <a:r>
              <a:rPr lang="en-US" sz="2800" dirty="0" err="1">
                <a:latin typeface="Calibri" panose="020F0502020204030204" pitchFamily="34" charset="0"/>
                <a:ea typeface="Calibri" panose="020F0502020204030204" pitchFamily="34" charset="0"/>
                <a:cs typeface="Times New Roman" panose="02020603050405020304" pitchFamily="18" charset="0"/>
              </a:rPr>
              <a:t>TETFund</a:t>
            </a:r>
            <a:r>
              <a:rPr lang="en-US" sz="2800" dirty="0">
                <a:latin typeface="Calibri" panose="020F0502020204030204" pitchFamily="34" charset="0"/>
                <a:ea typeface="Calibri" panose="020F0502020204030204" pitchFamily="34" charset="0"/>
                <a:cs typeface="Times New Roman" panose="02020603050405020304" pitchFamily="18" charset="0"/>
              </a:rPr>
              <a:t> (former ETF) and FGN/NEEDS ASSESSMENT:  and donations some of the notable projects undertaken since year 2008/2009 session were identify below:</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0"/>
              </a:spcAft>
              <a:buFont typeface="+mj-lt"/>
              <a:buAutoNum type="alphaLcParenBoth"/>
            </a:pPr>
            <a:r>
              <a:rPr lang="en-US" sz="2800" b="1" dirty="0">
                <a:latin typeface="Calibri" panose="020F0502020204030204" pitchFamily="34" charset="0"/>
                <a:ea typeface="Calibri" panose="020F0502020204030204" pitchFamily="34" charset="0"/>
                <a:cs typeface="Times New Roman" panose="02020603050405020304" pitchFamily="18" charset="0"/>
              </a:rPr>
              <a:t>IMPROVED </a:t>
            </a:r>
            <a:r>
              <a:rPr lang="en-US" sz="2800" b="1" dirty="0" smtClean="0">
                <a:latin typeface="Calibri" panose="020F0502020204030204" pitchFamily="34" charset="0"/>
                <a:ea typeface="Calibri" panose="020F0502020204030204" pitchFamily="34" charset="0"/>
                <a:cs typeface="Times New Roman" panose="02020603050405020304" pitchFamily="18" charset="0"/>
              </a:rPr>
              <a:t>INFRASTRUCTURAL </a:t>
            </a:r>
            <a:r>
              <a:rPr lang="en-US" sz="2800" b="1" dirty="0">
                <a:latin typeface="Calibri" panose="020F0502020204030204" pitchFamily="34" charset="0"/>
                <a:ea typeface="Calibri" panose="020F0502020204030204" pitchFamily="34" charset="0"/>
                <a:cs typeface="Times New Roman" panose="02020603050405020304" pitchFamily="18" charset="0"/>
              </a:rPr>
              <a:t>DEVELOPMENT ON CAMPUS THROUGH</a:t>
            </a:r>
            <a:r>
              <a:rPr lang="en-US" sz="2800" b="1" dirty="0" smtClean="0">
                <a:latin typeface="Calibri" panose="020F0502020204030204" pitchFamily="34" charset="0"/>
                <a:ea typeface="Calibri" panose="020F0502020204030204" pitchFamily="34" charset="0"/>
                <a:cs typeface="Times New Roman" panose="02020603050405020304" pitchFamily="18" charset="0"/>
              </a:rPr>
              <a:t>:</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pPr>
            <a:r>
              <a:rPr lang="en-US" sz="2800" dirty="0">
                <a:latin typeface="Calibri" panose="020F0502020204030204" pitchFamily="34" charset="0"/>
                <a:ea typeface="Calibri" panose="020F0502020204030204" pitchFamily="34" charset="0"/>
                <a:cs typeface="Times New Roman" panose="02020603050405020304" pitchFamily="18" charset="0"/>
              </a:rPr>
              <a:t>Construction of a new 500-seater Lecture theatre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pPr>
            <a:r>
              <a:rPr lang="en-US" sz="2800" dirty="0">
                <a:latin typeface="Calibri" panose="020F0502020204030204" pitchFamily="34" charset="0"/>
                <a:ea typeface="Calibri" panose="020F0502020204030204" pitchFamily="34" charset="0"/>
                <a:cs typeface="Times New Roman" panose="02020603050405020304" pitchFamily="18" charset="0"/>
              </a:rPr>
              <a:t>Construction and remodeling of a new 1000 Seater Lecture Theatre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pPr>
            <a:r>
              <a:rPr lang="en-US" sz="2800" dirty="0">
                <a:latin typeface="Calibri" panose="020F0502020204030204" pitchFamily="34" charset="0"/>
                <a:ea typeface="Calibri" panose="020F0502020204030204" pitchFamily="34" charset="0"/>
                <a:cs typeface="Times New Roman" panose="02020603050405020304" pitchFamily="18" charset="0"/>
              </a:rPr>
              <a:t>Construction of a new 3,000 Seater Lecture Theatre </a:t>
            </a:r>
            <a:endParaRPr lang="en-GB"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75930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601" y="139217"/>
            <a:ext cx="11737075" cy="6488828"/>
          </a:xfrm>
          <a:prstGeom prst="rect">
            <a:avLst/>
          </a:prstGeom>
        </p:spPr>
        <p:txBody>
          <a:bodyPr wrap="square">
            <a:spAutoFit/>
          </a:bodyPr>
          <a:lstStyle/>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(iv). Construction </a:t>
            </a:r>
            <a:r>
              <a:rPr lang="en-US" sz="2800" dirty="0">
                <a:latin typeface="Calibri" panose="020F0502020204030204" pitchFamily="34" charset="0"/>
                <a:ea typeface="Calibri" panose="020F0502020204030204" pitchFamily="34" charset="0"/>
                <a:cs typeface="Times New Roman" panose="02020603050405020304" pitchFamily="18" charset="0"/>
              </a:rPr>
              <a:t>of a new Building in the Part Time Degree </a:t>
            </a:r>
            <a:r>
              <a:rPr lang="en-US" sz="2800" dirty="0" err="1">
                <a:latin typeface="Calibri" panose="020F0502020204030204" pitchFamily="34" charset="0"/>
                <a:ea typeface="Calibri" panose="020F0502020204030204" pitchFamily="34" charset="0"/>
                <a:cs typeface="Times New Roman" panose="02020603050405020304" pitchFamily="18" charset="0"/>
              </a:rPr>
              <a:t>Programme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(v). Construction </a:t>
            </a:r>
            <a:r>
              <a:rPr lang="en-US" sz="2800" dirty="0">
                <a:latin typeface="Calibri" panose="020F0502020204030204" pitchFamily="34" charset="0"/>
                <a:ea typeface="Calibri" panose="020F0502020204030204" pitchFamily="34" charset="0"/>
                <a:cs typeface="Times New Roman" panose="02020603050405020304" pitchFamily="18" charset="0"/>
              </a:rPr>
              <a:t>of new Continuing Education cum Distance Learning Centre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(vi). Construction </a:t>
            </a:r>
            <a:r>
              <a:rPr lang="en-US" sz="2800" dirty="0">
                <a:latin typeface="Calibri" panose="020F0502020204030204" pitchFamily="34" charset="0"/>
                <a:ea typeface="Calibri" panose="020F0502020204030204" pitchFamily="34" charset="0"/>
                <a:cs typeface="Times New Roman" panose="02020603050405020304" pitchFamily="18" charset="0"/>
              </a:rPr>
              <a:t>of a Pre-Degree </a:t>
            </a:r>
            <a:r>
              <a:rPr lang="en-US" sz="2800" dirty="0" err="1">
                <a:latin typeface="Calibri" panose="020F0502020204030204" pitchFamily="34" charset="0"/>
                <a:ea typeface="Calibri" panose="020F0502020204030204" pitchFamily="34" charset="0"/>
                <a:cs typeface="Times New Roman" panose="02020603050405020304" pitchFamily="18" charset="0"/>
              </a:rPr>
              <a:t>Programme</a:t>
            </a:r>
            <a:r>
              <a:rPr lang="en-US" sz="2800" dirty="0">
                <a:latin typeface="Calibri" panose="020F0502020204030204" pitchFamily="34" charset="0"/>
                <a:ea typeface="Calibri" panose="020F0502020204030204" pitchFamily="34" charset="0"/>
                <a:cs typeface="Times New Roman" panose="02020603050405020304" pitchFamily="18" charset="0"/>
              </a:rPr>
              <a:t> Building</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(vii). Construction  </a:t>
            </a:r>
            <a:r>
              <a:rPr lang="en-US" sz="2800" dirty="0">
                <a:latin typeface="Calibri" panose="020F0502020204030204" pitchFamily="34" charset="0"/>
                <a:ea typeface="Calibri" panose="020F0502020204030204" pitchFamily="34" charset="0"/>
                <a:cs typeface="Times New Roman" panose="02020603050405020304" pitchFamily="18" charset="0"/>
              </a:rPr>
              <a:t>of new building for the Faculty of Education in addition to existing one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(viii). On-going </a:t>
            </a:r>
            <a:r>
              <a:rPr lang="en-US" sz="2800" dirty="0">
                <a:latin typeface="Calibri" panose="020F0502020204030204" pitchFamily="34" charset="0"/>
                <a:ea typeface="Calibri" panose="020F0502020204030204" pitchFamily="34" charset="0"/>
                <a:cs typeface="Times New Roman" panose="02020603050405020304" pitchFamily="18" charset="0"/>
              </a:rPr>
              <a:t>construction of building for the Faculty of Arts</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(ix). Construction </a:t>
            </a:r>
            <a:r>
              <a:rPr lang="en-US" sz="2800" dirty="0">
                <a:latin typeface="Calibri" panose="020F0502020204030204" pitchFamily="34" charset="0"/>
                <a:ea typeface="Calibri" panose="020F0502020204030204" pitchFamily="34" charset="0"/>
                <a:cs typeface="Times New Roman" panose="02020603050405020304" pitchFamily="18" charset="0"/>
              </a:rPr>
              <a:t>of a new Faculty of Engineering Complex</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(x). Construction </a:t>
            </a:r>
            <a:r>
              <a:rPr lang="en-US" sz="2800" dirty="0">
                <a:latin typeface="Calibri" panose="020F0502020204030204" pitchFamily="34" charset="0"/>
                <a:ea typeface="Calibri" panose="020F0502020204030204" pitchFamily="34" charset="0"/>
                <a:cs typeface="Times New Roman" panose="02020603050405020304" pitchFamily="18" charset="0"/>
              </a:rPr>
              <a:t>of new building for the Faculty of Agricultural Sciences</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(xi). Construction </a:t>
            </a:r>
            <a:r>
              <a:rPr lang="en-US" sz="2800" dirty="0">
                <a:latin typeface="Calibri" panose="020F0502020204030204" pitchFamily="34" charset="0"/>
                <a:ea typeface="Calibri" panose="020F0502020204030204" pitchFamily="34" charset="0"/>
                <a:cs typeface="Times New Roman" panose="02020603050405020304" pitchFamily="18" charset="0"/>
              </a:rPr>
              <a:t>of building for the School of Postgraduate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(xii). Construction </a:t>
            </a:r>
            <a:r>
              <a:rPr lang="en-US" sz="2800" dirty="0">
                <a:latin typeface="Calibri" panose="020F0502020204030204" pitchFamily="34" charset="0"/>
                <a:ea typeface="Calibri" panose="020F0502020204030204" pitchFamily="34" charset="0"/>
                <a:cs typeface="Times New Roman" panose="02020603050405020304" pitchFamily="18" charset="0"/>
              </a:rPr>
              <a:t>of new building for the Faculty of Science </a:t>
            </a:r>
            <a:r>
              <a:rPr lang="en-US" sz="2800" dirty="0" smtClean="0">
                <a:latin typeface="Calibri" panose="020F0502020204030204" pitchFamily="34" charset="0"/>
                <a:ea typeface="Calibri" panose="020F0502020204030204" pitchFamily="34" charset="0"/>
                <a:cs typeface="Times New Roman" panose="02020603050405020304" pitchFamily="18" charset="0"/>
              </a:rPr>
              <a:t>Classroom</a:t>
            </a:r>
            <a:endParaRPr lang="en-GB"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45606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8528"/>
            <a:ext cx="12091916" cy="6986528"/>
          </a:xfrm>
          <a:prstGeom prst="rect">
            <a:avLst/>
          </a:prstGeom>
        </p:spPr>
        <p:txBody>
          <a:bodyPr wrap="square">
            <a:spAutoFit/>
          </a:bodyPr>
          <a:lstStyle/>
          <a:p>
            <a:pPr lvl="0">
              <a:lnSpc>
                <a:spcPct val="150000"/>
              </a:lnSpc>
              <a:spcAft>
                <a:spcPts val="0"/>
              </a:spcAft>
            </a:pP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(xiii). Construction </a:t>
            </a:r>
            <a:r>
              <a:rPr lang="en-US" sz="2800" dirty="0">
                <a:latin typeface="Calibri" panose="020F0502020204030204" pitchFamily="34" charset="0"/>
                <a:ea typeface="Calibri" panose="020F0502020204030204" pitchFamily="34" charset="0"/>
                <a:cs typeface="Times New Roman" panose="02020603050405020304" pitchFamily="18" charset="0"/>
              </a:rPr>
              <a:t>of the Entrepreneurial Study Centre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(xiv). Construction </a:t>
            </a:r>
            <a:r>
              <a:rPr lang="en-US" sz="2800" dirty="0">
                <a:latin typeface="Calibri" panose="020F0502020204030204" pitchFamily="34" charset="0"/>
                <a:ea typeface="Calibri" panose="020F0502020204030204" pitchFamily="34" charset="0"/>
                <a:cs typeface="Times New Roman" panose="02020603050405020304" pitchFamily="18" charset="0"/>
              </a:rPr>
              <a:t>of new building for Faculty of Management Sciences in addition to existing one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(xv). Construction </a:t>
            </a:r>
            <a:r>
              <a:rPr lang="en-US" sz="2800" dirty="0">
                <a:latin typeface="Calibri" panose="020F0502020204030204" pitchFamily="34" charset="0"/>
                <a:ea typeface="Calibri" panose="020F0502020204030204" pitchFamily="34" charset="0"/>
                <a:cs typeface="Times New Roman" panose="02020603050405020304" pitchFamily="18" charset="0"/>
              </a:rPr>
              <a:t>of several buildings in the College of Medicine including</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a). Physiology Building</a:t>
            </a:r>
            <a:endParaRPr lang="en-GB" sz="2800" dirty="0" smtClean="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pPr>
            <a:r>
              <a:rPr lang="en-US" sz="2800" dirty="0" smtClean="0">
                <a:latin typeface="Calibri" panose="020F0502020204030204" pitchFamily="34" charset="0"/>
                <a:ea typeface="Calibri" panose="020F0502020204030204" pitchFamily="34" charset="0"/>
                <a:cs typeface="Times New Roman" panose="02020603050405020304" pitchFamily="18" charset="0"/>
              </a:rPr>
              <a:t>b). Anatomy Building</a:t>
            </a:r>
          </a:p>
          <a:p>
            <a:pPr lvl="0"/>
            <a:r>
              <a:rPr lang="en-US" sz="2800" dirty="0" smtClean="0">
                <a:latin typeface="Calibri" panose="020F0502020204030204" pitchFamily="34" charset="0"/>
              </a:rPr>
              <a:t>c). Medical Library</a:t>
            </a:r>
            <a:endParaRPr lang="en-GB" sz="2800" dirty="0" smtClean="0">
              <a:latin typeface="Calibri" panose="020F0502020204030204" pitchFamily="34" charset="0"/>
            </a:endParaRPr>
          </a:p>
          <a:p>
            <a:pPr lvl="0"/>
            <a:r>
              <a:rPr lang="en-US" sz="2800" dirty="0" smtClean="0">
                <a:latin typeface="Calibri" panose="020F0502020204030204" pitchFamily="34" charset="0"/>
              </a:rPr>
              <a:t>d). Animal House</a:t>
            </a:r>
            <a:endParaRPr lang="en-GB" sz="2800" dirty="0" smtClean="0">
              <a:latin typeface="Calibri" panose="020F0502020204030204" pitchFamily="34" charset="0"/>
            </a:endParaRPr>
          </a:p>
          <a:p>
            <a:pPr lvl="0"/>
            <a:r>
              <a:rPr lang="en-US" sz="2800" dirty="0" smtClean="0">
                <a:latin typeface="Calibri" panose="020F0502020204030204" pitchFamily="34" charset="0"/>
              </a:rPr>
              <a:t>e). Medical Biochemistry and Pharmacology Complex with Teaching Laboratories</a:t>
            </a:r>
            <a:endParaRPr lang="en-GB" sz="2800" dirty="0" smtClean="0">
              <a:latin typeface="Calibri" panose="020F0502020204030204" pitchFamily="34" charset="0"/>
            </a:endParaRPr>
          </a:p>
          <a:p>
            <a:pPr lvl="0"/>
            <a:r>
              <a:rPr lang="en-US" sz="2800" dirty="0" smtClean="0">
                <a:latin typeface="Calibri" panose="020F0502020204030204" pitchFamily="34" charset="0"/>
              </a:rPr>
              <a:t>f). Medical Students Hostel and Academic Complex at  EKSUTH</a:t>
            </a:r>
            <a:endParaRPr lang="en-GB" sz="2800" dirty="0" smtClean="0">
              <a:latin typeface="Calibri" panose="020F0502020204030204" pitchFamily="34" charset="0"/>
            </a:endParaRPr>
          </a:p>
          <a:p>
            <a:pPr marL="342900" lvl="0" indent="-342900">
              <a:lnSpc>
                <a:spcPct val="150000"/>
              </a:lnSpc>
              <a:spcAft>
                <a:spcPts val="0"/>
              </a:spcAft>
              <a:buFont typeface="+mj-lt"/>
              <a:buAutoNum type="alphaLcParenBoth"/>
            </a:pPr>
            <a:endParaRPr lang="en-US" sz="2800" dirty="0" smtClean="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89375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2955" y="-125819"/>
            <a:ext cx="11709779" cy="6555641"/>
          </a:xfrm>
          <a:prstGeom prst="rect">
            <a:avLst/>
          </a:prstGeom>
        </p:spPr>
        <p:txBody>
          <a:bodyPr wrap="square">
            <a:spAutoFit/>
          </a:bodyPr>
          <a:lstStyle/>
          <a:p>
            <a:pPr marL="342900" lvl="0" indent="-342900">
              <a:lnSpc>
                <a:spcPct val="150000"/>
              </a:lnSpc>
              <a:spcAft>
                <a:spcPts val="0"/>
              </a:spcAft>
              <a:buFont typeface="+mj-lt"/>
              <a:buAutoNum type="romanLcParenBoth"/>
            </a:pPr>
            <a:r>
              <a:rPr lang="en-US" sz="2800" dirty="0">
                <a:latin typeface="Calibri" panose="020F0502020204030204" pitchFamily="34" charset="0"/>
                <a:ea typeface="Calibri" panose="020F0502020204030204" pitchFamily="34" charset="0"/>
                <a:cs typeface="Times New Roman" panose="02020603050405020304" pitchFamily="18" charset="0"/>
              </a:rPr>
              <a:t>On-going reconstruction, beautification and expansion of the new  Library  complex</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On-going construction of a new Academic Building for the University.</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On-going  construction of Gender Centre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On-going  of construction of Faculty of Science Building Complex</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On-On-going  construction of E-Exams Centre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On-going  construction of Academic Staff Officer</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On-going  construction of Faculty of the Social Science Classroom</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On-going  construction of Engineering Workshops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On-going   construction of Student </a:t>
            </a:r>
            <a:r>
              <a:rPr lang="en-US" sz="2800" dirty="0" smtClean="0">
                <a:latin typeface="Calibri" panose="020F0502020204030204" pitchFamily="34" charset="0"/>
                <a:ea typeface="Calibri" panose="020F0502020204030204" pitchFamily="34" charset="0"/>
                <a:cs typeface="Times New Roman" panose="02020603050405020304" pitchFamily="18" charset="0"/>
              </a:rPr>
              <a:t>Hostel</a:t>
            </a:r>
            <a:endParaRPr lang="en-GB"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51482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7797" y="313899"/>
            <a:ext cx="11177516" cy="2610843"/>
          </a:xfrm>
          <a:prstGeom prst="rect">
            <a:avLst/>
          </a:prstGeom>
        </p:spPr>
        <p:txBody>
          <a:bodyPr wrap="square">
            <a:spAutoFit/>
          </a:bodyPr>
          <a:lstStyle/>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On-going  Construction/Furnishing of Central Laboratory</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On-going  Construction of New 4-in-1 Lecture theatre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Construction of football field with cinder track</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Water Reticulation </a:t>
            </a:r>
            <a:endParaRPr lang="en-GB"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96843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828" y="183194"/>
            <a:ext cx="11600597" cy="7109639"/>
          </a:xfrm>
          <a:prstGeom prst="rect">
            <a:avLst/>
          </a:prstGeom>
        </p:spPr>
        <p:txBody>
          <a:bodyPr wrap="square">
            <a:spAutoFit/>
          </a:bodyPr>
          <a:lstStyle/>
          <a:p>
            <a:pPr marL="342900" lvl="0" indent="-342900">
              <a:spcAft>
                <a:spcPts val="0"/>
              </a:spcAft>
              <a:buFont typeface="+mj-lt"/>
              <a:buAutoNum type="alphaLcParenBoth"/>
              <a:tabLst>
                <a:tab pos="5248275" algn="l"/>
              </a:tabLst>
            </a:pPr>
            <a:r>
              <a:rPr lang="en-US" sz="2400" b="1" dirty="0" smtClean="0">
                <a:latin typeface="Calibri" panose="020F0502020204030204" pitchFamily="34" charset="0"/>
                <a:ea typeface="Calibri" panose="020F0502020204030204" pitchFamily="34" charset="0"/>
                <a:cs typeface="Times New Roman" panose="02020603050405020304" pitchFamily="18" charset="0"/>
              </a:rPr>
              <a:t>IMPROVED </a:t>
            </a:r>
            <a:r>
              <a:rPr lang="en-US" sz="2400" b="1" dirty="0">
                <a:latin typeface="Calibri" panose="020F0502020204030204" pitchFamily="34" charset="0"/>
                <a:ea typeface="Calibri" panose="020F0502020204030204" pitchFamily="34" charset="0"/>
                <a:cs typeface="Times New Roman" panose="02020603050405020304" pitchFamily="18" charset="0"/>
              </a:rPr>
              <a:t>REHABILITATION/MAINTENANCE CYCLE AND SOCIAL SERVICES THROUGH:</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1590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Rehabilitation of 750 Seaters Lecture Theatre</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1590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Rehabilitation of 1000 Seaters Lecture Theatres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1590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Rehabilitation of 1050 Seaters Lecture Theatre</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1590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Rehabilitation of </a:t>
            </a:r>
            <a:r>
              <a:rPr lang="en-US" sz="2400" dirty="0" err="1">
                <a:latin typeface="Calibri" panose="020F0502020204030204" pitchFamily="34" charset="0"/>
                <a:ea typeface="Calibri" panose="020F0502020204030204" pitchFamily="34" charset="0"/>
                <a:cs typeface="Times New Roman" panose="02020603050405020304" pitchFamily="18" charset="0"/>
              </a:rPr>
              <a:t>Ajasin</a:t>
            </a:r>
            <a:r>
              <a:rPr lang="en-US" sz="2400" dirty="0">
                <a:latin typeface="Calibri" panose="020F0502020204030204" pitchFamily="34" charset="0"/>
                <a:ea typeface="Calibri" panose="020F0502020204030204" pitchFamily="34" charset="0"/>
                <a:cs typeface="Times New Roman" panose="02020603050405020304" pitchFamily="18" charset="0"/>
              </a:rPr>
              <a:t> hostel</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1590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Rehabilitation of Old University  Library</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1590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Construction of laboratory and extension services at the University Health  Centre</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Construction of an ICT Centre with 50 Computers. V-SAT and 30 KVA generator</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Construction of new University Gate with Pent-house and modern Security </a:t>
            </a:r>
            <a:r>
              <a:rPr lang="en-US" sz="2400" dirty="0" smtClean="0">
                <a:latin typeface="Calibri" panose="020F0502020204030204" pitchFamily="34" charset="0"/>
                <a:ea typeface="Calibri" panose="020F0502020204030204" pitchFamily="34" charset="0"/>
                <a:cs typeface="Times New Roman" panose="02020603050405020304" pitchFamily="18" charset="0"/>
              </a:rPr>
              <a:t>office</a:t>
            </a:r>
          </a:p>
          <a:p>
            <a:pPr marL="342900" lvl="0" indent="-342900">
              <a:lnSpc>
                <a:spcPct val="150000"/>
              </a:lnSpc>
              <a:spcAft>
                <a:spcPts val="0"/>
              </a:spcAft>
              <a:buFont typeface="+mj-lt"/>
              <a:buAutoNum type="romanLcParenBoth"/>
              <a:tabLst>
                <a:tab pos="5248275" algn="l"/>
              </a:tabLst>
            </a:pP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Installation of solar powdered and Electric Street lights on the campus.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Installation of new Generating Sets to power electricity in the main campus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45709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308" y="0"/>
            <a:ext cx="11641541" cy="6488828"/>
          </a:xfrm>
          <a:prstGeom prst="rect">
            <a:avLst/>
          </a:prstGeom>
        </p:spPr>
        <p:txBody>
          <a:bodyPr wrap="square">
            <a:spAutoFit/>
          </a:bodyPr>
          <a:lstStyle/>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Refurbishing and installation of industrial boreholes</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Refurbishing of  University  reservoir to supply water to different parts of the campus</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Re-construction and landscaping of University access roads</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Construction and expansion of </a:t>
            </a:r>
            <a:r>
              <a:rPr lang="en-US" sz="2800" dirty="0" smtClean="0">
                <a:latin typeface="Calibri" panose="020F0502020204030204" pitchFamily="34" charset="0"/>
                <a:ea typeface="Calibri" panose="020F0502020204030204" pitchFamily="34" charset="0"/>
                <a:cs typeface="Times New Roman" panose="02020603050405020304" pitchFamily="18" charset="0"/>
              </a:rPr>
              <a:t>University </a:t>
            </a:r>
            <a:r>
              <a:rPr lang="en-US" sz="2800" dirty="0">
                <a:latin typeface="Calibri" panose="020F0502020204030204" pitchFamily="34" charset="0"/>
                <a:ea typeface="Calibri" panose="020F0502020204030204" pitchFamily="34" charset="0"/>
                <a:cs typeface="Times New Roman" panose="02020603050405020304" pitchFamily="18" charset="0"/>
              </a:rPr>
              <a:t>Fences, 2</a:t>
            </a:r>
            <a:r>
              <a:rPr lang="en-US" sz="2800" baseline="30000" dirty="0">
                <a:latin typeface="Calibri" panose="020F0502020204030204" pitchFamily="34" charset="0"/>
                <a:ea typeface="Calibri" panose="020F0502020204030204" pitchFamily="34" charset="0"/>
                <a:cs typeface="Times New Roman" panose="02020603050405020304" pitchFamily="18" charset="0"/>
              </a:rPr>
              <a:t>nd</a:t>
            </a:r>
            <a:r>
              <a:rPr lang="en-US" sz="2800" dirty="0">
                <a:latin typeface="Calibri" panose="020F0502020204030204" pitchFamily="34" charset="0"/>
                <a:ea typeface="Calibri" panose="020F0502020204030204" pitchFamily="34" charset="0"/>
                <a:cs typeface="Times New Roman" panose="02020603050405020304" pitchFamily="18" charset="0"/>
              </a:rPr>
              <a:t> Gate inlet access road</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Expansion of University road to new sites and building </a:t>
            </a:r>
            <a:r>
              <a:rPr lang="en-US" sz="2800" dirty="0" err="1">
                <a:latin typeface="Calibri" panose="020F0502020204030204" pitchFamily="34" charset="0"/>
                <a:ea typeface="Calibri" panose="020F0502020204030204" pitchFamily="34" charset="0"/>
                <a:cs typeface="Times New Roman" panose="02020603050405020304" pitchFamily="18" charset="0"/>
              </a:rPr>
              <a:t>i.e</a:t>
            </a:r>
            <a:r>
              <a:rPr lang="en-US" sz="2800" dirty="0">
                <a:latin typeface="Calibri" panose="020F0502020204030204" pitchFamily="34" charset="0"/>
                <a:ea typeface="Calibri" panose="020F0502020204030204" pitchFamily="34" charset="0"/>
                <a:cs typeface="Times New Roman" panose="02020603050405020304" pitchFamily="18" charset="0"/>
              </a:rPr>
              <a:t> the College of Medicine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Internet connectivity through dedicated Wi-Fi sport</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romanL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Subscription for internet access at Shell ICT Centre, University Library, Law Library and Medical Library</a:t>
            </a:r>
            <a:endParaRPr lang="en-GB"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5496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0250" y="158930"/>
            <a:ext cx="11668836" cy="6485622"/>
          </a:xfrm>
          <a:prstGeom prst="rect">
            <a:avLst/>
          </a:prstGeom>
        </p:spPr>
        <p:txBody>
          <a:bodyPr wrap="square">
            <a:spAutoFit/>
          </a:bodyPr>
          <a:lstStyle/>
          <a:p>
            <a:pPr>
              <a:lnSpc>
                <a:spcPct val="150000"/>
              </a:lnSpc>
              <a:spcAft>
                <a:spcPts val="0"/>
              </a:spcAft>
              <a:tabLst>
                <a:tab pos="5248275" algn="l"/>
              </a:tabLst>
            </a:pPr>
            <a:r>
              <a:rPr lang="en-US" sz="2800" b="1" dirty="0">
                <a:latin typeface="Calibri" panose="020F0502020204030204" pitchFamily="34" charset="0"/>
                <a:ea typeface="Calibri" panose="020F0502020204030204" pitchFamily="34" charset="0"/>
                <a:cs typeface="Times New Roman" panose="02020603050405020304" pitchFamily="18" charset="0"/>
              </a:rPr>
              <a:t> (C)  SUPPLY OF EQUIPMENT</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Equipment were supplied and Installed in</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College of Medicine</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Pharmacology and Biochemistry Department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Physiology Department</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Anatomy Department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Central Laboratory</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Faculty of Agricultural Sciences</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Faculty of Engineering</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arenBoth"/>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Entrepreneurship Centre</a:t>
            </a:r>
            <a:endParaRPr lang="en-GB" sz="2800" dirty="0"/>
          </a:p>
        </p:txBody>
      </p:sp>
    </p:spTree>
    <p:extLst>
      <p:ext uri="{BB962C8B-B14F-4D97-AF65-F5344CB8AC3E}">
        <p14:creationId xmlns:p14="http://schemas.microsoft.com/office/powerpoint/2010/main" val="3844914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139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0251" y="377294"/>
            <a:ext cx="11668835" cy="6370975"/>
          </a:xfrm>
          <a:prstGeom prst="rect">
            <a:avLst/>
          </a:prstGeom>
        </p:spPr>
        <p:txBody>
          <a:bodyPr wrap="square">
            <a:spAutoFit/>
          </a:bodyPr>
          <a:lstStyle/>
          <a:p>
            <a:pPr>
              <a:spcAft>
                <a:spcPts val="0"/>
              </a:spcAft>
              <a:tabLst>
                <a:tab pos="5248275" algn="l"/>
              </a:tabLst>
            </a:pPr>
            <a:r>
              <a:rPr lang="en-US" sz="2400" b="1" dirty="0">
                <a:latin typeface="Calibri" panose="020F0502020204030204" pitchFamily="34" charset="0"/>
                <a:ea typeface="Calibri" panose="020F0502020204030204" pitchFamily="34" charset="0"/>
                <a:cs typeface="Times New Roman" panose="02020603050405020304" pitchFamily="18" charset="0"/>
              </a:rPr>
              <a:t>CHALLENGES OF INSFRASTRUCTURAL FACILITIES ON CAMPUS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tabLst>
                <a:tab pos="5248275" algn="l"/>
              </a:tabLst>
            </a:pPr>
            <a:r>
              <a:rPr lang="en-US" sz="2400" b="1" dirty="0">
                <a:latin typeface="Calibri" panose="020F0502020204030204" pitchFamily="34" charset="0"/>
                <a:ea typeface="Calibri" panose="020F0502020204030204" pitchFamily="34" charset="0"/>
                <a:cs typeface="Times New Roman" panose="02020603050405020304" pitchFamily="18" charset="0"/>
              </a:rPr>
              <a:t>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Lack of fund for capital project development in the University.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248275" algn="l"/>
              </a:tabLst>
            </a:pPr>
            <a:r>
              <a:rPr lang="en-US" sz="2400" dirty="0" err="1">
                <a:latin typeface="Calibri" panose="020F0502020204030204" pitchFamily="34" charset="0"/>
                <a:ea typeface="Calibri" panose="020F0502020204030204" pitchFamily="34" charset="0"/>
                <a:cs typeface="Times New Roman" panose="02020603050405020304" pitchFamily="18" charset="0"/>
              </a:rPr>
              <a:t>roblem</a:t>
            </a:r>
            <a:r>
              <a:rPr lang="en-US" sz="2400" dirty="0">
                <a:latin typeface="Calibri" panose="020F0502020204030204" pitchFamily="34" charset="0"/>
                <a:ea typeface="Calibri" panose="020F0502020204030204" pitchFamily="34" charset="0"/>
                <a:cs typeface="Times New Roman" panose="02020603050405020304" pitchFamily="18" charset="0"/>
              </a:rPr>
              <a:t> encountered by the University through land owners who believed that the land of the University belong to them due to non-payment of compensation Distorted Master l</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Non-availability  of necessary equipment/materials such as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50000"/>
              </a:lnSpc>
              <a:spcAft>
                <a:spcPts val="0"/>
              </a:spcAft>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Theodolite, software packages, Quantity Surveyor Package (</a:t>
            </a:r>
            <a:r>
              <a:rPr lang="en-US" sz="2400" dirty="0" err="1">
                <a:latin typeface="Calibri" panose="020F0502020204030204" pitchFamily="34" charset="0"/>
                <a:ea typeface="Calibri" panose="020F0502020204030204" pitchFamily="34" charset="0"/>
                <a:cs typeface="Times New Roman" panose="02020603050405020304" pitchFamily="18" charset="0"/>
              </a:rPr>
              <a:t>i.e</a:t>
            </a:r>
            <a:r>
              <a:rPr lang="en-US" sz="2400" dirty="0">
                <a:latin typeface="Calibri" panose="020F0502020204030204" pitchFamily="34" charset="0"/>
                <a:ea typeface="Calibri" panose="020F0502020204030204" pitchFamily="34" charset="0"/>
                <a:cs typeface="Times New Roman" panose="02020603050405020304" pitchFamily="18" charset="0"/>
              </a:rPr>
              <a:t> win QS, QS Cards, Master Bill) Arch Card</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Defacing of the University structures by students and staff</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Non-availability  of Central sewage system to drains water to appropriate quarters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Lack of incinerator for refuge disposal system</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Lack of mini fire services station in the </a:t>
            </a:r>
            <a:r>
              <a:rPr lang="en-US" sz="2400" dirty="0" smtClean="0">
                <a:latin typeface="Calibri" panose="020F0502020204030204" pitchFamily="34" charset="0"/>
                <a:ea typeface="Calibri" panose="020F0502020204030204" pitchFamily="34" charset="0"/>
                <a:cs typeface="Times New Roman" panose="02020603050405020304" pitchFamily="18" charset="0"/>
              </a:rPr>
              <a:t>University</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4381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7546" y="-449659"/>
            <a:ext cx="11600597" cy="2462213"/>
          </a:xfrm>
          <a:prstGeom prst="rect">
            <a:avLst/>
          </a:prstGeom>
        </p:spPr>
        <p:txBody>
          <a:bodyPr wrap="square">
            <a:spAutoFit/>
          </a:bodyPr>
          <a:lstStyle/>
          <a:p>
            <a:pPr marL="342900" lvl="0" indent="-342900">
              <a:lnSpc>
                <a:spcPct val="150000"/>
              </a:lnSpc>
              <a:spcAft>
                <a:spcPts val="0"/>
              </a:spcAft>
              <a:buFont typeface="+mj-lt"/>
              <a:buAutoNum type="arabicPeriod"/>
              <a:tabLst>
                <a:tab pos="5248275" algn="l"/>
              </a:tabLst>
            </a:pP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tabLst>
                <a:tab pos="5248275" algn="l"/>
              </a:tabLst>
            </a:pPr>
            <a:r>
              <a:rPr lang="en-US" sz="2800" dirty="0" smtClean="0">
                <a:latin typeface="Calibri" panose="020F0502020204030204" pitchFamily="34" charset="0"/>
                <a:ea typeface="Calibri" panose="020F0502020204030204" pitchFamily="34" charset="0"/>
                <a:cs typeface="Times New Roman" panose="02020603050405020304" pitchFamily="18" charset="0"/>
              </a:rPr>
              <a:t>8. Shortage </a:t>
            </a:r>
            <a:r>
              <a:rPr lang="en-US" sz="2800" dirty="0">
                <a:latin typeface="Calibri" panose="020F0502020204030204" pitchFamily="34" charset="0"/>
                <a:ea typeface="Calibri" panose="020F0502020204030204" pitchFamily="34" charset="0"/>
                <a:cs typeface="Times New Roman" panose="02020603050405020304" pitchFamily="18" charset="0"/>
              </a:rPr>
              <a:t>of Security  personnel, both operation and patrol</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0"/>
              </a:spcAft>
              <a:tabLst>
                <a:tab pos="5248275" algn="l"/>
              </a:tabLst>
            </a:pPr>
            <a:r>
              <a:rPr lang="en-US" sz="2800" dirty="0" smtClean="0">
                <a:latin typeface="Calibri" panose="020F0502020204030204" pitchFamily="34" charset="0"/>
                <a:ea typeface="Calibri" panose="020F0502020204030204" pitchFamily="34" charset="0"/>
                <a:cs typeface="Times New Roman" panose="02020603050405020304" pitchFamily="18" charset="0"/>
              </a:rPr>
              <a:t>9. Non </a:t>
            </a:r>
            <a:r>
              <a:rPr lang="en-US" sz="2800" dirty="0">
                <a:latin typeface="Calibri" panose="020F0502020204030204" pitchFamily="34" charset="0"/>
                <a:ea typeface="Calibri" panose="020F0502020204030204" pitchFamily="34" charset="0"/>
                <a:cs typeface="Times New Roman" panose="02020603050405020304" pitchFamily="18" charset="0"/>
              </a:rPr>
              <a:t>regular maintenance culture of the existing structures</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tabLst>
                <a:tab pos="5248275" algn="l"/>
              </a:tabLst>
            </a:pPr>
            <a:r>
              <a:rPr lang="en-US" sz="2800" dirty="0">
                <a:latin typeface="Calibri" panose="020F0502020204030204" pitchFamily="34" charset="0"/>
                <a:ea typeface="Calibri" panose="020F0502020204030204" pitchFamily="34" charset="0"/>
                <a:cs typeface="Times New Roman" panose="02020603050405020304" pitchFamily="18" charset="0"/>
              </a:rPr>
              <a:t> </a:t>
            </a:r>
            <a:endParaRPr lang="en-GB"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33173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1278" y="244188"/>
            <a:ext cx="11859904" cy="6313716"/>
          </a:xfrm>
          <a:prstGeom prst="rect">
            <a:avLst/>
          </a:prstGeom>
        </p:spPr>
        <p:txBody>
          <a:bodyPr wrap="square">
            <a:spAutoFit/>
          </a:bodyPr>
          <a:lstStyle/>
          <a:p>
            <a:pPr>
              <a:spcAft>
                <a:spcPts val="0"/>
              </a:spcAft>
              <a:tabLst>
                <a:tab pos="5248275" algn="l"/>
              </a:tabLst>
            </a:pPr>
            <a:r>
              <a:rPr lang="en-US" sz="2400" b="1" dirty="0">
                <a:latin typeface="Calibri" panose="020F0502020204030204" pitchFamily="34" charset="0"/>
                <a:ea typeface="Calibri" panose="020F0502020204030204" pitchFamily="34" charset="0"/>
                <a:cs typeface="Times New Roman" panose="02020603050405020304" pitchFamily="18" charset="0"/>
              </a:rPr>
              <a:t>SUGGESTIONS IN COMBACTING THESE CHALLENGES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tabLst>
                <a:tab pos="5248275" algn="l"/>
              </a:tabLst>
            </a:pPr>
            <a:r>
              <a:rPr lang="en-US" sz="2400" b="1" dirty="0">
                <a:latin typeface="Calibri" panose="020F0502020204030204" pitchFamily="34" charset="0"/>
                <a:ea typeface="Calibri" panose="020F0502020204030204" pitchFamily="34" charset="0"/>
                <a:cs typeface="Times New Roman" panose="02020603050405020304" pitchFamily="18" charset="0"/>
              </a:rPr>
              <a:t>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If the capital project fund from the Government is increased and forth-coming, the infrastructural development of the University will be drastically improved.  Walkways, </a:t>
            </a:r>
            <a:r>
              <a:rPr lang="en-US" sz="2400" dirty="0" err="1">
                <a:latin typeface="Calibri" panose="020F0502020204030204" pitchFamily="34" charset="0"/>
                <a:ea typeface="Calibri" panose="020F0502020204030204" pitchFamily="34" charset="0"/>
                <a:cs typeface="Times New Roman" panose="02020603050405020304" pitchFamily="18" charset="0"/>
              </a:rPr>
              <a:t>Kerbs</a:t>
            </a:r>
            <a:r>
              <a:rPr lang="en-US" sz="2400" dirty="0">
                <a:latin typeface="Calibri" panose="020F0502020204030204" pitchFamily="34" charset="0"/>
                <a:ea typeface="Calibri" panose="020F0502020204030204" pitchFamily="34" charset="0"/>
                <a:cs typeface="Times New Roman" panose="02020603050405020304" pitchFamily="18" charset="0"/>
              </a:rPr>
              <a:t> and parking spaces with beautiful flowers will be provided.</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The issue of land of the University should  be resolved with different stakeholders that are involved</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Equipment and necessary materials such as Theodolite, software packages such win QS, Card and mater bills must be made available for effective performance in the Department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2482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Training and re-training of staff on the job to be abreast with the current development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5.  Increase in the Security Personnel, both operation and patrol.  It is observed that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most of the buildings are not properly manned by security men</a:t>
            </a:r>
            <a:r>
              <a:rPr lang="en-US" sz="2400" dirty="0" smtClean="0">
                <a:latin typeface="Calibri" panose="020F0502020204030204" pitchFamily="34" charset="0"/>
                <a:ea typeface="Calibri" panose="020F0502020204030204" pitchFamily="34" charset="0"/>
                <a:cs typeface="Times New Roman" panose="02020603050405020304" pitchFamily="18" charset="0"/>
              </a:rPr>
              <a:t>.</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76598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4925" y="263564"/>
            <a:ext cx="11737075" cy="5575052"/>
          </a:xfrm>
          <a:prstGeom prst="rect">
            <a:avLst/>
          </a:prstGeom>
        </p:spPr>
        <p:txBody>
          <a:bodyPr wrap="square">
            <a:spAutoFit/>
          </a:bodyPr>
          <a:lstStyle/>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6.  Waste Management be provided within the University.</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7.   There is the need for mini-fire station on Campus to curb fire incident immediately it occurred in</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case of fire outbreaks.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8.    Health and safety measures in all the facilities on Campus should be put in place.</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9.    To ensure that all our building projects meet with the minimum man ratio per toilet.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Therefore, there is the need for more public toilets facilities on Campus.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10   There is the need to certify that our buildings were fit for habitation</a:t>
            </a:r>
            <a:r>
              <a:rPr lang="en-US" sz="2400" b="1" dirty="0">
                <a:latin typeface="Calibri" panose="020F0502020204030204" pitchFamily="34" charset="0"/>
                <a:ea typeface="Calibri" panose="020F0502020204030204" pitchFamily="34" charset="0"/>
                <a:cs typeface="Times New Roman" panose="02020603050405020304" pitchFamily="18" charset="0"/>
              </a:rPr>
              <a:t>.</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11   Nearly all the Professional and Technical staff of Physical Planning were products of Faculty of </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9310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603" y="292375"/>
            <a:ext cx="11573301" cy="5018297"/>
          </a:xfrm>
          <a:prstGeom prst="rect">
            <a:avLst/>
          </a:prstGeom>
        </p:spPr>
        <p:txBody>
          <a:bodyPr wrap="square">
            <a:spAutoFit/>
          </a:bodyPr>
          <a:lstStyle/>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Environmental Studies I therefore request for the establishment/take off of Faculty of Environmental</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Studies which will comprises of the following Departments.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Architecture</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Building</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Estate Management</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Quantity Surveying</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Town and Regional Planning</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eriod"/>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Land surveying/</a:t>
            </a:r>
            <a:r>
              <a:rPr lang="en-US" sz="2400" dirty="0" err="1">
                <a:latin typeface="Calibri" panose="020F0502020204030204" pitchFamily="34" charset="0"/>
                <a:ea typeface="Calibri" panose="020F0502020204030204" pitchFamily="34" charset="0"/>
                <a:cs typeface="Times New Roman" panose="02020603050405020304" pitchFamily="18" charset="0"/>
              </a:rPr>
              <a:t>Geoinformatics</a:t>
            </a:r>
            <a:r>
              <a:rPr lang="en-US" sz="2400" dirty="0">
                <a:latin typeface="Calibri" panose="020F0502020204030204" pitchFamily="34" charset="0"/>
                <a:ea typeface="Calibri" panose="020F0502020204030204" pitchFamily="34" charset="0"/>
                <a:cs typeface="Times New Roman" panose="02020603050405020304" pitchFamily="18" charset="0"/>
              </a:rPr>
              <a:t> to ensure academic development.</a:t>
            </a:r>
            <a:endParaRPr lang="en-GB" sz="2400" dirty="0"/>
          </a:p>
        </p:txBody>
      </p:sp>
    </p:spTree>
    <p:extLst>
      <p:ext uri="{BB962C8B-B14F-4D97-AF65-F5344CB8AC3E}">
        <p14:creationId xmlns:p14="http://schemas.microsoft.com/office/powerpoint/2010/main" val="3727463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7545" y="178363"/>
            <a:ext cx="11737075" cy="6740307"/>
          </a:xfrm>
          <a:prstGeom prst="rect">
            <a:avLst/>
          </a:prstGeom>
        </p:spPr>
        <p:txBody>
          <a:bodyPr wrap="square">
            <a:spAutoFit/>
          </a:bodyPr>
          <a:lstStyle/>
          <a:p>
            <a:pPr>
              <a:lnSpc>
                <a:spcPct val="150000"/>
              </a:lnSpc>
              <a:spcAft>
                <a:spcPts val="0"/>
              </a:spcAft>
              <a:tabLst>
                <a:tab pos="5781675" algn="l"/>
              </a:tabLst>
            </a:pPr>
            <a:r>
              <a:rPr lang="en-US" sz="2400" b="1" dirty="0">
                <a:latin typeface="Calibri" panose="020F0502020204030204" pitchFamily="34" charset="0"/>
                <a:ea typeface="Calibri" panose="020F0502020204030204" pitchFamily="34" charset="0"/>
                <a:cs typeface="Times New Roman" panose="02020603050405020304" pitchFamily="18" charset="0"/>
              </a:rPr>
              <a:t>CONCLUSION</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The operational Procedures, rules, practice, ethics and culture used in execution of Infrastructural facilities on Campus are based on the following:</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arenBoth"/>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Standard form of Building Contract in Nigeria</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arenBoth"/>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Conditions of engagement of Consultancy Services in the Building Industry in Nigeria and guided by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mj-lt"/>
              <a:buAutoNum type="arabicParenBoth"/>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Public Procurement Act (PPA) 2007.</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Therefore, the State and Security of the Infrastructural facilities on Campus are safe and secured and all the structures on Campus are certified fit for habitation.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dirty="0">
                <a:latin typeface="Calibri" panose="020F0502020204030204" pitchFamily="34" charset="0"/>
                <a:ea typeface="Calibri" panose="020F0502020204030204" pitchFamily="34" charset="0"/>
                <a:cs typeface="Times New Roman" panose="02020603050405020304" pitchFamily="18" charset="0"/>
              </a:rPr>
              <a:t> </a:t>
            </a:r>
            <a:r>
              <a:rPr lang="en-US" sz="2400" dirty="0" smtClean="0">
                <a:latin typeface="Calibri" panose="020F0502020204030204" pitchFamily="34" charset="0"/>
                <a:ea typeface="Calibri" panose="020F0502020204030204" pitchFamily="34" charset="0"/>
                <a:cs typeface="Times New Roman" panose="02020603050405020304" pitchFamily="18" charset="0"/>
              </a:rPr>
              <a:t>Thank </a:t>
            </a:r>
            <a:r>
              <a:rPr lang="en-US" sz="2400" dirty="0">
                <a:latin typeface="Calibri" panose="020F0502020204030204" pitchFamily="34" charset="0"/>
                <a:ea typeface="Calibri" panose="020F0502020204030204" pitchFamily="34" charset="0"/>
                <a:cs typeface="Times New Roman" panose="02020603050405020304" pitchFamily="18" charset="0"/>
              </a:rPr>
              <a:t>you.	</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b="1" dirty="0">
                <a:latin typeface="Calibri" panose="020F0502020204030204" pitchFamily="34" charset="0"/>
                <a:ea typeface="Calibri" panose="020F0502020204030204" pitchFamily="34" charset="0"/>
                <a:cs typeface="Times New Roman" panose="02020603050405020304" pitchFamily="18" charset="0"/>
              </a:rPr>
              <a:t>Bldr. E.O. </a:t>
            </a:r>
            <a:r>
              <a:rPr lang="en-US" sz="2400" b="1" dirty="0" err="1">
                <a:latin typeface="Calibri" panose="020F0502020204030204" pitchFamily="34" charset="0"/>
                <a:ea typeface="Calibri" panose="020F0502020204030204" pitchFamily="34" charset="0"/>
                <a:cs typeface="Times New Roman" panose="02020603050405020304" pitchFamily="18" charset="0"/>
              </a:rPr>
              <a:t>Abulefon</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tabLst>
                <a:tab pos="5781675" algn="l"/>
              </a:tabLst>
            </a:pPr>
            <a:r>
              <a:rPr lang="en-US" sz="2400" b="1" dirty="0">
                <a:latin typeface="Calibri" panose="020F0502020204030204" pitchFamily="34" charset="0"/>
                <a:ea typeface="Calibri" panose="020F0502020204030204" pitchFamily="34" charset="0"/>
                <a:cs typeface="Times New Roman" panose="02020603050405020304" pitchFamily="18" charset="0"/>
              </a:rPr>
              <a:t>Coordinator (PPD</a:t>
            </a:r>
            <a:r>
              <a:rPr lang="en-US" sz="2400" b="1" dirty="0" smtClean="0">
                <a:latin typeface="Calibri" panose="020F0502020204030204" pitchFamily="34" charset="0"/>
                <a:ea typeface="Calibri" panose="020F0502020204030204" pitchFamily="34" charset="0"/>
                <a:cs typeface="Times New Roman" panose="02020603050405020304" pitchFamily="18" charset="0"/>
              </a:rPr>
              <a:t>)</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043618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64</TotalTime>
  <Words>1172</Words>
  <Application>Microsoft Office PowerPoint</Application>
  <PresentationFormat>Widescreen</PresentationFormat>
  <Paragraphs>158</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Century Gothic</vt:lpstr>
      <vt:lpstr>Times New Roman</vt:lpstr>
      <vt:lpstr>Wingdings 3</vt:lpstr>
      <vt:lpstr>Ion</vt:lpstr>
      <vt:lpstr> EKITI STATE UNIVERSITY, NIGERIA     PHYSICAL PLANNING DEPARTMENT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EKITI STATE UNIVERSITY, NIGERIA     PHYSICAL PLANNING DEPARTMENT</dc:title>
  <dc:creator>aniagana johnson</dc:creator>
  <cp:lastModifiedBy>aniagana johnson</cp:lastModifiedBy>
  <cp:revision>8</cp:revision>
  <dcterms:created xsi:type="dcterms:W3CDTF">2016-02-03T08:06:18Z</dcterms:created>
  <dcterms:modified xsi:type="dcterms:W3CDTF">2016-02-03T09:10:46Z</dcterms:modified>
</cp:coreProperties>
</file>