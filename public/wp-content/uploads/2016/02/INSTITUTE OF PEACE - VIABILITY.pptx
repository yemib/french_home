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7" r:id="rId3"/>
    <p:sldId id="266" r:id="rId4"/>
    <p:sldId id="273" r:id="rId5"/>
    <p:sldId id="274" r:id="rId6"/>
    <p:sldId id="279" r:id="rId7"/>
    <p:sldId id="281" r:id="rId8"/>
    <p:sldId id="282" r:id="rId9"/>
    <p:sldId id="275" r:id="rId10"/>
    <p:sldId id="276" r:id="rId11"/>
    <p:sldId id="284" r:id="rId12"/>
    <p:sldId id="285" r:id="rId13"/>
    <p:sldId id="278" r:id="rId14"/>
  </p:sldIdLst>
  <p:sldSz cx="9144000" cy="6858000" type="screen4x3"/>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24830D-5FDC-4234-9AEC-92747BB08A9F}" type="datetimeFigureOut">
              <a:rPr lang="en-US" smtClean="0"/>
              <a:t>2/2/2016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EBA805-2F28-4BB1-8A65-835C9FE30891}" type="slidenum">
              <a:rPr lang="en-US" smtClean="0"/>
              <a:t>‹#›</a:t>
            </a:fld>
            <a:endParaRPr lang="en-US"/>
          </a:p>
        </p:txBody>
      </p:sp>
    </p:spTree>
    <p:extLst>
      <p:ext uri="{BB962C8B-B14F-4D97-AF65-F5344CB8AC3E}">
        <p14:creationId xmlns:p14="http://schemas.microsoft.com/office/powerpoint/2010/main" val="2313197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2EBA805-2F28-4BB1-8A65-835C9FE30891}" type="slidenum">
              <a:rPr lang="en-US" smtClean="0"/>
              <a:t>10</a:t>
            </a:fld>
            <a:endParaRPr lang="en-US"/>
          </a:p>
        </p:txBody>
      </p:sp>
    </p:spTree>
    <p:extLst>
      <p:ext uri="{BB962C8B-B14F-4D97-AF65-F5344CB8AC3E}">
        <p14:creationId xmlns:p14="http://schemas.microsoft.com/office/powerpoint/2010/main" val="1386668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smtClean="0"/>
              <a:t>Click to edit Master title style</a:t>
            </a:r>
            <a:endParaRPr kumimoji="0"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15"/>
          <p:cNvSpPr>
            <a:spLocks noGrp="1"/>
          </p:cNvSpPr>
          <p:nvPr>
            <p:ph type="dt" sz="half" idx="10"/>
          </p:nvPr>
        </p:nvSpPr>
        <p:spPr/>
        <p:txBody>
          <a:bodyPr/>
          <a:lstStyle/>
          <a:p>
            <a:fld id="{5A91669D-6DD5-4562-84FF-DCCA96F5085F}" type="datetimeFigureOut">
              <a:rPr lang="en-US" smtClean="0"/>
              <a:t>2/2/2016</a:t>
            </a:fld>
            <a:endParaRPr lang="en-US"/>
          </a:p>
        </p:txBody>
      </p:sp>
      <p:sp>
        <p:nvSpPr>
          <p:cNvPr id="2" name="Footer Placeholder 1"/>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8EA42993-5250-4F44-989E-6616E4CABC1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smtClean="0"/>
              <a:t>Click to edit Master title style</a:t>
            </a:r>
            <a:endParaRPr kumimoji="0" lang="en-US"/>
          </a:p>
        </p:txBody>
      </p:sp>
      <p:sp>
        <p:nvSpPr>
          <p:cNvPr id="27" name="Content Placeholder 26"/>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5A91669D-6DD5-4562-84FF-DCCA96F5085F}" type="datetimeFigureOut">
              <a:rPr lang="en-US" smtClean="0"/>
              <a:t>2/2/2016</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8EA42993-5250-4F44-989E-6616E4CABC1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9" name="Date Placeholder 18"/>
          <p:cNvSpPr>
            <a:spLocks noGrp="1"/>
          </p:cNvSpPr>
          <p:nvPr>
            <p:ph type="dt" sz="half" idx="10"/>
          </p:nvPr>
        </p:nvSpPr>
        <p:spPr/>
        <p:txBody>
          <a:bodyPr/>
          <a:lstStyle/>
          <a:p>
            <a:fld id="{5A91669D-6DD5-4562-84FF-DCCA96F5085F}" type="datetimeFigureOut">
              <a:rPr lang="en-US" smtClean="0"/>
              <a:t>2/2/2016</a:t>
            </a:fld>
            <a:endParaRPr lang="en-US"/>
          </a:p>
        </p:txBody>
      </p:sp>
      <p:sp>
        <p:nvSpPr>
          <p:cNvPr id="11" name="Footer Placeholder 10"/>
          <p:cNvSpPr>
            <a:spLocks noGrp="1"/>
          </p:cNvSpPr>
          <p:nvPr>
            <p:ph type="ftr" sz="quarter" idx="11"/>
          </p:nvPr>
        </p:nvSpPr>
        <p:spPr/>
        <p:txBody>
          <a:bodyPr/>
          <a:lstStyle/>
          <a:p>
            <a:endParaRPr lang="en-US"/>
          </a:p>
        </p:txBody>
      </p:sp>
      <p:sp>
        <p:nvSpPr>
          <p:cNvPr id="16" name="Slide Number Placeholder 15"/>
          <p:cNvSpPr>
            <a:spLocks noGrp="1"/>
          </p:cNvSpPr>
          <p:nvPr>
            <p:ph type="sldNum" sz="quarter" idx="12"/>
          </p:nvPr>
        </p:nvSpPr>
        <p:spPr/>
        <p:txBody>
          <a:bodyPr/>
          <a:lstStyle/>
          <a:p>
            <a:fld id="{8EA42993-5250-4F44-989E-6616E4CABC12}" type="slidenum">
              <a:rPr lang="en-US" smtClean="0"/>
              <a:t>‹#›</a:t>
            </a:fld>
            <a:endParaRPr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0"/>
          </p:nvPr>
        </p:nvSpPr>
        <p:spPr/>
        <p:txBody>
          <a:bodyPr/>
          <a:lstStyle/>
          <a:p>
            <a:fld id="{5A91669D-6DD5-4562-84FF-DCCA96F5085F}" type="datetimeFigureOut">
              <a:rPr lang="en-US" smtClean="0"/>
              <a:t>2/2/2016</a:t>
            </a:fld>
            <a:endParaRPr lang="en-US"/>
          </a:p>
        </p:txBody>
      </p:sp>
      <p:sp>
        <p:nvSpPr>
          <p:cNvPr id="10" name="Footer Placeholder 9"/>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smtClean="0"/>
              <a:t>Click to edit Master title style</a:t>
            </a:r>
            <a:endParaRPr kumimoji="0"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0"/>
          </p:nvPr>
        </p:nvSpPr>
        <p:spPr/>
        <p:txBody>
          <a:bodyPr/>
          <a:lstStyle/>
          <a:p>
            <a:fld id="{5A91669D-6DD5-4562-84FF-DCCA96F5085F}" type="datetimeFigureOut">
              <a:rPr lang="en-US" smtClean="0"/>
              <a:t>2/2/2016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29600" y="6477000"/>
            <a:ext cx="762000" cy="246888"/>
          </a:xfrm>
        </p:spPr>
        <p:txBody>
          <a:bodyPr/>
          <a:lstStyle/>
          <a:p>
            <a:fld id="{8EA42993-5250-4F44-989E-6616E4CABC12}" type="slidenum">
              <a:rPr lang="en-US" smtClean="0"/>
              <a:t>‹#›</a:t>
            </a:fld>
            <a:endParaRPr lang="en-US"/>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5A91669D-6DD5-4562-84FF-DCCA96F5085F}" type="datetimeFigureOut">
              <a:rPr lang="en-US" smtClean="0"/>
              <a:t>2/2/2016</a:t>
            </a:fld>
            <a:endParaRPr lang="en-US"/>
          </a:p>
        </p:txBody>
      </p:sp>
      <p:sp>
        <p:nvSpPr>
          <p:cNvPr id="21" name="Footer Placeholder 20"/>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1669D-6DD5-4562-84FF-DCCA96F5085F}" type="datetimeFigureOut">
              <a:rPr lang="en-US" smtClean="0"/>
              <a:t>2/2/2016</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5A91669D-6DD5-4562-84FF-DCCA96F5085F}" type="datetimeFigureOut">
              <a:rPr lang="en-US" smtClean="0"/>
              <a:t>2/2/2016</a:t>
            </a:fld>
            <a:endParaRPr lang="en-US"/>
          </a:p>
        </p:txBody>
      </p:sp>
      <p:sp>
        <p:nvSpPr>
          <p:cNvPr id="29" name="Footer Placeholder 28"/>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smtClean="0"/>
              <a:t>Click icon to add picture</a:t>
            </a:r>
            <a:endParaRPr kumimoji="0" lang="en-US" dirty="0"/>
          </a:p>
        </p:txBody>
      </p:sp>
      <p:sp>
        <p:nvSpPr>
          <p:cNvPr id="7" name="Date Placeholder 6"/>
          <p:cNvSpPr>
            <a:spLocks noGrp="1"/>
          </p:cNvSpPr>
          <p:nvPr>
            <p:ph type="dt" sz="half" idx="10"/>
          </p:nvPr>
        </p:nvSpPr>
        <p:spPr/>
        <p:txBody>
          <a:bodyPr/>
          <a:lstStyle/>
          <a:p>
            <a:fld id="{5A91669D-6DD5-4562-84FF-DCCA96F5085F}" type="datetimeFigureOut">
              <a:rPr lang="en-US" smtClean="0"/>
              <a:t>2/2/2016</a:t>
            </a:fld>
            <a:endParaRPr lang="en-US"/>
          </a:p>
        </p:txBody>
      </p:sp>
      <p:sp>
        <p:nvSpPr>
          <p:cNvPr id="5" name="Footer Placeholder 4"/>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8EA42993-5250-4F44-989E-6616E4CABC12}" type="slidenum">
              <a:rPr lang="en-US" smtClean="0"/>
              <a:t>‹#›</a:t>
            </a:fld>
            <a:endParaRPr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A91669D-6DD5-4562-84FF-DCCA96F5085F}" type="datetimeFigureOut">
              <a:rPr lang="en-US" smtClean="0"/>
              <a:t>2/2/2016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A91669D-6DD5-4562-84FF-DCCA96F5085F}" type="datetimeFigureOut">
              <a:rPr lang="en-US" smtClean="0"/>
              <a:t>2/2/2016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42993-5250-4F44-989E-6616E4CABC1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5A91669D-6DD5-4562-84FF-DCCA96F5085F}" type="datetimeFigureOut">
              <a:rPr lang="en-US" smtClean="0"/>
              <a:t>2/2/2016</a:t>
            </a:fld>
            <a:endParaRPr lang="en-US"/>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8EA42993-5250-4F44-989E-6616E4CABC12}" type="slidenum">
              <a:rPr lang="en-US" smtClean="0"/>
              <a:t>‹#›</a:t>
            </a:fld>
            <a:endParaRPr lang="en-US"/>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smtClean="0"/>
              <a:t>Click to edit Master title style</a:t>
            </a:r>
            <a:endParaRPr kumimoji="0"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0"/>
            <a:ext cx="9601200" cy="3733800"/>
          </a:xfrm>
        </p:spPr>
        <p:txBody>
          <a:bodyPr>
            <a:normAutofit fontScale="90000"/>
          </a:bodyPr>
          <a:lstStyle/>
          <a:p>
            <a:pPr algn="ctr"/>
            <a:r>
              <a:rPr lang="en-US" b="1" dirty="0">
                <a:effectLst/>
                <a:latin typeface="Algerian" pitchFamily="82" charset="0"/>
                <a:cs typeface="Times New Roman" pitchFamily="18" charset="0"/>
              </a:rPr>
              <a:t>“POSITION ON ACADEMIC PROGRAMMES VIABILITY, ACCOMMODATION, CLASSROOM, ACCREDITATION, EXAMINATION, RESULT PROCESSING, CHALLENGES AND WAY FORWARD TO PROPEL EKSU TO WORLD CLASS UNIVERSITY”</a:t>
            </a:r>
            <a:r>
              <a:rPr lang="en-US" b="1" dirty="0" smtClean="0">
                <a:effectLst/>
              </a:rPr>
              <a:t/>
            </a:r>
            <a:br>
              <a:rPr lang="en-US" b="1" dirty="0" smtClean="0">
                <a:effectLst/>
              </a:rPr>
            </a:br>
            <a:r>
              <a:rPr lang="en-US" b="1" dirty="0" smtClean="0">
                <a:effectLst/>
              </a:rPr>
              <a:t/>
            </a:r>
            <a:br>
              <a:rPr lang="en-US" b="1" dirty="0" smtClean="0">
                <a:effectLst/>
              </a:rPr>
            </a:br>
            <a:r>
              <a:rPr lang="en-US" b="1" dirty="0" smtClean="0">
                <a:effectLst/>
              </a:rPr>
              <a:t>PRESENTED by</a:t>
            </a:r>
            <a:br>
              <a:rPr lang="en-US" b="1" dirty="0" smtClean="0">
                <a:effectLst/>
              </a:rPr>
            </a:br>
            <a:r>
              <a:rPr lang="en-US" b="1" dirty="0" smtClean="0">
                <a:effectLst/>
              </a:rPr>
              <a:t> </a:t>
            </a:r>
            <a:r>
              <a:rPr lang="en-US" b="1" dirty="0">
                <a:effectLst/>
              </a:rPr>
              <a:t>INSTITUTE OF PEACE, SECURITY AND GOVERNANCE AT THE ACADEMIC SUMMIT ORGANIZED </a:t>
            </a:r>
            <a:r>
              <a:rPr lang="en-US" b="1" dirty="0" smtClean="0">
                <a:effectLst/>
              </a:rPr>
              <a:t/>
            </a:r>
            <a:br>
              <a:rPr lang="en-US" b="1" dirty="0" smtClean="0">
                <a:effectLst/>
              </a:rPr>
            </a:br>
            <a:r>
              <a:rPr lang="en-US" b="1" dirty="0" smtClean="0">
                <a:effectLst/>
              </a:rPr>
              <a:t>ORGANIZED BY EKITI STATE UNIVERSITY</a:t>
            </a:r>
            <a:r>
              <a:rPr lang="en-US" dirty="0" smtClean="0">
                <a:effectLst/>
              </a:rPr>
              <a:t/>
            </a:r>
            <a:br>
              <a:rPr lang="en-US" dirty="0" smtClean="0">
                <a:effectLst/>
              </a:rPr>
            </a:br>
            <a:endParaRPr lang="en-US" dirty="0"/>
          </a:p>
        </p:txBody>
      </p:sp>
      <p:sp>
        <p:nvSpPr>
          <p:cNvPr id="3" name="Subtitle 2"/>
          <p:cNvSpPr>
            <a:spLocks noGrp="1"/>
          </p:cNvSpPr>
          <p:nvPr>
            <p:ph type="subTitle" idx="1"/>
          </p:nvPr>
        </p:nvSpPr>
        <p:spPr>
          <a:xfrm>
            <a:off x="533400" y="5791200"/>
            <a:ext cx="8458200" cy="914400"/>
          </a:xfrm>
        </p:spPr>
        <p:txBody>
          <a:bodyPr/>
          <a:lstStyle/>
          <a:p>
            <a:pPr algn="r"/>
            <a:r>
              <a:rPr lang="en-US" b="1" dirty="0"/>
              <a:t>Professor </a:t>
            </a:r>
            <a:r>
              <a:rPr lang="en-US" b="1" dirty="0" err="1"/>
              <a:t>Kunle</a:t>
            </a:r>
            <a:r>
              <a:rPr lang="en-US" b="1" dirty="0"/>
              <a:t> </a:t>
            </a:r>
            <a:r>
              <a:rPr lang="en-US" b="1" dirty="0" err="1"/>
              <a:t>Ajayi</a:t>
            </a:r>
            <a:r>
              <a:rPr lang="en-US" b="1" dirty="0"/>
              <a:t>, PhD</a:t>
            </a:r>
          </a:p>
          <a:p>
            <a:pPr algn="r"/>
            <a:r>
              <a:rPr lang="en-US" b="1" dirty="0"/>
              <a:t>Director</a:t>
            </a:r>
          </a:p>
        </p:txBody>
      </p:sp>
    </p:spTree>
    <p:extLst>
      <p:ext uri="{BB962C8B-B14F-4D97-AF65-F5344CB8AC3E}">
        <p14:creationId xmlns:p14="http://schemas.microsoft.com/office/powerpoint/2010/main" val="41280883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8686800" cy="838200"/>
          </a:xfrm>
        </p:spPr>
        <p:txBody>
          <a:bodyPr>
            <a:normAutofit fontScale="90000"/>
          </a:bodyPr>
          <a:lstStyle/>
          <a:p>
            <a:r>
              <a:rPr lang="en-US" b="1" dirty="0">
                <a:effectLst/>
              </a:rPr>
              <a:t>BACKGROUND INFORMATION</a:t>
            </a:r>
            <a:r>
              <a:rPr lang="en-US" dirty="0">
                <a:effectLst/>
              </a:rPr>
              <a:t/>
            </a:r>
            <a:br>
              <a:rPr lang="en-US" dirty="0">
                <a:effectLst/>
              </a:rPr>
            </a:b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The Institute of Peace, Security and Governance (IPSG) was </a:t>
            </a:r>
            <a:r>
              <a:rPr lang="en-US" dirty="0" smtClean="0"/>
              <a:t>founded </a:t>
            </a:r>
            <a:r>
              <a:rPr lang="en-US" dirty="0"/>
              <a:t>in February, </a:t>
            </a:r>
            <a:r>
              <a:rPr lang="en-US" dirty="0" smtClean="0"/>
              <a:t>2014.It presently runs </a:t>
            </a:r>
            <a:r>
              <a:rPr lang="en-US" dirty="0"/>
              <a:t>three postgraduate programmes </a:t>
            </a:r>
            <a:r>
              <a:rPr lang="en-US" dirty="0" smtClean="0"/>
              <a:t>namely;</a:t>
            </a:r>
          </a:p>
          <a:p>
            <a:pPr marL="0" indent="0">
              <a:buNone/>
            </a:pPr>
            <a:endParaRPr lang="en-US" dirty="0"/>
          </a:p>
          <a:p>
            <a:pPr marL="0" indent="0" algn="just">
              <a:lnSpc>
                <a:spcPct val="160000"/>
              </a:lnSpc>
              <a:buNone/>
            </a:pPr>
            <a:r>
              <a:rPr lang="en-US" sz="2400" b="1" dirty="0" smtClean="0"/>
              <a:t>1. M.Sc. In Public </a:t>
            </a:r>
            <a:r>
              <a:rPr lang="en-US" sz="2400" b="1" dirty="0"/>
              <a:t>Sector Governance and Administration (PGA)</a:t>
            </a:r>
          </a:p>
          <a:p>
            <a:pPr marL="0" indent="0" algn="just">
              <a:lnSpc>
                <a:spcPct val="160000"/>
              </a:lnSpc>
              <a:buNone/>
            </a:pPr>
            <a:r>
              <a:rPr lang="en-US" sz="2400" b="1" dirty="0" smtClean="0"/>
              <a:t>2. M</a:t>
            </a:r>
            <a:r>
              <a:rPr lang="en-US" sz="2400" b="1" dirty="0"/>
              <a:t>. Sc. in Corporate Governance and Management (CGM) </a:t>
            </a:r>
          </a:p>
          <a:p>
            <a:pPr marL="0" indent="0" algn="just">
              <a:lnSpc>
                <a:spcPct val="160000"/>
              </a:lnSpc>
              <a:buNone/>
            </a:pPr>
            <a:r>
              <a:rPr lang="en-US" sz="2400" b="1" dirty="0" smtClean="0"/>
              <a:t>3. M.Sc</a:t>
            </a:r>
            <a:r>
              <a:rPr lang="en-US" sz="2400" b="1" dirty="0"/>
              <a:t>. &amp; PhD in Peace and Security Studies (PSS</a:t>
            </a:r>
            <a:r>
              <a:rPr lang="en-US" sz="2400" b="1" dirty="0" smtClean="0"/>
              <a:t>)</a:t>
            </a:r>
          </a:p>
          <a:p>
            <a:pPr marL="0" indent="0" algn="just">
              <a:buNone/>
            </a:pPr>
            <a:endParaRPr lang="en-US" b="1" dirty="0"/>
          </a:p>
          <a:p>
            <a:pPr marL="0" indent="0">
              <a:buNone/>
            </a:pPr>
            <a:r>
              <a:rPr lang="en-US" b="1" dirty="0"/>
              <a:t>The current total students’ enrolment is 105. </a:t>
            </a:r>
          </a:p>
        </p:txBody>
      </p:sp>
    </p:spTree>
    <p:extLst>
      <p:ext uri="{BB962C8B-B14F-4D97-AF65-F5344CB8AC3E}">
        <p14:creationId xmlns:p14="http://schemas.microsoft.com/office/powerpoint/2010/main" val="26388268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81000"/>
            <a:ext cx="8534400" cy="5509200"/>
          </a:xfrm>
          <a:prstGeom prst="rect">
            <a:avLst/>
          </a:prstGeom>
          <a:noFill/>
        </p:spPr>
        <p:txBody>
          <a:bodyPr wrap="square" rtlCol="0">
            <a:spAutoFit/>
          </a:bodyPr>
          <a:lstStyle/>
          <a:p>
            <a:r>
              <a:rPr lang="en-US" sz="2800" b="1" dirty="0"/>
              <a:t>VIABILITY OF THE INSTITUTE </a:t>
            </a:r>
            <a:endParaRPr lang="en-US" sz="2800" dirty="0"/>
          </a:p>
          <a:p>
            <a:endParaRPr lang="en-US" dirty="0"/>
          </a:p>
          <a:p>
            <a:pPr>
              <a:lnSpc>
                <a:spcPct val="150000"/>
              </a:lnSpc>
            </a:pPr>
            <a:r>
              <a:rPr lang="en-US" dirty="0">
                <a:latin typeface="Times New Roman" pitchFamily="18" charset="0"/>
                <a:cs typeface="Times New Roman" pitchFamily="18" charset="0"/>
              </a:rPr>
              <a:t>Viability emphatically addresses the sustainability of the Institute in terms of Funding &amp; Capacity to continuously receive patronage from prospective students</a:t>
            </a:r>
            <a:r>
              <a:rPr lang="en-US" dirty="0" smtClean="0">
                <a:latin typeface="Times New Roman" pitchFamily="18" charset="0"/>
                <a:cs typeface="Times New Roman" pitchFamily="18" charset="0"/>
              </a:rPr>
              <a:t>.</a:t>
            </a:r>
          </a:p>
          <a:p>
            <a:pPr marL="342900" lvl="0" indent="-342900">
              <a:lnSpc>
                <a:spcPct val="150000"/>
              </a:lnSpc>
              <a:buFont typeface="+mj-lt"/>
              <a:buAutoNum type="arabicPeriod"/>
            </a:pPr>
            <a:r>
              <a:rPr lang="en-US" sz="2400" b="1" dirty="0" smtClean="0">
                <a:latin typeface="Times New Roman" panose="02020603050405020304" pitchFamily="18" charset="0"/>
                <a:cs typeface="Times New Roman" panose="02020603050405020304" pitchFamily="18" charset="0"/>
              </a:rPr>
              <a:t>Funding</a:t>
            </a:r>
            <a:endParaRPr lang="en-US" sz="2400" dirty="0" smtClean="0">
              <a:latin typeface="Times New Roman" pitchFamily="18" charset="0"/>
              <a:cs typeface="Times New Roman" pitchFamily="18" charset="0"/>
            </a:endParaRPr>
          </a:p>
          <a:p>
            <a:pPr>
              <a:lnSpc>
                <a:spcPct val="150000"/>
              </a:lnSpc>
            </a:pPr>
            <a:r>
              <a:rPr lang="en-US" dirty="0" smtClean="0">
                <a:latin typeface="Times New Roman" pitchFamily="18" charset="0"/>
                <a:cs typeface="Times New Roman" pitchFamily="18" charset="0"/>
              </a:rPr>
              <a:t>Presently</a:t>
            </a:r>
            <a:r>
              <a:rPr lang="en-US" dirty="0">
                <a:latin typeface="Times New Roman" pitchFamily="18" charset="0"/>
                <a:cs typeface="Times New Roman" pitchFamily="18" charset="0"/>
              </a:rPr>
              <a:t>, the Institute contributes to the IGR of the University through the following sources:</a:t>
            </a:r>
            <a:endParaRPr lang="en-US" dirty="0" smtClean="0">
              <a:latin typeface="Times New Roman" pitchFamily="18" charset="0"/>
              <a:cs typeface="Times New Roman" pitchFamily="18" charset="0"/>
            </a:endParaRPr>
          </a:p>
          <a:p>
            <a:pPr marL="400050" lvl="0" indent="-400050">
              <a:lnSpc>
                <a:spcPct val="150000"/>
              </a:lnSpc>
              <a:buFont typeface="+mj-lt"/>
              <a:buAutoNum type="romanLcPeriod"/>
            </a:pPr>
            <a:r>
              <a:rPr lang="en-US" dirty="0" smtClean="0">
                <a:latin typeface="Times New Roman" pitchFamily="18" charset="0"/>
                <a:cs typeface="Times New Roman" pitchFamily="18" charset="0"/>
              </a:rPr>
              <a:t>Application Forms </a:t>
            </a:r>
          </a:p>
          <a:p>
            <a:pPr marL="400050" lvl="0" indent="-400050">
              <a:lnSpc>
                <a:spcPct val="150000"/>
              </a:lnSpc>
              <a:buFont typeface="+mj-lt"/>
              <a:buAutoNum type="romanLcPeriod"/>
            </a:pPr>
            <a:r>
              <a:rPr lang="en-US" dirty="0" smtClean="0">
                <a:latin typeface="Times New Roman" pitchFamily="18" charset="0"/>
                <a:cs typeface="Times New Roman" pitchFamily="18" charset="0"/>
              </a:rPr>
              <a:t>Admission </a:t>
            </a:r>
            <a:r>
              <a:rPr lang="en-US" dirty="0">
                <a:latin typeface="Times New Roman" pitchFamily="18" charset="0"/>
                <a:cs typeface="Times New Roman" pitchFamily="18" charset="0"/>
              </a:rPr>
              <a:t>Checking on the University </a:t>
            </a:r>
            <a:r>
              <a:rPr lang="en-US" dirty="0" smtClean="0">
                <a:latin typeface="Times New Roman" pitchFamily="18" charset="0"/>
                <a:cs typeface="Times New Roman" pitchFamily="18" charset="0"/>
              </a:rPr>
              <a:t>website</a:t>
            </a:r>
          </a:p>
          <a:p>
            <a:pPr marL="400050" lvl="0" indent="-400050">
              <a:lnSpc>
                <a:spcPct val="150000"/>
              </a:lnSpc>
              <a:buFont typeface="+mj-lt"/>
              <a:buAutoNum type="romanLcPeriod"/>
            </a:pPr>
            <a:r>
              <a:rPr lang="en-US" dirty="0" smtClean="0">
                <a:latin typeface="Times New Roman" pitchFamily="18" charset="0"/>
                <a:cs typeface="Times New Roman" pitchFamily="18" charset="0"/>
              </a:rPr>
              <a:t>Acceptance </a:t>
            </a:r>
            <a:r>
              <a:rPr lang="en-US" dirty="0">
                <a:latin typeface="Times New Roman" pitchFamily="18" charset="0"/>
                <a:cs typeface="Times New Roman" pitchFamily="18" charset="0"/>
              </a:rPr>
              <a:t>of </a:t>
            </a:r>
            <a:r>
              <a:rPr lang="en-US" dirty="0" smtClean="0">
                <a:latin typeface="Times New Roman" pitchFamily="18" charset="0"/>
                <a:cs typeface="Times New Roman" pitchFamily="18" charset="0"/>
              </a:rPr>
              <a:t>Admission</a:t>
            </a:r>
          </a:p>
          <a:p>
            <a:pPr marL="400050" lvl="0" indent="-400050">
              <a:lnSpc>
                <a:spcPct val="150000"/>
              </a:lnSpc>
              <a:buFont typeface="+mj-lt"/>
              <a:buAutoNum type="romanLcPeriod"/>
            </a:pPr>
            <a:r>
              <a:rPr lang="en-US" dirty="0" smtClean="0">
                <a:latin typeface="Times New Roman" pitchFamily="18" charset="0"/>
                <a:cs typeface="Times New Roman" pitchFamily="18" charset="0"/>
              </a:rPr>
              <a:t>Tuition fees</a:t>
            </a:r>
          </a:p>
          <a:p>
            <a:pPr marL="400050" lvl="0" indent="-400050">
              <a:lnSpc>
                <a:spcPct val="150000"/>
              </a:lnSpc>
              <a:buFont typeface="+mj-lt"/>
              <a:buAutoNum type="romanLcPeriod"/>
            </a:pPr>
            <a:r>
              <a:rPr lang="en-US" dirty="0" smtClean="0">
                <a:latin typeface="Times New Roman" pitchFamily="18" charset="0"/>
                <a:cs typeface="Times New Roman" pitchFamily="18" charset="0"/>
              </a:rPr>
              <a:t>Programme </a:t>
            </a:r>
            <a:r>
              <a:rPr lang="en-US" dirty="0">
                <a:latin typeface="Times New Roman" pitchFamily="18" charset="0"/>
                <a:cs typeface="Times New Roman" pitchFamily="18" charset="0"/>
              </a:rPr>
              <a:t>Due </a:t>
            </a:r>
          </a:p>
          <a:p>
            <a:pPr marL="400050" lvl="0" indent="-400050">
              <a:lnSpc>
                <a:spcPct val="150000"/>
              </a:lnSpc>
              <a:buFont typeface="+mj-lt"/>
              <a:buAutoNum type="romanLcPeriod"/>
            </a:pPr>
            <a:r>
              <a:rPr lang="en-US" dirty="0"/>
              <a:t>Internship Fees </a:t>
            </a:r>
          </a:p>
        </p:txBody>
      </p:sp>
    </p:spTree>
    <p:extLst>
      <p:ext uri="{BB962C8B-B14F-4D97-AF65-F5344CB8AC3E}">
        <p14:creationId xmlns:p14="http://schemas.microsoft.com/office/powerpoint/2010/main" val="23908466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6200"/>
            <a:ext cx="9144000" cy="7909858"/>
          </a:xfrm>
          <a:prstGeom prst="rect">
            <a:avLst/>
          </a:prstGeom>
          <a:noFill/>
        </p:spPr>
        <p:txBody>
          <a:bodyPr wrap="square" rtlCol="0">
            <a:spAutoFit/>
          </a:bodyPr>
          <a:lstStyle/>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Institute however plans to upgrade its financial viability by increasing its </a:t>
            </a:r>
            <a:r>
              <a:rPr lang="en-US" dirty="0" smtClean="0">
                <a:latin typeface="Times New Roman" pitchFamily="18" charset="0"/>
                <a:cs typeface="Times New Roman" pitchFamily="18" charset="0"/>
              </a:rPr>
              <a:t>IGR contributions </a:t>
            </a:r>
            <a:r>
              <a:rPr lang="en-US" dirty="0">
                <a:latin typeface="Times New Roman" pitchFamily="18" charset="0"/>
                <a:cs typeface="Times New Roman" pitchFamily="18" charset="0"/>
              </a:rPr>
              <a:t>through the following new economic openings:</a:t>
            </a:r>
          </a:p>
          <a:p>
            <a:endParaRPr lang="en-US" dirty="0">
              <a:latin typeface="Times New Roman" pitchFamily="18" charset="0"/>
              <a:cs typeface="Times New Roman" pitchFamily="18" charset="0"/>
            </a:endParaRPr>
          </a:p>
          <a:p>
            <a:pPr marL="342900" lvl="0" indent="-342900">
              <a:buAutoNum type="alphaUcPeriod"/>
            </a:pPr>
            <a:r>
              <a:rPr lang="en-US" sz="2000" b="1" dirty="0" smtClean="0">
                <a:latin typeface="Times New Roman" pitchFamily="18" charset="0"/>
                <a:cs typeface="Times New Roman" pitchFamily="18" charset="0"/>
              </a:rPr>
              <a:t>Floating </a:t>
            </a:r>
            <a:r>
              <a:rPr lang="en-US" sz="2000" b="1" dirty="0">
                <a:latin typeface="Times New Roman" pitchFamily="18" charset="0"/>
                <a:cs typeface="Times New Roman" pitchFamily="18" charset="0"/>
              </a:rPr>
              <a:t>new Academic Programmes at both Full-Time &amp; Part-Time </a:t>
            </a:r>
            <a:r>
              <a:rPr lang="en-US" sz="2000" b="1" dirty="0" smtClean="0">
                <a:latin typeface="Times New Roman" pitchFamily="18" charset="0"/>
                <a:cs typeface="Times New Roman" pitchFamily="18" charset="0"/>
              </a:rPr>
              <a:t>levels.</a:t>
            </a:r>
            <a:endParaRPr lang="en-US"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      These </a:t>
            </a:r>
            <a:r>
              <a:rPr lang="en-US" sz="2000" dirty="0">
                <a:latin typeface="Times New Roman" pitchFamily="18" charset="0"/>
                <a:cs typeface="Times New Roman" pitchFamily="18" charset="0"/>
              </a:rPr>
              <a:t>new programmes are: </a:t>
            </a:r>
          </a:p>
          <a:p>
            <a:pPr marL="400050" lvl="0" indent="-400050">
              <a:buFont typeface="+mj-lt"/>
              <a:buAutoNum type="romanLcPeriod"/>
            </a:pPr>
            <a:r>
              <a:rPr lang="en-US" sz="2000" dirty="0" smtClean="0">
                <a:latin typeface="Times New Roman" pitchFamily="18" charset="0"/>
                <a:cs typeface="Times New Roman" pitchFamily="18" charset="0"/>
              </a:rPr>
              <a:t>Short- </a:t>
            </a:r>
            <a:r>
              <a:rPr lang="en-US" sz="2000" dirty="0">
                <a:latin typeface="Times New Roman" pitchFamily="18" charset="0"/>
                <a:cs typeface="Times New Roman" pitchFamily="18" charset="0"/>
              </a:rPr>
              <a:t>term Certificate Programmes in all the 3 Programmes and others such as: Peace &amp; Conflict Management; Security Alertness; Intelligence &amp; Counter-Intelligence; Community Policing; Urban Policing; Small Arms Proliferation &amp; Control; Cyber Crimes; </a:t>
            </a:r>
            <a:r>
              <a:rPr lang="en-US" sz="2000" dirty="0" smtClean="0">
                <a:latin typeface="Times New Roman" pitchFamily="18" charset="0"/>
                <a:cs typeface="Times New Roman" pitchFamily="18" charset="0"/>
              </a:rPr>
              <a:t>etc</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(About 500 students are expected).</a:t>
            </a:r>
            <a:endParaRPr lang="en-US" sz="2000" b="1" dirty="0" smtClean="0">
              <a:latin typeface="Times New Roman" pitchFamily="18" charset="0"/>
              <a:cs typeface="Times New Roman" pitchFamily="18" charset="0"/>
            </a:endParaRPr>
          </a:p>
          <a:p>
            <a:pPr marL="400050" lvl="0" indent="-400050">
              <a:buFont typeface="+mj-lt"/>
              <a:buAutoNum type="romanLcPeriod"/>
            </a:pPr>
            <a:r>
              <a:rPr lang="en-US" sz="2000" dirty="0" smtClean="0">
                <a:latin typeface="Times New Roman" pitchFamily="18" charset="0"/>
                <a:cs typeface="Times New Roman" pitchFamily="18" charset="0"/>
              </a:rPr>
              <a:t>Diploma </a:t>
            </a:r>
            <a:r>
              <a:rPr lang="en-US" sz="2000" dirty="0">
                <a:latin typeface="Times New Roman" pitchFamily="18" charset="0"/>
                <a:cs typeface="Times New Roman" pitchFamily="18" charset="0"/>
              </a:rPr>
              <a:t>Certificates in the three programmes </a:t>
            </a:r>
            <a:r>
              <a:rPr lang="en-US" sz="2000" b="1" dirty="0">
                <a:latin typeface="Times New Roman" pitchFamily="18" charset="0"/>
                <a:cs typeface="Times New Roman" pitchFamily="18" charset="0"/>
              </a:rPr>
              <a:t>(About </a:t>
            </a:r>
            <a:r>
              <a:rPr lang="en-US" sz="2000" b="1" dirty="0" smtClean="0">
                <a:latin typeface="Times New Roman" pitchFamily="18" charset="0"/>
                <a:cs typeface="Times New Roman" pitchFamily="18" charset="0"/>
              </a:rPr>
              <a:t>250 </a:t>
            </a:r>
            <a:r>
              <a:rPr lang="en-US" sz="2000" b="1" dirty="0">
                <a:latin typeface="Times New Roman" pitchFamily="18" charset="0"/>
                <a:cs typeface="Times New Roman" pitchFamily="18" charset="0"/>
              </a:rPr>
              <a:t>students are expected).</a:t>
            </a:r>
            <a:endParaRPr lang="en-US" sz="2000" b="1" dirty="0" smtClean="0">
              <a:latin typeface="Times New Roman" pitchFamily="18" charset="0"/>
              <a:cs typeface="Times New Roman" pitchFamily="18" charset="0"/>
            </a:endParaRPr>
          </a:p>
          <a:p>
            <a:pPr marL="400050" indent="-400050">
              <a:buFont typeface="+mj-lt"/>
              <a:buAutoNum type="romanLcPeriod"/>
            </a:pPr>
            <a:r>
              <a:rPr lang="en-US" sz="2000" dirty="0" smtClean="0">
                <a:latin typeface="Times New Roman" pitchFamily="18" charset="0"/>
                <a:cs typeface="Times New Roman" pitchFamily="18" charset="0"/>
              </a:rPr>
              <a:t>Postgraduate Diploma in the three programmes </a:t>
            </a:r>
            <a:r>
              <a:rPr lang="en-US" sz="2000" b="1" dirty="0">
                <a:latin typeface="Times New Roman" pitchFamily="18" charset="0"/>
                <a:cs typeface="Times New Roman" pitchFamily="18" charset="0"/>
              </a:rPr>
              <a:t>(About </a:t>
            </a:r>
            <a:r>
              <a:rPr lang="en-US" sz="2000" b="1" dirty="0" smtClean="0">
                <a:latin typeface="Times New Roman" pitchFamily="18" charset="0"/>
                <a:cs typeface="Times New Roman" pitchFamily="18" charset="0"/>
              </a:rPr>
              <a:t>200 </a:t>
            </a:r>
            <a:r>
              <a:rPr lang="en-US" sz="2000" b="1" dirty="0">
                <a:latin typeface="Times New Roman" pitchFamily="18" charset="0"/>
                <a:cs typeface="Times New Roman" pitchFamily="18" charset="0"/>
              </a:rPr>
              <a:t>students are expected</a:t>
            </a:r>
            <a:r>
              <a:rPr lang="en-US" sz="2000" b="1"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marL="400050" lvl="0" indent="-400050">
              <a:buFont typeface="+mj-lt"/>
              <a:buAutoNum type="romanLcPeriod"/>
            </a:pPr>
            <a:r>
              <a:rPr lang="en-US" sz="2000" dirty="0">
                <a:latin typeface="Times New Roman" pitchFamily="18" charset="0"/>
                <a:cs typeface="Times New Roman" pitchFamily="18" charset="0"/>
              </a:rPr>
              <a:t>Short-term Executive Master in PGA, CGM &amp; PSS with higher school fees ranging from N500, 000 to N750, 000 per </a:t>
            </a:r>
            <a:r>
              <a:rPr lang="en-US" sz="2000" dirty="0" smtClean="0">
                <a:latin typeface="Times New Roman" pitchFamily="18" charset="0"/>
                <a:cs typeface="Times New Roman" pitchFamily="18" charset="0"/>
              </a:rPr>
              <a:t>student </a:t>
            </a:r>
            <a:r>
              <a:rPr lang="en-US" sz="2000" b="1" dirty="0">
                <a:latin typeface="Times New Roman" pitchFamily="18" charset="0"/>
                <a:cs typeface="Times New Roman" pitchFamily="18" charset="0"/>
              </a:rPr>
              <a:t>(About 100 students are expected</a:t>
            </a:r>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a:p>
            <a:pPr marL="400050" indent="-400050">
              <a:buFont typeface="+mj-lt"/>
              <a:buAutoNum type="romanLcPeriod"/>
            </a:pPr>
            <a:r>
              <a:rPr lang="en-US" sz="2000" dirty="0" smtClean="0">
                <a:latin typeface="Times New Roman" pitchFamily="18" charset="0"/>
                <a:cs typeface="Times New Roman" pitchFamily="18" charset="0"/>
              </a:rPr>
              <a:t>Designing </a:t>
            </a:r>
            <a:r>
              <a:rPr lang="en-US" sz="2000" dirty="0">
                <a:latin typeface="Times New Roman" pitchFamily="18" charset="0"/>
                <a:cs typeface="Times New Roman" pitchFamily="18" charset="0"/>
              </a:rPr>
              <a:t>M. Phil &amp; PhD degree programmes for the three </a:t>
            </a:r>
            <a:r>
              <a:rPr lang="en-US" sz="2000" dirty="0" smtClean="0">
                <a:latin typeface="Times New Roman" pitchFamily="18" charset="0"/>
                <a:cs typeface="Times New Roman" pitchFamily="18" charset="0"/>
              </a:rPr>
              <a:t>programmes </a:t>
            </a:r>
            <a:r>
              <a:rPr lang="en-US" sz="2000" b="1" dirty="0">
                <a:latin typeface="Times New Roman" pitchFamily="18" charset="0"/>
                <a:cs typeface="Times New Roman" pitchFamily="18" charset="0"/>
              </a:rPr>
              <a:t>(About 100 students are expected</a:t>
            </a:r>
            <a:r>
              <a:rPr lang="en-US" sz="2000" b="1" dirty="0" smtClean="0">
                <a:latin typeface="Times New Roman" pitchFamily="18" charset="0"/>
                <a:cs typeface="Times New Roman" pitchFamily="18" charset="0"/>
              </a:rPr>
              <a:t>).</a:t>
            </a:r>
          </a:p>
          <a:p>
            <a:endParaRPr lang="en-US" sz="2000" b="1" dirty="0">
              <a:latin typeface="Times New Roman" pitchFamily="18" charset="0"/>
              <a:cs typeface="Times New Roman" pitchFamily="18" charset="0"/>
            </a:endParaRPr>
          </a:p>
          <a:p>
            <a:pPr lvl="0"/>
            <a:r>
              <a:rPr lang="en-US" sz="2000" dirty="0">
                <a:latin typeface="Times New Roman" pitchFamily="18" charset="0"/>
                <a:cs typeface="Times New Roman" pitchFamily="18" charset="0"/>
              </a:rPr>
              <a:t>In essence, about </a:t>
            </a:r>
            <a:r>
              <a:rPr lang="en-US" sz="2000" b="1" dirty="0">
                <a:latin typeface="Times New Roman" pitchFamily="18" charset="0"/>
                <a:cs typeface="Times New Roman" pitchFamily="18" charset="0"/>
              </a:rPr>
              <a:t>1,000 new students are expected</a:t>
            </a:r>
            <a:r>
              <a:rPr lang="en-US" sz="2000" dirty="0">
                <a:latin typeface="Times New Roman" pitchFamily="18" charset="0"/>
                <a:cs typeface="Times New Roman" pitchFamily="18" charset="0"/>
              </a:rPr>
              <a:t> to contribute to the IGR of the University through the Institute</a:t>
            </a:r>
            <a:r>
              <a:rPr lang="en-US" sz="2000" dirty="0" smtClean="0">
                <a:latin typeface="Times New Roman" pitchFamily="18" charset="0"/>
                <a:cs typeface="Times New Roman" pitchFamily="18" charset="0"/>
              </a:rPr>
              <a:t>.</a:t>
            </a:r>
          </a:p>
          <a:p>
            <a:pPr lvl="0"/>
            <a:endParaRPr lang="en-US" sz="2000" dirty="0">
              <a:latin typeface="Times New Roman" pitchFamily="18" charset="0"/>
              <a:cs typeface="Times New Roman" pitchFamily="18" charset="0"/>
            </a:endParaRPr>
          </a:p>
          <a:p>
            <a:pPr lvl="0"/>
            <a:r>
              <a:rPr lang="en-US" sz="2000" b="1" u="sng" dirty="0">
                <a:latin typeface="Times New Roman" pitchFamily="18" charset="0"/>
                <a:cs typeface="Times New Roman" pitchFamily="18" charset="0"/>
              </a:rPr>
              <a:t>Action Being Taken for Implementation: </a:t>
            </a:r>
            <a:r>
              <a:rPr lang="en-US" sz="2000" dirty="0">
                <a:latin typeface="Times New Roman" pitchFamily="18" charset="0"/>
                <a:cs typeface="Times New Roman" pitchFamily="18" charset="0"/>
              </a:rPr>
              <a:t>Committees have already been set up to immediately design curricula for some of these new programmes for immediate take off. </a:t>
            </a:r>
          </a:p>
          <a:p>
            <a:pPr lvl="0"/>
            <a:r>
              <a:rPr lang="en-US" dirty="0" smtClean="0">
                <a:latin typeface="Times New Roman" pitchFamily="18" charset="0"/>
                <a:cs typeface="Times New Roman" pitchFamily="18" charset="0"/>
              </a:rPr>
              <a:t>  </a:t>
            </a:r>
          </a:p>
          <a:p>
            <a:endParaRPr lang="en-US" dirty="0"/>
          </a:p>
          <a:p>
            <a:endParaRPr lang="en-US" dirty="0"/>
          </a:p>
        </p:txBody>
      </p:sp>
    </p:spTree>
    <p:extLst>
      <p:ext uri="{BB962C8B-B14F-4D97-AF65-F5344CB8AC3E}">
        <p14:creationId xmlns:p14="http://schemas.microsoft.com/office/powerpoint/2010/main" val="19054058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8915400" cy="7709803"/>
          </a:xfrm>
          <a:prstGeom prst="rect">
            <a:avLst/>
          </a:prstGeom>
          <a:noFill/>
        </p:spPr>
        <p:txBody>
          <a:bodyPr wrap="square" rtlCol="0">
            <a:spAutoFit/>
          </a:bodyPr>
          <a:lstStyle/>
          <a:p>
            <a:pPr marL="342900" lvl="0" indent="-342900">
              <a:buFont typeface="+mj-lt"/>
              <a:buAutoNum type="alphaUcPeriod" startAt="2"/>
            </a:pPr>
            <a:r>
              <a:rPr lang="en-US" b="1" dirty="0">
                <a:latin typeface="Times New Roman" pitchFamily="18" charset="0"/>
                <a:cs typeface="Times New Roman" pitchFamily="18" charset="0"/>
              </a:rPr>
              <a:t>Holding Professional/Academic Workshops at Regular Intervals with fees. </a:t>
            </a:r>
          </a:p>
          <a:p>
            <a:pPr algn="just">
              <a:lnSpc>
                <a:spcPct val="150000"/>
              </a:lnSpc>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Holding well-advertised Professional/Academic Workshops at regular intervals by the  </a:t>
            </a:r>
            <a:r>
              <a:rPr lang="en-US" dirty="0" smtClean="0">
                <a:latin typeface="Times New Roman" pitchFamily="18" charset="0"/>
                <a:cs typeface="Times New Roman" pitchFamily="18" charset="0"/>
              </a:rPr>
              <a:t>Institute </a:t>
            </a:r>
            <a:r>
              <a:rPr lang="en-US" dirty="0">
                <a:latin typeface="Times New Roman" pitchFamily="18" charset="0"/>
                <a:cs typeface="Times New Roman" pitchFamily="18" charset="0"/>
              </a:rPr>
              <a:t>will serve as complementary avenues of IGR for the University. </a:t>
            </a:r>
            <a:r>
              <a:rPr lang="en-US" dirty="0" smtClean="0">
                <a:latin typeface="Times New Roman" pitchFamily="18" charset="0"/>
                <a:cs typeface="Times New Roman" pitchFamily="18" charset="0"/>
              </a:rPr>
              <a:t>This will include </a:t>
            </a:r>
            <a:r>
              <a:rPr lang="en-US" dirty="0">
                <a:latin typeface="Times New Roman" pitchFamily="18" charset="0"/>
                <a:cs typeface="Times New Roman" pitchFamily="18" charset="0"/>
              </a:rPr>
              <a:t>workshops for:</a:t>
            </a:r>
          </a:p>
          <a:p>
            <a:pPr marL="400050" lvl="0" indent="-400050">
              <a:lnSpc>
                <a:spcPct val="150000"/>
              </a:lnSpc>
              <a:buFont typeface="+mj-lt"/>
              <a:buAutoNum type="romanLcPeriod"/>
            </a:pPr>
            <a:r>
              <a:rPr lang="en-US" b="1" dirty="0">
                <a:latin typeface="Times New Roman" pitchFamily="18" charset="0"/>
                <a:cs typeface="Times New Roman" pitchFamily="18" charset="0"/>
              </a:rPr>
              <a:t>Members of the Security Forces </a:t>
            </a:r>
            <a:r>
              <a:rPr lang="en-US" dirty="0">
                <a:latin typeface="Times New Roman" pitchFamily="18" charset="0"/>
                <a:cs typeface="Times New Roman" pitchFamily="18" charset="0"/>
              </a:rPr>
              <a:t>– Soldiers, Police, Civil </a:t>
            </a:r>
            <a:r>
              <a:rPr lang="en-US" dirty="0" err="1">
                <a:latin typeface="Times New Roman" pitchFamily="18" charset="0"/>
                <a:cs typeface="Times New Roman" pitchFamily="18" charset="0"/>
              </a:rPr>
              <a:t>Defence</a:t>
            </a:r>
            <a:r>
              <a:rPr lang="en-US" dirty="0">
                <a:latin typeface="Times New Roman" pitchFamily="18" charset="0"/>
                <a:cs typeface="Times New Roman" pitchFamily="18" charset="0"/>
              </a:rPr>
              <a:t>, DSS, Prisons Service officials, Immigration etc. on topics such as  Peace &amp; Conflict Management; Security Alertness; Intelligence &amp; Counter-Intelligence; Community Policing; Urban Policing; Small Arms Proliferation &amp; Control </a:t>
            </a:r>
            <a:r>
              <a:rPr lang="en-US" dirty="0" smtClean="0">
                <a:latin typeface="Times New Roman" pitchFamily="18" charset="0"/>
                <a:cs typeface="Times New Roman" pitchFamily="18" charset="0"/>
              </a:rPr>
              <a:t>etc.</a:t>
            </a:r>
          </a:p>
          <a:p>
            <a:pPr marL="400050" lvl="0" indent="-400050">
              <a:lnSpc>
                <a:spcPct val="150000"/>
              </a:lnSpc>
              <a:buFont typeface="+mj-lt"/>
              <a:buAutoNum type="romanLcPeriod"/>
            </a:pPr>
            <a:r>
              <a:rPr lang="en-US" b="1" dirty="0" smtClean="0">
                <a:latin typeface="Times New Roman" pitchFamily="18" charset="0"/>
                <a:cs typeface="Times New Roman" pitchFamily="18" charset="0"/>
              </a:rPr>
              <a:t>Local </a:t>
            </a:r>
            <a:r>
              <a:rPr lang="en-US" b="1" dirty="0">
                <a:latin typeface="Times New Roman" pitchFamily="18" charset="0"/>
                <a:cs typeface="Times New Roman" pitchFamily="18" charset="0"/>
              </a:rPr>
              <a:t>Government Officials </a:t>
            </a:r>
            <a:r>
              <a:rPr lang="en-US" dirty="0">
                <a:latin typeface="Times New Roman" pitchFamily="18" charset="0"/>
                <a:cs typeface="Times New Roman" pitchFamily="18" charset="0"/>
              </a:rPr>
              <a:t>– on Revenue collection, Projects Monitoring &amp; Evaluation, Financial Management &amp; Corruption Control </a:t>
            </a:r>
            <a:r>
              <a:rPr lang="en-US" dirty="0" smtClean="0">
                <a:latin typeface="Times New Roman" pitchFamily="18" charset="0"/>
                <a:cs typeface="Times New Roman" pitchFamily="18" charset="0"/>
              </a:rPr>
              <a:t>etc.</a:t>
            </a:r>
          </a:p>
          <a:p>
            <a:pPr marL="400050" lvl="0" indent="-400050">
              <a:lnSpc>
                <a:spcPct val="150000"/>
              </a:lnSpc>
              <a:buFont typeface="+mj-lt"/>
              <a:buAutoNum type="romanLcPeriod"/>
            </a:pPr>
            <a:r>
              <a:rPr lang="en-US" b="1" dirty="0" smtClean="0">
                <a:latin typeface="Times New Roman" pitchFamily="18" charset="0"/>
                <a:cs typeface="Times New Roman" pitchFamily="18" charset="0"/>
              </a:rPr>
              <a:t>Banks </a:t>
            </a:r>
            <a:r>
              <a:rPr lang="en-US" b="1" dirty="0">
                <a:latin typeface="Times New Roman" pitchFamily="18" charset="0"/>
                <a:cs typeface="Times New Roman" pitchFamily="18" charset="0"/>
              </a:rPr>
              <a:t>&amp; Bankers </a:t>
            </a:r>
            <a:r>
              <a:rPr lang="en-US" dirty="0">
                <a:latin typeface="Times New Roman" pitchFamily="18" charset="0"/>
                <a:cs typeface="Times New Roman" pitchFamily="18" charset="0"/>
              </a:rPr>
              <a:t>– on Corporate Governance, Financial management; Audit Control &amp; Corruption Management </a:t>
            </a:r>
            <a:r>
              <a:rPr lang="en-US" dirty="0" smtClean="0">
                <a:latin typeface="Times New Roman" pitchFamily="18" charset="0"/>
                <a:cs typeface="Times New Roman" pitchFamily="18" charset="0"/>
              </a:rPr>
              <a:t>etc.</a:t>
            </a:r>
          </a:p>
          <a:p>
            <a:pPr marL="400050" lvl="0" indent="-400050">
              <a:lnSpc>
                <a:spcPct val="150000"/>
              </a:lnSpc>
              <a:buFont typeface="+mj-lt"/>
              <a:buAutoNum type="romanLcPeriod"/>
            </a:pPr>
            <a:r>
              <a:rPr lang="en-US" b="1" dirty="0" smtClean="0">
                <a:latin typeface="Times New Roman" pitchFamily="18" charset="0"/>
                <a:cs typeface="Times New Roman" pitchFamily="18" charset="0"/>
              </a:rPr>
              <a:t>Traditional </a:t>
            </a:r>
            <a:r>
              <a:rPr lang="en-US" b="1" dirty="0">
                <a:latin typeface="Times New Roman" pitchFamily="18" charset="0"/>
                <a:cs typeface="Times New Roman" pitchFamily="18" charset="0"/>
              </a:rPr>
              <a:t>Rulers &amp; Chiefs </a:t>
            </a:r>
            <a:r>
              <a:rPr lang="en-US" dirty="0">
                <a:latin typeface="Times New Roman" pitchFamily="18" charset="0"/>
                <a:cs typeface="Times New Roman" pitchFamily="18" charset="0"/>
              </a:rPr>
              <a:t>– on Alternative Dispute </a:t>
            </a:r>
            <a:r>
              <a:rPr lang="en-US" dirty="0" smtClean="0">
                <a:latin typeface="Times New Roman" pitchFamily="18" charset="0"/>
                <a:cs typeface="Times New Roman" pitchFamily="18" charset="0"/>
              </a:rPr>
              <a:t>Resolution (IDR).</a:t>
            </a:r>
          </a:p>
          <a:p>
            <a:pPr marL="400050" lvl="0" indent="-400050">
              <a:lnSpc>
                <a:spcPct val="150000"/>
              </a:lnSpc>
              <a:buFont typeface="+mj-lt"/>
              <a:buAutoNum type="romanLcPeriod"/>
            </a:pPr>
            <a:r>
              <a:rPr lang="en-US" b="1" dirty="0">
                <a:latin typeface="Times New Roman" pitchFamily="18" charset="0"/>
                <a:cs typeface="Times New Roman" pitchFamily="18" charset="0"/>
              </a:rPr>
              <a:t>Electoral Officials, Police, Civil Servants &amp; Civil Society NGOs etc</a:t>
            </a:r>
            <a:r>
              <a:rPr lang="en-US" dirty="0">
                <a:latin typeface="Times New Roman" pitchFamily="18" charset="0"/>
                <a:cs typeface="Times New Roman" pitchFamily="18" charset="0"/>
              </a:rPr>
              <a:t>. – on Election Administration.</a:t>
            </a:r>
          </a:p>
          <a:p>
            <a:pPr marL="400050" lvl="0" indent="-400050">
              <a:lnSpc>
                <a:spcPct val="150000"/>
              </a:lnSpc>
              <a:buFont typeface="+mj-lt"/>
              <a:buAutoNum type="romanLcPeriod"/>
            </a:pPr>
            <a:r>
              <a:rPr lang="en-US" b="1" dirty="0" smtClean="0">
                <a:latin typeface="Times New Roman" pitchFamily="18" charset="0"/>
                <a:cs typeface="Times New Roman" pitchFamily="18" charset="0"/>
              </a:rPr>
              <a:t>NEMA </a:t>
            </a:r>
            <a:r>
              <a:rPr lang="en-US" b="1" dirty="0">
                <a:latin typeface="Times New Roman" pitchFamily="18" charset="0"/>
                <a:cs typeface="Times New Roman" pitchFamily="18" charset="0"/>
              </a:rPr>
              <a:t>&amp; SEPA officials, Police, Civil </a:t>
            </a:r>
            <a:r>
              <a:rPr lang="en-US" b="1" dirty="0" err="1">
                <a:latin typeface="Times New Roman" pitchFamily="18" charset="0"/>
                <a:cs typeface="Times New Roman" pitchFamily="18" charset="0"/>
              </a:rPr>
              <a:t>Defence</a:t>
            </a:r>
            <a:r>
              <a:rPr lang="en-US" b="1" dirty="0">
                <a:latin typeface="Times New Roman" pitchFamily="18" charset="0"/>
                <a:cs typeface="Times New Roman" pitchFamily="18" charset="0"/>
              </a:rPr>
              <a:t>, Social Workers, NGOs </a:t>
            </a:r>
            <a:r>
              <a:rPr lang="en-US" b="1" dirty="0" err="1">
                <a:latin typeface="Times New Roman" pitchFamily="18" charset="0"/>
                <a:cs typeface="Times New Roman" pitchFamily="18" charset="0"/>
              </a:rPr>
              <a:t>etc</a:t>
            </a:r>
            <a:r>
              <a:rPr lang="en-US" dirty="0">
                <a:latin typeface="Times New Roman" pitchFamily="18" charset="0"/>
                <a:cs typeface="Times New Roman" pitchFamily="18" charset="0"/>
              </a:rPr>
              <a:t> – on  Humanitarian Disasters management &amp; Early Warning System, on Refugees &amp; IDPs management.  </a:t>
            </a:r>
          </a:p>
          <a:p>
            <a:endParaRPr lang="en-US" dirty="0"/>
          </a:p>
        </p:txBody>
      </p:sp>
    </p:spTree>
    <p:extLst>
      <p:ext uri="{BB962C8B-B14F-4D97-AF65-F5344CB8AC3E}">
        <p14:creationId xmlns:p14="http://schemas.microsoft.com/office/powerpoint/2010/main" val="3727596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381000"/>
            <a:ext cx="8991600" cy="4524315"/>
          </a:xfrm>
          <a:prstGeom prst="rect">
            <a:avLst/>
          </a:prstGeom>
          <a:noFill/>
        </p:spPr>
        <p:txBody>
          <a:bodyPr wrap="square" rtlCol="0">
            <a:spAutoFit/>
          </a:bodyPr>
          <a:lstStyle/>
          <a:p>
            <a:pPr algn="just">
              <a:lnSpc>
                <a:spcPct val="150000"/>
              </a:lnSpc>
            </a:pPr>
            <a:r>
              <a:rPr lang="en-US" sz="2000" b="1" u="sng" dirty="0">
                <a:latin typeface="Times New Roman" panose="02020603050405020304" pitchFamily="18" charset="0"/>
                <a:cs typeface="Times New Roman" panose="02020603050405020304" pitchFamily="18" charset="0"/>
              </a:rPr>
              <a:t>Action Being Taken for Implementation</a:t>
            </a:r>
            <a:r>
              <a:rPr lang="en-US" sz="2000" dirty="0">
                <a:latin typeface="Times New Roman" panose="02020603050405020304" pitchFamily="18" charset="0"/>
                <a:cs typeface="Times New Roman" panose="02020603050405020304" pitchFamily="18" charset="0"/>
              </a:rPr>
              <a:t>: Proposals for immediate holding of two Workshops are being written. The two are meant for</a:t>
            </a:r>
            <a:r>
              <a:rPr lang="en-US" sz="2000" dirty="0" smtClean="0">
                <a:latin typeface="Times New Roman" panose="02020603050405020304" pitchFamily="18" charset="0"/>
                <a:cs typeface="Times New Roman" panose="02020603050405020304" pitchFamily="18" charset="0"/>
              </a:rPr>
              <a:t>:</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marL="400050" indent="-400050" algn="just">
              <a:lnSpc>
                <a:spcPct val="150000"/>
              </a:lnSpc>
              <a:buAutoNum type="romanLcParenBoth"/>
            </a:pPr>
            <a:r>
              <a:rPr lang="en-US" sz="2000" dirty="0" smtClean="0">
                <a:latin typeface="Times New Roman" panose="02020603050405020304" pitchFamily="18" charset="0"/>
                <a:cs typeface="Times New Roman" panose="02020603050405020304" pitchFamily="18" charset="0"/>
              </a:rPr>
              <a:t>Members </a:t>
            </a:r>
            <a:r>
              <a:rPr lang="en-US" sz="2000" dirty="0">
                <a:latin typeface="Times New Roman" panose="02020603050405020304" pitchFamily="18" charset="0"/>
                <a:cs typeface="Times New Roman" panose="02020603050405020304" pitchFamily="18" charset="0"/>
              </a:rPr>
              <a:t>of the Security Forces on “Security Alertness, Community &amp; Urban Policing in an Environment of Terrorism” </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(ii)	Bankers &amp; Officials of other Finance Houses (e.g. Insurance, etc.) on “Corporate Governance, Financial Management, Audit Control &amp; Corruption Management”.</a:t>
            </a:r>
          </a:p>
          <a:p>
            <a:endParaRPr lang="en-US" dirty="0"/>
          </a:p>
        </p:txBody>
      </p:sp>
    </p:spTree>
    <p:extLst>
      <p:ext uri="{BB962C8B-B14F-4D97-AF65-F5344CB8AC3E}">
        <p14:creationId xmlns:p14="http://schemas.microsoft.com/office/powerpoint/2010/main" val="40462355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02215"/>
            <a:ext cx="8991600" cy="7417415"/>
          </a:xfrm>
          <a:prstGeom prst="rect">
            <a:avLst/>
          </a:prstGeom>
          <a:noFill/>
        </p:spPr>
        <p:txBody>
          <a:bodyPr wrap="square" rtlCol="0">
            <a:spAutoFit/>
          </a:bodyPr>
          <a:lstStyle/>
          <a:p>
            <a:pPr marL="342900" indent="-342900">
              <a:buFont typeface="+mj-lt"/>
              <a:buAutoNum type="alphaUcPeriod" startAt="3"/>
            </a:pPr>
            <a:r>
              <a:rPr lang="en-US" sz="2400" b="1" dirty="0">
                <a:latin typeface="Times New Roman" panose="02020603050405020304" pitchFamily="18" charset="0"/>
                <a:cs typeface="Times New Roman" panose="02020603050405020304" pitchFamily="18" charset="0"/>
              </a:rPr>
              <a:t>Floating a Private Security </a:t>
            </a:r>
            <a:r>
              <a:rPr lang="en-US" sz="2400" b="1" dirty="0" smtClean="0">
                <a:latin typeface="Times New Roman" panose="02020603050405020304" pitchFamily="18" charset="0"/>
                <a:cs typeface="Times New Roman" panose="02020603050405020304" pitchFamily="18" charset="0"/>
              </a:rPr>
              <a:t>Outfit</a:t>
            </a:r>
          </a:p>
          <a:p>
            <a:endParaRPr lang="en-US" sz="2400" b="1"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Floating a Private Security Outfit (in collaboration with the University Security Unit) to provide private &amp; corporate security for – public offices, banks, schools, hotels, construction sites, churches, mosques, event </a:t>
            </a:r>
            <a:r>
              <a:rPr lang="en-US" sz="2000" dirty="0" err="1">
                <a:latin typeface="Times New Roman" panose="02020603050405020304" pitchFamily="18" charset="0"/>
                <a:cs typeface="Times New Roman" panose="02020603050405020304" pitchFamily="18" charset="0"/>
              </a:rPr>
              <a:t>centres</a:t>
            </a:r>
            <a:r>
              <a:rPr lang="en-US" sz="2000" dirty="0">
                <a:latin typeface="Times New Roman" panose="02020603050405020304" pitchFamily="18" charset="0"/>
                <a:cs typeface="Times New Roman" panose="02020603050405020304" pitchFamily="18" charset="0"/>
              </a:rPr>
              <a:t>,  during ceremonies &amp; private homes</a:t>
            </a:r>
            <a:r>
              <a:rPr lang="en-US" sz="2000" dirty="0" smtClean="0">
                <a:latin typeface="Times New Roman" panose="02020603050405020304" pitchFamily="18" charset="0"/>
                <a:cs typeface="Times New Roman" panose="02020603050405020304" pitchFamily="18" charset="0"/>
              </a:rPr>
              <a:t>.</a:t>
            </a:r>
          </a:p>
          <a:p>
            <a:pPr>
              <a:lnSpc>
                <a:spcPct val="150000"/>
              </a:lnSpc>
            </a:pPr>
            <a:endParaRPr lang="en-US" sz="2000" dirty="0">
              <a:latin typeface="Times New Roman" panose="02020603050405020304" pitchFamily="18" charset="0"/>
              <a:cs typeface="Times New Roman" panose="02020603050405020304" pitchFamily="18" charset="0"/>
            </a:endParaRPr>
          </a:p>
          <a:p>
            <a:pPr marL="400050" lvl="0" indent="-400050">
              <a:lnSpc>
                <a:spcPct val="150000"/>
              </a:lnSpc>
              <a:buFont typeface="+mj-lt"/>
              <a:buAutoNum type="romanLcPeriod"/>
            </a:pPr>
            <a:r>
              <a:rPr lang="en-US" sz="2000" dirty="0">
                <a:latin typeface="Times New Roman" panose="02020603050405020304" pitchFamily="18" charset="0"/>
                <a:cs typeface="Times New Roman" panose="02020603050405020304" pitchFamily="18" charset="0"/>
              </a:rPr>
              <a:t>We believe the Outfit will receive very wide patronage as there are just two of such private security outfits in Ekiti </a:t>
            </a:r>
            <a:r>
              <a:rPr lang="en-US" sz="2000" dirty="0" smtClean="0">
                <a:latin typeface="Times New Roman" panose="02020603050405020304" pitchFamily="18" charset="0"/>
                <a:cs typeface="Times New Roman" panose="02020603050405020304" pitchFamily="18" charset="0"/>
              </a:rPr>
              <a:t>State.</a:t>
            </a:r>
          </a:p>
          <a:p>
            <a:pPr marL="400050" lvl="0" indent="-400050">
              <a:lnSpc>
                <a:spcPct val="150000"/>
              </a:lnSpc>
              <a:buFont typeface="+mj-lt"/>
              <a:buAutoNum type="romanLcPeriod"/>
            </a:pPr>
            <a:r>
              <a:rPr lang="en-US" sz="2000" dirty="0" smtClean="0">
                <a:latin typeface="Times New Roman" panose="02020603050405020304" pitchFamily="18" charset="0"/>
                <a:cs typeface="Times New Roman" panose="02020603050405020304" pitchFamily="18" charset="0"/>
              </a:rPr>
              <a:t>Apart </a:t>
            </a:r>
            <a:r>
              <a:rPr lang="en-US" sz="2000" dirty="0">
                <a:latin typeface="Times New Roman" panose="02020603050405020304" pitchFamily="18" charset="0"/>
                <a:cs typeface="Times New Roman" panose="02020603050405020304" pitchFamily="18" charset="0"/>
              </a:rPr>
              <a:t>from generating IGR for the University, it would modestly resolve the problem of unemployment in Ekiti State &amp; some of our students will be engaged in a “Work and Study” arrangement.</a:t>
            </a:r>
          </a:p>
          <a:p>
            <a:pPr>
              <a:lnSpc>
                <a:spcPct val="150000"/>
              </a:lnSpc>
            </a:pPr>
            <a:r>
              <a:rPr lang="en-US" sz="2000" b="1" dirty="0" smtClean="0">
                <a:latin typeface="Times New Roman" panose="02020603050405020304" pitchFamily="18" charset="0"/>
                <a:cs typeface="Times New Roman" panose="02020603050405020304" pitchFamily="18" charset="0"/>
              </a:rPr>
              <a:t> </a:t>
            </a:r>
          </a:p>
          <a:p>
            <a:pPr>
              <a:lnSpc>
                <a:spcPct val="150000"/>
              </a:lnSpc>
            </a:pPr>
            <a:r>
              <a:rPr lang="en-US" sz="2000" b="1" u="sng" dirty="0">
                <a:latin typeface="Times New Roman" panose="02020603050405020304" pitchFamily="18" charset="0"/>
                <a:cs typeface="Times New Roman" panose="02020603050405020304" pitchFamily="18" charset="0"/>
              </a:rPr>
              <a:t>Action Being Taken for Implementation</a:t>
            </a:r>
            <a:r>
              <a:rPr lang="en-US" sz="2000" dirty="0">
                <a:latin typeface="Times New Roman" panose="02020603050405020304" pitchFamily="18" charset="0"/>
                <a:cs typeface="Times New Roman" panose="02020603050405020304" pitchFamily="18" charset="0"/>
              </a:rPr>
              <a:t>: Modalities have been discussed with the CSO of the University and the necessary steps are already being taken with the approving authorities i.e. Corporate Affairs Commission (CAC), the Nigeria Police, &amp; Nigeria Civil </a:t>
            </a:r>
            <a:r>
              <a:rPr lang="en-US" sz="2000" dirty="0" err="1">
                <a:latin typeface="Times New Roman" panose="02020603050405020304" pitchFamily="18" charset="0"/>
                <a:cs typeface="Times New Roman" panose="02020603050405020304" pitchFamily="18" charset="0"/>
              </a:rPr>
              <a:t>Defence</a:t>
            </a:r>
            <a:r>
              <a:rPr lang="en-US" sz="2000" dirty="0">
                <a:latin typeface="Times New Roman" panose="02020603050405020304" pitchFamily="18" charset="0"/>
                <a:cs typeface="Times New Roman" panose="02020603050405020304" pitchFamily="18" charset="0"/>
              </a:rPr>
              <a:t> &amp; Security Corps.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61369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6200"/>
            <a:ext cx="9144000" cy="7294305"/>
          </a:xfrm>
          <a:prstGeom prst="rect">
            <a:avLst/>
          </a:prstGeom>
          <a:noFill/>
        </p:spPr>
        <p:txBody>
          <a:bodyPr wrap="square" rtlCol="0">
            <a:spAutoFit/>
          </a:bodyPr>
          <a:lstStyle/>
          <a:p>
            <a:pPr marL="342900" lvl="0" indent="-342900" algn="just">
              <a:buFont typeface="+mj-lt"/>
              <a:buAutoNum type="arabicPeriod" startAt="2"/>
            </a:pPr>
            <a:r>
              <a:rPr lang="en-US" sz="2400" b="1" dirty="0" smtClean="0">
                <a:latin typeface="Times New Roman" panose="02020603050405020304" pitchFamily="18" charset="0"/>
                <a:cs typeface="Times New Roman" panose="02020603050405020304" pitchFamily="18" charset="0"/>
              </a:rPr>
              <a:t> Capacity </a:t>
            </a:r>
            <a:r>
              <a:rPr lang="en-US" sz="2400" b="1" dirty="0">
                <a:latin typeface="Times New Roman" panose="02020603050405020304" pitchFamily="18" charset="0"/>
                <a:cs typeface="Times New Roman" panose="02020603050405020304" pitchFamily="18" charset="0"/>
              </a:rPr>
              <a:t>to </a:t>
            </a:r>
            <a:r>
              <a:rPr lang="en-US" sz="2400" b="1" dirty="0" smtClean="0">
                <a:latin typeface="Times New Roman" panose="02020603050405020304" pitchFamily="18" charset="0"/>
                <a:cs typeface="Times New Roman" panose="02020603050405020304" pitchFamily="18" charset="0"/>
              </a:rPr>
              <a:t>continuously receive </a:t>
            </a:r>
            <a:r>
              <a:rPr lang="en-US" sz="2400" b="1" dirty="0">
                <a:latin typeface="Times New Roman" panose="02020603050405020304" pitchFamily="18" charset="0"/>
                <a:cs typeface="Times New Roman" panose="02020603050405020304" pitchFamily="18" charset="0"/>
              </a:rPr>
              <a:t>patronage from prospective students</a:t>
            </a:r>
            <a:r>
              <a:rPr lang="en-US" sz="2400" b="1" dirty="0" smtClean="0">
                <a:latin typeface="Times New Roman" panose="02020603050405020304" pitchFamily="18" charset="0"/>
                <a:cs typeface="Times New Roman" panose="02020603050405020304" pitchFamily="18" charset="0"/>
              </a:rPr>
              <a:t>.</a:t>
            </a:r>
          </a:p>
          <a:p>
            <a:pPr lvl="0" algn="just"/>
            <a:endParaRPr lang="en-US" sz="2400" dirty="0">
              <a:latin typeface="Times New Roman" panose="02020603050405020304" pitchFamily="18" charset="0"/>
              <a:cs typeface="Times New Roman" panose="02020603050405020304" pitchFamily="18" charset="0"/>
            </a:endParaRPr>
          </a:p>
          <a:p>
            <a:pPr marL="400050" lvl="0" indent="-400050" algn="just">
              <a:buFont typeface="+mj-lt"/>
              <a:buAutoNum type="romanLcPeriod"/>
            </a:pPr>
            <a:r>
              <a:rPr lang="en-US" sz="2200" dirty="0" smtClean="0">
                <a:latin typeface="Times New Roman" panose="02020603050405020304" pitchFamily="18" charset="0"/>
                <a:cs typeface="Times New Roman" panose="02020603050405020304" pitchFamily="18" charset="0"/>
              </a:rPr>
              <a:t>The Institute enjoys monopoly within its locational environment in the sense that it is the only Institute concerned with the running of 3 M. Sc. programmes in core professional areas of Corporate Sector Governance &amp; Management; Public Sector Governance &amp; Management; and Peace &amp; Security Studies.</a:t>
            </a:r>
          </a:p>
          <a:p>
            <a:pPr marL="400050" lvl="0" indent="-400050" algn="just">
              <a:buFont typeface="+mj-lt"/>
              <a:buAutoNum type="romanLcPeriod"/>
            </a:pPr>
            <a:endParaRPr lang="en-US" sz="2400" dirty="0" smtClean="0">
              <a:latin typeface="Times New Roman" panose="02020603050405020304" pitchFamily="18" charset="0"/>
              <a:cs typeface="Times New Roman" panose="02020603050405020304" pitchFamily="18" charset="0"/>
            </a:endParaRPr>
          </a:p>
          <a:p>
            <a:pPr marL="400050" lvl="0" indent="-400050" algn="just">
              <a:buFont typeface="+mj-lt"/>
              <a:buAutoNum type="romanLcPeriod"/>
            </a:pPr>
            <a:r>
              <a:rPr lang="en-US" sz="2200" dirty="0" smtClean="0">
                <a:latin typeface="Times New Roman" panose="02020603050405020304" pitchFamily="18" charset="0"/>
                <a:cs typeface="Times New Roman" panose="02020603050405020304" pitchFamily="18" charset="0"/>
              </a:rPr>
              <a:t>The Institute is strategically located in Ekiti State. Ekiti State is a widely known knowledge-seeking market. The desire to always want to read and further education is always there. Therefore, civil servants, teachers, bankers, security officials and other grades of workers and even non-workers across Nigeria will always provide the needed market for admission into its programmes.</a:t>
            </a:r>
          </a:p>
          <a:p>
            <a:pPr lvl="0" algn="just"/>
            <a:endParaRPr lang="en-US" sz="2200" dirty="0" smtClean="0">
              <a:latin typeface="Times New Roman" panose="02020603050405020304" pitchFamily="18" charset="0"/>
              <a:cs typeface="Times New Roman" panose="02020603050405020304" pitchFamily="18" charset="0"/>
            </a:endParaRPr>
          </a:p>
          <a:p>
            <a:pPr marL="514350" lvl="0" indent="-514350" algn="just">
              <a:buFont typeface="+mj-lt"/>
              <a:buAutoNum type="romanLcPeriod" startAt="3"/>
            </a:pPr>
            <a:r>
              <a:rPr lang="en-US" sz="2200" dirty="0" smtClean="0">
                <a:latin typeface="Times New Roman" panose="02020603050405020304" pitchFamily="18" charset="0"/>
                <a:cs typeface="Times New Roman" panose="02020603050405020304" pitchFamily="18" charset="0"/>
              </a:rPr>
              <a:t>The prevailing general unemployment in the country is also compelling school levers and graduates to go for higher certificates, diplomas, undergraduate and postgraduate degrees. This group of people also provides a ready market for the Institute</a:t>
            </a:r>
            <a:r>
              <a:rPr lang="en-US" sz="2400"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91751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0"/>
            <a:ext cx="9067800" cy="7386638"/>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ACCOMMODATION</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Institute has no office Accommodation of its own. It is presently housed in 4 Rooms on the Ground Floor of the College of Postgraduate Studies, which are grossly inadequate for the academic and administrative functions of the Institute.</a:t>
            </a:r>
          </a:p>
          <a:p>
            <a:pPr algn="just"/>
            <a:r>
              <a:rPr lang="en-US" sz="2000" dirty="0">
                <a:latin typeface="Times New Roman" panose="02020603050405020304" pitchFamily="18" charset="0"/>
                <a:cs typeface="Times New Roman" panose="02020603050405020304" pitchFamily="18" charset="0"/>
              </a:rPr>
              <a:t> </a:t>
            </a:r>
          </a:p>
          <a:p>
            <a:pPr algn="just"/>
            <a:r>
              <a:rPr lang="en-US" sz="2000" b="1" dirty="0">
                <a:latin typeface="Times New Roman" panose="02020603050405020304" pitchFamily="18" charset="0"/>
                <a:cs typeface="Times New Roman" panose="02020603050405020304" pitchFamily="18" charset="0"/>
              </a:rPr>
              <a:t>CLASSROOM</a:t>
            </a:r>
            <a:endParaRPr lang="en-US" sz="2000" dirty="0">
              <a:latin typeface="Times New Roman" panose="02020603050405020304" pitchFamily="18" charset="0"/>
              <a:cs typeface="Times New Roman" panose="02020603050405020304" pitchFamily="18" charset="0"/>
            </a:endParaRPr>
          </a:p>
          <a:p>
            <a:pPr marL="400050" lvl="0" indent="-400050" algn="just">
              <a:buFont typeface="+mj-lt"/>
              <a:buAutoNum type="romanLcPeriod"/>
            </a:pPr>
            <a:r>
              <a:rPr lang="en-US" sz="2000" dirty="0">
                <a:latin typeface="Times New Roman" panose="02020603050405020304" pitchFamily="18" charset="0"/>
                <a:cs typeface="Times New Roman" panose="02020603050405020304" pitchFamily="18" charset="0"/>
              </a:rPr>
              <a:t>The Institute  has no Lecture Rooms/Theatres/Conference/Seminar </a:t>
            </a:r>
            <a:r>
              <a:rPr lang="en-US" sz="2000" dirty="0" smtClean="0">
                <a:latin typeface="Times New Roman" panose="02020603050405020304" pitchFamily="18" charset="0"/>
                <a:cs typeface="Times New Roman" panose="02020603050405020304" pitchFamily="18" charset="0"/>
              </a:rPr>
              <a:t>Rooms</a:t>
            </a:r>
          </a:p>
          <a:p>
            <a:pPr marL="400050" lvl="0" indent="-400050" algn="just">
              <a:buFont typeface="+mj-lt"/>
              <a:buAutoNum type="romanLcPeriod"/>
            </a:pPr>
            <a:r>
              <a:rPr lang="en-US" sz="2000" dirty="0" smtClean="0">
                <a:latin typeface="Times New Roman" panose="02020603050405020304" pitchFamily="18" charset="0"/>
                <a:cs typeface="Times New Roman" panose="02020603050405020304" pitchFamily="18" charset="0"/>
              </a:rPr>
              <a:t>No </a:t>
            </a:r>
            <a:r>
              <a:rPr lang="en-US" sz="2000" dirty="0">
                <a:latin typeface="Times New Roman" panose="02020603050405020304" pitchFamily="18" charset="0"/>
                <a:cs typeface="Times New Roman" panose="02020603050405020304" pitchFamily="18" charset="0"/>
              </a:rPr>
              <a:t>Library.</a:t>
            </a:r>
          </a:p>
          <a:p>
            <a:pPr algn="just"/>
            <a:r>
              <a:rPr lang="en-US" sz="2000" dirty="0">
                <a:latin typeface="Times New Roman" panose="02020603050405020304" pitchFamily="18" charset="0"/>
                <a:cs typeface="Times New Roman" panose="02020603050405020304" pitchFamily="18" charset="0"/>
              </a:rPr>
              <a:t>The institute presently uses the MBA Lecture Rooms at the old PTP Building. Most often, undergraduate students compete with our students on the use of the rooms</a:t>
            </a:r>
            <a:r>
              <a:rPr lang="en-US" sz="2000" dirty="0" smtClean="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ACCREDITATION</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In terms of academic functioning, the Institute is just one year old. Preparations are therefore just being made to invite the NUC for accreditation after meeting the necessary requirements e.g. accommodation, resident lecturers</a:t>
            </a:r>
            <a:r>
              <a:rPr lang="en-US" sz="2000" dirty="0" smtClean="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EXAMINATIONS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Examinations are written without delay at the end of each semester. The First set of students has completed its 2-semester course works and has written the examinations.</a:t>
            </a:r>
          </a:p>
          <a:p>
            <a:pPr algn="just"/>
            <a:r>
              <a:rPr lang="en-US" sz="2000" dirty="0">
                <a:latin typeface="Times New Roman" panose="02020603050405020304" pitchFamily="18" charset="0"/>
                <a:cs typeface="Times New Roman" panose="02020603050405020304" pitchFamily="18" charset="0"/>
              </a:rPr>
              <a:t> Results for the two semesters have been pasted on the Institutes’ Notice Boards for the information of students.</a:t>
            </a:r>
          </a:p>
          <a:p>
            <a:endParaRPr lang="en-US" dirty="0"/>
          </a:p>
          <a:p>
            <a:r>
              <a:rPr lang="en-US" dirty="0"/>
              <a:t> </a:t>
            </a:r>
          </a:p>
          <a:p>
            <a:endParaRPr lang="en-US" dirty="0"/>
          </a:p>
        </p:txBody>
      </p:sp>
    </p:spTree>
    <p:extLst>
      <p:ext uri="{BB962C8B-B14F-4D97-AF65-F5344CB8AC3E}">
        <p14:creationId xmlns:p14="http://schemas.microsoft.com/office/powerpoint/2010/main" val="35412335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59769"/>
            <a:ext cx="9067800" cy="7355860"/>
          </a:xfrm>
          <a:prstGeom prst="rect">
            <a:avLst/>
          </a:prstGeom>
          <a:noFill/>
        </p:spPr>
        <p:txBody>
          <a:bodyPr wrap="square" rtlCol="0">
            <a:spAutoFit/>
          </a:bodyPr>
          <a:lstStyle/>
          <a:p>
            <a:pPr algn="just"/>
            <a:r>
              <a:rPr lang="en-US" sz="2000" b="1" dirty="0" smtClean="0">
                <a:latin typeface="Times New Roman" panose="02020603050405020304" pitchFamily="18" charset="0"/>
                <a:cs typeface="Times New Roman" panose="02020603050405020304" pitchFamily="18" charset="0"/>
              </a:rPr>
              <a:t>RESULTS </a:t>
            </a:r>
            <a:r>
              <a:rPr lang="en-US" sz="2000" b="1" dirty="0">
                <a:latin typeface="Times New Roman" panose="02020603050405020304" pitchFamily="18" charset="0"/>
                <a:cs typeface="Times New Roman" panose="02020603050405020304" pitchFamily="18" charset="0"/>
              </a:rPr>
              <a:t>PROCESSING</a:t>
            </a:r>
            <a:endParaRPr lang="en-US" sz="2000"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Results processing is ICT-based with the use of computer facilities before been printed for the approval of the Board of the College of Postgraduate Studies. The Institute however has no Data Processor/Data Analyst to process results and other information needs.</a:t>
            </a:r>
          </a:p>
          <a:p>
            <a:pPr algn="just"/>
            <a:r>
              <a:rPr lang="en-US" sz="2000" b="1" dirty="0">
                <a:latin typeface="Times New Roman" panose="02020603050405020304" pitchFamily="18" charset="0"/>
                <a:cs typeface="Times New Roman" panose="02020603050405020304" pitchFamily="18" charset="0"/>
              </a:rPr>
              <a:t>CHALLENGES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Challenges/ Weaknesses of the Institute include the following </a:t>
            </a:r>
            <a:r>
              <a:rPr lang="en-US" sz="2000" dirty="0" smtClean="0">
                <a:latin typeface="Times New Roman" panose="02020603050405020304" pitchFamily="18" charset="0"/>
                <a:cs typeface="Times New Roman" panose="02020603050405020304" pitchFamily="18" charset="0"/>
              </a:rPr>
              <a:t>Gaps:</a:t>
            </a:r>
          </a:p>
          <a:p>
            <a:pPr marL="400050" indent="-400050" algn="just">
              <a:buFont typeface="+mj-lt"/>
              <a:buAutoNum type="romanLcPeriod"/>
            </a:pPr>
            <a:r>
              <a:rPr lang="en-US" sz="2000" dirty="0" smtClean="0">
                <a:latin typeface="Times New Roman" panose="02020603050405020304" pitchFamily="18" charset="0"/>
                <a:cs typeface="Times New Roman" panose="02020603050405020304" pitchFamily="18" charset="0"/>
              </a:rPr>
              <a:t>No </a:t>
            </a:r>
            <a:r>
              <a:rPr lang="en-US" sz="2000" dirty="0">
                <a:latin typeface="Times New Roman" panose="02020603050405020304" pitchFamily="18" charset="0"/>
                <a:cs typeface="Times New Roman" panose="02020603050405020304" pitchFamily="18" charset="0"/>
              </a:rPr>
              <a:t>substantive Office </a:t>
            </a:r>
            <a:r>
              <a:rPr lang="en-US" sz="2000" dirty="0" smtClean="0">
                <a:latin typeface="Times New Roman" panose="02020603050405020304" pitchFamily="18" charset="0"/>
                <a:cs typeface="Times New Roman" panose="02020603050405020304" pitchFamily="18" charset="0"/>
              </a:rPr>
              <a:t>Accommodation.</a:t>
            </a:r>
          </a:p>
          <a:p>
            <a:pPr marL="400050" indent="-400050" algn="just">
              <a:buFont typeface="+mj-lt"/>
              <a:buAutoNum type="romanLcPeriod"/>
            </a:pPr>
            <a:r>
              <a:rPr lang="en-US" sz="2000" dirty="0" smtClean="0">
                <a:latin typeface="Times New Roman" panose="02020603050405020304" pitchFamily="18" charset="0"/>
                <a:cs typeface="Times New Roman" panose="02020603050405020304" pitchFamily="18" charset="0"/>
              </a:rPr>
              <a:t>No </a:t>
            </a:r>
            <a:r>
              <a:rPr lang="en-US" sz="2000" dirty="0">
                <a:latin typeface="Times New Roman" panose="02020603050405020304" pitchFamily="18" charset="0"/>
                <a:cs typeface="Times New Roman" panose="02020603050405020304" pitchFamily="18" charset="0"/>
              </a:rPr>
              <a:t>employment of substantive Lecturers for the </a:t>
            </a:r>
            <a:r>
              <a:rPr lang="en-US" sz="2000" dirty="0" smtClean="0">
                <a:latin typeface="Times New Roman" panose="02020603050405020304" pitchFamily="18" charset="0"/>
                <a:cs typeface="Times New Roman" panose="02020603050405020304" pitchFamily="18" charset="0"/>
              </a:rPr>
              <a:t>Institute.</a:t>
            </a:r>
          </a:p>
          <a:p>
            <a:pPr marL="400050" indent="-400050" algn="just">
              <a:buFont typeface="+mj-lt"/>
              <a:buAutoNum type="romanLcPeriod"/>
            </a:pPr>
            <a:r>
              <a:rPr lang="en-US" sz="2000" dirty="0" smtClean="0">
                <a:latin typeface="Times New Roman" panose="02020603050405020304" pitchFamily="18" charset="0"/>
                <a:cs typeface="Times New Roman" panose="02020603050405020304" pitchFamily="18" charset="0"/>
              </a:rPr>
              <a:t>No </a:t>
            </a:r>
            <a:r>
              <a:rPr lang="en-US" sz="2000" dirty="0">
                <a:latin typeface="Times New Roman" panose="02020603050405020304" pitchFamily="18" charset="0"/>
                <a:cs typeface="Times New Roman" panose="02020603050405020304" pitchFamily="18" charset="0"/>
              </a:rPr>
              <a:t>substantive Lecture Facilities e.g. Lecture Rooms; Conference/Seminal </a:t>
            </a:r>
            <a:r>
              <a:rPr lang="en-US" sz="2000" dirty="0" smtClean="0">
                <a:latin typeface="Times New Roman" panose="02020603050405020304" pitchFamily="18" charset="0"/>
                <a:cs typeface="Times New Roman" panose="02020603050405020304" pitchFamily="18" charset="0"/>
              </a:rPr>
              <a:t>Rooms.</a:t>
            </a:r>
          </a:p>
          <a:p>
            <a:pPr marL="400050" indent="-400050" algn="just">
              <a:buFont typeface="+mj-lt"/>
              <a:buAutoNum type="romanLcPeriod"/>
            </a:pPr>
            <a:r>
              <a:rPr lang="en-US" sz="2000" dirty="0" smtClean="0">
                <a:latin typeface="Times New Roman" panose="02020603050405020304" pitchFamily="18" charset="0"/>
                <a:cs typeface="Times New Roman" panose="02020603050405020304" pitchFamily="18" charset="0"/>
              </a:rPr>
              <a:t>No </a:t>
            </a:r>
            <a:r>
              <a:rPr lang="en-US" sz="2000" dirty="0">
                <a:latin typeface="Times New Roman" panose="02020603050405020304" pitchFamily="18" charset="0"/>
                <a:cs typeface="Times New Roman" panose="02020603050405020304" pitchFamily="18" charset="0"/>
              </a:rPr>
              <a:t>Library for reading and research by lecturers &amp; </a:t>
            </a:r>
            <a:r>
              <a:rPr lang="en-US" sz="2000" dirty="0" smtClean="0">
                <a:latin typeface="Times New Roman" panose="02020603050405020304" pitchFamily="18" charset="0"/>
                <a:cs typeface="Times New Roman" panose="02020603050405020304" pitchFamily="18" charset="0"/>
              </a:rPr>
              <a:t>students.</a:t>
            </a:r>
          </a:p>
          <a:p>
            <a:pPr marL="400050" indent="-400050" algn="just">
              <a:buFont typeface="+mj-lt"/>
              <a:buAutoNum type="romanLcPeriod"/>
            </a:pPr>
            <a:r>
              <a:rPr lang="en-US" sz="2000" dirty="0" smtClean="0">
                <a:latin typeface="Times New Roman" panose="02020603050405020304" pitchFamily="18" charset="0"/>
                <a:cs typeface="Times New Roman" panose="02020603050405020304" pitchFamily="18" charset="0"/>
              </a:rPr>
              <a:t>Poor </a:t>
            </a:r>
            <a:r>
              <a:rPr lang="en-US" sz="2000" dirty="0">
                <a:latin typeface="Times New Roman" panose="02020603050405020304" pitchFamily="18" charset="0"/>
                <a:cs typeface="Times New Roman" panose="02020603050405020304" pitchFamily="18" charset="0"/>
              </a:rPr>
              <a:t>functioning of the University website resulting in poor patronage and limited applications for admission &amp; low IGR from sales of forms and loss of other charges to the University. </a:t>
            </a:r>
            <a:endParaRPr lang="en-US" sz="2000" dirty="0" smtClean="0">
              <a:latin typeface="Times New Roman" panose="02020603050405020304" pitchFamily="18" charset="0"/>
              <a:cs typeface="Times New Roman" panose="02020603050405020304" pitchFamily="18" charset="0"/>
            </a:endParaRPr>
          </a:p>
          <a:p>
            <a:pPr marL="400050" indent="-400050" algn="just">
              <a:buFont typeface="+mj-lt"/>
              <a:buAutoNum type="romanLcPeriod"/>
            </a:pPr>
            <a:r>
              <a:rPr lang="en-US" sz="2000" dirty="0" smtClean="0">
                <a:latin typeface="Times New Roman" panose="02020603050405020304" pitchFamily="18" charset="0"/>
                <a:cs typeface="Times New Roman" panose="02020603050405020304" pitchFamily="18" charset="0"/>
              </a:rPr>
              <a:t>Staffed </a:t>
            </a:r>
            <a:r>
              <a:rPr lang="en-US" sz="2000" dirty="0">
                <a:latin typeface="Times New Roman" panose="02020603050405020304" pitchFamily="18" charset="0"/>
                <a:cs typeface="Times New Roman" panose="02020603050405020304" pitchFamily="18" charset="0"/>
              </a:rPr>
              <a:t>with junior administrative staff. The highest administrative staff is an Administrative Officer I (AO I). The administrative staffs in the institute are therefore operating within limited administrative </a:t>
            </a:r>
            <a:r>
              <a:rPr lang="en-US" sz="2000" dirty="0" smtClean="0">
                <a:latin typeface="Times New Roman" panose="02020603050405020304" pitchFamily="18" charset="0"/>
                <a:cs typeface="Times New Roman" panose="02020603050405020304" pitchFamily="18" charset="0"/>
              </a:rPr>
              <a:t>competence.</a:t>
            </a:r>
          </a:p>
          <a:p>
            <a:pPr marL="400050" indent="-400050" algn="just">
              <a:buFont typeface="+mj-lt"/>
              <a:buAutoNum type="romanLcPeriod"/>
            </a:pPr>
            <a:r>
              <a:rPr lang="en-US" sz="2000" dirty="0" smtClean="0">
                <a:latin typeface="Times New Roman" panose="02020603050405020304" pitchFamily="18" charset="0"/>
                <a:cs typeface="Times New Roman" panose="02020603050405020304" pitchFamily="18" charset="0"/>
              </a:rPr>
              <a:t>No </a:t>
            </a:r>
            <a:r>
              <a:rPr lang="en-US" sz="2000" dirty="0">
                <a:latin typeface="Times New Roman" panose="02020603050405020304" pitchFamily="18" charset="0"/>
                <a:cs typeface="Times New Roman" panose="02020603050405020304" pitchFamily="18" charset="0"/>
              </a:rPr>
              <a:t>substantive Administrative to provide administrative focus and required competences.  </a:t>
            </a:r>
            <a:endParaRPr lang="en-US" sz="2000" dirty="0" smtClean="0">
              <a:latin typeface="Times New Roman" panose="02020603050405020304" pitchFamily="18" charset="0"/>
              <a:cs typeface="Times New Roman" panose="02020603050405020304" pitchFamily="18" charset="0"/>
            </a:endParaRPr>
          </a:p>
          <a:p>
            <a:pPr marL="400050" indent="-400050" algn="just">
              <a:buFont typeface="+mj-lt"/>
              <a:buAutoNum type="romanLcPeriod"/>
            </a:pPr>
            <a:r>
              <a:rPr lang="en-US" sz="2000" dirty="0" smtClean="0">
                <a:latin typeface="Times New Roman" panose="02020603050405020304" pitchFamily="18" charset="0"/>
                <a:cs typeface="Times New Roman" panose="02020603050405020304" pitchFamily="18" charset="0"/>
              </a:rPr>
              <a:t>No </a:t>
            </a:r>
            <a:r>
              <a:rPr lang="en-US" sz="2000" dirty="0">
                <a:latin typeface="Times New Roman" panose="02020603050405020304" pitchFamily="18" charset="0"/>
                <a:cs typeface="Times New Roman" panose="02020603050405020304" pitchFamily="18" charset="0"/>
              </a:rPr>
              <a:t>Data Processor for quick processing of information on computer, especially students </a:t>
            </a:r>
            <a:r>
              <a:rPr lang="en-US" sz="2000" dirty="0" smtClean="0">
                <a:latin typeface="Times New Roman" panose="02020603050405020304" pitchFamily="18" charset="0"/>
                <a:cs typeface="Times New Roman" panose="02020603050405020304" pitchFamily="18" charset="0"/>
              </a:rPr>
              <a:t>results.</a:t>
            </a:r>
          </a:p>
          <a:p>
            <a:pPr marL="400050" indent="-400050" algn="just">
              <a:buFont typeface="+mj-lt"/>
              <a:buAutoNum type="romanLcPeriod"/>
            </a:pPr>
            <a:r>
              <a:rPr lang="en-US" sz="2000" dirty="0" smtClean="0">
                <a:latin typeface="Times New Roman" panose="02020603050405020304" pitchFamily="18" charset="0"/>
                <a:cs typeface="Times New Roman" panose="02020603050405020304" pitchFamily="18" charset="0"/>
              </a:rPr>
              <a:t>No </a:t>
            </a:r>
            <a:r>
              <a:rPr lang="en-US" sz="2000" dirty="0">
                <a:latin typeface="Times New Roman" panose="02020603050405020304" pitchFamily="18" charset="0"/>
                <a:cs typeface="Times New Roman" panose="02020603050405020304" pitchFamily="18" charset="0"/>
              </a:rPr>
              <a:t>website of its own on the Internets. Contacts for academic partnership and research collaboration often complain that the Institute cannot be located on the Internet. </a:t>
            </a:r>
          </a:p>
          <a:p>
            <a:endParaRPr lang="en-US" dirty="0"/>
          </a:p>
        </p:txBody>
      </p:sp>
    </p:spTree>
    <p:extLst>
      <p:ext uri="{BB962C8B-B14F-4D97-AF65-F5344CB8AC3E}">
        <p14:creationId xmlns:p14="http://schemas.microsoft.com/office/powerpoint/2010/main" val="33169878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609" y="10236"/>
            <a:ext cx="9144000" cy="7423571"/>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WAYS FORWARD TO ACHIEVING WORLD CLASS STATUS BY </a:t>
            </a:r>
            <a:r>
              <a:rPr lang="en-US" sz="2800" b="1" u="sng" dirty="0" smtClean="0">
                <a:latin typeface="Times New Roman" panose="02020603050405020304" pitchFamily="18" charset="0"/>
                <a:cs typeface="Times New Roman" panose="02020603050405020304" pitchFamily="18" charset="0"/>
              </a:rPr>
              <a:t>EKSU</a:t>
            </a:r>
          </a:p>
          <a:p>
            <a:pPr algn="just"/>
            <a:r>
              <a:rPr lang="en-US" dirty="0">
                <a:latin typeface="Times New Roman" panose="02020603050405020304" pitchFamily="18" charset="0"/>
                <a:cs typeface="Times New Roman" panose="02020603050405020304" pitchFamily="18" charset="0"/>
              </a:rPr>
              <a:t>In order to make the Institute successfully achieve its mission and vision, function as a </a:t>
            </a:r>
            <a:r>
              <a:rPr lang="en-US" dirty="0" err="1">
                <a:latin typeface="Times New Roman" panose="02020603050405020304" pitchFamily="18" charset="0"/>
                <a:cs typeface="Times New Roman" panose="02020603050405020304" pitchFamily="18" charset="0"/>
              </a:rPr>
              <a:t>centre</a:t>
            </a:r>
            <a:r>
              <a:rPr lang="en-US" dirty="0">
                <a:latin typeface="Times New Roman" panose="02020603050405020304" pitchFamily="18" charset="0"/>
                <a:cs typeface="Times New Roman" panose="02020603050405020304" pitchFamily="18" charset="0"/>
              </a:rPr>
              <a:t> of excellence in learning and research, and re-position the University to become a World Class University, the following urgent interventions are suggested:</a:t>
            </a:r>
          </a:p>
          <a:p>
            <a:pPr marL="457200" lvl="0" indent="-457200">
              <a:buClrTx/>
              <a:buFont typeface="+mj-lt"/>
              <a:buAutoNum type="arabicPeriod"/>
            </a:pPr>
            <a:r>
              <a:rPr lang="en-US" sz="2800" b="1" dirty="0">
                <a:latin typeface="Times New Roman" panose="02020603050405020304" pitchFamily="18" charset="0"/>
                <a:cs typeface="Times New Roman" panose="02020603050405020304" pitchFamily="18" charset="0"/>
              </a:rPr>
              <a:t>General Interventions</a:t>
            </a:r>
            <a:endParaRPr lang="en-US" sz="2800" dirty="0">
              <a:latin typeface="Times New Roman" panose="02020603050405020304" pitchFamily="18" charset="0"/>
              <a:cs typeface="Times New Roman" panose="02020603050405020304" pitchFamily="18" charset="0"/>
            </a:endParaRPr>
          </a:p>
          <a:p>
            <a:pPr marL="514350" lvl="0" indent="-514350">
              <a:lnSpc>
                <a:spcPct val="120000"/>
              </a:lnSpc>
              <a:buClrTx/>
              <a:buFont typeface="+mj-lt"/>
              <a:buAutoNum type="romanLcPeriod"/>
            </a:pPr>
            <a:r>
              <a:rPr lang="en-US" dirty="0">
                <a:latin typeface="Times New Roman" panose="02020603050405020304" pitchFamily="18" charset="0"/>
                <a:cs typeface="Times New Roman" panose="02020603050405020304" pitchFamily="18" charset="0"/>
              </a:rPr>
              <a:t>For the University to be appropriately ICT driven, there must be 24/7 electricity supply in the campus.</a:t>
            </a:r>
          </a:p>
          <a:p>
            <a:pPr marL="514350" lvl="0" indent="-514350">
              <a:lnSpc>
                <a:spcPct val="120000"/>
              </a:lnSpc>
              <a:buClrTx/>
              <a:buFont typeface="+mj-lt"/>
              <a:buAutoNum type="romanLcPeriod"/>
            </a:pPr>
            <a:r>
              <a:rPr lang="en-US" dirty="0">
                <a:latin typeface="Times New Roman" panose="02020603050405020304" pitchFamily="18" charset="0"/>
                <a:cs typeface="Times New Roman" panose="02020603050405020304" pitchFamily="18" charset="0"/>
              </a:rPr>
              <a:t>The University should adopt a “Compulsory-Own-Your-Tablet” policy for both staff &amp; students. The University should negotiate with the appropriate tablet makers for cheap but durable and functional tablets at subsidized prices for both staff &amp; students. The </a:t>
            </a:r>
            <a:r>
              <a:rPr lang="en-US" i="1" dirty="0" err="1">
                <a:latin typeface="Times New Roman" panose="02020603050405020304" pitchFamily="18" charset="0"/>
                <a:cs typeface="Times New Roman" panose="02020603050405020304" pitchFamily="18" charset="0"/>
              </a:rPr>
              <a:t>Apon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Imon</a:t>
            </a:r>
            <a:r>
              <a:rPr lang="en-US" dirty="0">
                <a:latin typeface="Times New Roman" panose="02020603050405020304" pitchFamily="18" charset="0"/>
                <a:cs typeface="Times New Roman" panose="02020603050405020304" pitchFamily="18" charset="0"/>
              </a:rPr>
              <a:t> Education policy in </a:t>
            </a:r>
            <a:r>
              <a:rPr lang="en-US" dirty="0" err="1">
                <a:latin typeface="Times New Roman" panose="02020603050405020304" pitchFamily="18" charset="0"/>
                <a:cs typeface="Times New Roman" panose="02020603050405020304" pitchFamily="18" charset="0"/>
              </a:rPr>
              <a:t>Osun</a:t>
            </a:r>
            <a:r>
              <a:rPr lang="en-US" dirty="0">
                <a:latin typeface="Times New Roman" panose="02020603050405020304" pitchFamily="18" charset="0"/>
                <a:cs typeface="Times New Roman" panose="02020603050405020304" pitchFamily="18" charset="0"/>
              </a:rPr>
              <a:t> State can be copied.</a:t>
            </a:r>
          </a:p>
          <a:p>
            <a:pPr marL="514350" lvl="0" indent="-514350">
              <a:lnSpc>
                <a:spcPct val="120000"/>
              </a:lnSpc>
              <a:buClrTx/>
              <a:buFont typeface="+mj-lt"/>
              <a:buAutoNum type="romanLcPeriod"/>
            </a:pPr>
            <a:r>
              <a:rPr lang="en-US" dirty="0">
                <a:latin typeface="Times New Roman" panose="02020603050405020304" pitchFamily="18" charset="0"/>
                <a:cs typeface="Times New Roman" panose="02020603050405020304" pitchFamily="18" charset="0"/>
              </a:rPr>
              <a:t>The University needs to radically upgrade its website for accessibility at anywhere in the world for the relevant information about the University.</a:t>
            </a:r>
          </a:p>
          <a:p>
            <a:pPr marL="514350" lvl="0" indent="-514350">
              <a:lnSpc>
                <a:spcPct val="120000"/>
              </a:lnSpc>
              <a:buClrTx/>
              <a:buFont typeface="+mj-lt"/>
              <a:buAutoNum type="romanLcPeriod"/>
            </a:pPr>
            <a:r>
              <a:rPr lang="en-US" dirty="0">
                <a:latin typeface="Times New Roman" panose="02020603050405020304" pitchFamily="18" charset="0"/>
                <a:cs typeface="Times New Roman" panose="02020603050405020304" pitchFamily="18" charset="0"/>
              </a:rPr>
              <a:t>The culture of using the Library by students is rapidly dying. The University must revive the culture in our students.</a:t>
            </a:r>
          </a:p>
          <a:p>
            <a:pPr marL="514350" lvl="0" indent="-514350">
              <a:lnSpc>
                <a:spcPct val="120000"/>
              </a:lnSpc>
              <a:buClrTx/>
              <a:buFont typeface="+mj-lt"/>
              <a:buAutoNum type="romanLcPeriod"/>
            </a:pPr>
            <a:r>
              <a:rPr lang="en-US" dirty="0">
                <a:latin typeface="Times New Roman" panose="02020603050405020304" pitchFamily="18" charset="0"/>
                <a:cs typeface="Times New Roman" panose="02020603050405020304" pitchFamily="18" charset="0"/>
              </a:rPr>
              <a:t>Patterned Annual Leave System for the Academic Staff to restore </a:t>
            </a:r>
            <a:r>
              <a:rPr lang="en-US" dirty="0" err="1">
                <a:latin typeface="Times New Roman" panose="02020603050405020304" pitchFamily="18" charset="0"/>
                <a:cs typeface="Times New Roman" panose="02020603050405020304" pitchFamily="18" charset="0"/>
              </a:rPr>
              <a:t>vigour</a:t>
            </a:r>
            <a:r>
              <a:rPr lang="en-US" dirty="0">
                <a:latin typeface="Times New Roman" panose="02020603050405020304" pitchFamily="18" charset="0"/>
                <a:cs typeface="Times New Roman" panose="02020603050405020304" pitchFamily="18" charset="0"/>
              </a:rPr>
              <a:t> and promote good health and reduce cases of stroke and untimely death among all staff of the University.</a:t>
            </a:r>
          </a:p>
          <a:p>
            <a:pPr marL="514350" lvl="0" indent="-514350">
              <a:lnSpc>
                <a:spcPct val="120000"/>
              </a:lnSpc>
              <a:buClrTx/>
              <a:buFont typeface="+mj-lt"/>
              <a:buAutoNum type="romanLcPeriod"/>
            </a:pPr>
            <a:r>
              <a:rPr lang="en-US" dirty="0">
                <a:latin typeface="Times New Roman" panose="02020603050405020304" pitchFamily="18" charset="0"/>
                <a:cs typeface="Times New Roman" panose="02020603050405020304" pitchFamily="18" charset="0"/>
              </a:rPr>
              <a:t>Increased votes for Local &amp; Overseas Training &amp; Re-training; </a:t>
            </a:r>
          </a:p>
          <a:p>
            <a:pPr marL="514350" lvl="0" indent="-514350">
              <a:lnSpc>
                <a:spcPct val="120000"/>
              </a:lnSpc>
              <a:buClrTx/>
              <a:buFont typeface="+mj-lt"/>
              <a:buAutoNum type="romanLcPeriod"/>
            </a:pPr>
            <a:r>
              <a:rPr lang="en-US" dirty="0">
                <a:latin typeface="Times New Roman" panose="02020603050405020304" pitchFamily="18" charset="0"/>
                <a:cs typeface="Times New Roman" panose="02020603050405020304" pitchFamily="18" charset="0"/>
              </a:rPr>
              <a:t>Increasing Research Grants opportunities.</a:t>
            </a:r>
          </a:p>
          <a:p>
            <a:endParaRPr lang="en-US" b="1" dirty="0" smtClean="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21941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609" y="10236"/>
            <a:ext cx="9144000" cy="7725192"/>
          </a:xfrm>
          <a:prstGeom prst="rect">
            <a:avLst/>
          </a:prstGeom>
          <a:noFill/>
        </p:spPr>
        <p:txBody>
          <a:bodyPr wrap="square" rtlCol="0">
            <a:spAutoFit/>
          </a:bodyPr>
          <a:lstStyle/>
          <a:p>
            <a:pPr marL="342900" lvl="0" indent="-342900">
              <a:buFont typeface="+mj-lt"/>
              <a:buAutoNum type="arabicPeriod" startAt="2"/>
            </a:pPr>
            <a:r>
              <a:rPr lang="en-US" sz="2800" b="1" dirty="0">
                <a:latin typeface="Times New Roman" panose="02020603050405020304" pitchFamily="18" charset="0"/>
                <a:cs typeface="Times New Roman" panose="02020603050405020304" pitchFamily="18" charset="0"/>
              </a:rPr>
              <a:t>Specific Interventions for the Institute</a:t>
            </a:r>
            <a:endParaRPr lang="en-US" sz="2800" dirty="0">
              <a:latin typeface="Times New Roman" panose="02020603050405020304" pitchFamily="18" charset="0"/>
              <a:cs typeface="Times New Roman" panose="02020603050405020304" pitchFamily="18" charset="0"/>
            </a:endParaRPr>
          </a:p>
          <a:p>
            <a:pPr marL="400050" lvl="0" indent="-400050" algn="just">
              <a:lnSpc>
                <a:spcPct val="150000"/>
              </a:lnSpc>
              <a:buFont typeface="+mj-lt"/>
              <a:buAutoNum type="romanLcPeriod"/>
            </a:pPr>
            <a:r>
              <a:rPr lang="en-US" sz="2000" dirty="0">
                <a:latin typeface="Times New Roman" panose="02020603050405020304" pitchFamily="18" charset="0"/>
                <a:cs typeface="Times New Roman" panose="02020603050405020304" pitchFamily="18" charset="0"/>
              </a:rPr>
              <a:t>Provision of a befitting Office accommodation with </a:t>
            </a:r>
            <a:r>
              <a:rPr lang="en-US" sz="2000" dirty="0" smtClean="0">
                <a:latin typeface="Times New Roman" panose="02020603050405020304" pitchFamily="18" charset="0"/>
                <a:cs typeface="Times New Roman" panose="02020603050405020304" pitchFamily="18" charset="0"/>
              </a:rPr>
              <a:t>Furniture</a:t>
            </a:r>
          </a:p>
          <a:p>
            <a:pPr marL="400050" lvl="0" indent="-400050" algn="just">
              <a:lnSpc>
                <a:spcPct val="150000"/>
              </a:lnSpc>
              <a:buFont typeface="+mj-lt"/>
              <a:buAutoNum type="romanLcPeriod"/>
            </a:pPr>
            <a:r>
              <a:rPr lang="en-US" sz="2000" dirty="0" smtClean="0">
                <a:latin typeface="Times New Roman" panose="02020603050405020304" pitchFamily="18" charset="0"/>
                <a:cs typeface="Times New Roman" panose="02020603050405020304" pitchFamily="18" charset="0"/>
              </a:rPr>
              <a:t>Provision </a:t>
            </a:r>
            <a:r>
              <a:rPr lang="en-US" sz="2000" dirty="0">
                <a:latin typeface="Times New Roman" panose="02020603050405020304" pitchFamily="18" charset="0"/>
                <a:cs typeface="Times New Roman" panose="02020603050405020304" pitchFamily="18" charset="0"/>
              </a:rPr>
              <a:t>Independent Lecture Rooms/Theatres; Conference/Seminar Rooms; Library as accessories of the institute’s </a:t>
            </a:r>
            <a:r>
              <a:rPr lang="en-US" sz="2000" dirty="0" smtClean="0">
                <a:latin typeface="Times New Roman" panose="02020603050405020304" pitchFamily="18" charset="0"/>
                <a:cs typeface="Times New Roman" panose="02020603050405020304" pitchFamily="18" charset="0"/>
              </a:rPr>
              <a:t>accommodation</a:t>
            </a:r>
          </a:p>
          <a:p>
            <a:pPr marL="400050" lvl="0" indent="-400050" algn="just">
              <a:lnSpc>
                <a:spcPct val="150000"/>
              </a:lnSpc>
              <a:buFont typeface="+mj-lt"/>
              <a:buAutoNum type="romanLcPeriod"/>
            </a:pPr>
            <a:r>
              <a:rPr lang="en-US" sz="2000" dirty="0" smtClean="0">
                <a:latin typeface="Times New Roman" panose="02020603050405020304" pitchFamily="18" charset="0"/>
                <a:cs typeface="Times New Roman" panose="02020603050405020304" pitchFamily="18" charset="0"/>
              </a:rPr>
              <a:t>Improved </a:t>
            </a:r>
            <a:r>
              <a:rPr lang="en-US" sz="2000" dirty="0">
                <a:latin typeface="Times New Roman" panose="02020603050405020304" pitchFamily="18" charset="0"/>
                <a:cs typeface="Times New Roman" panose="02020603050405020304" pitchFamily="18" charset="0"/>
              </a:rPr>
              <a:t>University Website facilities to enhance efficient admission application processes. This will tremendously increase the number of applications for admission and the number of students admitted into the Institute &amp; correspondingly will increase IGR to the </a:t>
            </a:r>
            <a:r>
              <a:rPr lang="en-US" sz="2000" dirty="0" smtClean="0">
                <a:latin typeface="Times New Roman" panose="02020603050405020304" pitchFamily="18" charset="0"/>
                <a:cs typeface="Times New Roman" panose="02020603050405020304" pitchFamily="18" charset="0"/>
              </a:rPr>
              <a:t>University.</a:t>
            </a:r>
          </a:p>
          <a:p>
            <a:pPr marL="400050" lvl="0" indent="-400050" algn="just">
              <a:lnSpc>
                <a:spcPct val="150000"/>
              </a:lnSpc>
              <a:buFont typeface="+mj-lt"/>
              <a:buAutoNum type="romanLcPeriod"/>
            </a:pPr>
            <a:r>
              <a:rPr lang="en-US" sz="2000" dirty="0" smtClean="0">
                <a:latin typeface="Times New Roman" panose="02020603050405020304" pitchFamily="18" charset="0"/>
                <a:cs typeface="Times New Roman" panose="02020603050405020304" pitchFamily="18" charset="0"/>
              </a:rPr>
              <a:t>Urgent </a:t>
            </a:r>
            <a:r>
              <a:rPr lang="en-US" sz="2000" dirty="0">
                <a:latin typeface="Times New Roman" panose="02020603050405020304" pitchFamily="18" charset="0"/>
                <a:cs typeface="Times New Roman" panose="02020603050405020304" pitchFamily="18" charset="0"/>
              </a:rPr>
              <a:t>recruitment of substantive lecturers for the Institute to reduce over-reliance on out of the Institute associate lecturers. The appointment of 2 lecturers by the last administration was cancelled by the Governing Council of the University. The proposed academic programmes need reasonable number of resident lecturers for </a:t>
            </a:r>
            <a:r>
              <a:rPr lang="en-US" sz="2000" dirty="0" smtClean="0">
                <a:latin typeface="Times New Roman" panose="02020603050405020304" pitchFamily="18" charset="0"/>
                <a:cs typeface="Times New Roman" panose="02020603050405020304" pitchFamily="18" charset="0"/>
              </a:rPr>
              <a:t>implementation.</a:t>
            </a:r>
          </a:p>
          <a:p>
            <a:pPr marL="400050" lvl="0" indent="-400050" algn="just">
              <a:lnSpc>
                <a:spcPct val="150000"/>
              </a:lnSpc>
              <a:buFont typeface="+mj-lt"/>
              <a:buAutoNum type="romanLcPeriod"/>
            </a:pPr>
            <a:r>
              <a:rPr lang="en-US" sz="2000" dirty="0" smtClean="0">
                <a:latin typeface="Times New Roman" panose="02020603050405020304" pitchFamily="18" charset="0"/>
                <a:cs typeface="Times New Roman" panose="02020603050405020304" pitchFamily="18" charset="0"/>
              </a:rPr>
              <a:t>Posting </a:t>
            </a:r>
            <a:r>
              <a:rPr lang="en-US" sz="2000" dirty="0">
                <a:latin typeface="Times New Roman" panose="02020603050405020304" pitchFamily="18" charset="0"/>
                <a:cs typeface="Times New Roman" panose="02020603050405020304" pitchFamily="18" charset="0"/>
              </a:rPr>
              <a:t>of a Substantive Administrative Secretary and a Data Processor to the Institute.</a:t>
            </a:r>
          </a:p>
          <a:p>
            <a:pPr algn="just">
              <a:lnSpc>
                <a:spcPct val="150000"/>
              </a:lnSpc>
            </a:pPr>
            <a:endParaRPr lang="en-US" sz="2000" b="1" dirty="0" smtClean="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05161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2590800"/>
            <a:ext cx="8458200" cy="1222375"/>
          </a:xfrm>
        </p:spPr>
        <p:txBody>
          <a:bodyPr>
            <a:noAutofit/>
          </a:bodyPr>
          <a:lstStyle/>
          <a:p>
            <a:r>
              <a:rPr lang="en-US" sz="9600" b="1" dirty="0" smtClean="0">
                <a:latin typeface="Algerian" pitchFamily="82" charset="0"/>
              </a:rPr>
              <a:t>THANK YOU</a:t>
            </a:r>
            <a:endParaRPr lang="en-US" sz="9600" b="1" dirty="0">
              <a:latin typeface="Algerian" pitchFamily="82" charset="0"/>
            </a:endParaRPr>
          </a:p>
        </p:txBody>
      </p:sp>
    </p:spTree>
    <p:extLst>
      <p:ext uri="{BB962C8B-B14F-4D97-AF65-F5344CB8AC3E}">
        <p14:creationId xmlns:p14="http://schemas.microsoft.com/office/powerpoint/2010/main" val="87112586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143</TotalTime>
  <Words>1548</Words>
  <Application>Microsoft Office PowerPoint</Application>
  <PresentationFormat>On-screen Show (4:3)</PresentationFormat>
  <Paragraphs>111</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Trek</vt:lpstr>
      <vt:lpstr>“POSITION ON ACADEMIC PROGRAMMES VIABILITY, ACCOMMODATION, CLASSROOM, ACCREDITATION, EXAMINATION, RESULT PROCESSING, CHALLENGES AND WAY FORWARD TO PROPEL EKSU TO WORLD CLASS UNIVERSITY”  PRESENTED by  INSTITUTE OF PEACE, SECURITY AND GOVERNANCE AT THE ACADEMIC SUMMIT ORGANIZED  ORGANIZED BY EKITI STATE UNIVERSITY </vt:lpstr>
      <vt:lpstr>BACKGROUND INFORMATION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SWOT ANALYSIS  OF  THE INSTITUTE OF PEACE, SECURITY AND GOVERNANCE AND RECOMMENDATIONS FOR PROPELLING WEALTH CREATION FOR THE UNIVERSITY   PRESENTED  AT THE IGR SUMMIT  ORGANIZED BY EKITI STATE UNIVERSITY</dc:title>
  <dc:creator>Test</dc:creator>
  <cp:lastModifiedBy>User</cp:lastModifiedBy>
  <cp:revision>16</cp:revision>
  <dcterms:created xsi:type="dcterms:W3CDTF">2016-01-26T05:38:23Z</dcterms:created>
  <dcterms:modified xsi:type="dcterms:W3CDTF">2016-02-02T11:17:02Z</dcterms:modified>
</cp:coreProperties>
</file>