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wav" ContentType="audio/wav"/>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12"/>
  </p:notesMasterIdLst>
  <p:sldIdLst>
    <p:sldId id="256" r:id="rId2"/>
    <p:sldId id="259" r:id="rId3"/>
    <p:sldId id="260" r:id="rId4"/>
    <p:sldId id="261" r:id="rId5"/>
    <p:sldId id="262" r:id="rId6"/>
    <p:sldId id="268" r:id="rId7"/>
    <p:sldId id="263" r:id="rId8"/>
    <p:sldId id="264" r:id="rId9"/>
    <p:sldId id="265" r:id="rId10"/>
    <p:sldId id="269" r:id="rId1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88" autoAdjust="0"/>
    <p:restoredTop sz="94607" autoAdjust="0"/>
  </p:normalViewPr>
  <p:slideViewPr>
    <p:cSldViewPr>
      <p:cViewPr>
        <p:scale>
          <a:sx n="50" d="100"/>
          <a:sy n="50" d="100"/>
        </p:scale>
        <p:origin x="-1956" y="-51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8E91ED7-6E67-4BA0-B58F-9F72B08D8599}" type="datetimeFigureOut">
              <a:rPr lang="en-US" smtClean="0"/>
              <a:pPr/>
              <a:t>2/2/2016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CCA5D55-53B3-40B5-83C6-6883E032341D}" type="slidenum">
              <a:rPr lang="en-US" smtClean="0"/>
              <a:pPr/>
              <a:t>‹#›</a:t>
            </a:fld>
            <a:endParaRPr lang="en-US"/>
          </a:p>
        </p:txBody>
      </p:sp>
    </p:spTree>
    <p:extLst>
      <p:ext uri="{BB962C8B-B14F-4D97-AF65-F5344CB8AC3E}">
        <p14:creationId xmlns:p14="http://schemas.microsoft.com/office/powerpoint/2010/main" val="6713026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CCA5D55-53B3-40B5-83C6-6883E032341D}" type="slidenum">
              <a:rPr lang="en-US" smtClean="0"/>
              <a:pPr/>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AC07AC04-7684-4F01-8E9D-96534E5293E8}" type="datetimeFigureOut">
              <a:rPr lang="en-US" smtClean="0"/>
              <a:pPr/>
              <a:t>2/2/2016</a:t>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947ECB12-C592-46A5-A51D-102CFC93B01C}"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AC07AC04-7684-4F01-8E9D-96534E5293E8}" type="datetimeFigureOut">
              <a:rPr lang="en-US" smtClean="0"/>
              <a:pPr/>
              <a:t>2/2/2016</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947ECB12-C592-46A5-A51D-102CFC93B01C}" type="slidenum">
              <a:rPr lang="en-US" smtClean="0"/>
              <a:pPr/>
              <a:t>‹#›</a:t>
            </a:fld>
            <a:endParaRPr lang="en-US"/>
          </a:p>
        </p:txBody>
      </p:sp>
      <p:sp>
        <p:nvSpPr>
          <p:cNvPr id="7" name="Title 6"/>
          <p:cNvSpPr>
            <a:spLocks noGrp="1"/>
          </p:cNvSpPr>
          <p:nvPr>
            <p:ph type="title"/>
          </p:nvPr>
        </p:nvSpPr>
        <p:spPr/>
        <p:txBody>
          <a:bodyPr rtlCol="0"/>
          <a:lstStyle>
            <a:extLst/>
          </a:lstStyle>
          <a:p>
            <a:r>
              <a:rPr kumimoji="0" lang="en-US" smtClean="0"/>
              <a:t>Click to edit Master title style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AC07AC04-7684-4F01-8E9D-96534E5293E8}" type="datetimeFigureOut">
              <a:rPr lang="en-US" smtClean="0"/>
              <a:pPr/>
              <a:t>2/2/2016</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947ECB12-C592-46A5-A51D-102CFC93B01C}" type="slidenum">
              <a:rPr lang="en-US" smtClean="0"/>
              <a:pPr/>
              <a:t>‹#›</a:t>
            </a:fld>
            <a:endParaRPr lang="en-US"/>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AC07AC04-7684-4F01-8E9D-96534E5293E8}" type="datetimeFigureOut">
              <a:rPr lang="en-US" smtClean="0"/>
              <a:pPr/>
              <a:t>2/2/2016</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947ECB12-C592-46A5-A51D-102CFC93B01C}" type="slidenum">
              <a:rPr lang="en-US" smtClean="0"/>
              <a:pPr/>
              <a:t>‹#›</a:t>
            </a:fld>
            <a:endParaRPr lang="en-US"/>
          </a:p>
        </p:txBody>
      </p:sp>
      <p:sp>
        <p:nvSpPr>
          <p:cNvPr id="8" name="Title 7"/>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AC07AC04-7684-4F01-8E9D-96534E5293E8}" type="datetimeFigureOut">
              <a:rPr lang="en-US" smtClean="0"/>
              <a:pPr/>
              <a:t>2/2/2016</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947ECB12-C592-46A5-A51D-102CFC93B01C}"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extLst/>
          </a:lstStyle>
          <a:p>
            <a:fld id="{AC07AC04-7684-4F01-8E9D-96534E5293E8}" type="datetimeFigureOut">
              <a:rPr lang="en-US" smtClean="0"/>
              <a:pPr/>
              <a:t>2/2/2016</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947ECB12-C592-46A5-A51D-102CFC93B01C}" type="slidenum">
              <a:rPr lang="en-US" smtClean="0"/>
              <a:pPr/>
              <a:t>‹#›</a:t>
            </a:fld>
            <a:endParaRPr lang="en-US"/>
          </a:p>
        </p:txBody>
      </p:sp>
      <p:sp>
        <p:nvSpPr>
          <p:cNvPr id="6" name="Title 5"/>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extLst/>
          </a:lstStyle>
          <a:p>
            <a:fld id="{AC07AC04-7684-4F01-8E9D-96534E5293E8}" type="datetimeFigureOut">
              <a:rPr lang="en-US" smtClean="0"/>
              <a:pPr/>
              <a:t>2/2/2016</a:t>
            </a:fld>
            <a:endParaRPr lang="en-US"/>
          </a:p>
        </p:txBody>
      </p:sp>
      <p:sp>
        <p:nvSpPr>
          <p:cNvPr id="3" name="Footer Placeholder 2"/>
          <p:cNvSpPr>
            <a:spLocks noGrp="1"/>
          </p:cNvSpPr>
          <p:nvPr>
            <p:ph type="ftr" sz="quarter" idx="11"/>
          </p:nvPr>
        </p:nvSpPr>
        <p:spPr/>
        <p:txBody>
          <a:bodyPr/>
          <a:lstStyle>
            <a:extLst/>
          </a:lstStyle>
          <a:p>
            <a:endParaRPr lang="en-US"/>
          </a:p>
        </p:txBody>
      </p:sp>
      <p:sp>
        <p:nvSpPr>
          <p:cNvPr id="4" name="Slide Number Placeholder 3"/>
          <p:cNvSpPr>
            <a:spLocks noGrp="1"/>
          </p:cNvSpPr>
          <p:nvPr>
            <p:ph type="sldNum" sz="quarter" idx="12"/>
          </p:nvPr>
        </p:nvSpPr>
        <p:spPr/>
        <p:txBody>
          <a:bodyPr/>
          <a:lstStyle>
            <a:extLst/>
          </a:lstStyle>
          <a:p>
            <a:fld id="{947ECB12-C592-46A5-A51D-102CFC93B01C}"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extLst/>
          </a:lstStyle>
          <a:p>
            <a:fld id="{AC07AC04-7684-4F01-8E9D-96534E5293E8}" type="datetimeFigureOut">
              <a:rPr lang="en-US" smtClean="0"/>
              <a:pPr/>
              <a:t>2/2/2016</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947ECB12-C592-46A5-A51D-102CFC93B01C}"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smtClean="0"/>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AC07AC04-7684-4F01-8E9D-96534E5293E8}" type="datetimeFigureOut">
              <a:rPr lang="en-US" smtClean="0"/>
              <a:pPr/>
              <a:t>2/2/2016</a:t>
            </a:fld>
            <a:endParaRPr lang="en-US"/>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947ECB12-C592-46A5-A51D-102CFC93B01C}" type="slidenum">
              <a:rPr lang="en-US" smtClean="0"/>
              <a:pPr/>
              <a:t>‹#›</a:t>
            </a:fld>
            <a:endParaRPr lang="en-US"/>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smtClean="0"/>
              <a:t>Click to edit Master title style</a:t>
            </a:r>
            <a:endParaRPr kumimoji="0" lang="en-US"/>
          </a:p>
        </p:txBody>
      </p:sp>
      <p:sp>
        <p:nvSpPr>
          <p:cNvPr id="8" name="Freeform 7"/>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9" name="Freeform 8"/>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481329"/>
            <a:ext cx="8229600" cy="4386071"/>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AC07AC04-7684-4F01-8E9D-96534E5293E8}" type="datetimeFigureOut">
              <a:rPr lang="en-US" smtClean="0"/>
              <a:pPr/>
              <a:t>2/2/2016</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947ECB12-C592-46A5-A51D-102CFC93B01C}"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1"/>
            <a:ext cx="6324600" cy="5592760"/>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AC07AC04-7684-4F01-8E9D-96534E5293E8}" type="datetimeFigureOut">
              <a:rPr lang="en-US" smtClean="0"/>
              <a:pPr/>
              <a:t>2/2/2016</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947ECB12-C592-46A5-A51D-102CFC93B01C}"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00B050"/>
            </a:gs>
            <a:gs pos="50000">
              <a:schemeClr val="accent1">
                <a:tint val="44500"/>
                <a:satMod val="160000"/>
              </a:schemeClr>
            </a:gs>
            <a:gs pos="100000">
              <a:schemeClr val="accent1">
                <a:tint val="23500"/>
                <a:satMod val="160000"/>
              </a:schemeClr>
            </a:gs>
          </a:gsLst>
          <a:path path="shape">
            <a:fillToRect l="50000" t="50000" r="50000" b="50000"/>
          </a:path>
          <a:tileRect/>
        </a:gradFill>
        <a:effectLst/>
      </p:bgPr>
    </p:bg>
    <p:spTree>
      <p:nvGrpSpPr>
        <p:cNvPr id="1" name=""/>
        <p:cNvGrpSpPr/>
        <p:nvPr/>
      </p:nvGrpSpPr>
      <p:grpSpPr>
        <a:xfrm>
          <a:off x="0" y="0"/>
          <a:ext cx="0" cy="0"/>
          <a:chOff x="0" y="0"/>
          <a:chExt cx="0" cy="0"/>
        </a:xfrm>
      </p:grpSpPr>
      <p:sp>
        <p:nvSpPr>
          <p:cNvPr id="13" name="Freeform 12"/>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Freeform 11"/>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AC07AC04-7684-4F01-8E9D-96534E5293E8}" type="datetimeFigureOut">
              <a:rPr lang="en-US" smtClean="0"/>
              <a:pPr/>
              <a:t>2/2/2016</a:t>
            </a:fld>
            <a:endParaRPr lang="en-US"/>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US"/>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947ECB12-C592-46A5-A51D-102CFC93B01C}"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audio" Target="../media/audio2.wav"/><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audio" Target="../media/audio2.wav"/><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audio" Target="../media/audio2.wav"/><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audio" Target="../media/audio2.wav"/><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audio" Target="../media/audio2.wav"/><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audio" Target="../media/audio3.wav"/><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audio" Target="../media/audio4.wav"/><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audio" Target="../media/audio5.wav"/><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DDEBCF"/>
            </a:gs>
            <a:gs pos="50000">
              <a:srgbClr val="9CB86E"/>
            </a:gs>
            <a:gs pos="100000">
              <a:srgbClr val="156B13"/>
            </a:gs>
          </a:gsLst>
          <a:lin ang="5400000" scaled="0"/>
          <a:tileRect r="-100000" b="-100000"/>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676400"/>
            <a:ext cx="7772400" cy="1829761"/>
          </a:xfrm>
        </p:spPr>
        <p:txBody>
          <a:bodyPr/>
          <a:lstStyle/>
          <a:p>
            <a:r>
              <a:rPr lang="en-US" smtClean="0"/>
              <a:t>PAPER PRESENTED BY</a:t>
            </a:r>
            <a:endParaRPr lang="en-US" dirty="0"/>
          </a:p>
        </p:txBody>
      </p:sp>
      <p:sp>
        <p:nvSpPr>
          <p:cNvPr id="3" name="Subtitle 2"/>
          <p:cNvSpPr>
            <a:spLocks noGrp="1"/>
          </p:cNvSpPr>
          <p:nvPr>
            <p:ph type="subTitle" idx="1"/>
          </p:nvPr>
        </p:nvSpPr>
        <p:spPr>
          <a:xfrm>
            <a:off x="685800" y="3611606"/>
            <a:ext cx="7772400" cy="1950993"/>
          </a:xfrm>
        </p:spPr>
        <p:txBody>
          <a:bodyPr>
            <a:scene3d>
              <a:camera prst="orthographicFront"/>
              <a:lightRig rig="threePt" dir="t"/>
            </a:scene3d>
            <a:sp3d contourW="38100"/>
          </a:bodyPr>
          <a:lstStyle/>
          <a:p>
            <a:r>
              <a:rPr lang="en-US" dirty="0" smtClean="0"/>
              <a:t>DIRECTOR INTERNAL AUDIT                        </a:t>
            </a:r>
            <a:r>
              <a:rPr lang="en-US" sz="4000" dirty="0" smtClean="0"/>
              <a:t>MR. K.O ADEKANMBI</a:t>
            </a:r>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a:p>
        </p:txBody>
      </p:sp>
    </p:spTree>
  </p:cSld>
  <p:clrMapOvr>
    <a:masterClrMapping/>
  </p:clrMapOvr>
  <p:transition spd="slow" advTm="20000">
    <p:wheel spokes="8"/>
    <p:sndAc>
      <p:stSnd>
        <p:snd r:embed="rId3" name="cashreg.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1"/>
          <p:cNvSpPr>
            <a:spLocks noChangeArrowheads="1"/>
          </p:cNvSpPr>
          <p:nvPr/>
        </p:nvSpPr>
        <p:spPr bwMode="auto">
          <a:xfrm>
            <a:off x="152400" y="1676400"/>
            <a:ext cx="8610600" cy="353943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scene3d>
              <a:camera prst="orthographicFront">
                <a:rot lat="0" lon="21299999" rev="0"/>
              </a:camera>
              <a:lightRig rig="threePt" dir="t"/>
            </a:scene3d>
            <a:sp3d extrusionH="57150" contourW="12700">
              <a:extrusionClr>
                <a:srgbClr val="00B050"/>
              </a:extrusionClr>
              <a:contourClr>
                <a:schemeClr val="tx1">
                  <a:lumMod val="65000"/>
                  <a:lumOff val="35000"/>
                </a:schemeClr>
              </a:contourClr>
            </a:sp3d>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3200"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FINANCIAL ADMINISTRATIVE PROCESS, BOTTLENECKS                                                           REGARDING PAYMENT OF VARIOUS FEES                                                                                             SERVICING OF COMMITTEES IN THE UNIVERSITY;                                                                                                CHALLENGES AND                                                                                                                                                 WAY FORWARD IN PURCHASING OF OFFICIAL MATERIALS.</a:t>
            </a:r>
            <a:endParaRPr kumimoji="0" lang="en-US" sz="32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transition spd="slow" advTm="10000">
    <p:pull dir="lu"/>
    <p:sndAc>
      <p:stSnd>
        <p:snd r:embed="rId2" name="chimes.wav"/>
      </p:stSnd>
    </p:sndAc>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1"/>
          <p:cNvSpPr>
            <a:spLocks noChangeArrowheads="1"/>
          </p:cNvSpPr>
          <p:nvPr/>
        </p:nvSpPr>
        <p:spPr bwMode="auto">
          <a:xfrm>
            <a:off x="1219200" y="542479"/>
            <a:ext cx="7086600" cy="600164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3200"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Financial Administration</a:t>
            </a:r>
            <a:endParaRPr kumimoji="0" lang="en-US" sz="32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3200"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Finance is the lifeblood of every business. As </a:t>
            </a:r>
            <a:r>
              <a:rPr kumimoji="0" lang="en-US" sz="3200"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personnel </a:t>
            </a:r>
            <a:r>
              <a:rPr kumimoji="0" lang="en-US" sz="3200"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and materials which are necessary for the functioning of any office, </a:t>
            </a:r>
            <a:r>
              <a:rPr kumimoji="0" lang="en-US" sz="3200"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industry </a:t>
            </a:r>
            <a:r>
              <a:rPr lang="en-US" sz="3200" dirty="0" smtClean="0">
                <a:latin typeface="Calibri" pitchFamily="34" charset="0"/>
                <a:ea typeface="Calibri" pitchFamily="34" charset="0"/>
                <a:cs typeface="Times New Roman" pitchFamily="18" charset="0"/>
              </a:rPr>
              <a:t>and</a:t>
            </a:r>
            <a:r>
              <a:rPr kumimoji="0" lang="en-US" sz="3200"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 enterprise, </a:t>
            </a:r>
            <a:r>
              <a:rPr lang="en-US" sz="3200" dirty="0">
                <a:latin typeface="Calibri" pitchFamily="34" charset="0"/>
                <a:ea typeface="Calibri" pitchFamily="34" charset="0"/>
                <a:cs typeface="Times New Roman" pitchFamily="18" charset="0"/>
              </a:rPr>
              <a:t>c</a:t>
            </a:r>
            <a:r>
              <a:rPr kumimoji="0" lang="en-US" sz="3200"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an </a:t>
            </a:r>
            <a:r>
              <a:rPr kumimoji="0" lang="en-US" sz="3200"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be made available through money. Hence finance plays an important role in the business.</a:t>
            </a:r>
            <a:endParaRPr kumimoji="0" lang="en-US" sz="32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3200"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The term Financial Administration consist of two words ‘Finance’ and “administration’….We have defined finance.</a:t>
            </a:r>
            <a:endParaRPr kumimoji="0" lang="en-US" sz="32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transition spd="slow" advTm="10000">
    <p:wipe dir="r"/>
    <p:sndAc>
      <p:stSnd>
        <p:snd r:embed="rId2" name="chimes.wav"/>
      </p:stSnd>
    </p:sndAc>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1"/>
          <p:cNvSpPr>
            <a:spLocks noChangeArrowheads="1"/>
          </p:cNvSpPr>
          <p:nvPr/>
        </p:nvSpPr>
        <p:spPr bwMode="auto">
          <a:xfrm>
            <a:off x="1447800" y="1143000"/>
            <a:ext cx="6781800" cy="452431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3200" b="0" i="0" u="sng" strike="noStrike" cap="none" normalizeH="0" baseline="0" dirty="0" smtClean="0">
                <a:ln>
                  <a:noFill/>
                </a:ln>
                <a:solidFill>
                  <a:schemeClr val="tx1"/>
                </a:solidFill>
                <a:effectLst/>
                <a:latin typeface="Calibri" pitchFamily="34" charset="0"/>
                <a:ea typeface="Calibri" pitchFamily="34" charset="0"/>
                <a:cs typeface="Times New Roman" pitchFamily="18" charset="0"/>
              </a:rPr>
              <a:t>Administration</a:t>
            </a:r>
            <a:r>
              <a:rPr kumimoji="0" lang="en-US" sz="3200"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 refers to organization and management of collective human, </a:t>
            </a:r>
            <a:r>
              <a:rPr kumimoji="0" lang="en-US" sz="3200"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efforts </a:t>
            </a:r>
            <a:r>
              <a:rPr kumimoji="0" lang="en-US" sz="3200"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in the pursuit of a conscious objective. </a:t>
            </a:r>
            <a:endParaRPr kumimoji="0" lang="en-US" sz="32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3200"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The word </a:t>
            </a:r>
            <a:r>
              <a:rPr kumimoji="0" lang="en-US" sz="3200"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“financial administration” </a:t>
            </a:r>
            <a:r>
              <a:rPr kumimoji="0" lang="en-US" sz="3200"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refers to a set of activities which are related to making available money to the various branches of an organization to enable it to carry out its objectives.</a:t>
            </a:r>
            <a:endParaRPr kumimoji="0" lang="en-US" sz="32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transition spd="slow" advTm="10000">
    <p:dissolve/>
    <p:sndAc>
      <p:stSnd>
        <p:snd r:embed="rId2" name="chimes.wav"/>
      </p:stSnd>
    </p:sndAc>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1"/>
          <p:cNvSpPr>
            <a:spLocks noChangeArrowheads="1"/>
          </p:cNvSpPr>
          <p:nvPr/>
        </p:nvSpPr>
        <p:spPr bwMode="auto">
          <a:xfrm>
            <a:off x="990600" y="1219200"/>
            <a:ext cx="6858000" cy="501675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3200"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This objectives </a:t>
            </a:r>
            <a:r>
              <a:rPr kumimoji="0" lang="en-US" sz="3200"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lead </a:t>
            </a:r>
            <a:r>
              <a:rPr kumimoji="0" lang="en-US" sz="3200"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to the definition of JAZE Gaston. He defined “financial administration as part of government organization which deals with the </a:t>
            </a:r>
            <a:r>
              <a:rPr kumimoji="0" lang="en-US" sz="3200" b="0" i="0" u="sng" strike="noStrike" cap="none" normalizeH="0" baseline="0" dirty="0" smtClean="0">
                <a:ln>
                  <a:noFill/>
                </a:ln>
                <a:solidFill>
                  <a:schemeClr val="tx1"/>
                </a:solidFill>
                <a:effectLst/>
                <a:latin typeface="Calibri" pitchFamily="34" charset="0"/>
                <a:ea typeface="Calibri" pitchFamily="34" charset="0"/>
                <a:cs typeface="Times New Roman" pitchFamily="18" charset="0"/>
              </a:rPr>
              <a:t>collection</a:t>
            </a:r>
            <a:r>
              <a:rPr kumimoji="0" lang="en-US" sz="3200"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 </a:t>
            </a:r>
            <a:r>
              <a:rPr kumimoji="0" lang="en-US" sz="3200" b="0" i="0" u="sng" strike="noStrike" cap="none" normalizeH="0" baseline="0" dirty="0" smtClean="0">
                <a:ln>
                  <a:noFill/>
                </a:ln>
                <a:solidFill>
                  <a:schemeClr val="tx1"/>
                </a:solidFill>
                <a:effectLst/>
                <a:latin typeface="Calibri" pitchFamily="34" charset="0"/>
                <a:ea typeface="Calibri" pitchFamily="34" charset="0"/>
                <a:cs typeface="Times New Roman" pitchFamily="18" charset="0"/>
              </a:rPr>
              <a:t>preservation</a:t>
            </a:r>
            <a:r>
              <a:rPr kumimoji="0" lang="en-US" sz="3200"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 and </a:t>
            </a:r>
            <a:r>
              <a:rPr kumimoji="0" lang="en-US" sz="3200" b="0" i="0" u="sng" strike="noStrike" cap="none" normalizeH="0" baseline="0" dirty="0" smtClean="0">
                <a:ln>
                  <a:noFill/>
                </a:ln>
                <a:solidFill>
                  <a:schemeClr val="tx1"/>
                </a:solidFill>
                <a:effectLst/>
                <a:latin typeface="Calibri" pitchFamily="34" charset="0"/>
                <a:ea typeface="Calibri" pitchFamily="34" charset="0"/>
                <a:cs typeface="Times New Roman" pitchFamily="18" charset="0"/>
              </a:rPr>
              <a:t>distribution of public revenue</a:t>
            </a:r>
            <a:r>
              <a:rPr kumimoji="0" lang="en-US" sz="3200"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 and </a:t>
            </a:r>
            <a:r>
              <a:rPr kumimoji="0" lang="en-US" sz="3200" b="0" i="0" u="sng" strike="noStrike" cap="none" normalizeH="0" baseline="0" dirty="0" smtClean="0">
                <a:ln>
                  <a:noFill/>
                </a:ln>
                <a:solidFill>
                  <a:schemeClr val="tx1"/>
                </a:solidFill>
                <a:effectLst/>
                <a:latin typeface="Calibri" pitchFamily="34" charset="0"/>
                <a:ea typeface="Calibri" pitchFamily="34" charset="0"/>
                <a:cs typeface="Times New Roman" pitchFamily="18" charset="0"/>
              </a:rPr>
              <a:t>expenditure</a:t>
            </a:r>
            <a:r>
              <a:rPr kumimoji="0" lang="en-US" sz="3200"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 </a:t>
            </a:r>
            <a:r>
              <a:rPr kumimoji="0" lang="en-US" sz="3200" b="0" i="0" u="sng" strike="noStrike" cap="none" normalizeH="0" baseline="0" dirty="0" smtClean="0">
                <a:ln>
                  <a:noFill/>
                </a:ln>
                <a:solidFill>
                  <a:schemeClr val="tx1"/>
                </a:solidFill>
                <a:effectLst/>
                <a:latin typeface="Calibri" pitchFamily="34" charset="0"/>
                <a:ea typeface="Calibri" pitchFamily="34" charset="0"/>
                <a:cs typeface="Times New Roman" pitchFamily="18" charset="0"/>
              </a:rPr>
              <a:t>with the management of credit operation</a:t>
            </a:r>
            <a:r>
              <a:rPr kumimoji="0" lang="en-US" sz="3200"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 on behalf of the state and with the general control of the financial offers of public household”</a:t>
            </a:r>
            <a:endParaRPr kumimoji="0" lang="en-US" sz="32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transition spd="slow" advTm="15000">
    <p:wedge/>
    <p:sndAc>
      <p:stSnd>
        <p:snd r:embed="rId2" name="chimes.wav"/>
      </p:stSnd>
    </p:sndAc>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 name="Rectangle 1"/>
          <p:cNvSpPr>
            <a:spLocks noChangeArrowheads="1"/>
          </p:cNvSpPr>
          <p:nvPr/>
        </p:nvSpPr>
        <p:spPr bwMode="auto">
          <a:xfrm>
            <a:off x="1219200" y="1232357"/>
            <a:ext cx="6705600" cy="526297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                     Purchasing refers to the buying of goods, equipment, material and supplies, as long as that purchase is not made in connection with a public works project.</a:t>
            </a:r>
            <a:endParaRPr kumimoji="0" lang="en-US" sz="28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Some </a:t>
            </a:r>
            <a:r>
              <a:rPr kumimoji="0" lang="en-US" sz="2800"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agencies</a:t>
            </a:r>
            <a:r>
              <a:rPr kumimoji="0" lang="en-US" sz="2800" b="0" i="0" u="none" strike="noStrike" cap="none" normalizeH="0" dirty="0" smtClean="0">
                <a:ln>
                  <a:noFill/>
                </a:ln>
                <a:solidFill>
                  <a:schemeClr val="tx1"/>
                </a:solidFill>
                <a:effectLst/>
                <a:latin typeface="Calibri" pitchFamily="34" charset="0"/>
                <a:ea typeface="Calibri" pitchFamily="34" charset="0"/>
                <a:cs typeface="Times New Roman" pitchFamily="18" charset="0"/>
              </a:rPr>
              <a:t> </a:t>
            </a:r>
            <a:r>
              <a:rPr kumimoji="0" lang="en-US" sz="2800"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have </a:t>
            </a:r>
            <a:r>
              <a:rPr kumimoji="0" lang="en-US" sz="2800"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list of vendors used when it was not a formal competitive bidding.</a:t>
            </a:r>
            <a:endParaRPr kumimoji="0" lang="en-US" sz="28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    To make a purchase using the vendor list, an agency should secure quotes from at least three of the vendors on the list. If possible and award the contract to the lowest responsible bidder.</a:t>
            </a:r>
            <a:endParaRPr kumimoji="0" lang="en-US" sz="28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transition spd="slow" advTm="15000">
    <p:cover dir="u"/>
    <p:sndAc>
      <p:stSnd>
        <p:snd r:embed="rId2" name="chimes.wav"/>
      </p:stSnd>
    </p:sndAc>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1"/>
          <p:cNvSpPr>
            <a:spLocks noChangeArrowheads="1"/>
          </p:cNvSpPr>
          <p:nvPr/>
        </p:nvSpPr>
        <p:spPr bwMode="auto">
          <a:xfrm>
            <a:off x="381000" y="363915"/>
            <a:ext cx="8153400" cy="649408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3200" b="0" i="0" u="sng" strike="noStrike" cap="none" normalizeH="0" baseline="0" dirty="0" smtClean="0">
                <a:ln>
                  <a:noFill/>
                </a:ln>
                <a:solidFill>
                  <a:schemeClr val="tx1"/>
                </a:solidFill>
                <a:effectLst/>
                <a:latin typeface="Calibri" pitchFamily="34" charset="0"/>
                <a:ea typeface="Calibri" pitchFamily="34" charset="0"/>
                <a:cs typeface="Times New Roman" pitchFamily="18" charset="0"/>
              </a:rPr>
              <a:t>PROCESSES OF ADMINISTRATION</a:t>
            </a:r>
            <a:endParaRPr kumimoji="0" lang="en-US" sz="32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3200"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A) Procedures</a:t>
            </a:r>
            <a:endParaRPr kumimoji="0" lang="en-US" sz="32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3200"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1)Centralization,</a:t>
            </a:r>
            <a:endParaRPr kumimoji="0" lang="en-US" sz="32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3200"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2)Decentralizations</a:t>
            </a:r>
            <a:endParaRPr kumimoji="0" lang="en-US" sz="32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3200"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3)Out sourcing</a:t>
            </a:r>
            <a:endParaRPr kumimoji="0" lang="en-US" sz="32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3200"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B) Activities In</a:t>
            </a:r>
            <a:r>
              <a:rPr kumimoji="0" lang="en-US" sz="3200" b="0" i="0" u="none" strike="noStrike" cap="none" normalizeH="0" dirty="0" smtClean="0">
                <a:ln>
                  <a:noFill/>
                </a:ln>
                <a:solidFill>
                  <a:schemeClr val="tx1"/>
                </a:solidFill>
                <a:effectLst/>
                <a:latin typeface="Calibri" pitchFamily="34" charset="0"/>
                <a:ea typeface="Calibri" pitchFamily="34" charset="0"/>
                <a:cs typeface="Times New Roman" pitchFamily="18" charset="0"/>
              </a:rPr>
              <a:t> Administration</a:t>
            </a:r>
            <a:endParaRPr kumimoji="0" lang="en-US" sz="32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3200"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   1) Study leave</a:t>
            </a:r>
            <a:endParaRPr kumimoji="0" lang="en-US" sz="32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3200"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   2) Promotion- placement</a:t>
            </a:r>
            <a:endParaRPr kumimoji="0" lang="en-US" sz="32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3200"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   3) Leave of absence</a:t>
            </a:r>
            <a:endParaRPr kumimoji="0" lang="en-US" sz="32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3200"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   4) Retirement</a:t>
            </a:r>
            <a:endParaRPr kumimoji="0" lang="en-US" sz="32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3200"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   5) Cash advance</a:t>
            </a:r>
            <a:endParaRPr kumimoji="0" lang="en-US" sz="32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3200"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   6) Pay roll</a:t>
            </a:r>
            <a:endParaRPr kumimoji="0" lang="en-US" sz="32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32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transition spd="slow" advTm="10000">
    <p:wedge/>
    <p:sndAc>
      <p:stSnd>
        <p:snd r:embed="rId2" name="cashreg.wav"/>
      </p:stSnd>
    </p:sndAc>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
          <p:cNvSpPr>
            <a:spLocks noChangeArrowheads="1"/>
          </p:cNvSpPr>
          <p:nvPr/>
        </p:nvSpPr>
        <p:spPr bwMode="auto">
          <a:xfrm>
            <a:off x="990600" y="381000"/>
            <a:ext cx="6781800" cy="526297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0" i="0" u="sng" strike="noStrike" cap="none" normalizeH="0" baseline="0" dirty="0" smtClean="0">
                <a:ln>
                  <a:noFill/>
                </a:ln>
                <a:solidFill>
                  <a:schemeClr val="tx1"/>
                </a:solidFill>
                <a:effectLst/>
                <a:latin typeface="Calibri" pitchFamily="34" charset="0"/>
                <a:ea typeface="Calibri" pitchFamily="34" charset="0"/>
                <a:cs typeface="Times New Roman" pitchFamily="18" charset="0"/>
              </a:rPr>
              <a:t>Bottleneck.</a:t>
            </a:r>
            <a:endParaRPr kumimoji="0" lang="en-US" sz="24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400"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Fund </a:t>
            </a:r>
            <a:r>
              <a:rPr kumimoji="0" lang="en-US" sz="2400"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release </a:t>
            </a:r>
            <a:r>
              <a:rPr kumimoji="0" lang="en-US" sz="2400"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form is not strictly </a:t>
            </a:r>
            <a:r>
              <a:rPr kumimoji="0" lang="en-US" sz="2400"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adhered </a:t>
            </a:r>
            <a:r>
              <a:rPr kumimoji="0" lang="en-US" sz="2400"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to.</a:t>
            </a:r>
            <a:endParaRPr kumimoji="0" lang="en-US" sz="24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400"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Budgetary provision ( Virement) .</a:t>
            </a:r>
            <a:endParaRPr kumimoji="0" lang="en-US" sz="24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400"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Using the same request to seek approval for two things (Honorarium, feeding and Accommodation)</a:t>
            </a:r>
            <a:endParaRPr kumimoji="0" lang="en-US" sz="24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strike="noStrike" cap="none" normalizeH="0" baseline="0" dirty="0" smtClean="0">
                <a:ln>
                  <a:noFill/>
                </a:ln>
                <a:solidFill>
                  <a:schemeClr val="tx1"/>
                </a:solidFill>
                <a:effectLst/>
                <a:latin typeface="Calibri" pitchFamily="34" charset="0"/>
                <a:ea typeface="Calibri" pitchFamily="34" charset="0"/>
                <a:cs typeface="Times New Roman" pitchFamily="18" charset="0"/>
              </a:rPr>
              <a:t>     </a:t>
            </a:r>
            <a:r>
              <a:rPr kumimoji="0" lang="en-US" sz="2400" b="0" i="0" u="sng" strike="noStrike" cap="none" normalizeH="0" baseline="0" dirty="0" smtClean="0">
                <a:ln>
                  <a:noFill/>
                </a:ln>
                <a:solidFill>
                  <a:schemeClr val="tx1"/>
                </a:solidFill>
                <a:effectLst/>
                <a:latin typeface="Calibri" pitchFamily="34" charset="0"/>
                <a:ea typeface="Calibri" pitchFamily="34" charset="0"/>
                <a:cs typeface="Times New Roman" pitchFamily="18" charset="0"/>
              </a:rPr>
              <a:t>Challenges</a:t>
            </a:r>
            <a:endParaRPr kumimoji="0" lang="en-US" sz="24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400"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Non adherence to stipulated days for cash advances.</a:t>
            </a:r>
            <a:endParaRPr kumimoji="0" lang="en-US" sz="24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400"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Funding</a:t>
            </a:r>
            <a:endParaRPr kumimoji="0" lang="en-US" sz="24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400"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Non provision in the budget</a:t>
            </a:r>
            <a:endParaRPr kumimoji="0" lang="en-US" sz="24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400"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Attachment of wrong document</a:t>
            </a:r>
            <a:endParaRPr kumimoji="0" lang="en-US" sz="24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400"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Letters are not copied </a:t>
            </a:r>
            <a:r>
              <a:rPr kumimoji="0" lang="en-US" sz="2400" b="0" i="0" u="none" strike="noStrike" cap="none" normalizeH="0" baseline="0" smtClean="0">
                <a:ln>
                  <a:noFill/>
                </a:ln>
                <a:solidFill>
                  <a:schemeClr val="tx1"/>
                </a:solidFill>
                <a:effectLst/>
                <a:latin typeface="Calibri" pitchFamily="34" charset="0"/>
                <a:ea typeface="Calibri" pitchFamily="34" charset="0"/>
                <a:cs typeface="Times New Roman" pitchFamily="18" charset="0"/>
              </a:rPr>
              <a:t>to </a:t>
            </a:r>
            <a:r>
              <a:rPr lang="en-US" sz="2400" smtClean="0">
                <a:latin typeface="Calibri" pitchFamily="34" charset="0"/>
                <a:ea typeface="Calibri" pitchFamily="34" charset="0"/>
                <a:cs typeface="Times New Roman" pitchFamily="18" charset="0"/>
              </a:rPr>
              <a:t>D</a:t>
            </a:r>
            <a:r>
              <a:rPr kumimoji="0" lang="en-US" sz="2400" b="0" i="0" u="none" strike="noStrike" cap="none" normalizeH="0" baseline="0" smtClean="0">
                <a:ln>
                  <a:noFill/>
                </a:ln>
                <a:solidFill>
                  <a:schemeClr val="tx1"/>
                </a:solidFill>
                <a:effectLst/>
                <a:latin typeface="Calibri" pitchFamily="34" charset="0"/>
                <a:ea typeface="Calibri" pitchFamily="34" charset="0"/>
                <a:cs typeface="Times New Roman" pitchFamily="18" charset="0"/>
              </a:rPr>
              <a:t>irectorate </a:t>
            </a:r>
            <a:r>
              <a:rPr kumimoji="0" lang="en-US" sz="2400" b="0" i="0" u="none" strike="noStrike" cap="none" normalizeH="0" baseline="0" smtClean="0">
                <a:ln>
                  <a:noFill/>
                </a:ln>
                <a:solidFill>
                  <a:schemeClr val="tx1"/>
                </a:solidFill>
                <a:effectLst/>
                <a:latin typeface="Calibri" pitchFamily="34" charset="0"/>
                <a:ea typeface="Calibri" pitchFamily="34" charset="0"/>
                <a:cs typeface="Times New Roman" pitchFamily="18" charset="0"/>
              </a:rPr>
              <a:t>of </a:t>
            </a:r>
            <a:r>
              <a:rPr kumimoji="0" lang="en-US" sz="2400" b="0" i="0" u="none" strike="noStrike" cap="none" normalizeH="0" baseline="0" smtClean="0">
                <a:ln>
                  <a:noFill/>
                </a:ln>
                <a:solidFill>
                  <a:schemeClr val="tx1"/>
                </a:solidFill>
                <a:effectLst/>
                <a:latin typeface="Calibri" pitchFamily="34" charset="0"/>
                <a:ea typeface="Calibri" pitchFamily="34" charset="0"/>
                <a:cs typeface="Times New Roman" pitchFamily="18" charset="0"/>
              </a:rPr>
              <a:t>Audit </a:t>
            </a:r>
            <a:r>
              <a:rPr kumimoji="0" lang="en-US" sz="2400"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on time.</a:t>
            </a:r>
            <a:endParaRPr kumimoji="0" lang="en-US" sz="24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400"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Urgency</a:t>
            </a:r>
            <a:endParaRPr kumimoji="0" lang="en-US" sz="24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transition spd="slow" advTm="20000">
    <p:randomBar/>
    <p:sndAc>
      <p:stSnd>
        <p:snd r:embed="rId2" name="bomb.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2529">
                                            <p:txEl>
                                              <p:pRg st="0" end="0"/>
                                            </p:txEl>
                                          </p:spTgt>
                                        </p:tgtEl>
                                        <p:attrNameLst>
                                          <p:attrName>style.visibility</p:attrName>
                                        </p:attrNameLst>
                                      </p:cBhvr>
                                      <p:to>
                                        <p:strVal val="visible"/>
                                      </p:to>
                                    </p:set>
                                    <p:animEffect transition="in" filter="wipe(down)">
                                      <p:cBhvr>
                                        <p:cTn id="7" dur="500"/>
                                        <p:tgtEl>
                                          <p:spTgt spid="2252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2529">
                                            <p:txEl>
                                              <p:pRg st="1" end="1"/>
                                            </p:txEl>
                                          </p:spTgt>
                                        </p:tgtEl>
                                        <p:attrNameLst>
                                          <p:attrName>style.visibility</p:attrName>
                                        </p:attrNameLst>
                                      </p:cBhvr>
                                      <p:to>
                                        <p:strVal val="visible"/>
                                      </p:to>
                                    </p:set>
                                    <p:animEffect transition="in" filter="wipe(down)">
                                      <p:cBhvr>
                                        <p:cTn id="12" dur="500"/>
                                        <p:tgtEl>
                                          <p:spTgt spid="2252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22529">
                                            <p:txEl>
                                              <p:pRg st="2" end="2"/>
                                            </p:txEl>
                                          </p:spTgt>
                                        </p:tgtEl>
                                        <p:attrNameLst>
                                          <p:attrName>style.visibility</p:attrName>
                                        </p:attrNameLst>
                                      </p:cBhvr>
                                      <p:to>
                                        <p:strVal val="visible"/>
                                      </p:to>
                                    </p:set>
                                    <p:animEffect transition="in" filter="wipe(down)">
                                      <p:cBhvr>
                                        <p:cTn id="17" dur="500"/>
                                        <p:tgtEl>
                                          <p:spTgt spid="2252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22529">
                                            <p:txEl>
                                              <p:pRg st="3" end="3"/>
                                            </p:txEl>
                                          </p:spTgt>
                                        </p:tgtEl>
                                        <p:attrNameLst>
                                          <p:attrName>style.visibility</p:attrName>
                                        </p:attrNameLst>
                                      </p:cBhvr>
                                      <p:to>
                                        <p:strVal val="visible"/>
                                      </p:to>
                                    </p:set>
                                    <p:animEffect transition="in" filter="wipe(down)">
                                      <p:cBhvr>
                                        <p:cTn id="22" dur="500"/>
                                        <p:tgtEl>
                                          <p:spTgt spid="2252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22529">
                                            <p:txEl>
                                              <p:pRg st="4" end="4"/>
                                            </p:txEl>
                                          </p:spTgt>
                                        </p:tgtEl>
                                        <p:attrNameLst>
                                          <p:attrName>style.visibility</p:attrName>
                                        </p:attrNameLst>
                                      </p:cBhvr>
                                      <p:to>
                                        <p:strVal val="visible"/>
                                      </p:to>
                                    </p:set>
                                    <p:animEffect transition="in" filter="wipe(down)">
                                      <p:cBhvr>
                                        <p:cTn id="27" dur="500"/>
                                        <p:tgtEl>
                                          <p:spTgt spid="2252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22529">
                                            <p:txEl>
                                              <p:pRg st="5" end="5"/>
                                            </p:txEl>
                                          </p:spTgt>
                                        </p:tgtEl>
                                        <p:attrNameLst>
                                          <p:attrName>style.visibility</p:attrName>
                                        </p:attrNameLst>
                                      </p:cBhvr>
                                      <p:to>
                                        <p:strVal val="visible"/>
                                      </p:to>
                                    </p:set>
                                    <p:animEffect transition="in" filter="wipe(down)">
                                      <p:cBhvr>
                                        <p:cTn id="32" dur="500"/>
                                        <p:tgtEl>
                                          <p:spTgt spid="22529">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22529">
                                            <p:txEl>
                                              <p:pRg st="6" end="6"/>
                                            </p:txEl>
                                          </p:spTgt>
                                        </p:tgtEl>
                                        <p:attrNameLst>
                                          <p:attrName>style.visibility</p:attrName>
                                        </p:attrNameLst>
                                      </p:cBhvr>
                                      <p:to>
                                        <p:strVal val="visible"/>
                                      </p:to>
                                    </p:set>
                                    <p:animEffect transition="in" filter="wipe(down)">
                                      <p:cBhvr>
                                        <p:cTn id="37" dur="500"/>
                                        <p:tgtEl>
                                          <p:spTgt spid="22529">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22529">
                                            <p:txEl>
                                              <p:pRg st="7" end="7"/>
                                            </p:txEl>
                                          </p:spTgt>
                                        </p:tgtEl>
                                        <p:attrNameLst>
                                          <p:attrName>style.visibility</p:attrName>
                                        </p:attrNameLst>
                                      </p:cBhvr>
                                      <p:to>
                                        <p:strVal val="visible"/>
                                      </p:to>
                                    </p:set>
                                    <p:animEffect transition="in" filter="wipe(down)">
                                      <p:cBhvr>
                                        <p:cTn id="42" dur="500"/>
                                        <p:tgtEl>
                                          <p:spTgt spid="22529">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22529">
                                            <p:txEl>
                                              <p:pRg st="8" end="8"/>
                                            </p:txEl>
                                          </p:spTgt>
                                        </p:tgtEl>
                                        <p:attrNameLst>
                                          <p:attrName>style.visibility</p:attrName>
                                        </p:attrNameLst>
                                      </p:cBhvr>
                                      <p:to>
                                        <p:strVal val="visible"/>
                                      </p:to>
                                    </p:set>
                                    <p:animEffect transition="in" filter="wipe(down)">
                                      <p:cBhvr>
                                        <p:cTn id="47" dur="500"/>
                                        <p:tgtEl>
                                          <p:spTgt spid="22529">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22529">
                                            <p:txEl>
                                              <p:pRg st="9" end="9"/>
                                            </p:txEl>
                                          </p:spTgt>
                                        </p:tgtEl>
                                        <p:attrNameLst>
                                          <p:attrName>style.visibility</p:attrName>
                                        </p:attrNameLst>
                                      </p:cBhvr>
                                      <p:to>
                                        <p:strVal val="visible"/>
                                      </p:to>
                                    </p:set>
                                    <p:animEffect transition="in" filter="wipe(down)">
                                      <p:cBhvr>
                                        <p:cTn id="52" dur="500"/>
                                        <p:tgtEl>
                                          <p:spTgt spid="22529">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grpId="0" nodeType="clickEffect">
                                  <p:stCondLst>
                                    <p:cond delay="0"/>
                                  </p:stCondLst>
                                  <p:childTnLst>
                                    <p:set>
                                      <p:cBhvr>
                                        <p:cTn id="56" dur="1" fill="hold">
                                          <p:stCondLst>
                                            <p:cond delay="0"/>
                                          </p:stCondLst>
                                        </p:cTn>
                                        <p:tgtEl>
                                          <p:spTgt spid="22529">
                                            <p:txEl>
                                              <p:pRg st="10" end="10"/>
                                            </p:txEl>
                                          </p:spTgt>
                                        </p:tgtEl>
                                        <p:attrNameLst>
                                          <p:attrName>style.visibility</p:attrName>
                                        </p:attrNameLst>
                                      </p:cBhvr>
                                      <p:to>
                                        <p:strVal val="visible"/>
                                      </p:to>
                                    </p:set>
                                    <p:animEffect transition="in" filter="wipe(down)">
                                      <p:cBhvr>
                                        <p:cTn id="57" dur="500"/>
                                        <p:tgtEl>
                                          <p:spTgt spid="22529">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29"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1"/>
          <p:cNvSpPr>
            <a:spLocks noChangeArrowheads="1"/>
          </p:cNvSpPr>
          <p:nvPr/>
        </p:nvSpPr>
        <p:spPr bwMode="auto">
          <a:xfrm>
            <a:off x="533400" y="533400"/>
            <a:ext cx="8382000" cy="526297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800" b="0" i="0" u="sng" strike="noStrike" cap="none" normalizeH="0" baseline="0" dirty="0" smtClean="0">
                <a:ln>
                  <a:noFill/>
                </a:ln>
                <a:solidFill>
                  <a:schemeClr val="tx1"/>
                </a:solidFill>
                <a:effectLst/>
                <a:latin typeface="Calibri" pitchFamily="34" charset="0"/>
                <a:ea typeface="Calibri" pitchFamily="34" charset="0"/>
                <a:cs typeface="Times New Roman" pitchFamily="18" charset="0"/>
              </a:rPr>
              <a:t> Way Forward</a:t>
            </a:r>
            <a:endParaRPr kumimoji="0" lang="en-US" sz="28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-Adherence strictly to cash advance instructions.</a:t>
            </a:r>
            <a:endParaRPr kumimoji="0" lang="en-US" sz="28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-Prompt delivery of letters to </a:t>
            </a:r>
            <a:r>
              <a:rPr kumimoji="0" lang="en-US" sz="2800"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Directorate </a:t>
            </a:r>
            <a:r>
              <a:rPr kumimoji="0" lang="en-US" sz="2800"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of </a:t>
            </a:r>
            <a:r>
              <a:rPr lang="en-US" sz="2800" dirty="0" smtClean="0">
                <a:latin typeface="Calibri" pitchFamily="34" charset="0"/>
                <a:ea typeface="Calibri" pitchFamily="34" charset="0"/>
                <a:cs typeface="Times New Roman" pitchFamily="18" charset="0"/>
              </a:rPr>
              <a:t>A</a:t>
            </a:r>
            <a:r>
              <a:rPr kumimoji="0" lang="en-US" sz="2800"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udit</a:t>
            </a:r>
            <a:r>
              <a:rPr kumimoji="0" lang="en-US" sz="2800"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sz="2800" dirty="0" smtClean="0">
                <a:latin typeface="Calibri" pitchFamily="34" charset="0"/>
                <a:cs typeface="Times New Roman" pitchFamily="18" charset="0"/>
              </a:rPr>
              <a:t>-Establishment of Directorate of Procurement</a:t>
            </a:r>
            <a:endParaRPr kumimoji="0" lang="en-US" sz="28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-Think and apply on time.</a:t>
            </a:r>
            <a:endParaRPr kumimoji="0" lang="en-US" sz="28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-Prompt delivery of letter of award to all the units.</a:t>
            </a:r>
            <a:endParaRPr kumimoji="0" lang="en-US" sz="28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-Enforcement of verification exercise by Directorate of Audit.</a:t>
            </a:r>
            <a:endParaRPr kumimoji="0" lang="en-US" sz="28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-Specification in detail by end user item that is demanded for.</a:t>
            </a:r>
            <a:endParaRPr kumimoji="0" lang="en-US" sz="28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-Expert in a field should be considered before  awarding contract or supply because of technical knowhow.</a:t>
            </a:r>
          </a:p>
        </p:txBody>
      </p:sp>
    </p:spTree>
  </p:cSld>
  <p:clrMapOvr>
    <a:masterClrMapping/>
  </p:clrMapOvr>
  <p:transition spd="slow" advTm="30000">
    <p:dissolve/>
    <p:sndAc>
      <p:stSnd>
        <p:snd r:embed="rId2" name="drumroll.wav"/>
      </p:stSnd>
    </p:sndAc>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057400" y="1676400"/>
            <a:ext cx="4267200" cy="1143000"/>
          </a:xfrm>
          <a:sp3d prstMaterial="matte">
            <a:bevelT w="177800" h="63500" prst="slope"/>
          </a:sp3d>
        </p:spPr>
        <p:txBody>
          <a:bodyPr tIns="91440" rIns="182880" bIns="0" anchor="t" anchorCtr="0">
            <a:normAutofit fontScale="90000"/>
            <a:scene3d>
              <a:camera prst="orthographicFront"/>
              <a:lightRig rig="soft" dir="t"/>
            </a:scene3d>
            <a:sp3d extrusionH="50800" contourW="133350" prstMaterial="softEdge">
              <a:bevelT w="25400" h="25400"/>
            </a:sp3d>
          </a:bodyPr>
          <a:lstStyle/>
          <a:p>
            <a:r>
              <a:rPr lang="en-US" sz="5400" dirty="0" smtClean="0"/>
              <a:t>THANK YOU</a:t>
            </a:r>
            <a:endParaRPr lang="en-US" sz="5400" dirty="0"/>
          </a:p>
        </p:txBody>
      </p:sp>
      <p:sp>
        <p:nvSpPr>
          <p:cNvPr id="3" name="Subtitle 2"/>
          <p:cNvSpPr>
            <a:spLocks noGrp="1"/>
          </p:cNvSpPr>
          <p:nvPr>
            <p:ph type="subTitle" idx="1"/>
          </p:nvPr>
        </p:nvSpPr>
        <p:spPr/>
        <p:txBody>
          <a:bodyPr/>
          <a:lstStyle/>
          <a:p>
            <a:r>
              <a:rPr lang="en-US" dirty="0" smtClean="0"/>
              <a:t>GOD BLESS YOU.</a:t>
            </a:r>
            <a:endParaRPr lang="en-US" dirty="0"/>
          </a:p>
        </p:txBody>
      </p:sp>
    </p:spTree>
  </p:cSld>
  <p:clrMapOvr>
    <a:masterClrMapping/>
  </p:clrMapOvr>
  <p:transition spd="slow" advTm="90000">
    <p:wheel spokes="2"/>
    <p:sndAc>
      <p:stSnd>
        <p:snd r:embed="rId2" name="applause.wav"/>
      </p:stSnd>
    </p:sndAc>
  </p:transition>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132</TotalTime>
  <Words>507</Words>
  <Application>Microsoft Office PowerPoint</Application>
  <PresentationFormat>On-screen Show (4:3)</PresentationFormat>
  <Paragraphs>52</Paragraphs>
  <Slides>10</Slides>
  <Notes>1</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Concourse</vt:lpstr>
      <vt:lpstr>PAPER PRESENTED BY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Hewlett-Packard</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PAPER PRESENTED BY</dc:title>
  <dc:creator>EKSULIKEMINDS CMS</dc:creator>
  <cp:lastModifiedBy>Test</cp:lastModifiedBy>
  <cp:revision>23</cp:revision>
  <dcterms:created xsi:type="dcterms:W3CDTF">2016-02-01T14:31:32Z</dcterms:created>
  <dcterms:modified xsi:type="dcterms:W3CDTF">2016-02-02T18:52:55Z</dcterms:modified>
</cp:coreProperties>
</file>