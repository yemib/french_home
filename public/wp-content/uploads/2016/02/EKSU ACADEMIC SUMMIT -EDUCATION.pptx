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handoutMasterIdLst>
    <p:handoutMasterId r:id="rId16"/>
  </p:handoutMasterIdLst>
  <p:sldIdLst>
    <p:sldId id="275" r:id="rId2"/>
    <p:sldId id="259" r:id="rId3"/>
    <p:sldId id="260" r:id="rId4"/>
    <p:sldId id="261" r:id="rId5"/>
    <p:sldId id="270" r:id="rId6"/>
    <p:sldId id="271" r:id="rId7"/>
    <p:sldId id="272" r:id="rId8"/>
    <p:sldId id="273" r:id="rId9"/>
    <p:sldId id="256" r:id="rId10"/>
    <p:sldId id="269" r:id="rId11"/>
    <p:sldId id="265" r:id="rId12"/>
    <p:sldId id="274" r:id="rId13"/>
    <p:sldId id="263" r:id="rId14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486764-79EC-483E-9C88-108B644654C4}">
          <p14:sldIdLst>
            <p14:sldId id="275"/>
            <p14:sldId id="259"/>
            <p14:sldId id="260"/>
            <p14:sldId id="261"/>
            <p14:sldId id="270"/>
            <p14:sldId id="271"/>
            <p14:sldId id="272"/>
            <p14:sldId id="273"/>
            <p14:sldId id="256"/>
            <p14:sldId id="269"/>
            <p14:sldId id="265"/>
            <p14:sldId id="274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71" autoAdjust="0"/>
  </p:normalViewPr>
  <p:slideViewPr>
    <p:cSldViewPr>
      <p:cViewPr varScale="1">
        <p:scale>
          <a:sx n="82" d="100"/>
          <a:sy n="82" d="100"/>
        </p:scale>
        <p:origin x="-112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932"/>
        <p:guide pos="22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/>
          <a:lstStyle>
            <a:lvl1pPr algn="r">
              <a:defRPr sz="1300"/>
            </a:lvl1pPr>
          </a:lstStyle>
          <a:p>
            <a:fld id="{8A751F3E-F711-4691-AE13-08CED4509D46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 anchor="b"/>
          <a:lstStyle>
            <a:lvl1pPr algn="r">
              <a:defRPr sz="1300"/>
            </a:lvl1pPr>
          </a:lstStyle>
          <a:p>
            <a:fld id="{BCA75F06-13C8-471D-9432-71BE4E8A4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/>
          <a:lstStyle>
            <a:lvl1pPr algn="r">
              <a:defRPr sz="1300"/>
            </a:lvl1pPr>
          </a:lstStyle>
          <a:p>
            <a:fld id="{F3F2C2F3-18BA-4836-8CDE-928FC8896A31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2963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1" tIns="46746" rIns="93491" bIns="467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1" tIns="46746" rIns="93491" bIns="4674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5455"/>
          </a:xfrm>
          <a:prstGeom prst="rect">
            <a:avLst/>
          </a:prstGeom>
        </p:spPr>
        <p:txBody>
          <a:bodyPr vert="horz" lIns="93491" tIns="46746" rIns="93491" bIns="46746" rtlCol="0" anchor="b"/>
          <a:lstStyle>
            <a:lvl1pPr algn="r">
              <a:defRPr sz="1300"/>
            </a:lvl1pPr>
          </a:lstStyle>
          <a:p>
            <a:fld id="{5EAE116F-7FFF-4B2F-8C92-E4E6404A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7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A2C7ED9-992F-4982-A655-CF0BE3D490A2}" type="datetimeFigureOut">
              <a:rPr lang="en-US" smtClean="0"/>
              <a:t>1/31/2016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853254C-B5D6-4F0E-99D1-4EA9C8A0B60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86868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POSITION ON ACADEMIC PROGRAMMES VIABILITY, ACCOMMODATION, CLASSROOM, ACCREDITATION, EXAMINATION RESULT PROCESSING, CHALLENGES AND WAY FORWARD TO PROPEL EKSU TO WORLD CLASS UNIVERSITY.</a:t>
            </a:r>
            <a:r>
              <a:rPr lang="en-US" sz="2000" b="1" dirty="0">
                <a:latin typeface="Tw Cen MT" pitchFamily="34" charset="0"/>
              </a:rPr>
              <a:t> </a:t>
            </a:r>
            <a:endParaRPr lang="en-US" sz="2000" dirty="0">
              <a:latin typeface="Tw Cen MT" pitchFamily="34" charset="0"/>
            </a:endParaRPr>
          </a:p>
          <a:p>
            <a:pPr algn="ctr"/>
            <a:r>
              <a:rPr lang="en-US" sz="2400" b="1" dirty="0"/>
              <a:t> </a:t>
            </a:r>
            <a:endParaRPr lang="en-US" sz="2400" dirty="0"/>
          </a:p>
          <a:p>
            <a:pPr algn="ctr"/>
            <a:r>
              <a:rPr lang="en-US" sz="2400" b="1" dirty="0"/>
              <a:t>BEING A PAPER PRESENTED BY</a:t>
            </a:r>
            <a:endParaRPr lang="en-US" sz="2400" dirty="0"/>
          </a:p>
          <a:p>
            <a:pPr algn="ctr"/>
            <a:r>
              <a:rPr lang="en-US" sz="2400" b="1" dirty="0"/>
              <a:t> </a:t>
            </a:r>
            <a:endParaRPr lang="en-US" sz="2400" dirty="0"/>
          </a:p>
          <a:p>
            <a:pPr algn="ctr"/>
            <a:r>
              <a:rPr lang="en-US" sz="2400" b="1" dirty="0"/>
              <a:t> </a:t>
            </a:r>
            <a:endParaRPr lang="en-US" sz="2400" dirty="0"/>
          </a:p>
          <a:p>
            <a:pPr algn="ctr"/>
            <a:r>
              <a:rPr lang="en-US" sz="2800" b="1" dirty="0"/>
              <a:t>PROF. ISAAC ABIODUN AJAYI</a:t>
            </a:r>
          </a:p>
          <a:p>
            <a:pPr algn="ctr"/>
            <a:r>
              <a:rPr lang="en-US" sz="2400" b="1" dirty="0"/>
              <a:t>DEAN OF EDUCATION</a:t>
            </a:r>
            <a:endParaRPr lang="en-US" sz="2400" dirty="0"/>
          </a:p>
          <a:p>
            <a:pPr algn="ctr"/>
            <a:r>
              <a:rPr lang="en-US" sz="2400" b="1" dirty="0"/>
              <a:t> </a:t>
            </a:r>
            <a:endParaRPr lang="en-US" sz="2400" dirty="0"/>
          </a:p>
          <a:p>
            <a:pPr algn="ctr"/>
            <a:r>
              <a:rPr lang="en-US" sz="2400" b="1" dirty="0"/>
              <a:t> </a:t>
            </a:r>
            <a:endParaRPr lang="en-US" sz="2400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AT THE ACADEMIC SUMMIT HELD AT 3000 SEATER LECTURE THEATRE, EKITI STATE UNIVERSITY ON TUESDAY, 2ND—THURSDAY 4TH FEBRUARY, 2016.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875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6200" y="-152400"/>
            <a:ext cx="9144000" cy="7977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b="1" dirty="0" smtClean="0">
                <a:cs typeface="Arial" pitchFamily="34" charset="0"/>
              </a:rPr>
              <a:t>INTRODUCTION</a:t>
            </a:r>
          </a:p>
          <a:p>
            <a:pPr algn="just">
              <a:lnSpc>
                <a:spcPct val="130000"/>
              </a:lnSpc>
            </a:pPr>
            <a:r>
              <a:rPr lang="en-US" b="1" dirty="0" smtClean="0"/>
              <a:t>FACULTY OF EDUCATION</a:t>
            </a:r>
            <a:endParaRPr lang="en-US" sz="2000" dirty="0" smtClean="0"/>
          </a:p>
          <a:p>
            <a:pPr algn="just">
              <a:lnSpc>
                <a:spcPct val="130000"/>
              </a:lnSpc>
            </a:pPr>
            <a:r>
              <a:rPr lang="en-US" b="1" u="sng" dirty="0" smtClean="0"/>
              <a:t>Date of Establishment</a:t>
            </a:r>
            <a:r>
              <a:rPr lang="en-US" b="1" dirty="0" smtClean="0"/>
              <a:t>:</a:t>
            </a:r>
            <a:endParaRPr lang="en-US" dirty="0" smtClean="0"/>
          </a:p>
          <a:p>
            <a:pPr algn="just">
              <a:lnSpc>
                <a:spcPct val="130000"/>
              </a:lnSpc>
            </a:pPr>
            <a:r>
              <a:rPr lang="en-US" dirty="0" smtClean="0"/>
              <a:t>1983/84 Session.</a:t>
            </a:r>
          </a:p>
          <a:p>
            <a:pPr algn="just">
              <a:lnSpc>
                <a:spcPct val="130000"/>
              </a:lnSpc>
            </a:pPr>
            <a:r>
              <a:rPr lang="en-US" b="1" u="sng" dirty="0" smtClean="0"/>
              <a:t>Main Objective</a:t>
            </a:r>
            <a:r>
              <a:rPr lang="en-US" b="1" dirty="0" smtClean="0"/>
              <a:t>:</a:t>
            </a:r>
            <a:endParaRPr lang="en-US" dirty="0" smtClean="0"/>
          </a:p>
          <a:p>
            <a:pPr algn="just">
              <a:lnSpc>
                <a:spcPct val="130000"/>
              </a:lnSpc>
            </a:pPr>
            <a:r>
              <a:rPr lang="en-US" dirty="0" smtClean="0"/>
              <a:t>	To provide qualified teachers at graduate and postgraduate levels who have the mastery of various subjects, combined with a sound academic and professional training in education.</a:t>
            </a:r>
          </a:p>
          <a:p>
            <a:pPr algn="just">
              <a:lnSpc>
                <a:spcPct val="130000"/>
              </a:lnSpc>
            </a:pPr>
            <a:r>
              <a:rPr lang="en-US" b="1" u="sng" dirty="0" smtClean="0"/>
              <a:t>Structure</a:t>
            </a:r>
            <a:r>
              <a:rPr lang="en-US" b="1" dirty="0" smtClean="0"/>
              <a:t>: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	There are nine Departments in the Faculty: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1.	Department of Adult Education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2.	Department of Arts and Language Education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3.	Department of Educational Management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4.	Department of Guidance and Counselling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5.	Department of Human Kinetics and Health Education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6.	Department of Science Education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7.	Department of Social Science Education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8.	Department of Tests, Measurement and Evaluation</a:t>
            </a:r>
          </a:p>
          <a:p>
            <a:pPr algn="just">
              <a:lnSpc>
                <a:spcPct val="120000"/>
              </a:lnSpc>
            </a:pPr>
            <a:r>
              <a:rPr lang="en-US" dirty="0" smtClean="0"/>
              <a:t>9.	Department of Vocational and Technical Education</a:t>
            </a:r>
          </a:p>
          <a:p>
            <a:pPr algn="just">
              <a:lnSpc>
                <a:spcPct val="130000"/>
              </a:lnSpc>
            </a:pPr>
            <a:endParaRPr lang="en-US" sz="2000" dirty="0"/>
          </a:p>
          <a:p>
            <a:pPr>
              <a:lnSpc>
                <a:spcPct val="13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168362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228600"/>
            <a:ext cx="8686800" cy="6795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u="sng" dirty="0" smtClean="0"/>
              <a:t>PERSONNEL</a:t>
            </a:r>
            <a:endParaRPr lang="en-US" dirty="0"/>
          </a:p>
          <a:p>
            <a:pPr algn="just">
              <a:lnSpc>
                <a:spcPct val="111000"/>
              </a:lnSpc>
            </a:pPr>
            <a:r>
              <a:rPr lang="en-US" b="1" u="sng" dirty="0"/>
              <a:t>Academic Staff (117)</a:t>
            </a:r>
            <a:endParaRPr lang="en-US" dirty="0"/>
          </a:p>
          <a:p>
            <a:pPr marL="285750" lvl="0" indent="-285750" algn="just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27 Professors</a:t>
            </a:r>
          </a:p>
          <a:p>
            <a:pPr marL="285750" lvl="0" indent="-285750" algn="just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9 Readers</a:t>
            </a:r>
          </a:p>
          <a:p>
            <a:pPr marL="285750" lvl="0" indent="-285750" algn="just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27 Senior Lecturers</a:t>
            </a:r>
          </a:p>
          <a:p>
            <a:pPr marL="285750" lvl="0" indent="-285750" algn="just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54 other </a:t>
            </a:r>
            <a:r>
              <a:rPr lang="en-US" dirty="0" smtClean="0"/>
              <a:t>Lecturers</a:t>
            </a:r>
          </a:p>
          <a:p>
            <a:pPr>
              <a:lnSpc>
                <a:spcPct val="111000"/>
              </a:lnSpc>
            </a:pPr>
            <a:r>
              <a:rPr lang="en-US" b="1" u="sng" dirty="0"/>
              <a:t>Non Academic </a:t>
            </a:r>
            <a:r>
              <a:rPr lang="en-US" b="1" u="sng" dirty="0" smtClean="0"/>
              <a:t>Staff:</a:t>
            </a:r>
            <a:endParaRPr lang="en-US" b="1" dirty="0" smtClean="0"/>
          </a:p>
          <a:p>
            <a:pPr indent="465138">
              <a:lnSpc>
                <a:spcPct val="111000"/>
              </a:lnSpc>
            </a:pPr>
            <a:r>
              <a:rPr lang="en-US" b="1" dirty="0" smtClean="0"/>
              <a:t>45</a:t>
            </a:r>
          </a:p>
          <a:p>
            <a:pPr>
              <a:lnSpc>
                <a:spcPct val="111000"/>
              </a:lnSpc>
            </a:pPr>
            <a:r>
              <a:rPr lang="en-US" b="1" u="sng" dirty="0" smtClean="0"/>
              <a:t>Academic </a:t>
            </a:r>
            <a:r>
              <a:rPr lang="en-US" b="1" u="sng" dirty="0" err="1"/>
              <a:t>Programmes</a:t>
            </a:r>
            <a:r>
              <a:rPr lang="en-US" b="1" dirty="0"/>
              <a:t> (Senate Approved)</a:t>
            </a:r>
            <a:endParaRPr lang="en-US" dirty="0"/>
          </a:p>
          <a:p>
            <a:pPr marL="285750" lvl="0" indent="-285750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55 undergraduate </a:t>
            </a:r>
            <a:r>
              <a:rPr lang="en-US" dirty="0" err="1"/>
              <a:t>programmes</a:t>
            </a:r>
            <a:endParaRPr lang="en-US" dirty="0"/>
          </a:p>
          <a:p>
            <a:pPr marL="285750" lvl="0" indent="-285750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1 PGDE </a:t>
            </a:r>
            <a:r>
              <a:rPr lang="en-US" dirty="0" err="1"/>
              <a:t>programme</a:t>
            </a:r>
            <a:endParaRPr lang="en-US" dirty="0"/>
          </a:p>
          <a:p>
            <a:pPr marL="285750" lvl="0" indent="-285750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 smtClean="0"/>
              <a:t>15 </a:t>
            </a:r>
            <a:r>
              <a:rPr lang="en-US" dirty="0"/>
              <a:t>Masters Degree </a:t>
            </a:r>
            <a:r>
              <a:rPr lang="en-US" dirty="0" err="1"/>
              <a:t>Programmes</a:t>
            </a:r>
            <a:endParaRPr lang="en-US" dirty="0"/>
          </a:p>
          <a:p>
            <a:pPr marL="285750" lvl="0" indent="-285750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 smtClean="0"/>
              <a:t>15 </a:t>
            </a:r>
            <a:r>
              <a:rPr lang="en-US" dirty="0" err="1"/>
              <a:t>Ph.D</a:t>
            </a:r>
            <a:r>
              <a:rPr lang="en-US" dirty="0"/>
              <a:t> Degree </a:t>
            </a:r>
            <a:r>
              <a:rPr lang="en-US" dirty="0" err="1"/>
              <a:t>programmes</a:t>
            </a:r>
            <a:endParaRPr lang="en-US" dirty="0"/>
          </a:p>
          <a:p>
            <a:pPr marL="285750" lvl="0" indent="-285750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Sandwich </a:t>
            </a:r>
            <a:r>
              <a:rPr lang="en-US" dirty="0" err="1"/>
              <a:t>Programmes</a:t>
            </a:r>
            <a:endParaRPr lang="en-US" dirty="0"/>
          </a:p>
          <a:p>
            <a:pPr marL="285750" indent="-285750">
              <a:lnSpc>
                <a:spcPct val="111000"/>
              </a:lnSpc>
              <a:buFont typeface="Wingdings" pitchFamily="2" charset="2"/>
              <a:buChar char="§"/>
            </a:pPr>
            <a:r>
              <a:rPr lang="en-US" dirty="0"/>
              <a:t>Affiliate </a:t>
            </a:r>
            <a:r>
              <a:rPr lang="en-US" dirty="0" err="1"/>
              <a:t>Programmes</a:t>
            </a:r>
            <a:endParaRPr lang="en-US" dirty="0"/>
          </a:p>
          <a:p>
            <a:pPr algn="just">
              <a:lnSpc>
                <a:spcPct val="111000"/>
              </a:lnSpc>
            </a:pPr>
            <a:r>
              <a:rPr lang="en-US" b="1" u="sng" dirty="0"/>
              <a:t>Students’ Enrolment</a:t>
            </a:r>
            <a:endParaRPr lang="en-US" dirty="0"/>
          </a:p>
          <a:p>
            <a:pPr marL="285750" lvl="0" indent="-285750" algn="just">
              <a:lnSpc>
                <a:spcPct val="111000"/>
              </a:lnSpc>
              <a:buFont typeface="Arial" pitchFamily="34" charset="0"/>
              <a:buChar char="•"/>
            </a:pPr>
            <a:r>
              <a:rPr lang="en-US" dirty="0"/>
              <a:t>Regular </a:t>
            </a:r>
            <a:r>
              <a:rPr lang="en-US" dirty="0" err="1"/>
              <a:t>programmes</a:t>
            </a:r>
            <a:endParaRPr lang="en-US" dirty="0"/>
          </a:p>
          <a:p>
            <a:pPr algn="just">
              <a:lnSpc>
                <a:spcPct val="111000"/>
              </a:lnSpc>
            </a:pPr>
            <a:r>
              <a:rPr lang="en-US" dirty="0"/>
              <a:t>	Undergraduate: </a:t>
            </a:r>
            <a:r>
              <a:rPr lang="en-US" dirty="0" smtClean="0"/>
              <a:t>     </a:t>
            </a:r>
            <a:r>
              <a:rPr lang="en-US" b="1" dirty="0" smtClean="0"/>
              <a:t>4,500</a:t>
            </a:r>
            <a:endParaRPr lang="en-US" b="1" dirty="0"/>
          </a:p>
          <a:p>
            <a:pPr algn="just">
              <a:lnSpc>
                <a:spcPct val="111000"/>
              </a:lnSpc>
            </a:pPr>
            <a:r>
              <a:rPr lang="en-US" dirty="0"/>
              <a:t>	Postgraduate</a:t>
            </a:r>
            <a:r>
              <a:rPr lang="en-US" dirty="0" smtClean="0"/>
              <a:t>:	</a:t>
            </a:r>
            <a:r>
              <a:rPr lang="en-US" b="1" dirty="0" smtClean="0"/>
              <a:t>PGDE=40, M.ED=242, </a:t>
            </a:r>
            <a:r>
              <a:rPr lang="en-US" b="1" dirty="0" err="1" smtClean="0"/>
              <a:t>Ph.D</a:t>
            </a:r>
            <a:r>
              <a:rPr lang="en-US" b="1" dirty="0" smtClean="0"/>
              <a:t> = 95 (Total = 377)</a:t>
            </a:r>
            <a:endParaRPr lang="en-US" dirty="0"/>
          </a:p>
          <a:p>
            <a:pPr marL="285750" lvl="0" indent="-285750" algn="just">
              <a:lnSpc>
                <a:spcPct val="111000"/>
              </a:lnSpc>
              <a:buFont typeface="Arial" pitchFamily="34" charset="0"/>
              <a:buChar char="•"/>
            </a:pPr>
            <a:r>
              <a:rPr lang="en-US" dirty="0"/>
              <a:t>Sandwich </a:t>
            </a:r>
            <a:r>
              <a:rPr lang="en-US" dirty="0" err="1" smtClean="0"/>
              <a:t>Programmes</a:t>
            </a:r>
            <a:r>
              <a:rPr lang="en-US" dirty="0" smtClean="0"/>
              <a:t>:   </a:t>
            </a:r>
            <a:r>
              <a:rPr lang="en-US" b="1" dirty="0" smtClean="0"/>
              <a:t>1,409</a:t>
            </a:r>
            <a:endParaRPr lang="en-US" b="1" dirty="0"/>
          </a:p>
          <a:p>
            <a:pPr marL="285750" lvl="0" indent="-285750" algn="just">
              <a:lnSpc>
                <a:spcPct val="111000"/>
              </a:lnSpc>
              <a:buFont typeface="Arial" pitchFamily="34" charset="0"/>
              <a:buChar char="•"/>
            </a:pPr>
            <a:r>
              <a:rPr lang="en-US" dirty="0"/>
              <a:t>Affiliate </a:t>
            </a:r>
            <a:r>
              <a:rPr lang="en-US" dirty="0" err="1"/>
              <a:t>Programmes</a:t>
            </a:r>
            <a:r>
              <a:rPr lang="en-US" dirty="0"/>
              <a:t>: </a:t>
            </a:r>
            <a:r>
              <a:rPr lang="en-US" dirty="0" smtClean="0"/>
              <a:t>     </a:t>
            </a:r>
            <a:r>
              <a:rPr lang="en-US" b="1" dirty="0" smtClean="0"/>
              <a:t>19,876</a:t>
            </a:r>
            <a:endParaRPr lang="en-US" b="1" dirty="0"/>
          </a:p>
          <a:p>
            <a:pPr lvl="0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0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8763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u="sng" dirty="0" smtClean="0"/>
              <a:t>Strategic </a:t>
            </a:r>
            <a:r>
              <a:rPr lang="en-US" sz="2400" b="1" u="sng" dirty="0"/>
              <a:t>Positions occupied by members</a:t>
            </a:r>
            <a:endParaRPr lang="en-US" sz="2400" dirty="0"/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Vice Chancellor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DVC </a:t>
            </a:r>
            <a:r>
              <a:rPr lang="en-US" sz="2400" dirty="0" smtClean="0"/>
              <a:t>Development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National President EKSU Alumni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Director </a:t>
            </a:r>
            <a:r>
              <a:rPr lang="en-US" sz="2400" dirty="0"/>
              <a:t>DCEP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Director Pre Degree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Director Centre for Counselling &amp; Human Development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Director, Distance Learning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Deputy Provost College of Postgraduate </a:t>
            </a:r>
            <a:r>
              <a:rPr lang="en-US" sz="2400" dirty="0" smtClean="0"/>
              <a:t>Studies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/>
              <a:t>Vice </a:t>
            </a:r>
            <a:r>
              <a:rPr lang="en-US" sz="2400" dirty="0"/>
              <a:t>Dean Student Affairs</a:t>
            </a:r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Assistant Director Affiliate </a:t>
            </a:r>
            <a:r>
              <a:rPr lang="en-US" sz="2400" dirty="0" err="1"/>
              <a:t>Programmes</a:t>
            </a:r>
            <a:endParaRPr lang="en-US" sz="2400" dirty="0"/>
          </a:p>
          <a:p>
            <a:pPr marL="285750" lvl="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Assistant Director Sandwich </a:t>
            </a:r>
            <a:r>
              <a:rPr lang="en-US" sz="2400" dirty="0" err="1"/>
              <a:t>Programmes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609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0"/>
            <a:ext cx="89154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/>
              <a:t>Accommodation</a:t>
            </a:r>
            <a:endParaRPr lang="en-US" sz="24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400" dirty="0"/>
              <a:t>Two Faculty </a:t>
            </a:r>
            <a:r>
              <a:rPr lang="en-US" sz="2400" dirty="0" smtClean="0"/>
              <a:t>Buildings.</a:t>
            </a:r>
          </a:p>
          <a:p>
            <a:pPr marL="971550" lvl="0" indent="-508000" algn="just">
              <a:buFont typeface="Wingdings" pitchFamily="2" charset="2"/>
              <a:buChar char="Ø"/>
            </a:pPr>
            <a:r>
              <a:rPr lang="en-US" sz="2400" dirty="0" smtClean="0"/>
              <a:t>Staff offices</a:t>
            </a:r>
          </a:p>
          <a:p>
            <a:pPr marL="971550" lvl="0" indent="-508000" algn="just">
              <a:buFont typeface="Wingdings" pitchFamily="2" charset="2"/>
              <a:buChar char="Ø"/>
            </a:pPr>
            <a:r>
              <a:rPr lang="en-US" sz="2400" dirty="0" smtClean="0"/>
              <a:t>Two </a:t>
            </a:r>
            <a:r>
              <a:rPr lang="en-US" sz="2400" dirty="0"/>
              <a:t>large conference </a:t>
            </a:r>
            <a:r>
              <a:rPr lang="en-US" sz="2400" dirty="0" smtClean="0"/>
              <a:t>rooms.</a:t>
            </a:r>
            <a:endParaRPr lang="en-US" sz="2400" dirty="0"/>
          </a:p>
          <a:p>
            <a:pPr marL="971550" lvl="0" indent="-508000" algn="just">
              <a:buFont typeface="Wingdings" pitchFamily="2" charset="2"/>
              <a:buChar char="Ø"/>
            </a:pPr>
            <a:r>
              <a:rPr lang="en-US" sz="2400" dirty="0" smtClean="0"/>
              <a:t>Faculty </a:t>
            </a:r>
            <a:r>
              <a:rPr lang="en-US" sz="2400" dirty="0"/>
              <a:t>Library well equipped with books and </a:t>
            </a:r>
            <a:r>
              <a:rPr lang="en-US" sz="2400" dirty="0" smtClean="0"/>
              <a:t>journals.</a:t>
            </a:r>
            <a:endParaRPr lang="en-US" sz="2400" dirty="0"/>
          </a:p>
          <a:p>
            <a:pPr marL="971550" lvl="0" indent="-508000" algn="just">
              <a:buFont typeface="Wingdings" pitchFamily="2" charset="2"/>
              <a:buChar char="Ø"/>
            </a:pPr>
            <a:r>
              <a:rPr lang="en-US" sz="2400" dirty="0" smtClean="0"/>
              <a:t>Three </a:t>
            </a:r>
            <a:r>
              <a:rPr lang="en-US" sz="2400" dirty="0"/>
              <a:t>Seminar rooms with </a:t>
            </a:r>
            <a:r>
              <a:rPr lang="en-US" sz="2400" dirty="0" smtClean="0"/>
              <a:t>power point facilities.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u="sng" dirty="0"/>
              <a:t>Classrooms</a:t>
            </a:r>
            <a:endParaRPr lang="en-US" sz="24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400" dirty="0"/>
              <a:t>The Faculty shares classrooms and large lecture theatres with other </a:t>
            </a:r>
            <a:r>
              <a:rPr lang="en-US" sz="2400" dirty="0" smtClean="0"/>
              <a:t>faculties.</a:t>
            </a:r>
            <a:endParaRPr lang="en-US" sz="24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400" dirty="0"/>
              <a:t>The classrooms and large lecture theatres are fairly adequate for </a:t>
            </a:r>
            <a:r>
              <a:rPr lang="en-US" sz="2400" dirty="0" smtClean="0"/>
              <a:t>lectures.</a:t>
            </a:r>
          </a:p>
          <a:p>
            <a:pPr lvl="0" algn="just"/>
            <a:endParaRPr lang="en-US" sz="2400" dirty="0"/>
          </a:p>
          <a:p>
            <a:pPr algn="just"/>
            <a:r>
              <a:rPr lang="en-US" sz="2400" b="1" u="sng" dirty="0"/>
              <a:t>Accreditation</a:t>
            </a:r>
            <a:endParaRPr lang="en-US" sz="24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400" dirty="0"/>
              <a:t>All the academic </a:t>
            </a:r>
            <a:r>
              <a:rPr lang="en-US" sz="2400" dirty="0" err="1"/>
              <a:t>programmes</a:t>
            </a:r>
            <a:r>
              <a:rPr lang="en-US" sz="2400" dirty="0"/>
              <a:t> in the Faculty were accredited except Business Education and the newly approved </a:t>
            </a:r>
            <a:r>
              <a:rPr lang="en-US" sz="2400" dirty="0" err="1"/>
              <a:t>programmes</a:t>
            </a:r>
            <a:r>
              <a:rPr lang="en-US" sz="2400" dirty="0"/>
              <a:t>.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400" dirty="0"/>
              <a:t>Business Education is long overdue for resource </a:t>
            </a:r>
            <a:r>
              <a:rPr lang="en-US" sz="2400" dirty="0" smtClean="0"/>
              <a:t>assessment.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374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-101263"/>
            <a:ext cx="8763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Results of November 2012 Accreditation Exercise.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346075"/>
            <a:ext cx="9013825" cy="559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5932025"/>
            <a:ext cx="9013825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228600" y="62484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Summary:</a:t>
            </a:r>
            <a:r>
              <a:rPr lang="en-US" dirty="0"/>
              <a:t>	Full = 13	</a:t>
            </a:r>
            <a:r>
              <a:rPr lang="en-US" dirty="0" smtClean="0"/>
              <a:t> Interim </a:t>
            </a:r>
            <a:r>
              <a:rPr lang="en-US" dirty="0"/>
              <a:t>= 8.</a:t>
            </a:r>
          </a:p>
        </p:txBody>
      </p:sp>
    </p:spTree>
    <p:extLst>
      <p:ext uri="{BB962C8B-B14F-4D97-AF65-F5344CB8AC3E}">
        <p14:creationId xmlns:p14="http://schemas.microsoft.com/office/powerpoint/2010/main" val="206728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76200"/>
            <a:ext cx="899160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/>
              <a:t>Accreditation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900" dirty="0" smtClean="0"/>
              <a:t>All </a:t>
            </a:r>
            <a:r>
              <a:rPr lang="en-US" sz="2900" dirty="0"/>
              <a:t>the 8 </a:t>
            </a:r>
            <a:r>
              <a:rPr lang="en-US" sz="2900" dirty="0" err="1"/>
              <a:t>programmes</a:t>
            </a:r>
            <a:r>
              <a:rPr lang="en-US" sz="2900" dirty="0"/>
              <a:t> with Interim accreditation were due for accreditation in 2014 but </a:t>
            </a:r>
            <a:r>
              <a:rPr lang="en-US" sz="2900" dirty="0" smtClean="0"/>
              <a:t>are </a:t>
            </a:r>
            <a:r>
              <a:rPr lang="en-US" sz="2900" dirty="0"/>
              <a:t>yet to be visited by NUC.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900" dirty="0"/>
              <a:t>Other three </a:t>
            </a:r>
            <a:r>
              <a:rPr lang="en-US" sz="2900" dirty="0" err="1"/>
              <a:t>programmes</a:t>
            </a:r>
            <a:r>
              <a:rPr lang="en-US" sz="2900" dirty="0"/>
              <a:t> due for accreditation in 2014 but yet to be visited are Integrated Science Education, Social Studies Education and Human Kinetics and Health Education.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900" dirty="0"/>
              <a:t>All the 13 </a:t>
            </a:r>
            <a:r>
              <a:rPr lang="en-US" sz="2900" dirty="0" err="1"/>
              <a:t>programmes</a:t>
            </a:r>
            <a:r>
              <a:rPr lang="en-US" sz="2900" dirty="0"/>
              <a:t> with full accreditation are due for accreditation in 2017.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900" dirty="0"/>
              <a:t>The Faculty has put in place necessary arrangement for the accreditation of these </a:t>
            </a:r>
            <a:r>
              <a:rPr lang="en-US" sz="2900" dirty="0" err="1"/>
              <a:t>programmes</a:t>
            </a:r>
            <a:r>
              <a:rPr lang="en-US" sz="2900" dirty="0"/>
              <a:t>.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900" dirty="0"/>
              <a:t>The University is yet to procure the facilities requested by the Faculty for the accreditation of some of these </a:t>
            </a:r>
            <a:r>
              <a:rPr lang="en-US" sz="2900" dirty="0" err="1"/>
              <a:t>programmes</a:t>
            </a:r>
            <a:r>
              <a:rPr lang="en-US" sz="2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91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46288"/>
            <a:ext cx="9067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/>
              <a:t>Examination Result </a:t>
            </a:r>
            <a:r>
              <a:rPr lang="en-US" sz="3200" b="1" u="sng" dirty="0" smtClean="0"/>
              <a:t>Processing.</a:t>
            </a:r>
            <a:endParaRPr lang="en-US" sz="24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3200" dirty="0"/>
              <a:t>Students’ </a:t>
            </a:r>
            <a:r>
              <a:rPr lang="en-US" sz="3200" dirty="0" smtClean="0"/>
              <a:t>results </a:t>
            </a:r>
            <a:r>
              <a:rPr lang="en-US" sz="3200" dirty="0"/>
              <a:t>are processed </a:t>
            </a:r>
            <a:r>
              <a:rPr lang="en-US" sz="3200" dirty="0" smtClean="0"/>
              <a:t>manually.</a:t>
            </a:r>
            <a:endParaRPr lang="en-US" sz="32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3200" dirty="0"/>
              <a:t>Some of the results are delayed because of manual processing and late submission of scores by cognate </a:t>
            </a:r>
            <a:r>
              <a:rPr lang="en-US" sz="3200" dirty="0" smtClean="0"/>
              <a:t>faculties.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398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87570"/>
            <a:ext cx="8991600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/>
              <a:t>Current Challenges Facing the </a:t>
            </a:r>
            <a:r>
              <a:rPr lang="en-US" sz="2800" b="1" u="sng" dirty="0" smtClean="0"/>
              <a:t>Faculty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Inadequate office space for staff accommodation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Paucity of funds in the University has made it difficult to commence some newly approved academic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programmes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NUC refusal to approve the commencement of some academic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programmes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e.g. Educational Management and Guidance and Counselling with Teaching Subjects.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Dwindling enrolment of students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Some academic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programmes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with very low patronage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Some of the Affiliate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programmes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are folding up.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Inability of the University to release the Faculty’s share of revenue from the Affiliate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programmes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  <a:endParaRPr lang="en-US" sz="1200" b="1" u="sng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3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268516"/>
            <a:ext cx="8991600" cy="7278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u="sng" dirty="0"/>
              <a:t>Current Challenges Facing the Faculty</a:t>
            </a:r>
            <a:endParaRPr lang="en-US" sz="1600" b="1" u="sng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500" dirty="0"/>
              <a:t>Lack of ICT facilities for </a:t>
            </a:r>
            <a:r>
              <a:rPr lang="en-US" sz="2500" dirty="0" smtClean="0"/>
              <a:t>teaching.</a:t>
            </a:r>
            <a:endParaRPr lang="en-US" sz="25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500" dirty="0"/>
              <a:t>Inadequate number of academic staff in some </a:t>
            </a:r>
            <a:r>
              <a:rPr lang="en-US" sz="2500" dirty="0" err="1"/>
              <a:t>programmes</a:t>
            </a:r>
            <a:r>
              <a:rPr lang="en-US" sz="2500" dirty="0"/>
              <a:t> e.g. Social Studies, Early Childhood Education, and Library </a:t>
            </a:r>
            <a:r>
              <a:rPr lang="en-US" sz="2500" dirty="0" smtClean="0"/>
              <a:t>Science.</a:t>
            </a:r>
            <a:endParaRPr lang="en-US" sz="25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500" dirty="0"/>
              <a:t>Manual computation of </a:t>
            </a:r>
            <a:r>
              <a:rPr lang="en-US" sz="2500" dirty="0" smtClean="0"/>
              <a:t>results.</a:t>
            </a:r>
            <a:endParaRPr lang="en-US" sz="25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500" dirty="0"/>
              <a:t>Inadequate number of non academic staff in all the Departments.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500" dirty="0"/>
              <a:t>Inadequate physical facilities in some </a:t>
            </a:r>
            <a:r>
              <a:rPr lang="en-US" sz="2500" dirty="0" err="1"/>
              <a:t>programmes</a:t>
            </a:r>
            <a:r>
              <a:rPr lang="en-US" sz="2500" dirty="0"/>
              <a:t> such as Mathematics, Business Education, Human Kinetics &amp; Health Education and Basic </a:t>
            </a:r>
            <a:r>
              <a:rPr lang="en-US" sz="2500" dirty="0" smtClean="0"/>
              <a:t>Science.</a:t>
            </a:r>
            <a:endParaRPr lang="en-US" sz="2500" dirty="0"/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en-US" sz="2500" dirty="0"/>
              <a:t>Inability of postgraduate students to complete their studies at the appropriate time due to:</a:t>
            </a:r>
          </a:p>
          <a:p>
            <a:pPr marL="742950" lvl="1" indent="-285750" algn="just">
              <a:buFont typeface="Wingdings" pitchFamily="2" charset="2"/>
              <a:buChar char="Ø"/>
            </a:pPr>
            <a:r>
              <a:rPr lang="en-US" sz="2500" dirty="0"/>
              <a:t>Stringent policy of </a:t>
            </a:r>
            <a:r>
              <a:rPr lang="en-US" sz="2500" dirty="0" smtClean="0"/>
              <a:t>the College </a:t>
            </a:r>
            <a:r>
              <a:rPr lang="en-US" sz="2500" dirty="0"/>
              <a:t>of Postgraduate Studies on registration of Thesis Title.</a:t>
            </a:r>
          </a:p>
          <a:p>
            <a:pPr marL="742950" lvl="1" indent="-285750" algn="just">
              <a:buFont typeface="Wingdings" pitchFamily="2" charset="2"/>
              <a:buChar char="Ø"/>
            </a:pPr>
            <a:r>
              <a:rPr lang="en-US" sz="2500" dirty="0"/>
              <a:t>The tradition of completed Postgraduate thesis waiting for 3 months before it could be sent to External </a:t>
            </a:r>
            <a:r>
              <a:rPr lang="en-US" sz="2500" dirty="0" smtClean="0"/>
              <a:t>examiners.</a:t>
            </a:r>
          </a:p>
          <a:p>
            <a:pPr marL="288925" lvl="1" indent="-288925" algn="just">
              <a:buFont typeface="Arial" pitchFamily="34" charset="0"/>
              <a:buChar char="•"/>
            </a:pPr>
            <a:r>
              <a:rPr lang="en-US" sz="2500" dirty="0" smtClean="0"/>
              <a:t>Inadequate </a:t>
            </a:r>
            <a:r>
              <a:rPr lang="en-US" sz="2500" dirty="0" smtClean="0"/>
              <a:t>funds </a:t>
            </a:r>
            <a:r>
              <a:rPr lang="en-US" sz="2500" dirty="0"/>
              <a:t>for international </a:t>
            </a:r>
            <a:r>
              <a:rPr lang="en-US" sz="2500" dirty="0" smtClean="0"/>
              <a:t>conferences.</a:t>
            </a:r>
            <a:endParaRPr lang="en-US" sz="2500" dirty="0"/>
          </a:p>
          <a:p>
            <a:pPr marL="288925" lvl="1" indent="-288925" algn="just">
              <a:buFont typeface="Arial" pitchFamily="34" charset="0"/>
              <a:buChar char="•"/>
            </a:pPr>
            <a:r>
              <a:rPr lang="en-US" sz="2500" dirty="0"/>
              <a:t>Open ended registration for courses by the </a:t>
            </a:r>
            <a:r>
              <a:rPr lang="en-US" sz="2500" dirty="0" smtClean="0"/>
              <a:t>students.</a:t>
            </a:r>
            <a:endParaRPr lang="en-US" sz="25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39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76200"/>
            <a:ext cx="90678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u="sng" dirty="0"/>
              <a:t>Possible Ways of Overcoming the Challenges </a:t>
            </a:r>
            <a:r>
              <a:rPr lang="en-US" sz="2600" b="1" u="sng" dirty="0" smtClean="0"/>
              <a:t>in order to </a:t>
            </a:r>
            <a:r>
              <a:rPr lang="en-US" sz="2600" b="1" u="sng" dirty="0"/>
              <a:t>propel EKSU to World Class University</a:t>
            </a:r>
            <a:endParaRPr lang="en-US" sz="26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Provision of additional office space for staff accommodation</a:t>
            </a: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The University should provide funds for the commencement of some newly approved academic </a:t>
            </a:r>
            <a:r>
              <a:rPr lang="en-US" sz="2600" dirty="0" err="1"/>
              <a:t>programmes</a:t>
            </a:r>
            <a:endParaRPr lang="en-US" sz="26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Increase in the admission quota of the Faculty.</a:t>
            </a: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Introduction of new courses at Masters and </a:t>
            </a:r>
            <a:r>
              <a:rPr lang="en-US" sz="2600" dirty="0" err="1"/>
              <a:t>Ph.D</a:t>
            </a:r>
            <a:r>
              <a:rPr lang="en-US" sz="2600" dirty="0"/>
              <a:t> levels e.g. Business Education, Library and Information Science, Technical Education, Remedial and Reformatory Counselling.</a:t>
            </a: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Review of the curricula of academic </a:t>
            </a:r>
            <a:r>
              <a:rPr lang="en-US" sz="2600" dirty="0" err="1"/>
              <a:t>programmes</a:t>
            </a:r>
            <a:r>
              <a:rPr lang="en-US" sz="2600" dirty="0"/>
              <a:t> with very low patronage to make them more attractive</a:t>
            </a: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Expansion of the Affiliate </a:t>
            </a:r>
            <a:r>
              <a:rPr lang="en-US" sz="2600" dirty="0" err="1"/>
              <a:t>programmes</a:t>
            </a:r>
            <a:endParaRPr lang="en-US" sz="2600" dirty="0"/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en-US" sz="2600" dirty="0"/>
              <a:t>The University should release the Faculty’s share of </a:t>
            </a:r>
            <a:r>
              <a:rPr lang="en-US" sz="2600" dirty="0" smtClean="0"/>
              <a:t>revenue from </a:t>
            </a:r>
            <a:r>
              <a:rPr lang="en-US" sz="2600" dirty="0"/>
              <a:t>the Affiliate </a:t>
            </a:r>
            <a:r>
              <a:rPr lang="en-US" sz="2600" dirty="0" err="1" smtClean="0"/>
              <a:t>programmes</a:t>
            </a:r>
            <a:r>
              <a:rPr lang="en-US" sz="2600" dirty="0" smtClean="0"/>
              <a:t>.</a:t>
            </a:r>
            <a:endParaRPr lang="en-US" sz="2600" dirty="0"/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600" dirty="0"/>
              <a:t>Provision of ICT facilities for </a:t>
            </a:r>
            <a:r>
              <a:rPr lang="en-US" sz="2600" dirty="0" smtClean="0"/>
              <a:t>teaching.</a:t>
            </a: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02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76200"/>
            <a:ext cx="9144000" cy="6840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u="sng" dirty="0"/>
              <a:t>Possible Ways of Overcoming the Challenges </a:t>
            </a:r>
            <a:r>
              <a:rPr lang="en-US" sz="2800" b="1" u="sng" dirty="0" smtClean="0"/>
              <a:t>in order to </a:t>
            </a:r>
            <a:r>
              <a:rPr lang="en-US" sz="2800" b="1" u="sng" dirty="0"/>
              <a:t>propel EKSU to World Class University</a:t>
            </a:r>
            <a:endParaRPr lang="en-US" sz="2800" dirty="0" smtClean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 smtClean="0"/>
              <a:t>More </a:t>
            </a:r>
            <a:r>
              <a:rPr lang="en-US" sz="2250" dirty="0"/>
              <a:t>academic staff should be recruited in some </a:t>
            </a:r>
            <a:r>
              <a:rPr lang="en-US" sz="2250" dirty="0" err="1"/>
              <a:t>programmes</a:t>
            </a:r>
            <a:r>
              <a:rPr lang="en-US" sz="2250" dirty="0"/>
              <a:t> such as Social Studies, Early Childhood Education and Library Science.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/>
              <a:t>The University management should establish a unit in ICT Directorate for electronic computation of all results to be monitored and verified by each Faculty.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/>
              <a:t>Recruitment of more non academic staff into all the Departments.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/>
              <a:t>Provision of adequate facilities in some </a:t>
            </a:r>
            <a:r>
              <a:rPr lang="en-US" sz="2250" dirty="0" err="1"/>
              <a:t>programmes</a:t>
            </a:r>
            <a:r>
              <a:rPr lang="en-US" sz="2250" dirty="0"/>
              <a:t> such as Mathematics, Business Education, Human Kinetics &amp; Health Education and Basic Science.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/>
              <a:t>Registration of </a:t>
            </a:r>
            <a:r>
              <a:rPr lang="en-US" sz="2250" dirty="0" err="1"/>
              <a:t>M.Ed</a:t>
            </a:r>
            <a:r>
              <a:rPr lang="en-US" sz="2250" dirty="0"/>
              <a:t> Thesis </a:t>
            </a:r>
            <a:r>
              <a:rPr lang="en-US" sz="2250" dirty="0" smtClean="0"/>
              <a:t>titles </a:t>
            </a:r>
            <a:r>
              <a:rPr lang="en-US" sz="2250" dirty="0"/>
              <a:t>should end at the Faculty level while the College of Postgraduate Studies should handle registration of </a:t>
            </a:r>
            <a:r>
              <a:rPr lang="en-US" sz="2250" dirty="0" err="1"/>
              <a:t>Ph.D</a:t>
            </a:r>
            <a:r>
              <a:rPr lang="en-US" sz="2250" dirty="0"/>
              <a:t> thesis titles.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/>
              <a:t>Abolition of the tradition of completed postgraduate thesis waiting for 3 months before it could be sent to external examiners.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250" dirty="0"/>
              <a:t>More funds should be made available for international </a:t>
            </a:r>
            <a:r>
              <a:rPr lang="en-US" sz="2250" dirty="0" smtClean="0"/>
              <a:t>conferences.</a:t>
            </a:r>
            <a:endParaRPr lang="en-US" sz="225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250" dirty="0"/>
              <a:t>Effective online registration for courses by students and strict adherence to registration period as stipulated in the academic calendar.</a:t>
            </a:r>
          </a:p>
        </p:txBody>
      </p:sp>
    </p:spTree>
    <p:extLst>
      <p:ext uri="{BB962C8B-B14F-4D97-AF65-F5344CB8AC3E}">
        <p14:creationId xmlns:p14="http://schemas.microsoft.com/office/powerpoint/2010/main" val="423454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1228" y="2826951"/>
            <a:ext cx="7441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/>
              <a:t>THANK YOU FOR LISTENING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668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381</TotalTime>
  <Words>872</Words>
  <Application>Microsoft Office PowerPoint</Application>
  <PresentationFormat>On-screen Show (4:3)</PresentationFormat>
  <Paragraphs>126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Waveform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Test</cp:lastModifiedBy>
  <cp:revision>109</cp:revision>
  <cp:lastPrinted>2016-01-31T09:39:02Z</cp:lastPrinted>
  <dcterms:created xsi:type="dcterms:W3CDTF">2016-01-20T09:38:14Z</dcterms:created>
  <dcterms:modified xsi:type="dcterms:W3CDTF">2016-01-31T10:18:31Z</dcterms:modified>
</cp:coreProperties>
</file>