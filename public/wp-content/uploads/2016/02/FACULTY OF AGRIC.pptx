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xlsx" ContentType="application/vnd.openxmlformats-officedocument.spreadsheetml.sheet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64" r:id="rId11"/>
    <p:sldId id="266" r:id="rId12"/>
    <p:sldId id="267" r:id="rId13"/>
    <p:sldId id="268" r:id="rId14"/>
    <p:sldId id="269" r:id="rId15"/>
    <p:sldId id="271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962" autoAdjust="0"/>
    <p:restoredTop sz="94660"/>
  </p:normalViewPr>
  <p:slideViewPr>
    <p:cSldViewPr>
      <p:cViewPr>
        <p:scale>
          <a:sx n="75" d="100"/>
          <a:sy n="75" d="100"/>
        </p:scale>
        <p:origin x="-117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GB"/>
  <c:chart>
    <c:title>
      <c:tx>
        <c:rich>
          <a:bodyPr/>
          <a:lstStyle/>
          <a:p>
            <a:pPr algn="ctr">
              <a:defRPr sz="1800"/>
            </a:pPr>
            <a:r>
              <a:rPr lang="en-US" sz="1800" dirty="0"/>
              <a:t>Academic</a:t>
            </a:r>
            <a:r>
              <a:rPr lang="en-US" sz="1800" baseline="0" dirty="0"/>
              <a:t> </a:t>
            </a:r>
            <a:r>
              <a:rPr lang="en-US" sz="1800" baseline="0" dirty="0" smtClean="0"/>
              <a:t>Staff </a:t>
            </a:r>
            <a:r>
              <a:rPr lang="en-US" sz="1800" baseline="0" dirty="0"/>
              <a:t>C</a:t>
            </a:r>
            <a:r>
              <a:rPr lang="en-US" sz="1800" baseline="0" dirty="0" smtClean="0"/>
              <a:t>omposition </a:t>
            </a:r>
            <a:r>
              <a:rPr lang="en-US" sz="1800" baseline="0" dirty="0"/>
              <a:t>in </a:t>
            </a:r>
            <a:r>
              <a:rPr lang="en-US" sz="1800" baseline="0" dirty="0" err="1"/>
              <a:t>Ekiti</a:t>
            </a:r>
            <a:r>
              <a:rPr lang="en-US" sz="1800" baseline="0" dirty="0"/>
              <a:t> State </a:t>
            </a:r>
            <a:r>
              <a:rPr lang="en-US" sz="1800" baseline="0" dirty="0" smtClean="0"/>
              <a:t>University</a:t>
            </a:r>
            <a:endParaRPr lang="en-US" sz="1800" dirty="0"/>
          </a:p>
        </c:rich>
      </c:tx>
      <c:layout>
        <c:manualLayout>
          <c:xMode val="edge"/>
          <c:yMode val="edge"/>
          <c:x val="0.18726172096135041"/>
          <c:y val="1.8979421050629539E-3"/>
        </c:manualLayout>
      </c:layout>
    </c:title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explosion val="4"/>
          <c:dLbls>
            <c:showPercent val="1"/>
          </c:dLbls>
          <c:cat>
            <c:strRef>
              <c:f>Sheet1!$A$2:$A$5</c:f>
              <c:strCache>
                <c:ptCount val="4"/>
                <c:pt idx="0">
                  <c:v>Tenured staff</c:v>
                </c:pt>
                <c:pt idx="1">
                  <c:v>Temporary</c:v>
                </c:pt>
                <c:pt idx="2">
                  <c:v>contract</c:v>
                </c:pt>
                <c:pt idx="3">
                  <c:v>Visiting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603</c:v>
                </c:pt>
                <c:pt idx="1">
                  <c:v>50</c:v>
                </c:pt>
                <c:pt idx="2">
                  <c:v>19</c:v>
                </c:pt>
                <c:pt idx="3">
                  <c:v>9</c:v>
                </c:pt>
              </c:numCache>
            </c:numRef>
          </c:val>
        </c:ser>
        <c:dLbls>
          <c:showPercent val="1"/>
        </c:dLbls>
        <c:firstSliceAng val="0"/>
      </c:pieChart>
    </c:plotArea>
    <c:legend>
      <c:legendPos val="t"/>
      <c:layout/>
    </c:legend>
    <c:plotVisOnly val="1"/>
  </c:chart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GB"/>
  <c:chart>
    <c:title>
      <c:tx>
        <c:rich>
          <a:bodyPr/>
          <a:lstStyle/>
          <a:p>
            <a:pPr>
              <a:defRPr/>
            </a:pPr>
            <a:r>
              <a:rPr lang="en-US" dirty="0"/>
              <a:t>Academic Staff </a:t>
            </a:r>
            <a:r>
              <a:rPr lang="en-US" dirty="0" smtClean="0"/>
              <a:t>Qualification</a:t>
            </a:r>
            <a:r>
              <a:rPr lang="en-US" baseline="0" dirty="0" smtClean="0"/>
              <a:t>s</a:t>
            </a:r>
            <a:endParaRPr lang="en-US" dirty="0"/>
          </a:p>
        </c:rich>
      </c:tx>
      <c:layout>
        <c:manualLayout>
          <c:xMode val="edge"/>
          <c:yMode val="edge"/>
          <c:x val="0.26738442348171831"/>
          <c:y val="4.6874999999999986E-2"/>
        </c:manualLayout>
      </c:layout>
    </c:title>
    <c:plotArea>
      <c:layout>
        <c:manualLayout>
          <c:layoutTarget val="inner"/>
          <c:xMode val="edge"/>
          <c:yMode val="edge"/>
          <c:x val="0.26044054389034732"/>
          <c:y val="0.21418666416697921"/>
          <c:w val="0.37737259405074497"/>
          <c:h val="0.64692444694413398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Lbls>
            <c:showVal val="1"/>
            <c:showLeaderLines val="1"/>
          </c:dLbls>
          <c:cat>
            <c:strRef>
              <c:f>Sheet1!$A$2:$A$5</c:f>
              <c:strCache>
                <c:ptCount val="3"/>
                <c:pt idx="0">
                  <c:v>Ph.D</c:v>
                </c:pt>
                <c:pt idx="1">
                  <c:v>Masters</c:v>
                </c:pt>
                <c:pt idx="2">
                  <c:v>GA</c:v>
                </c:pt>
              </c:strCache>
            </c:strRef>
          </c:cat>
          <c:val>
            <c:numRef>
              <c:f>Sheet1!$B$2:$B$5</c:f>
              <c:numCache>
                <c:formatCode>0.00%</c:formatCode>
                <c:ptCount val="4"/>
                <c:pt idx="0">
                  <c:v>0.48500000000000026</c:v>
                </c:pt>
                <c:pt idx="1">
                  <c:v>0.46700000000000008</c:v>
                </c:pt>
                <c:pt idx="2">
                  <c:v>4.8000000000000001E-2</c:v>
                </c:pt>
              </c:numCache>
            </c:numRef>
          </c:val>
        </c:ser>
        <c:firstSliceAng val="0"/>
      </c:pieChart>
    </c:plotArea>
    <c:legend>
      <c:legendPos val="r"/>
      <c:legendEntry>
        <c:idx val="3"/>
        <c:delete val="1"/>
      </c:legendEntry>
      <c:layout>
        <c:manualLayout>
          <c:xMode val="edge"/>
          <c:yMode val="edge"/>
          <c:x val="0.77140454482663356"/>
          <c:y val="0.35844779819189276"/>
          <c:w val="0.21543756043652446"/>
          <c:h val="0.34390687275201731"/>
        </c:manualLayout>
      </c:layout>
      <c:txPr>
        <a:bodyPr/>
        <a:lstStyle/>
        <a:p>
          <a:pPr>
            <a:defRPr sz="2000"/>
          </a:pPr>
          <a:endParaRPr lang="en-US"/>
        </a:p>
      </c:txPr>
    </c:legend>
    <c:plotVisOnly val="1"/>
  </c:chart>
  <c:externalData r:id="rId1"/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29C1EB-BD11-44BF-A44A-716C63DD958E}" type="datetimeFigureOut">
              <a:rPr lang="en-US" smtClean="0"/>
              <a:pPr/>
              <a:t>2/2/2016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045D2C-3C15-4547-8AE6-7085C4DB67FC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45D2C-3C15-4547-8AE6-7085C4DB67FC}" type="slidenum">
              <a:rPr lang="en-GB" smtClean="0"/>
              <a:pPr/>
              <a:t>1</a:t>
            </a:fld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A148E-803D-4F7D-AB7C-558348E96345}" type="datetimeFigureOut">
              <a:rPr lang="en-US" smtClean="0"/>
              <a:pPr/>
              <a:t>2/2/2016</a:t>
            </a:fld>
            <a:endParaRPr lang="en-GB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46307-7569-442E-BFBE-4A55F3B46693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A148E-803D-4F7D-AB7C-558348E96345}" type="datetimeFigureOut">
              <a:rPr lang="en-US" smtClean="0"/>
              <a:pPr/>
              <a:t>2/2/2016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46307-7569-442E-BFBE-4A55F3B4669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A148E-803D-4F7D-AB7C-558348E96345}" type="datetimeFigureOut">
              <a:rPr lang="en-US" smtClean="0"/>
              <a:pPr/>
              <a:t>2/2/2016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DCE46307-7569-442E-BFBE-4A55F3B4669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A148E-803D-4F7D-AB7C-558348E96345}" type="datetimeFigureOut">
              <a:rPr lang="en-US" smtClean="0"/>
              <a:pPr/>
              <a:t>2/2/2016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46307-7569-442E-BFBE-4A55F3B4669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A148E-803D-4F7D-AB7C-558348E96345}" type="datetimeFigureOut">
              <a:rPr lang="en-US" smtClean="0"/>
              <a:pPr/>
              <a:t>2/2/2016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46307-7569-442E-BFBE-4A55F3B4669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A148E-803D-4F7D-AB7C-558348E96345}" type="datetimeFigureOut">
              <a:rPr lang="en-US" smtClean="0"/>
              <a:pPr/>
              <a:t>2/2/2016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46307-7569-442E-BFBE-4A55F3B4669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A148E-803D-4F7D-AB7C-558348E96345}" type="datetimeFigureOut">
              <a:rPr lang="en-US" smtClean="0"/>
              <a:pPr/>
              <a:t>2/2/2016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46307-7569-442E-BFBE-4A55F3B4669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A148E-803D-4F7D-AB7C-558348E96345}" type="datetimeFigureOut">
              <a:rPr lang="en-US" smtClean="0"/>
              <a:pPr/>
              <a:t>2/2/2016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46307-7569-442E-BFBE-4A55F3B4669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A148E-803D-4F7D-AB7C-558348E96345}" type="datetimeFigureOut">
              <a:rPr lang="en-US" smtClean="0"/>
              <a:pPr/>
              <a:t>2/2/2016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46307-7569-442E-BFBE-4A55F3B4669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A148E-803D-4F7D-AB7C-558348E96345}" type="datetimeFigureOut">
              <a:rPr lang="en-US" smtClean="0"/>
              <a:pPr/>
              <a:t>2/2/2016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46307-7569-442E-BFBE-4A55F3B4669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A148E-803D-4F7D-AB7C-558348E96345}" type="datetimeFigureOut">
              <a:rPr lang="en-US" smtClean="0"/>
              <a:pPr/>
              <a:t>2/2/2016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46307-7569-442E-BFBE-4A55F3B4669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2D2A148E-803D-4F7D-AB7C-558348E96345}" type="datetimeFigureOut">
              <a:rPr lang="en-US" smtClean="0"/>
              <a:pPr/>
              <a:t>2/2/2016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DCE46307-7569-442E-BFBE-4A55F3B46693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04801"/>
            <a:ext cx="7772400" cy="1904999"/>
          </a:xfrm>
        </p:spPr>
        <p:txBody>
          <a:bodyPr>
            <a:noAutofit/>
          </a:bodyPr>
          <a:lstStyle/>
          <a:p>
            <a:r>
              <a:rPr lang="en-GB" sz="2400" b="1" dirty="0"/>
              <a:t>EKITI STATE UNIVERSITY ACADEMIC PROGRAMME VIABILITY IN THE CONTEXT OF OTHER SUPPRT EDUCATIONAL VARIABLES: CHALLENGES AND </a:t>
            </a:r>
            <a:r>
              <a:rPr lang="en-GB" sz="2400" b="1" dirty="0" smtClean="0"/>
              <a:t>SUGGESTIONS </a:t>
            </a:r>
            <a:r>
              <a:rPr lang="en-GB" sz="2400" b="1" dirty="0"/>
              <a:t>FOR ATTAINMENT OF A </a:t>
            </a:r>
            <a:r>
              <a:rPr lang="en-GB" sz="2400" b="1" dirty="0" smtClean="0"/>
              <a:t>WORLD-CLASS </a:t>
            </a:r>
            <a:r>
              <a:rPr lang="en-GB" sz="2400" b="1" dirty="0"/>
              <a:t>UNIVERSITY</a:t>
            </a:r>
            <a:r>
              <a:rPr lang="en-GB" sz="2400" dirty="0"/>
              <a:t/>
            </a:r>
            <a:br>
              <a:rPr lang="en-GB" sz="2400" dirty="0"/>
            </a:br>
            <a:endParaRPr lang="en-GB" sz="2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362200"/>
            <a:ext cx="7696200" cy="4114800"/>
          </a:xfrm>
        </p:spPr>
        <p:txBody>
          <a:bodyPr>
            <a:normAutofit fontScale="92500" lnSpcReduction="10000"/>
          </a:bodyPr>
          <a:lstStyle/>
          <a:p>
            <a:endParaRPr lang="en-GB" dirty="0" smtClean="0"/>
          </a:p>
          <a:p>
            <a:endParaRPr lang="en-GB" dirty="0" smtClean="0"/>
          </a:p>
          <a:p>
            <a:endParaRPr lang="en-GB" dirty="0" smtClean="0"/>
          </a:p>
          <a:p>
            <a:endParaRPr lang="en-GB" dirty="0" smtClean="0"/>
          </a:p>
          <a:p>
            <a:r>
              <a:rPr lang="en-GB" i="1" dirty="0" smtClean="0"/>
              <a:t>By</a:t>
            </a:r>
          </a:p>
          <a:p>
            <a:endParaRPr lang="en-GB" i="1" dirty="0" smtClean="0"/>
          </a:p>
          <a:p>
            <a:r>
              <a:rPr lang="en-GB" i="1" dirty="0" smtClean="0"/>
              <a:t>Dairo, F. A. S.</a:t>
            </a:r>
          </a:p>
          <a:p>
            <a:r>
              <a:rPr lang="en-GB" i="1" dirty="0" smtClean="0"/>
              <a:t>Faculty of Agricultural Sciences, </a:t>
            </a:r>
            <a:r>
              <a:rPr lang="en-GB" i="1" dirty="0" err="1" smtClean="0"/>
              <a:t>Ekiti</a:t>
            </a:r>
            <a:r>
              <a:rPr lang="en-GB" i="1" dirty="0" smtClean="0"/>
              <a:t> State University, Ado-</a:t>
            </a:r>
            <a:r>
              <a:rPr lang="en-GB" i="1" dirty="0" err="1" smtClean="0"/>
              <a:t>Ekiti</a:t>
            </a:r>
            <a:r>
              <a:rPr lang="en-GB" i="1" dirty="0" smtClean="0"/>
              <a:t>, Nigeria</a:t>
            </a:r>
          </a:p>
          <a:p>
            <a:endParaRPr lang="en-GB" dirty="0" smtClean="0"/>
          </a:p>
          <a:p>
            <a:endParaRPr lang="en-GB" dirty="0"/>
          </a:p>
        </p:txBody>
      </p:sp>
      <p:pic>
        <p:nvPicPr>
          <p:cNvPr id="5" name="Picture 4" descr="C:\Users\deejaydot\Desktop\PPT Lectures\nigeria_education-fdfs.jpg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86000" y="2057400"/>
            <a:ext cx="5029200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38200"/>
          </a:xfrm>
        </p:spPr>
        <p:txBody>
          <a:bodyPr>
            <a:normAutofit/>
          </a:bodyPr>
          <a:lstStyle/>
          <a:p>
            <a:pPr algn="l"/>
            <a:r>
              <a:rPr lang="en-GB" dirty="0" err="1" smtClean="0"/>
              <a:t>Introdution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013960"/>
          </a:xfrm>
        </p:spPr>
        <p:txBody>
          <a:bodyPr>
            <a:normAutofit fontScale="92500"/>
          </a:bodyPr>
          <a:lstStyle/>
          <a:p>
            <a:pPr>
              <a:buFont typeface="Wingdings" pitchFamily="2" charset="2"/>
              <a:buChar char="v"/>
            </a:pPr>
            <a:r>
              <a:rPr lang="en-GB" dirty="0" err="1" smtClean="0"/>
              <a:t>Ekiti</a:t>
            </a:r>
            <a:r>
              <a:rPr lang="en-GB" dirty="0" smtClean="0"/>
              <a:t> State University was Established about three decades ago with Vision &amp; Mission statements.</a:t>
            </a:r>
          </a:p>
          <a:p>
            <a:pPr>
              <a:buNone/>
            </a:pPr>
            <a:endParaRPr lang="en-GB" dirty="0" smtClean="0"/>
          </a:p>
          <a:p>
            <a:pPr>
              <a:buFont typeface="Wingdings" pitchFamily="2" charset="2"/>
              <a:buChar char="v"/>
            </a:pPr>
            <a:r>
              <a:rPr lang="en-GB" dirty="0" smtClean="0"/>
              <a:t>The Institution has produced over 50,000 graduates many of whom hold key positions in the Nigerian &amp; global economy. </a:t>
            </a:r>
          </a:p>
          <a:p>
            <a:pPr>
              <a:buNone/>
            </a:pPr>
            <a:endParaRPr lang="en-GB" dirty="0" smtClean="0"/>
          </a:p>
          <a:p>
            <a:pPr>
              <a:buFont typeface="Wingdings" pitchFamily="2" charset="2"/>
              <a:buChar char="v"/>
            </a:pPr>
            <a:r>
              <a:rPr lang="en-GB" dirty="0" smtClean="0"/>
              <a:t>The dynamism of curriculum &amp; particularly the present descent in the internal efficiency of pedagogy calls for a review to align with the Vision &amp; Mission statements.</a:t>
            </a:r>
          </a:p>
          <a:p>
            <a:pPr>
              <a:buFont typeface="Wingdings" pitchFamily="2" charset="2"/>
              <a:buChar char="v"/>
            </a:pPr>
            <a:endParaRPr lang="en-GB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29600" cy="990600"/>
          </a:xfrm>
        </p:spPr>
        <p:txBody>
          <a:bodyPr>
            <a:normAutofit/>
          </a:bodyPr>
          <a:lstStyle/>
          <a:p>
            <a:pPr algn="l"/>
            <a:r>
              <a:rPr lang="en-GB" sz="3600" dirty="0" err="1" smtClean="0"/>
              <a:t>Introdution</a:t>
            </a:r>
            <a:r>
              <a:rPr lang="en-GB" sz="3600" dirty="0" smtClean="0"/>
              <a:t> </a:t>
            </a:r>
            <a:r>
              <a:rPr lang="en-GB" sz="3600" i="1" dirty="0" err="1" smtClean="0">
                <a:solidFill>
                  <a:srgbClr val="FF0000"/>
                </a:solidFill>
              </a:rPr>
              <a:t>contd</a:t>
            </a:r>
            <a:endParaRPr lang="en-GB" sz="3600" i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562600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v"/>
            </a:pPr>
            <a:r>
              <a:rPr lang="en-GB" dirty="0" smtClean="0"/>
              <a:t>Vision-  To be a 21</a:t>
            </a:r>
            <a:r>
              <a:rPr lang="en-GB" baseline="30000" dirty="0" smtClean="0"/>
              <a:t>st</a:t>
            </a:r>
            <a:r>
              <a:rPr lang="en-GB" dirty="0" smtClean="0"/>
              <a:t> century World-Class University producing graduates adequately equipped to handle contemporary socio-economic and environmental challenges through cutting-edge research in science, technology and humanities driven by Information and Communication Technology.</a:t>
            </a:r>
          </a:p>
          <a:p>
            <a:pPr>
              <a:buNone/>
            </a:pPr>
            <a:endParaRPr lang="en-GB" dirty="0" smtClean="0"/>
          </a:p>
          <a:p>
            <a:pPr>
              <a:buFont typeface="Wingdings" pitchFamily="2" charset="2"/>
              <a:buChar char="v"/>
            </a:pPr>
            <a:r>
              <a:rPr lang="en-GB" dirty="0" smtClean="0"/>
              <a:t>Mission- To provide a high quality educational experience shaped by outstanding teaching and research that benefit cultures, societies and economies.</a:t>
            </a:r>
          </a:p>
          <a:p>
            <a:pPr>
              <a:buNone/>
            </a:pPr>
            <a:endParaRPr lang="en-GB" dirty="0" smtClean="0"/>
          </a:p>
          <a:p>
            <a:pPr>
              <a:buFont typeface="Wingdings" pitchFamily="2" charset="2"/>
              <a:buChar char="v"/>
            </a:pPr>
            <a:r>
              <a:rPr lang="en-GB" dirty="0" smtClean="0"/>
              <a:t>The core values of the University is also clearly stated which are not the bone of contention for this submit.</a:t>
            </a:r>
          </a:p>
          <a:p>
            <a:pPr>
              <a:buFont typeface="Wingdings" pitchFamily="2" charset="2"/>
              <a:buChar char="v"/>
            </a:pPr>
            <a:endParaRPr lang="en-GB" dirty="0" smtClean="0"/>
          </a:p>
          <a:p>
            <a:pPr>
              <a:buFont typeface="Wingdings" pitchFamily="2" charset="2"/>
              <a:buChar char="v"/>
            </a:pPr>
            <a:endParaRPr lang="en-GB" dirty="0"/>
          </a:p>
        </p:txBody>
      </p:sp>
    </p:spTree>
  </p:cSld>
  <p:clrMapOvr>
    <a:masterClrMapping/>
  </p:clrMapOvr>
  <p:transition>
    <p:wipe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90600"/>
          </a:xfrm>
        </p:spPr>
        <p:txBody>
          <a:bodyPr>
            <a:normAutofit fontScale="90000"/>
          </a:bodyPr>
          <a:lstStyle/>
          <a:p>
            <a:pPr algn="l"/>
            <a:r>
              <a:rPr lang="en-GB" dirty="0" smtClean="0"/>
              <a:t>Academic programmes in EKSU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334000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itchFamily="2" charset="2"/>
              <a:buChar char="v"/>
            </a:pPr>
            <a:r>
              <a:rPr lang="en-GB" sz="2600" dirty="0" smtClean="0"/>
              <a:t>At the moment EKSU has the following Units in which the academic programmes are resident;</a:t>
            </a:r>
          </a:p>
          <a:p>
            <a:pPr>
              <a:buNone/>
            </a:pPr>
            <a:endParaRPr lang="en-GB" sz="2600" dirty="0" smtClean="0"/>
          </a:p>
          <a:p>
            <a:pPr lvl="0">
              <a:buFont typeface="Wingdings" pitchFamily="2" charset="2"/>
              <a:buChar char="ü"/>
            </a:pPr>
            <a:r>
              <a:rPr lang="en-GB" dirty="0" smtClean="0"/>
              <a:t>     College of Postgraduate Studies</a:t>
            </a:r>
          </a:p>
          <a:p>
            <a:pPr lvl="0">
              <a:buFont typeface="Wingdings" pitchFamily="2" charset="2"/>
              <a:buChar char="ü"/>
            </a:pPr>
            <a:r>
              <a:rPr lang="en-GB" dirty="0" smtClean="0"/>
              <a:t>      College of Medicine - Has 3   Faculties</a:t>
            </a:r>
          </a:p>
          <a:p>
            <a:pPr>
              <a:buFont typeface="Wingdings" pitchFamily="2" charset="2"/>
              <a:buChar char="ü"/>
            </a:pPr>
            <a:r>
              <a:rPr lang="en-GB" dirty="0" smtClean="0"/>
              <a:t>      Eight Faculties namely; </a:t>
            </a:r>
          </a:p>
          <a:p>
            <a:pPr>
              <a:buNone/>
            </a:pPr>
            <a:r>
              <a:rPr lang="en-GB" dirty="0" smtClean="0"/>
              <a:t>           </a:t>
            </a:r>
            <a:r>
              <a:rPr lang="en-GB" dirty="0" err="1" smtClean="0"/>
              <a:t>i</a:t>
            </a:r>
            <a:r>
              <a:rPr lang="en-GB" dirty="0" smtClean="0"/>
              <a:t>)Agricultural Sciences,</a:t>
            </a:r>
          </a:p>
          <a:p>
            <a:pPr>
              <a:buNone/>
            </a:pPr>
            <a:r>
              <a:rPr lang="en-GB" dirty="0" smtClean="0"/>
              <a:t>           ii) Art,  </a:t>
            </a:r>
          </a:p>
          <a:p>
            <a:pPr>
              <a:buNone/>
            </a:pPr>
            <a:r>
              <a:rPr lang="en-GB" dirty="0" smtClean="0"/>
              <a:t>           iii) Education,         	</a:t>
            </a:r>
          </a:p>
          <a:p>
            <a:pPr>
              <a:buNone/>
            </a:pPr>
            <a:r>
              <a:rPr lang="en-GB" dirty="0" smtClean="0"/>
              <a:t>           iv) Engineering, </a:t>
            </a:r>
          </a:p>
          <a:p>
            <a:pPr>
              <a:buNone/>
            </a:pPr>
            <a:r>
              <a:rPr lang="en-GB" dirty="0" smtClean="0"/>
              <a:t>            v) Management Sciences, </a:t>
            </a:r>
          </a:p>
          <a:p>
            <a:pPr>
              <a:buNone/>
            </a:pPr>
            <a:r>
              <a:rPr lang="en-GB" dirty="0" smtClean="0"/>
              <a:t>            vi) Law,     </a:t>
            </a:r>
          </a:p>
          <a:p>
            <a:pPr>
              <a:buNone/>
            </a:pPr>
            <a:r>
              <a:rPr lang="en-GB" dirty="0" smtClean="0"/>
              <a:t>            vii) Science and </a:t>
            </a:r>
          </a:p>
          <a:p>
            <a:pPr>
              <a:buNone/>
            </a:pPr>
            <a:r>
              <a:rPr lang="en-GB" dirty="0" smtClean="0"/>
              <a:t>           viii)The Social Sciences</a:t>
            </a:r>
          </a:p>
          <a:p>
            <a:pPr>
              <a:buFont typeface="Wingdings" pitchFamily="2" charset="2"/>
              <a:buChar char="v"/>
            </a:pPr>
            <a:endParaRPr lang="en-GB" dirty="0"/>
          </a:p>
        </p:txBody>
      </p:sp>
    </p:spTree>
  </p:cSld>
  <p:clrMapOvr>
    <a:masterClrMapping/>
  </p:clrMapOvr>
  <p:transition>
    <p:wipe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447800" y="685799"/>
          <a:ext cx="7086600" cy="5971796"/>
        </p:xfrm>
        <a:graphic>
          <a:graphicData uri="http://schemas.openxmlformats.org/drawingml/2006/table">
            <a:tbl>
              <a:tblPr/>
              <a:tblGrid>
                <a:gridCol w="609600"/>
                <a:gridCol w="2362200"/>
                <a:gridCol w="1916693"/>
                <a:gridCol w="2198107"/>
              </a:tblGrid>
              <a:tr h="72268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Times New Roman"/>
                        </a:rPr>
                        <a:t>S/N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Times New Roman"/>
                        </a:rPr>
                        <a:t>Departments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Times New Roman"/>
                        </a:rPr>
                        <a:t>Programmes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Times New Roman"/>
                        </a:rPr>
                        <a:t>Options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1227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Times New Roman"/>
                        </a:rPr>
                        <a:t>1.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Times New Roman"/>
                        </a:rPr>
                        <a:t>Agricultural Economics &amp; Extension Services (AEE)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Times New Roman"/>
                        </a:rPr>
                        <a:t>B. Agric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Times New Roman"/>
                        </a:rPr>
                        <a:t>AEE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7984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Times New Roman"/>
                        </a:rPr>
                        <a:t>2.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Times New Roman"/>
                        </a:rPr>
                        <a:t>Animal Production &amp; Health Sciences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Times New Roman"/>
                        </a:rPr>
                        <a:t>(APH)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Times New Roman"/>
                        </a:rPr>
                        <a:t>B. Agric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Times New Roman"/>
                        </a:rPr>
                        <a:t>APH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1227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Times New Roman"/>
                        </a:rPr>
                        <a:t>3.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Times New Roman"/>
                        </a:rPr>
                        <a:t>Crop, Soil &amp; Environmental Sciences 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Times New Roman"/>
                        </a:rPr>
                        <a:t>(CSE)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Times New Roman"/>
                        </a:rPr>
                        <a:t>B. Agric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Times New Roman"/>
                        </a:rPr>
                        <a:t>-Crop Production 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Times New Roman"/>
                        </a:rPr>
                        <a:t>-Soil &amp; Environmental </a:t>
                      </a:r>
                      <a:r>
                        <a:rPr lang="en-GB" sz="1800" dirty="0" smtClean="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Times New Roman"/>
                        </a:rPr>
                        <a:t>Sciences</a:t>
                      </a:r>
                      <a:endParaRPr lang="en-GB" sz="1800" dirty="0">
                        <a:solidFill>
                          <a:schemeClr val="tx1"/>
                        </a:solidFill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471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Times New Roman"/>
                        </a:rPr>
                        <a:t>4.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Times New Roman"/>
                        </a:rPr>
                        <a:t>Forestry, Wildlife &amp; Fisheries Management (FWF)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err="1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Times New Roman"/>
                        </a:rPr>
                        <a:t>i</a:t>
                      </a:r>
                      <a:r>
                        <a:rPr lang="en-GB" sz="1800" dirty="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Times New Roman"/>
                        </a:rPr>
                        <a:t>. B. Agric Forestry &amp; Wildlife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Times New Roman"/>
                        </a:rPr>
                        <a:t>ii. B. Fisheries Management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romanLcPeriod"/>
                      </a:pPr>
                      <a:r>
                        <a:rPr lang="en-GB" sz="1800" dirty="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Times New Roman"/>
                        </a:rPr>
                        <a:t>Forestry &amp; Wildlife</a:t>
                      </a:r>
                    </a:p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romanLcPeriod"/>
                      </a:pPr>
                      <a:r>
                        <a:rPr lang="en-GB" sz="1800" dirty="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Times New Roman"/>
                        </a:rPr>
                        <a:t>B. Fisheries Management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990600" y="3"/>
            <a:ext cx="81534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2000" b="1" i="0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ea typeface="Calibri" pitchFamily="34" charset="0"/>
                <a:cs typeface="Times New Roman" pitchFamily="18" charset="0"/>
              </a:rPr>
              <a:t>Table 1 Departments and Programmes in the Faculty of Agricultural Sciences, </a:t>
            </a:r>
            <a:r>
              <a:rPr kumimoji="0" lang="en-GB" sz="2000" b="1" i="0" u="none" strike="noStrike" cap="none" normalizeH="0" baseline="0" dirty="0" err="1" smtClean="0">
                <a:ln>
                  <a:noFill/>
                </a:ln>
                <a:solidFill>
                  <a:srgbClr val="FFFF00"/>
                </a:solidFill>
                <a:effectLst/>
                <a:ea typeface="Calibri" pitchFamily="34" charset="0"/>
                <a:cs typeface="Times New Roman" pitchFamily="18" charset="0"/>
              </a:rPr>
              <a:t>Ekiti</a:t>
            </a:r>
            <a:r>
              <a:rPr kumimoji="0" lang="en-GB" sz="2000" b="1" i="0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ea typeface="Calibri" pitchFamily="34" charset="0"/>
                <a:cs typeface="Times New Roman" pitchFamily="18" charset="0"/>
              </a:rPr>
              <a:t> State University</a:t>
            </a:r>
            <a:endParaRPr kumimoji="0" lang="en-GB" sz="2000" b="0" i="0" u="none" strike="noStrike" cap="none" normalizeH="0" baseline="0" dirty="0" smtClean="0">
              <a:ln>
                <a:noFill/>
              </a:ln>
              <a:solidFill>
                <a:srgbClr val="FFFF00"/>
              </a:solidFill>
              <a:effectLst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/>
          <p:nvPr/>
        </p:nvGraphicFramePr>
        <p:xfrm>
          <a:off x="685800" y="762000"/>
          <a:ext cx="8153400" cy="5486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/>
          <p:nvPr/>
        </p:nvGraphicFramePr>
        <p:xfrm>
          <a:off x="838200" y="1295400"/>
          <a:ext cx="7696200" cy="4876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04799" y="1142999"/>
          <a:ext cx="7696200" cy="5454784"/>
        </p:xfrm>
        <a:graphic>
          <a:graphicData uri="http://schemas.openxmlformats.org/drawingml/2006/table">
            <a:tbl>
              <a:tblPr/>
              <a:tblGrid>
                <a:gridCol w="1642630"/>
                <a:gridCol w="1510718"/>
                <a:gridCol w="1389504"/>
                <a:gridCol w="1510718"/>
                <a:gridCol w="1642630"/>
              </a:tblGrid>
              <a:tr h="159968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latin typeface="+mn-lt"/>
                          <a:ea typeface="Calibri"/>
                          <a:cs typeface="Times New Roman"/>
                        </a:rPr>
                        <a:t>Department/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latin typeface="+mn-lt"/>
                          <a:ea typeface="Calibri"/>
                          <a:cs typeface="Times New Roman"/>
                        </a:rPr>
                        <a:t>Infrastructures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latin typeface="+mn-lt"/>
                          <a:ea typeface="Calibri"/>
                          <a:cs typeface="Times New Roman"/>
                        </a:rPr>
                        <a:t>Agricultural Economics &amp; Extension Services (AEE)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latin typeface="+mn-lt"/>
                          <a:ea typeface="Calibri"/>
                          <a:cs typeface="Times New Roman"/>
                        </a:rPr>
                        <a:t>Animal Production &amp; Health Sciences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latin typeface="+mn-lt"/>
                          <a:ea typeface="Calibri"/>
                          <a:cs typeface="Times New Roman"/>
                        </a:rPr>
                        <a:t>(APH)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latin typeface="+mn-lt"/>
                          <a:ea typeface="Calibri"/>
                          <a:cs typeface="Times New Roman"/>
                        </a:rPr>
                        <a:t>Crop, Soil &amp; Environmental Sciences 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latin typeface="+mn-lt"/>
                          <a:ea typeface="Calibri"/>
                          <a:cs typeface="Times New Roman"/>
                        </a:rPr>
                        <a:t>(CSE)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latin typeface="+mn-lt"/>
                          <a:ea typeface="Calibri"/>
                          <a:cs typeface="Times New Roman"/>
                        </a:rPr>
                        <a:t>Forestry, Wildlife &amp; Fisheries Management (FWF)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572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latin typeface="+mn-lt"/>
                          <a:ea typeface="Calibri"/>
                          <a:cs typeface="Times New Roman"/>
                        </a:rPr>
                        <a:t>Lecturer: student ratio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GB" sz="1800">
                        <a:latin typeface="+mn-lt"/>
                        <a:ea typeface="Calibri"/>
                        <a:cs typeface="Times New Roman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latin typeface="+mn-lt"/>
                          <a:ea typeface="Calibri"/>
                          <a:cs typeface="Times New Roman"/>
                        </a:rPr>
                        <a:t>1:26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GB" sz="1800">
                        <a:latin typeface="+mn-lt"/>
                        <a:ea typeface="Calibri"/>
                        <a:cs typeface="Times New Roman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latin typeface="+mn-lt"/>
                          <a:ea typeface="Calibri"/>
                          <a:cs typeface="Times New Roman"/>
                        </a:rPr>
                        <a:t>1:17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GB" sz="1800" dirty="0">
                        <a:latin typeface="+mn-lt"/>
                        <a:ea typeface="Calibri"/>
                        <a:cs typeface="Times New Roman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smtClean="0">
                          <a:latin typeface="+mn-lt"/>
                          <a:ea typeface="Calibri"/>
                          <a:cs typeface="Times New Roman"/>
                        </a:rPr>
                        <a:t>1:10</a:t>
                      </a:r>
                      <a:endParaRPr lang="en-GB" sz="18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GB" sz="1800" dirty="0">
                        <a:latin typeface="+mn-lt"/>
                        <a:ea typeface="Calibri"/>
                        <a:cs typeface="Times New Roman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latin typeface="+mn-lt"/>
                          <a:ea typeface="Calibri"/>
                          <a:cs typeface="Times New Roman"/>
                        </a:rPr>
                        <a:t>1:13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993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latin typeface="+mn-lt"/>
                          <a:ea typeface="Calibri"/>
                          <a:cs typeface="Times New Roman"/>
                        </a:rPr>
                        <a:t>Offices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latin typeface="+mn-lt"/>
                          <a:ea typeface="Calibri"/>
                          <a:cs typeface="Times New Roman"/>
                        </a:rPr>
                        <a:t>*Adequate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latin typeface="+mn-lt"/>
                          <a:ea typeface="Calibri"/>
                          <a:cs typeface="Times New Roman"/>
                        </a:rPr>
                        <a:t>*Adequate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latin typeface="+mn-lt"/>
                          <a:ea typeface="Calibri"/>
                          <a:cs typeface="Times New Roman"/>
                        </a:rPr>
                        <a:t>*Adequate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latin typeface="+mn-lt"/>
                          <a:ea typeface="Calibri"/>
                          <a:cs typeface="Times New Roman"/>
                        </a:rPr>
                        <a:t>*Adequate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987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latin typeface="+mn-lt"/>
                          <a:ea typeface="Calibri"/>
                          <a:cs typeface="Times New Roman"/>
                        </a:rPr>
                        <a:t>Library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latin typeface="+mn-lt"/>
                          <a:ea typeface="Calibri"/>
                          <a:cs typeface="Times New Roman"/>
                        </a:rPr>
                        <a:t>Not Adequate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latin typeface="+mn-lt"/>
                          <a:ea typeface="Calibri"/>
                          <a:cs typeface="Times New Roman"/>
                        </a:rPr>
                        <a:t>Not Adequate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latin typeface="+mn-lt"/>
                          <a:ea typeface="Calibri"/>
                          <a:cs typeface="Times New Roman"/>
                        </a:rPr>
                        <a:t>Not Adequate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latin typeface="+mn-lt"/>
                          <a:ea typeface="Calibri"/>
                          <a:cs typeface="Times New Roman"/>
                        </a:rPr>
                        <a:t>Not Adequate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993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latin typeface="+mn-lt"/>
                          <a:ea typeface="Calibri"/>
                          <a:cs typeface="Times New Roman"/>
                        </a:rPr>
                        <a:t>Classroom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latin typeface="+mn-lt"/>
                          <a:ea typeface="Calibri"/>
                          <a:cs typeface="Times New Roman"/>
                        </a:rPr>
                        <a:t>None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latin typeface="+mn-lt"/>
                          <a:ea typeface="Calibri"/>
                          <a:cs typeface="Times New Roman"/>
                        </a:rPr>
                        <a:t>None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latin typeface="+mn-lt"/>
                          <a:ea typeface="Calibri"/>
                          <a:cs typeface="Times New Roman"/>
                        </a:rPr>
                        <a:t>None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latin typeface="+mn-lt"/>
                          <a:ea typeface="Calibri"/>
                          <a:cs typeface="Times New Roman"/>
                        </a:rPr>
                        <a:t>None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987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latin typeface="+mn-lt"/>
                          <a:ea typeface="Calibri"/>
                          <a:cs typeface="Times New Roman"/>
                        </a:rPr>
                        <a:t>Laboratory space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latin typeface="+mn-lt"/>
                          <a:ea typeface="Calibri"/>
                          <a:cs typeface="Times New Roman"/>
                        </a:rPr>
                        <a:t>Not Adequate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latin typeface="+mn-lt"/>
                          <a:ea typeface="Calibri"/>
                          <a:cs typeface="Times New Roman"/>
                        </a:rPr>
                        <a:t>Not Adequate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latin typeface="+mn-lt"/>
                          <a:ea typeface="Calibri"/>
                          <a:cs typeface="Times New Roman"/>
                        </a:rPr>
                        <a:t>Not Adequate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latin typeface="+mn-lt"/>
                          <a:ea typeface="Calibri"/>
                          <a:cs typeface="Times New Roman"/>
                        </a:rPr>
                        <a:t>Not Adequate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987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latin typeface="+mn-lt"/>
                          <a:ea typeface="Calibri"/>
                          <a:cs typeface="Times New Roman"/>
                        </a:rPr>
                        <a:t>*Farm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latin typeface="+mn-lt"/>
                          <a:ea typeface="Calibri"/>
                          <a:cs typeface="Times New Roman"/>
                        </a:rPr>
                        <a:t>Not Adequate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latin typeface="+mn-lt"/>
                          <a:ea typeface="Calibri"/>
                          <a:cs typeface="Times New Roman"/>
                        </a:rPr>
                        <a:t>Not Adequate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latin typeface="+mn-lt"/>
                          <a:ea typeface="Calibri"/>
                          <a:cs typeface="Times New Roman"/>
                        </a:rPr>
                        <a:t>Not Adequate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latin typeface="+mn-lt"/>
                          <a:ea typeface="Calibri"/>
                          <a:cs typeface="Times New Roman"/>
                        </a:rPr>
                        <a:t>Not Adequate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987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latin typeface="+mn-lt"/>
                          <a:ea typeface="Calibri"/>
                          <a:cs typeface="Times New Roman"/>
                        </a:rPr>
                        <a:t>**Office Equipment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latin typeface="+mn-lt"/>
                          <a:ea typeface="Calibri"/>
                          <a:cs typeface="Times New Roman"/>
                        </a:rPr>
                        <a:t>Not Adequate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latin typeface="+mn-lt"/>
                          <a:ea typeface="Calibri"/>
                          <a:cs typeface="Times New Roman"/>
                        </a:rPr>
                        <a:t>Not Adequate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latin typeface="+mn-lt"/>
                          <a:ea typeface="Calibri"/>
                          <a:cs typeface="Times New Roman"/>
                        </a:rPr>
                        <a:t>Not Adequate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latin typeface="+mn-lt"/>
                          <a:ea typeface="Calibri"/>
                          <a:cs typeface="Times New Roman"/>
                        </a:rPr>
                        <a:t>Not Adequate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62000" y="228601"/>
            <a:ext cx="7010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 smtClean="0">
                <a:solidFill>
                  <a:srgbClr val="FFFF00"/>
                </a:solidFill>
              </a:rPr>
              <a:t>Table 2 Programme, academic staff strength and infrastructures available in the Faculty of Agricultural Sciences as </a:t>
            </a:r>
            <a:r>
              <a:rPr lang="en-GB" sz="2000" b="1" dirty="0" smtClean="0">
                <a:solidFill>
                  <a:srgbClr val="FFFF00"/>
                </a:solidFill>
              </a:rPr>
              <a:t>at 2015</a:t>
            </a:r>
            <a:endParaRPr lang="en-GB" sz="2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8229600" cy="565150"/>
          </a:xfrm>
        </p:spPr>
        <p:txBody>
          <a:bodyPr>
            <a:normAutofit/>
          </a:bodyPr>
          <a:lstStyle/>
          <a:p>
            <a:pPr algn="l"/>
            <a:r>
              <a:rPr lang="en-GB" sz="2800" dirty="0" smtClean="0"/>
              <a:t>CHALLENGES &amp; SUGGESTED SOLUTIONS</a:t>
            </a:r>
            <a:endParaRPr lang="en-GB" sz="2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990601"/>
            <a:ext cx="4040188" cy="457199"/>
          </a:xfrm>
        </p:spPr>
        <p:txBody>
          <a:bodyPr>
            <a:normAutofit lnSpcReduction="10000"/>
          </a:bodyPr>
          <a:lstStyle/>
          <a:p>
            <a:r>
              <a:rPr lang="en-GB" dirty="0" smtClean="0"/>
              <a:t>    </a:t>
            </a:r>
            <a:r>
              <a:rPr lang="en-GB" dirty="0" smtClean="0">
                <a:solidFill>
                  <a:srgbClr val="FFFF00"/>
                </a:solidFill>
              </a:rPr>
              <a:t>CHALLENGES</a:t>
            </a:r>
            <a:endParaRPr lang="en-GB" dirty="0">
              <a:solidFill>
                <a:srgbClr val="FFFF0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495800" y="914400"/>
            <a:ext cx="4041775" cy="457200"/>
          </a:xfrm>
        </p:spPr>
        <p:txBody>
          <a:bodyPr/>
          <a:lstStyle/>
          <a:p>
            <a:r>
              <a:rPr lang="en-GB" dirty="0" smtClean="0">
                <a:solidFill>
                  <a:srgbClr val="FFFF00"/>
                </a:solidFill>
              </a:rPr>
              <a:t> SUGGESTED  SOLUTIONS</a:t>
            </a:r>
            <a:endParaRPr lang="en-GB" dirty="0">
              <a:solidFill>
                <a:srgbClr val="FFFF00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7800"/>
            <a:ext cx="4191000" cy="4678363"/>
          </a:xfrm>
        </p:spPr>
        <p:txBody>
          <a:bodyPr>
            <a:normAutofit/>
          </a:bodyPr>
          <a:lstStyle/>
          <a:p>
            <a:pPr lvl="0">
              <a:buFont typeface="Wingdings" pitchFamily="2" charset="2"/>
              <a:buChar char="v"/>
            </a:pPr>
            <a:r>
              <a:rPr lang="en-GB" sz="2800" b="1" dirty="0" smtClean="0"/>
              <a:t>Inadequacy of skilled Lecturers</a:t>
            </a:r>
            <a:endParaRPr lang="en-GB" sz="2800" dirty="0" smtClean="0"/>
          </a:p>
          <a:p>
            <a:pPr>
              <a:buNone/>
            </a:pPr>
            <a:r>
              <a:rPr lang="en-GB" dirty="0" smtClean="0"/>
              <a:t>     - inadequacies in terms of teaching ability, information communication and administrative understanding</a:t>
            </a:r>
            <a:endParaRPr lang="en-GB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7800"/>
            <a:ext cx="4498975" cy="5181600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v"/>
            </a:pPr>
            <a:r>
              <a:rPr lang="en-GB" sz="2000" dirty="0" smtClean="0"/>
              <a:t>Use traditional built-in mechanism (vetting by </a:t>
            </a:r>
            <a:r>
              <a:rPr lang="en-GB" sz="2000" dirty="0" err="1" smtClean="0"/>
              <a:t>HoDs</a:t>
            </a:r>
            <a:r>
              <a:rPr lang="en-GB" sz="2000" dirty="0" smtClean="0"/>
              <a:t>, External examiners</a:t>
            </a:r>
          </a:p>
          <a:p>
            <a:pPr>
              <a:buFont typeface="Wingdings" pitchFamily="2" charset="2"/>
              <a:buChar char="v"/>
            </a:pPr>
            <a:r>
              <a:rPr lang="en-GB" sz="2000" dirty="0" smtClean="0"/>
              <a:t>Quality assurance of courses t through online assessment or peer review system to ensure good curriculum delivery aught by lecturers</a:t>
            </a:r>
          </a:p>
          <a:p>
            <a:pPr>
              <a:buFont typeface="Wingdings" pitchFamily="2" charset="2"/>
              <a:buChar char="v"/>
            </a:pPr>
            <a:r>
              <a:rPr lang="en-GB" sz="2000" dirty="0" smtClean="0"/>
              <a:t>Need for further training in pedagogy i.e. how to teach and classroom management</a:t>
            </a:r>
          </a:p>
          <a:p>
            <a:pPr>
              <a:buFont typeface="Wingdings" pitchFamily="2" charset="2"/>
              <a:buChar char="v"/>
            </a:pPr>
            <a:r>
              <a:rPr lang="en-GB" sz="2000" dirty="0" smtClean="0"/>
              <a:t>Need for work ethics and professionalism</a:t>
            </a:r>
          </a:p>
          <a:p>
            <a:pPr>
              <a:buFont typeface="Wingdings" pitchFamily="2" charset="2"/>
              <a:buChar char="v"/>
            </a:pPr>
            <a:r>
              <a:rPr lang="en-GB" sz="2000" dirty="0" smtClean="0"/>
              <a:t>Lecturers must possess skills in the use of power point for teaching.</a:t>
            </a:r>
          </a:p>
          <a:p>
            <a:pPr>
              <a:buFont typeface="Wingdings" pitchFamily="2" charset="2"/>
              <a:buChar char="v"/>
            </a:pPr>
            <a:endParaRPr lang="en-GB" sz="1800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098550"/>
          </a:xfrm>
        </p:spPr>
        <p:txBody>
          <a:bodyPr>
            <a:normAutofit/>
          </a:bodyPr>
          <a:lstStyle/>
          <a:p>
            <a:pPr algn="l"/>
            <a:r>
              <a:rPr lang="en-GB" sz="2800" dirty="0" smtClean="0"/>
              <a:t>CHALLENGES &amp; SUGGESTED SOLUTIONS</a:t>
            </a:r>
            <a:endParaRPr lang="en-GB" sz="2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3000"/>
            <a:ext cx="4040188" cy="990600"/>
          </a:xfrm>
        </p:spPr>
        <p:txBody>
          <a:bodyPr>
            <a:normAutofit/>
          </a:bodyPr>
          <a:lstStyle/>
          <a:p>
            <a:r>
              <a:rPr lang="en-GB" dirty="0" smtClean="0">
                <a:solidFill>
                  <a:srgbClr val="FFFF00"/>
                </a:solidFill>
              </a:rPr>
              <a:t>CHALLENGES</a:t>
            </a:r>
          </a:p>
          <a:p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219200"/>
            <a:ext cx="4041775" cy="1066799"/>
          </a:xfrm>
        </p:spPr>
        <p:txBody>
          <a:bodyPr/>
          <a:lstStyle/>
          <a:p>
            <a:r>
              <a:rPr lang="en-GB" dirty="0" smtClean="0">
                <a:solidFill>
                  <a:srgbClr val="FFFF00"/>
                </a:solidFill>
              </a:rPr>
              <a:t> SUGGESTED  SOLUTIONS</a:t>
            </a:r>
          </a:p>
          <a:p>
            <a:endParaRPr lang="en-GB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828800"/>
            <a:ext cx="4040188" cy="4724400"/>
          </a:xfrm>
        </p:spPr>
        <p:txBody>
          <a:bodyPr/>
          <a:lstStyle/>
          <a:p>
            <a:pPr>
              <a:buFont typeface="Wingdings" pitchFamily="2" charset="2"/>
              <a:buChar char="v"/>
            </a:pPr>
            <a:r>
              <a:rPr lang="en-GB" b="1" dirty="0" smtClean="0"/>
              <a:t>Students’ Performance</a:t>
            </a:r>
          </a:p>
          <a:p>
            <a:pPr>
              <a:buNone/>
            </a:pPr>
            <a:r>
              <a:rPr lang="en-GB" b="1" dirty="0" smtClean="0"/>
              <a:t>     -</a:t>
            </a:r>
            <a:r>
              <a:rPr lang="en-GB" sz="1800" dirty="0" smtClean="0"/>
              <a:t>The raw materials are quite very poor</a:t>
            </a:r>
          </a:p>
          <a:p>
            <a:pPr>
              <a:buNone/>
            </a:pPr>
            <a:endParaRPr lang="en-GB" sz="1800" dirty="0" smtClean="0"/>
          </a:p>
          <a:p>
            <a:pPr>
              <a:buNone/>
            </a:pPr>
            <a:endParaRPr lang="en-GB" sz="1800" dirty="0" smtClean="0"/>
          </a:p>
          <a:p>
            <a:pPr>
              <a:buNone/>
            </a:pPr>
            <a:endParaRPr lang="en-GB" sz="1800" dirty="0" smtClean="0"/>
          </a:p>
          <a:p>
            <a:pPr>
              <a:buNone/>
            </a:pPr>
            <a:endParaRPr lang="en-GB" sz="1800" dirty="0" smtClean="0"/>
          </a:p>
          <a:p>
            <a:pPr>
              <a:buNone/>
            </a:pPr>
            <a:endParaRPr lang="en-GB" sz="1800" dirty="0" smtClean="0"/>
          </a:p>
          <a:p>
            <a:pPr>
              <a:buNone/>
            </a:pPr>
            <a:endParaRPr lang="en-GB" sz="1800" dirty="0" smtClean="0"/>
          </a:p>
          <a:p>
            <a:pPr>
              <a:buNone/>
            </a:pPr>
            <a:endParaRPr lang="en-GB" sz="1800" dirty="0" smtClean="0"/>
          </a:p>
          <a:p>
            <a:pPr lvl="0">
              <a:buFont typeface="Wingdings" pitchFamily="2" charset="2"/>
              <a:buChar char="v"/>
            </a:pPr>
            <a:r>
              <a:rPr lang="en-GB" sz="1800" b="1" dirty="0" smtClean="0"/>
              <a:t>Not Well Structured Time Table</a:t>
            </a:r>
            <a:endParaRPr lang="en-GB" sz="1800" dirty="0" smtClean="0"/>
          </a:p>
          <a:p>
            <a:pPr>
              <a:buNone/>
            </a:pPr>
            <a:endParaRPr lang="en-GB" sz="1800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828800"/>
            <a:ext cx="4041775" cy="47244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GB" sz="1800" dirty="0" smtClean="0"/>
              <a:t>Address quality from the foundation</a:t>
            </a:r>
          </a:p>
          <a:p>
            <a:pPr>
              <a:buFont typeface="Wingdings" pitchFamily="2" charset="2"/>
              <a:buChar char="v"/>
            </a:pPr>
            <a:r>
              <a:rPr lang="en-GB" sz="1800" dirty="0" smtClean="0"/>
              <a:t>Challenged through test to ensure learning </a:t>
            </a:r>
          </a:p>
          <a:p>
            <a:pPr>
              <a:buFont typeface="Wingdings" pitchFamily="2" charset="2"/>
              <a:buChar char="v"/>
            </a:pPr>
            <a:r>
              <a:rPr lang="en-GB" sz="1800" dirty="0" smtClean="0"/>
              <a:t>Conducting short quizzes in the class while teaching to determine level of understanding and communication </a:t>
            </a:r>
          </a:p>
          <a:p>
            <a:pPr>
              <a:buFont typeface="Wingdings" pitchFamily="2" charset="2"/>
              <a:buChar char="v"/>
            </a:pPr>
            <a:r>
              <a:rPr lang="en-GB" sz="1800" dirty="0" smtClean="0"/>
              <a:t>Record the quiz as component part of Continuous Assessment for students to take it seriously</a:t>
            </a:r>
          </a:p>
          <a:p>
            <a:pPr>
              <a:buFont typeface="Wingdings" pitchFamily="2" charset="2"/>
              <a:buChar char="v"/>
            </a:pPr>
            <a:r>
              <a:rPr lang="en-GB" sz="1800" dirty="0" smtClean="0"/>
              <a:t>Disproportionate allocation of contact hours on the time table</a:t>
            </a:r>
            <a:endParaRPr lang="en-GB" sz="1800" dirty="0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717550"/>
          </a:xfrm>
        </p:spPr>
        <p:txBody>
          <a:bodyPr>
            <a:normAutofit/>
          </a:bodyPr>
          <a:lstStyle/>
          <a:p>
            <a:r>
              <a:rPr lang="en-GB" sz="2800" dirty="0" smtClean="0"/>
              <a:t>CHALLENGES &amp; SUGGESTED SOLUTIONS</a:t>
            </a:r>
            <a:endParaRPr lang="en-GB" sz="2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990601"/>
            <a:ext cx="4040188" cy="685799"/>
          </a:xfrm>
        </p:spPr>
        <p:txBody>
          <a:bodyPr>
            <a:normAutofit/>
          </a:bodyPr>
          <a:lstStyle/>
          <a:p>
            <a:r>
              <a:rPr lang="en-GB" dirty="0" smtClean="0">
                <a:solidFill>
                  <a:srgbClr val="FFFF00"/>
                </a:solidFill>
              </a:rPr>
              <a:t>CHALLENGES</a:t>
            </a:r>
          </a:p>
          <a:p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990601"/>
            <a:ext cx="4041775" cy="685799"/>
          </a:xfrm>
        </p:spPr>
        <p:txBody>
          <a:bodyPr/>
          <a:lstStyle/>
          <a:p>
            <a:r>
              <a:rPr lang="en-GB" dirty="0" smtClean="0">
                <a:solidFill>
                  <a:srgbClr val="FFFF00"/>
                </a:solidFill>
              </a:rPr>
              <a:t>SUGGESTED  SOLUTIONS</a:t>
            </a:r>
          </a:p>
          <a:p>
            <a:endParaRPr lang="en-GB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752600"/>
            <a:ext cx="4040188" cy="4373563"/>
          </a:xfrm>
        </p:spPr>
        <p:txBody>
          <a:bodyPr/>
          <a:lstStyle/>
          <a:p>
            <a:pPr lvl="0">
              <a:buFont typeface="Wingdings" pitchFamily="2" charset="2"/>
              <a:buChar char="v"/>
            </a:pPr>
            <a:r>
              <a:rPr lang="en-GB" b="1" dirty="0" smtClean="0"/>
              <a:t>Inadequate Lecture/Classrooms</a:t>
            </a:r>
          </a:p>
          <a:p>
            <a:pPr>
              <a:buFont typeface="Wingdings" pitchFamily="2" charset="2"/>
              <a:buChar char="v"/>
            </a:pPr>
            <a:endParaRPr lang="en-GB" b="1" dirty="0" smtClean="0"/>
          </a:p>
          <a:p>
            <a:pPr>
              <a:buFont typeface="Wingdings" pitchFamily="2" charset="2"/>
              <a:buChar char="v"/>
            </a:pPr>
            <a:r>
              <a:rPr lang="en-GB" b="1" dirty="0" smtClean="0"/>
              <a:t>No Teaching Aids/Instructional Materials</a:t>
            </a:r>
          </a:p>
          <a:p>
            <a:pPr>
              <a:buNone/>
            </a:pPr>
            <a:r>
              <a:rPr lang="en-GB" dirty="0" smtClean="0"/>
              <a:t>-</a:t>
            </a:r>
          </a:p>
          <a:p>
            <a:pPr lvl="0">
              <a:buFont typeface="Wingdings" pitchFamily="2" charset="2"/>
              <a:buChar char="v"/>
            </a:pPr>
            <a:endParaRPr lang="en-GB" dirty="0" smtClean="0"/>
          </a:p>
          <a:p>
            <a:pPr>
              <a:buFont typeface="Wingdings" pitchFamily="2" charset="2"/>
              <a:buChar char="v"/>
            </a:pPr>
            <a:endParaRPr lang="en-GB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828800"/>
            <a:ext cx="4041775" cy="4297363"/>
          </a:xfrm>
        </p:spPr>
        <p:txBody>
          <a:bodyPr/>
          <a:lstStyle/>
          <a:p>
            <a:pPr>
              <a:buFont typeface="Wingdings" pitchFamily="2" charset="2"/>
              <a:buChar char="v"/>
            </a:pPr>
            <a:r>
              <a:rPr lang="en-GB" dirty="0" smtClean="0"/>
              <a:t>Build more classrooms/Lecture theatre</a:t>
            </a:r>
          </a:p>
          <a:p>
            <a:pPr>
              <a:buFont typeface="Wingdings" pitchFamily="2" charset="2"/>
              <a:buChar char="v"/>
            </a:pPr>
            <a:r>
              <a:rPr lang="en-GB" dirty="0" smtClean="0"/>
              <a:t>Buy &amp; train lecturers on the use of instructional materials</a:t>
            </a:r>
            <a:endParaRPr lang="en-GB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85800"/>
          </a:xfrm>
        </p:spPr>
        <p:txBody>
          <a:bodyPr>
            <a:normAutofit/>
          </a:bodyPr>
          <a:lstStyle/>
          <a:p>
            <a:r>
              <a:rPr lang="en-GB" sz="2800" dirty="0" smtClean="0">
                <a:solidFill>
                  <a:srgbClr val="FFFF00"/>
                </a:solidFill>
                <a:latin typeface="+mn-lt"/>
              </a:rPr>
              <a:t>CHALLENGES &amp; SUGGESTED SOLUTIONS</a:t>
            </a:r>
            <a:endParaRPr lang="en-GB" sz="2800" dirty="0">
              <a:solidFill>
                <a:srgbClr val="FFFF00"/>
              </a:solidFill>
              <a:latin typeface="+mn-lt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914401"/>
            <a:ext cx="4040188" cy="609599"/>
          </a:xfrm>
        </p:spPr>
        <p:txBody>
          <a:bodyPr/>
          <a:lstStyle/>
          <a:p>
            <a:r>
              <a:rPr lang="en-GB" dirty="0" smtClean="0">
                <a:solidFill>
                  <a:srgbClr val="FFFF00"/>
                </a:solidFill>
              </a:rPr>
              <a:t>CHALLENGES</a:t>
            </a:r>
          </a:p>
          <a:p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762000"/>
            <a:ext cx="4041775" cy="838200"/>
          </a:xfrm>
        </p:spPr>
        <p:txBody>
          <a:bodyPr>
            <a:normAutofit/>
          </a:bodyPr>
          <a:lstStyle/>
          <a:p>
            <a:r>
              <a:rPr lang="en-GB" dirty="0" smtClean="0">
                <a:solidFill>
                  <a:srgbClr val="FFFF00"/>
                </a:solidFill>
              </a:rPr>
              <a:t>SUGGESTED  SOLUTIONS</a:t>
            </a:r>
          </a:p>
          <a:p>
            <a:endParaRPr lang="en-GB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219200"/>
            <a:ext cx="4040188" cy="5257800"/>
          </a:xfrm>
        </p:spPr>
        <p:txBody>
          <a:bodyPr>
            <a:normAutofit/>
          </a:bodyPr>
          <a:lstStyle/>
          <a:p>
            <a:pPr lvl="0">
              <a:buFont typeface="Wingdings" pitchFamily="2" charset="2"/>
              <a:buChar char="v"/>
            </a:pPr>
            <a:r>
              <a:rPr lang="en-GB" sz="2000" b="1" dirty="0" smtClean="0"/>
              <a:t>Examination Conduct</a:t>
            </a:r>
          </a:p>
          <a:p>
            <a:pPr lvl="0">
              <a:buNone/>
            </a:pPr>
            <a:r>
              <a:rPr lang="en-GB" b="1" dirty="0" smtClean="0"/>
              <a:t>    -</a:t>
            </a:r>
            <a:r>
              <a:rPr lang="en-GB" sz="1600" dirty="0" smtClean="0"/>
              <a:t>latitude in registration exercise often </a:t>
            </a:r>
          </a:p>
          <a:p>
            <a:pPr lvl="0">
              <a:buNone/>
            </a:pPr>
            <a:r>
              <a:rPr lang="en-GB" sz="1600" dirty="0" smtClean="0"/>
              <a:t>       time does not allow for proper preparation for examination.</a:t>
            </a:r>
          </a:p>
          <a:p>
            <a:pPr lvl="0">
              <a:buNone/>
            </a:pPr>
            <a:r>
              <a:rPr lang="en-GB" sz="1600" dirty="0" smtClean="0"/>
              <a:t>      -Examination malpractice</a:t>
            </a:r>
          </a:p>
          <a:p>
            <a:endParaRPr lang="en-GB" dirty="0" smtClean="0"/>
          </a:p>
          <a:p>
            <a:pPr>
              <a:buFont typeface="Wingdings" pitchFamily="2" charset="2"/>
              <a:buChar char="v"/>
            </a:pPr>
            <a:endParaRPr lang="en-GB" sz="2000" dirty="0" smtClean="0"/>
          </a:p>
          <a:p>
            <a:pPr>
              <a:buFont typeface="Wingdings" pitchFamily="2" charset="2"/>
              <a:buChar char="v"/>
            </a:pPr>
            <a:endParaRPr lang="en-GB" sz="2000" dirty="0" smtClean="0"/>
          </a:p>
          <a:p>
            <a:pPr>
              <a:buFont typeface="Wingdings" pitchFamily="2" charset="2"/>
              <a:buChar char="v"/>
            </a:pPr>
            <a:r>
              <a:rPr lang="en-GB" sz="2000" dirty="0" smtClean="0"/>
              <a:t>Delay in grading &amp; release of Results</a:t>
            </a:r>
          </a:p>
          <a:p>
            <a:pPr>
              <a:buNone/>
            </a:pPr>
            <a:endParaRPr lang="en-GB" sz="2000" dirty="0" smtClean="0"/>
          </a:p>
          <a:p>
            <a:pPr>
              <a:buNone/>
            </a:pPr>
            <a:endParaRPr lang="en-GB" sz="2000" dirty="0" smtClean="0"/>
          </a:p>
          <a:p>
            <a:pPr>
              <a:buFont typeface="Wingdings" pitchFamily="2" charset="2"/>
              <a:buChar char="v"/>
            </a:pPr>
            <a:endParaRPr lang="en-GB" sz="2000" dirty="0" smtClean="0"/>
          </a:p>
          <a:p>
            <a:pPr>
              <a:buFont typeface="Wingdings" pitchFamily="2" charset="2"/>
              <a:buChar char="v"/>
            </a:pPr>
            <a:r>
              <a:rPr lang="en-GB" sz="2000" dirty="0" smtClean="0"/>
              <a:t>Transcript processing</a:t>
            </a:r>
          </a:p>
          <a:p>
            <a:pPr>
              <a:buNone/>
            </a:pPr>
            <a:endParaRPr lang="en-GB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1143000"/>
            <a:ext cx="4041775" cy="5562600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v"/>
            </a:pPr>
            <a:r>
              <a:rPr lang="en-GB" sz="1800" dirty="0" smtClean="0"/>
              <a:t>May change if the ICT is made very functional</a:t>
            </a:r>
            <a:r>
              <a:rPr lang="en-GB" dirty="0" smtClean="0"/>
              <a:t>. </a:t>
            </a:r>
            <a:r>
              <a:rPr lang="en-GB" sz="1600" dirty="0" smtClean="0"/>
              <a:t>Students should be made to register for examination online having met the 75% attendance</a:t>
            </a:r>
          </a:p>
          <a:p>
            <a:pPr>
              <a:buFont typeface="Wingdings" pitchFamily="2" charset="2"/>
              <a:buChar char="v"/>
            </a:pPr>
            <a:r>
              <a:rPr lang="en-GB" sz="1600" dirty="0" smtClean="0"/>
              <a:t>Provide adequate space &amp; induction/</a:t>
            </a:r>
            <a:r>
              <a:rPr lang="en-GB" sz="1600" dirty="0" err="1" smtClean="0"/>
              <a:t>councelling</a:t>
            </a:r>
            <a:r>
              <a:rPr lang="en-GB" sz="1600" dirty="0" smtClean="0"/>
              <a:t> for students</a:t>
            </a:r>
          </a:p>
          <a:p>
            <a:pPr>
              <a:buFont typeface="Wingdings" pitchFamily="2" charset="2"/>
              <a:buChar char="v"/>
            </a:pPr>
            <a:r>
              <a:rPr lang="en-GB" sz="1600" dirty="0" smtClean="0"/>
              <a:t>Staff to be well informed on rules that guides examination &amp; good supervision during examination</a:t>
            </a:r>
          </a:p>
          <a:p>
            <a:pPr>
              <a:buFont typeface="Wingdings" pitchFamily="2" charset="2"/>
              <a:buChar char="v"/>
            </a:pPr>
            <a:endParaRPr lang="en-GB" sz="1600" dirty="0" smtClean="0"/>
          </a:p>
          <a:p>
            <a:pPr>
              <a:buFont typeface="Wingdings" pitchFamily="2" charset="2"/>
              <a:buChar char="v"/>
            </a:pPr>
            <a:r>
              <a:rPr lang="en-GB" sz="1600" dirty="0" smtClean="0"/>
              <a:t>Grading of scripts must be concluded within 2 weeks after exams</a:t>
            </a:r>
          </a:p>
          <a:p>
            <a:pPr>
              <a:buFont typeface="Wingdings" pitchFamily="2" charset="2"/>
              <a:buChar char="v"/>
            </a:pPr>
            <a:r>
              <a:rPr lang="en-GB" sz="1600" dirty="0" smtClean="0"/>
              <a:t>Central Examination Result processing should be adopted</a:t>
            </a:r>
          </a:p>
          <a:p>
            <a:pPr>
              <a:buFont typeface="Wingdings" pitchFamily="2" charset="2"/>
              <a:buChar char="v"/>
            </a:pPr>
            <a:endParaRPr lang="en-GB" sz="1600" dirty="0" smtClean="0"/>
          </a:p>
          <a:p>
            <a:pPr>
              <a:buFont typeface="Wingdings" pitchFamily="2" charset="2"/>
              <a:buChar char="v"/>
            </a:pPr>
            <a:r>
              <a:rPr lang="en-GB" sz="1600" dirty="0" smtClean="0"/>
              <a:t>Digitalise the old examination records. Central e-processing of result will also help solve this age-long problem</a:t>
            </a:r>
          </a:p>
          <a:p>
            <a:pPr>
              <a:buNone/>
            </a:pPr>
            <a:endParaRPr lang="en-GB" sz="1600" dirty="0" smtClean="0"/>
          </a:p>
          <a:p>
            <a:pPr>
              <a:buNone/>
            </a:pPr>
            <a:endParaRPr lang="en-GB" sz="1600" dirty="0"/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QUALITY OF RESEARCH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79120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v"/>
            </a:pPr>
            <a:r>
              <a:rPr lang="en-GB" sz="2000" dirty="0" smtClean="0"/>
              <a:t>Researches conducted in virtually all of Nigerian Universities are not demand driven rather it is promotion based.</a:t>
            </a:r>
          </a:p>
          <a:p>
            <a:pPr>
              <a:buFont typeface="Wingdings" pitchFamily="2" charset="2"/>
              <a:buChar char="v"/>
            </a:pPr>
            <a:r>
              <a:rPr lang="en-GB" sz="2000" dirty="0" smtClean="0"/>
              <a:t>The few that address such needs with breakthrough are not given adequate publicity.  </a:t>
            </a:r>
          </a:p>
          <a:p>
            <a:pPr>
              <a:buNone/>
            </a:pPr>
            <a:endParaRPr lang="en-GB" sz="2000" dirty="0" smtClean="0"/>
          </a:p>
          <a:p>
            <a:pPr>
              <a:buFont typeface="Wingdings" pitchFamily="2" charset="2"/>
              <a:buChar char="v"/>
            </a:pPr>
            <a:r>
              <a:rPr lang="en-GB" sz="2000" dirty="0" smtClean="0"/>
              <a:t>Researchers are poorly equipped for the exercise even when fund is available</a:t>
            </a:r>
          </a:p>
          <a:p>
            <a:pPr>
              <a:buFont typeface="Wingdings" pitchFamily="2" charset="2"/>
              <a:buChar char="v"/>
            </a:pPr>
            <a:r>
              <a:rPr lang="en-GB" sz="2000" dirty="0" smtClean="0"/>
              <a:t>Poor infrastructural facilities, namely; electricity, water, poor transportation &amp; communication system coupled with  the challenges in the Nigerian  socio-economic landscape greatly affects the quality of research</a:t>
            </a:r>
          </a:p>
          <a:p>
            <a:pPr>
              <a:buNone/>
            </a:pPr>
            <a:endParaRPr lang="en-GB" sz="2000" dirty="0" smtClean="0"/>
          </a:p>
          <a:p>
            <a:pPr>
              <a:buFont typeface="Wingdings" pitchFamily="2" charset="2"/>
              <a:buChar char="v"/>
            </a:pPr>
            <a:r>
              <a:rPr lang="en-GB" sz="2000" dirty="0" smtClean="0"/>
              <a:t>It is true research fares are organized, but follow up by investors for commercialization is poor</a:t>
            </a:r>
          </a:p>
          <a:p>
            <a:pPr>
              <a:buNone/>
            </a:pPr>
            <a:endParaRPr lang="en-GB" sz="2000" dirty="0" smtClean="0"/>
          </a:p>
          <a:p>
            <a:pPr>
              <a:buFont typeface="Wingdings" pitchFamily="2" charset="2"/>
              <a:buChar char="v"/>
            </a:pPr>
            <a:r>
              <a:rPr lang="en-GB" sz="2000" dirty="0" smtClean="0"/>
              <a:t>The remedies for all the above is just to do the opposite which means government &amp; the researchers must rise to the challenges</a:t>
            </a:r>
            <a:endParaRPr lang="en-GB" sz="2000" dirty="0"/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66800"/>
          </a:xfrm>
        </p:spPr>
        <p:txBody>
          <a:bodyPr>
            <a:normAutofit/>
          </a:bodyPr>
          <a:lstStyle/>
          <a:p>
            <a:pPr algn="l"/>
            <a:r>
              <a:rPr lang="en-GB" sz="3200" dirty="0" smtClean="0"/>
              <a:t>Conclusions</a:t>
            </a:r>
            <a:r>
              <a:rPr lang="en-GB" sz="2800" dirty="0" smtClean="0"/>
              <a:t> </a:t>
            </a:r>
            <a:endParaRPr lang="en-GB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38200"/>
            <a:ext cx="8610600" cy="57150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GB" dirty="0" smtClean="0"/>
              <a:t>The academic  landscape in EKSU is seriously besiege with myriads of surmountable challenges if the system “genuinely” want the change.</a:t>
            </a:r>
          </a:p>
          <a:p>
            <a:pPr>
              <a:buNone/>
            </a:pPr>
            <a:endParaRPr lang="en-GB" dirty="0" smtClean="0"/>
          </a:p>
          <a:p>
            <a:pPr>
              <a:buFont typeface="Wingdings" pitchFamily="2" charset="2"/>
              <a:buChar char="v"/>
            </a:pPr>
            <a:r>
              <a:rPr lang="en-GB" dirty="0" smtClean="0"/>
              <a:t>There is need for level of enforcement of some policy matters to achieve the vision &amp; mission of the Institution as a World-Class University.</a:t>
            </a:r>
          </a:p>
          <a:p>
            <a:pPr>
              <a:buNone/>
            </a:pPr>
            <a:endParaRPr lang="en-GB" dirty="0" smtClean="0"/>
          </a:p>
          <a:p>
            <a:pPr>
              <a:buFont typeface="Wingdings" pitchFamily="2" charset="2"/>
              <a:buChar char="v"/>
            </a:pPr>
            <a:r>
              <a:rPr lang="en-GB" dirty="0" smtClean="0"/>
              <a:t>Therefore, the University Management, teaching &amp; non teaching staff and students should work in synergy to actualise the vision &amp; mission of the Institution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ex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361</TotalTime>
  <Words>979</Words>
  <Application>Microsoft Office PowerPoint</Application>
  <PresentationFormat>On-screen Show (4:3)</PresentationFormat>
  <Paragraphs>188</Paragraphs>
  <Slides>15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Apex</vt:lpstr>
      <vt:lpstr>EKITI STATE UNIVERSITY ACADEMIC PROGRAMME VIABILITY IN THE CONTEXT OF OTHER SUPPRT EDUCATIONAL VARIABLES: CHALLENGES AND SUGGESTIONS FOR ATTAINMENT OF A WORLD-CLASS UNIVERSITY </vt:lpstr>
      <vt:lpstr>Introdution</vt:lpstr>
      <vt:lpstr>Introdution contd</vt:lpstr>
      <vt:lpstr>Academic programmes in EKSU</vt:lpstr>
      <vt:lpstr>Slide 5</vt:lpstr>
      <vt:lpstr>Slide 6</vt:lpstr>
      <vt:lpstr>Slide 7</vt:lpstr>
      <vt:lpstr>Slide 8</vt:lpstr>
      <vt:lpstr>CHALLENGES &amp; SUGGESTED SOLUTIONS</vt:lpstr>
      <vt:lpstr>CHALLENGES &amp; SUGGESTED SOLUTIONS</vt:lpstr>
      <vt:lpstr>CHALLENGES &amp; SUGGESTED SOLUTIONS</vt:lpstr>
      <vt:lpstr>CHALLENGES &amp; SUGGESTED SOLUTIONS</vt:lpstr>
      <vt:lpstr>QUALITY OF RESEARCH</vt:lpstr>
      <vt:lpstr>Conclusions </vt:lpstr>
      <vt:lpstr>Slide 15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EKITI STATE UNIVERSITY ACADEMIC PROGRAMME VIABILITY IN THE CONTEXT OF OTHER SUPPRT EDUCATIONAL VARIABLES: CHALLENGES AND SUGGESTION FOR ATTAINMENT OF A WORLD CLASS UNIVERSITY</dc:title>
  <dc:creator>deejaydot</dc:creator>
  <cp:lastModifiedBy>deejaydot</cp:lastModifiedBy>
  <cp:revision>34</cp:revision>
  <dcterms:created xsi:type="dcterms:W3CDTF">2016-01-31T22:10:45Z</dcterms:created>
  <dcterms:modified xsi:type="dcterms:W3CDTF">2016-02-02T10:16:01Z</dcterms:modified>
</cp:coreProperties>
</file>