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9" r:id="rId4"/>
    <p:sldId id="261" r:id="rId5"/>
    <p:sldId id="260" r:id="rId6"/>
    <p:sldId id="262" r:id="rId7"/>
    <p:sldId id="263" r:id="rId8"/>
    <p:sldId id="264" r:id="rId9"/>
    <p:sldId id="268" r:id="rId10"/>
    <p:sldId id="265" r:id="rId11"/>
    <p:sldId id="266" r:id="rId12"/>
    <p:sldId id="269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7F6E-074D-4C60-9ADC-A814055F3615}" type="datetimeFigureOut">
              <a:rPr lang="en-US" smtClean="0"/>
              <a:pPr/>
              <a:t>2/4/2016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1ED6A-08B3-4A0B-84C7-ACFEDADBF282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75F87-94D8-4A78-ABF0-D6AEC51F39C5}" type="datetimeFigureOut">
              <a:rPr lang="en-US" smtClean="0"/>
              <a:pPr/>
              <a:t>2/4/2016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553F4-4C06-45F9-8CF0-93BC5CD72C2B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C2B6-ED16-4B54-A67E-7F1AF5C2B28A}" type="datetime1">
              <a:rPr lang="en-US" smtClean="0"/>
              <a:pPr/>
              <a:t>2/4/2016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EFB5-203E-47C0-999C-10370D2DD3A7}" type="datetime1">
              <a:rPr lang="en-US" smtClean="0"/>
              <a:pPr/>
              <a:t>2/4/2016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A7AD6-DD69-4C5A-8A7E-A22026FB2122}" type="datetime1">
              <a:rPr lang="en-US" smtClean="0"/>
              <a:pPr/>
              <a:t>2/4/2016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0AEEF-717A-4300-9021-2CE1C7B02B2D}" type="datetime1">
              <a:rPr lang="en-US" smtClean="0"/>
              <a:pPr/>
              <a:t>2/4/2016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A0AC1-ACE9-4E0C-AF2C-82DD14862887}" type="datetime1">
              <a:rPr lang="en-US" smtClean="0"/>
              <a:pPr/>
              <a:t>2/4/2016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3595-AA22-48E7-BC92-99D0D7293FCB}" type="datetime1">
              <a:rPr lang="en-US" smtClean="0"/>
              <a:pPr/>
              <a:t>2/4/2016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26CF-BD7C-45A7-9205-F999943141B6}" type="datetime1">
              <a:rPr lang="en-US" smtClean="0"/>
              <a:pPr/>
              <a:t>2/4/2016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E0333-E49C-4459-B7C3-5353359CB555}" type="datetime1">
              <a:rPr lang="en-US" smtClean="0"/>
              <a:pPr/>
              <a:t>2/4/2016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DCD16-8656-423E-816E-D13DAD787A67}" type="datetime1">
              <a:rPr lang="en-US" smtClean="0"/>
              <a:pPr/>
              <a:t>2/4/2016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FFA5-AABD-46E3-9364-475978FC2BB7}" type="datetime1">
              <a:rPr lang="en-US" smtClean="0"/>
              <a:pPr/>
              <a:t>2/4/2016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D0EB1-26BB-4400-B739-3E4BCBCE99D7}" type="datetime1">
              <a:rPr lang="en-US" smtClean="0"/>
              <a:pPr/>
              <a:t>2/4/2016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E08D8-3C10-48F3-BA9A-A3018BED88A0}" type="datetime1">
              <a:rPr lang="en-US" smtClean="0"/>
              <a:pPr/>
              <a:t>2/4/2016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D45A4-C89E-4763-BD70-D73A9EE2B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acad%20summit.docx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910" y="142852"/>
            <a:ext cx="7772400" cy="3286148"/>
          </a:xfr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PROJECTING THE IMAGE OF EKITI STATE UNIVERSITY THROUGH </a:t>
            </a:r>
            <a:r>
              <a:rPr lang="en-US" b="1" dirty="0" smtClean="0">
                <a:solidFill>
                  <a:schemeClr val="bg1"/>
                </a:solidFill>
              </a:rPr>
              <a:t>IMPROVED STUDENTS</a:t>
            </a:r>
            <a:r>
              <a:rPr lang="en-US" b="1" dirty="0">
                <a:solidFill>
                  <a:schemeClr val="bg1"/>
                </a:solidFill>
              </a:rPr>
              <a:t>’ ADMISSIONS AND EXAMINATION </a:t>
            </a:r>
            <a:r>
              <a:rPr lang="en-US" b="1" dirty="0" smtClean="0">
                <a:solidFill>
                  <a:schemeClr val="bg1"/>
                </a:solidFill>
              </a:rPr>
              <a:t>PROCESSING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857224" y="3500438"/>
            <a:ext cx="7488832" cy="1224136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A PAPER DELIVERED AT THE EDUCATION SUMMIT HELD ON THURSAY, 4TH FEBRUARY, 2016 </a:t>
            </a:r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211960" y="4915927"/>
            <a:ext cx="86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BY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5786" y="5453264"/>
            <a:ext cx="763284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n w="10541" cmpd="sng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latin typeface="Cooper Black" pitchFamily="18" charset="0"/>
                <a:cs typeface="Aharoni" pitchFamily="2" charset="-79"/>
              </a:rPr>
              <a:t>MR. E.A. OGUNYEMI</a:t>
            </a:r>
          </a:p>
          <a:p>
            <a:pPr algn="ctr"/>
            <a:r>
              <a:rPr lang="en-US" sz="2400" b="1" dirty="0" smtClean="0">
                <a:latin typeface="Cooper Black" pitchFamily="18" charset="0"/>
              </a:rPr>
              <a:t>REGISTRAR, EKITI STATE UNIVERSITY </a:t>
            </a:r>
          </a:p>
          <a:p>
            <a:pPr algn="ctr"/>
            <a:r>
              <a:rPr lang="en-US" sz="2400" b="1" dirty="0" smtClean="0">
                <a:latin typeface="Cooper Black" pitchFamily="18" charset="0"/>
              </a:rPr>
              <a:t>ADO EKITI</a:t>
            </a:r>
            <a:endParaRPr lang="en-US" sz="2400" b="1" dirty="0">
              <a:latin typeface="Cooper Black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z="2000" b="1" smtClean="0">
                <a:latin typeface="Algerian" pitchFamily="82" charset="0"/>
              </a:rPr>
              <a:pPr/>
              <a:t>1</a:t>
            </a:fld>
            <a:endParaRPr lang="en-GB" b="1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340237"/>
          </a:xfrm>
        </p:spPr>
        <p:txBody>
          <a:bodyPr>
            <a:normAutofit fontScale="85000" lnSpcReduction="20000"/>
          </a:bodyPr>
          <a:lstStyle/>
          <a:p>
            <a:pPr lvl="0" algn="just">
              <a:lnSpc>
                <a:spcPct val="150000"/>
              </a:lnSpc>
            </a:pPr>
            <a:r>
              <a:rPr lang="en-US" dirty="0" err="1"/>
              <a:t>Ekiti</a:t>
            </a:r>
            <a:r>
              <a:rPr lang="en-US" dirty="0"/>
              <a:t> State University, Ado-</a:t>
            </a:r>
            <a:r>
              <a:rPr lang="en-US" dirty="0" err="1"/>
              <a:t>Ekiti</a:t>
            </a:r>
            <a:r>
              <a:rPr lang="en-US" dirty="0"/>
              <a:t> established in 1982 as </a:t>
            </a:r>
            <a:r>
              <a:rPr lang="en-US" dirty="0" err="1"/>
              <a:t>Obafemi</a:t>
            </a:r>
            <a:r>
              <a:rPr lang="en-US" dirty="0"/>
              <a:t> </a:t>
            </a:r>
            <a:r>
              <a:rPr lang="en-US" dirty="0" err="1"/>
              <a:t>Awolowo</a:t>
            </a:r>
            <a:r>
              <a:rPr lang="en-US" dirty="0"/>
              <a:t> University.</a:t>
            </a:r>
            <a:endParaRPr lang="en-GB" dirty="0"/>
          </a:p>
          <a:p>
            <a:pPr lvl="0" algn="just">
              <a:lnSpc>
                <a:spcPct val="150000"/>
              </a:lnSpc>
            </a:pPr>
            <a:r>
              <a:rPr lang="en-US" dirty="0"/>
              <a:t>Started with 135 pioneer students</a:t>
            </a:r>
            <a:endParaRPr lang="en-GB" dirty="0"/>
          </a:p>
          <a:p>
            <a:pPr lvl="0" algn="just">
              <a:lnSpc>
                <a:spcPct val="150000"/>
              </a:lnSpc>
            </a:pPr>
            <a:r>
              <a:rPr lang="en-US" dirty="0"/>
              <a:t>38 academic and 96 non-teaching members of staff. </a:t>
            </a:r>
            <a:endParaRPr lang="en-GB" dirty="0"/>
          </a:p>
          <a:p>
            <a:pPr lvl="0" algn="just">
              <a:lnSpc>
                <a:spcPct val="150000"/>
              </a:lnSpc>
            </a:pPr>
            <a:r>
              <a:rPr lang="en-US" dirty="0"/>
              <a:t>Now accommodates over 20,000 regular students spread across 11 Faculties, academic Institutes and Directorates.</a:t>
            </a:r>
            <a:endParaRPr lang="en-GB" dirty="0"/>
          </a:p>
          <a:p>
            <a:pPr algn="just">
              <a:lnSpc>
                <a:spcPct val="15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z="2000" b="1" smtClean="0">
                <a:latin typeface="Algerian" pitchFamily="82" charset="0"/>
              </a:rPr>
              <a:pPr/>
              <a:t>2</a:t>
            </a:fld>
            <a:endParaRPr lang="en-GB" b="1" dirty="0">
              <a:latin typeface="Algerian" pitchFamily="8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57422" y="428604"/>
            <a:ext cx="4143404" cy="64633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 smtClean="0">
                <a:solidFill>
                  <a:schemeClr val="bg1"/>
                </a:solidFill>
              </a:rPr>
              <a:t>THE UNIVERSITY</a:t>
            </a:r>
            <a:endParaRPr lang="en-GB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core values of the University include the following: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0"/>
            <a:ext cx="4495800" cy="4525963"/>
          </a:xfrm>
        </p:spPr>
        <p:txBody>
          <a:bodyPr>
            <a:normAutofit fontScale="92500" lnSpcReduction="10000"/>
          </a:bodyPr>
          <a:lstStyle/>
          <a:p>
            <a:pPr marL="571500" lvl="0" indent="-571500" algn="just">
              <a:buFont typeface="+mj-lt"/>
              <a:buAutoNum type="romanLcPeriod"/>
            </a:pPr>
            <a:r>
              <a:rPr lang="en-US" dirty="0"/>
              <a:t>Academic Integrity</a:t>
            </a:r>
            <a:endParaRPr lang="en-GB" dirty="0"/>
          </a:p>
          <a:p>
            <a:pPr marL="571500" lvl="0" indent="-571500" algn="just">
              <a:buFont typeface="+mj-lt"/>
              <a:buAutoNum type="romanLcPeriod"/>
            </a:pPr>
            <a:r>
              <a:rPr lang="en-US" dirty="0"/>
              <a:t>Accountability</a:t>
            </a:r>
            <a:endParaRPr lang="en-GB" dirty="0"/>
          </a:p>
          <a:p>
            <a:pPr marL="571500" lvl="0" indent="-571500" algn="just">
              <a:buFont typeface="+mj-lt"/>
              <a:buAutoNum type="romanLcPeriod"/>
            </a:pPr>
            <a:r>
              <a:rPr lang="en-US" dirty="0"/>
              <a:t>Caring for the well-being of staff and students</a:t>
            </a:r>
            <a:endParaRPr lang="en-GB" dirty="0"/>
          </a:p>
          <a:p>
            <a:pPr marL="571500" lvl="0" indent="-571500" algn="just">
              <a:buFont typeface="+mj-lt"/>
              <a:buAutoNum type="romanLcPeriod"/>
            </a:pPr>
            <a:r>
              <a:rPr lang="en-US" dirty="0"/>
              <a:t>Fairness in all relationships with staff and students irrespective of age and gender</a:t>
            </a:r>
            <a:endParaRPr lang="en-GB" dirty="0"/>
          </a:p>
          <a:p>
            <a:pPr marL="571500" lvl="0" indent="-571500" algn="just">
              <a:buFont typeface="+mj-lt"/>
              <a:buAutoNum type="romanLcPeriod"/>
            </a:pPr>
            <a:r>
              <a:rPr lang="en-US" dirty="0"/>
              <a:t>High standards of personal honesty and ethical behavior</a:t>
            </a:r>
            <a:endParaRPr lang="en-GB" dirty="0"/>
          </a:p>
          <a:p>
            <a:pPr marL="571500" indent="-571500" algn="just">
              <a:buFont typeface="+mj-lt"/>
              <a:buAutoNum type="romanLcPeriod"/>
            </a:pP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92500" lnSpcReduction="10000"/>
          </a:bodyPr>
          <a:lstStyle/>
          <a:p>
            <a:pPr marL="571500" lvl="0" indent="-571500">
              <a:buNone/>
            </a:pPr>
            <a:r>
              <a:rPr lang="en-US" dirty="0" smtClean="0"/>
              <a:t>vi.	Openness </a:t>
            </a:r>
            <a:r>
              <a:rPr lang="en-US" dirty="0"/>
              <a:t>and shared governance</a:t>
            </a:r>
            <a:endParaRPr lang="en-GB" dirty="0"/>
          </a:p>
          <a:p>
            <a:pPr marL="571500" lvl="0" indent="-571500">
              <a:buNone/>
            </a:pPr>
            <a:r>
              <a:rPr lang="en-US" dirty="0" smtClean="0"/>
              <a:t>vii.	Confidentiality </a:t>
            </a:r>
            <a:r>
              <a:rPr lang="en-US" dirty="0"/>
              <a:t>in handling all official information</a:t>
            </a:r>
            <a:endParaRPr lang="en-GB" dirty="0"/>
          </a:p>
          <a:p>
            <a:pPr marL="571500" lvl="0" indent="-571500">
              <a:buNone/>
            </a:pPr>
            <a:r>
              <a:rPr lang="en-US" dirty="0" smtClean="0"/>
              <a:t>viii.	Pursuit </a:t>
            </a:r>
            <a:r>
              <a:rPr lang="en-US" dirty="0"/>
              <a:t>of excellence in teaching, research and services</a:t>
            </a:r>
            <a:endParaRPr lang="en-GB" dirty="0"/>
          </a:p>
          <a:p>
            <a:pPr marL="571500" lvl="0" indent="-571500">
              <a:buNone/>
            </a:pPr>
            <a:r>
              <a:rPr lang="en-US" dirty="0" smtClean="0"/>
              <a:t>ix.	Respect </a:t>
            </a:r>
            <a:r>
              <a:rPr lang="en-US" dirty="0"/>
              <a:t>for tradition and culture</a:t>
            </a:r>
            <a:endParaRPr lang="en-GB" dirty="0"/>
          </a:p>
          <a:p>
            <a:pPr marL="571500" lvl="0" indent="-571500">
              <a:buNone/>
            </a:pPr>
            <a:r>
              <a:rPr lang="en-US" dirty="0" smtClean="0"/>
              <a:t>x.	Probity </a:t>
            </a:r>
            <a:r>
              <a:rPr lang="en-US" dirty="0"/>
              <a:t>in judgment and action</a:t>
            </a:r>
            <a:endParaRPr lang="en-GB" dirty="0"/>
          </a:p>
          <a:p>
            <a:pPr marL="571500" indent="-571500">
              <a:buFont typeface="+mj-lt"/>
              <a:buAutoNum type="romanLcPeriod"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z="2000" b="1" smtClean="0">
                <a:latin typeface="Algerian" pitchFamily="82" charset="0"/>
              </a:rPr>
              <a:pPr/>
              <a:t>3</a:t>
            </a:fld>
            <a:endParaRPr lang="en-GB" b="1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The University in the </a:t>
            </a:r>
            <a:r>
              <a:rPr lang="en-US" b="1" dirty="0" smtClean="0"/>
              <a:t>90s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760425"/>
            <a:ext cx="4038600" cy="4525963"/>
          </a:xfrm>
        </p:spPr>
        <p:txBody>
          <a:bodyPr>
            <a:noAutofit/>
          </a:bodyPr>
          <a:lstStyle/>
          <a:p>
            <a:pPr lvl="0" algn="just">
              <a:lnSpc>
                <a:spcPct val="170000"/>
              </a:lnSpc>
            </a:pPr>
            <a:r>
              <a:rPr lang="en-US" sz="2000" dirty="0"/>
              <a:t>Admission over-subscribed  </a:t>
            </a:r>
            <a:endParaRPr lang="en-GB" sz="2000" dirty="0"/>
          </a:p>
          <a:p>
            <a:pPr lvl="0" algn="just">
              <a:lnSpc>
                <a:spcPct val="170000"/>
              </a:lnSpc>
            </a:pPr>
            <a:r>
              <a:rPr lang="en-US" sz="2000" dirty="0"/>
              <a:t>Improved staff and student discipline </a:t>
            </a:r>
            <a:endParaRPr lang="en-GB" sz="2000" dirty="0"/>
          </a:p>
          <a:p>
            <a:pPr lvl="0" algn="just">
              <a:lnSpc>
                <a:spcPct val="170000"/>
              </a:lnSpc>
            </a:pPr>
            <a:r>
              <a:rPr lang="en-US" sz="2000" dirty="0"/>
              <a:t>Regular attendance of lecturers and students at lectures</a:t>
            </a:r>
            <a:endParaRPr lang="en-GB" sz="2000" dirty="0"/>
          </a:p>
          <a:p>
            <a:pPr lvl="0" algn="just">
              <a:lnSpc>
                <a:spcPct val="170000"/>
              </a:lnSpc>
            </a:pPr>
            <a:r>
              <a:rPr lang="en-US" sz="2000" dirty="0"/>
              <a:t>Timely release of examination results</a:t>
            </a:r>
            <a:endParaRPr lang="en-GB" sz="2000" dirty="0"/>
          </a:p>
          <a:p>
            <a:pPr lvl="0" algn="just">
              <a:lnSpc>
                <a:spcPct val="170000"/>
              </a:lnSpc>
            </a:pPr>
            <a:r>
              <a:rPr lang="en-US" sz="2000" dirty="0"/>
              <a:t>Examination misconduct was a </a:t>
            </a:r>
            <a:r>
              <a:rPr lang="en-US" sz="2000" dirty="0" smtClean="0"/>
              <a:t>rarity</a:t>
            </a:r>
          </a:p>
          <a:p>
            <a:pPr lvl="0" algn="just">
              <a:lnSpc>
                <a:spcPct val="170000"/>
              </a:lnSpc>
              <a:buNone/>
            </a:pPr>
            <a:endParaRPr lang="en-GB" sz="2000" dirty="0"/>
          </a:p>
          <a:p>
            <a:pPr algn="just">
              <a:lnSpc>
                <a:spcPct val="170000"/>
              </a:lnSpc>
              <a:buNone/>
            </a:pPr>
            <a:endParaRPr lang="en-GB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714356"/>
            <a:ext cx="4038600" cy="4525963"/>
          </a:xfrm>
        </p:spPr>
        <p:txBody>
          <a:bodyPr>
            <a:noAutofit/>
          </a:bodyPr>
          <a:lstStyle/>
          <a:p>
            <a:pPr lvl="0" algn="just">
              <a:lnSpc>
                <a:spcPct val="170000"/>
              </a:lnSpc>
            </a:pPr>
            <a:r>
              <a:rPr lang="en-US" sz="2000" dirty="0"/>
              <a:t>Falsification of results and forgery of certificate was hardly heard of.</a:t>
            </a:r>
            <a:endParaRPr lang="en-GB" sz="2000" dirty="0"/>
          </a:p>
          <a:p>
            <a:pPr lvl="0" algn="just">
              <a:lnSpc>
                <a:spcPct val="170000"/>
              </a:lnSpc>
            </a:pPr>
            <a:r>
              <a:rPr lang="en-US" sz="2000" dirty="0"/>
              <a:t>The University produced highly competitive graduates.</a:t>
            </a:r>
            <a:endParaRPr lang="en-GB" sz="2000" dirty="0"/>
          </a:p>
          <a:p>
            <a:pPr lvl="0" algn="just">
              <a:lnSpc>
                <a:spcPct val="170000"/>
              </a:lnSpc>
            </a:pPr>
            <a:r>
              <a:rPr lang="en-US" sz="2000" dirty="0"/>
              <a:t>Prompt submission of draft minutes. </a:t>
            </a:r>
            <a:endParaRPr lang="en-GB" sz="2000" dirty="0"/>
          </a:p>
          <a:p>
            <a:pPr lvl="0" algn="just">
              <a:lnSpc>
                <a:spcPct val="170000"/>
              </a:lnSpc>
            </a:pPr>
            <a:r>
              <a:rPr lang="en-US" sz="2000" dirty="0"/>
              <a:t>Timely communication of decisions reached at meetings</a:t>
            </a:r>
            <a:endParaRPr lang="en-GB" sz="2000" dirty="0"/>
          </a:p>
          <a:p>
            <a:pPr lvl="0" algn="just">
              <a:lnSpc>
                <a:spcPct val="170000"/>
              </a:lnSpc>
            </a:pPr>
            <a:r>
              <a:rPr lang="en-US" sz="2000" dirty="0" smtClean="0"/>
              <a:t>Requests for transcript  were </a:t>
            </a:r>
            <a:r>
              <a:rPr lang="en-US" sz="2000" dirty="0"/>
              <a:t>promptly attended to</a:t>
            </a:r>
            <a:endParaRPr lang="en-GB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2714612" y="6334804"/>
            <a:ext cx="3357586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GB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POSITIVE IMAGE</a:t>
            </a:r>
            <a:endParaRPr lang="en-GB" sz="2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7" name="Bent Arrow 6"/>
          <p:cNvSpPr/>
          <p:nvPr/>
        </p:nvSpPr>
        <p:spPr>
          <a:xfrm rot="5400000" flipH="1">
            <a:off x="5786446" y="5786430"/>
            <a:ext cx="714380" cy="142876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Bent Arrow 7"/>
          <p:cNvSpPr/>
          <p:nvPr/>
        </p:nvSpPr>
        <p:spPr>
          <a:xfrm rot="16200000">
            <a:off x="1609098" y="5812940"/>
            <a:ext cx="721814" cy="1368305"/>
          </a:xfrm>
          <a:prstGeom prst="bentArrow">
            <a:avLst>
              <a:gd name="adj1" fmla="val 25000"/>
              <a:gd name="adj2" fmla="val 25000"/>
              <a:gd name="adj3" fmla="val 50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z="2000" b="1" smtClean="0">
                <a:latin typeface="Algerian" pitchFamily="82" charset="0"/>
              </a:rPr>
              <a:pPr/>
              <a:t>4</a:t>
            </a:fld>
            <a:endParaRPr lang="en-GB" b="1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6" grpId="0"/>
      <p:bldP spid="7" grpId="0" animBg="1"/>
      <p:bldP spid="8" grpId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Current </a:t>
            </a:r>
            <a:r>
              <a:rPr lang="en-US" b="1" dirty="0" smtClean="0"/>
              <a:t>Situation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70000"/>
              </a:lnSpc>
            </a:pPr>
            <a:r>
              <a:rPr lang="en-US" sz="2000" b="1" dirty="0"/>
              <a:t>Irregular academic calendar</a:t>
            </a:r>
            <a:endParaRPr lang="en-GB" sz="2000" b="1" dirty="0"/>
          </a:p>
          <a:p>
            <a:pPr lvl="0" algn="just">
              <a:lnSpc>
                <a:spcPct val="170000"/>
              </a:lnSpc>
            </a:pPr>
            <a:r>
              <a:rPr lang="en-US" sz="2000" b="1" dirty="0"/>
              <a:t>Incessant strike actions</a:t>
            </a:r>
            <a:endParaRPr lang="en-GB" sz="2000" b="1" dirty="0"/>
          </a:p>
          <a:p>
            <a:pPr lvl="0" algn="just">
              <a:lnSpc>
                <a:spcPct val="170000"/>
              </a:lnSpc>
            </a:pPr>
            <a:r>
              <a:rPr lang="en-US" sz="2000" b="1" dirty="0"/>
              <a:t>Late release of examination results</a:t>
            </a:r>
            <a:endParaRPr lang="en-GB" sz="2000" b="1" dirty="0"/>
          </a:p>
          <a:p>
            <a:pPr lvl="0" algn="just">
              <a:lnSpc>
                <a:spcPct val="170000"/>
              </a:lnSpc>
            </a:pPr>
            <a:r>
              <a:rPr lang="en-US" sz="2000" b="1" dirty="0"/>
              <a:t>Inability to meet demands for transcript</a:t>
            </a:r>
            <a:endParaRPr lang="en-GB" sz="2000" b="1" dirty="0"/>
          </a:p>
          <a:p>
            <a:pPr lvl="0" algn="just">
              <a:lnSpc>
                <a:spcPct val="170000"/>
              </a:lnSpc>
            </a:pPr>
            <a:r>
              <a:rPr lang="en-US" sz="2000" b="1" dirty="0"/>
              <a:t>High incidence of result/certificate counterfeiting</a:t>
            </a:r>
            <a:endParaRPr lang="en-GB" sz="2000" b="1" dirty="0"/>
          </a:p>
          <a:p>
            <a:pPr lvl="0" algn="just">
              <a:lnSpc>
                <a:spcPct val="170000"/>
              </a:lnSpc>
            </a:pPr>
            <a:r>
              <a:rPr lang="en-US" sz="2000" b="1" dirty="0"/>
              <a:t>Low admission patronage</a:t>
            </a:r>
            <a:endParaRPr lang="en-GB" sz="2000" b="1" dirty="0"/>
          </a:p>
          <a:p>
            <a:pPr lvl="0" algn="just">
              <a:lnSpc>
                <a:spcPct val="170000"/>
              </a:lnSpc>
            </a:pPr>
            <a:r>
              <a:rPr lang="en-US" sz="2000" b="1" dirty="0"/>
              <a:t>Poor attitude to work</a:t>
            </a:r>
            <a:endParaRPr lang="en-GB" sz="2000" b="1" dirty="0"/>
          </a:p>
          <a:p>
            <a:pPr lvl="0" algn="just">
              <a:lnSpc>
                <a:spcPct val="170000"/>
              </a:lnSpc>
            </a:pPr>
            <a:r>
              <a:rPr lang="en-US" sz="2000" b="1" dirty="0"/>
              <a:t>Inadequate facilities</a:t>
            </a:r>
            <a:endParaRPr lang="en-GB" sz="2000" b="1" dirty="0"/>
          </a:p>
          <a:p>
            <a:pPr lvl="0" algn="just">
              <a:lnSpc>
                <a:spcPct val="170000"/>
              </a:lnSpc>
            </a:pPr>
            <a:r>
              <a:rPr lang="en-US" sz="2000" b="1" dirty="0"/>
              <a:t>Poor internet connectivity</a:t>
            </a:r>
            <a:endParaRPr lang="en-GB" sz="2000" b="1" dirty="0"/>
          </a:p>
          <a:p>
            <a:pPr algn="just">
              <a:lnSpc>
                <a:spcPct val="170000"/>
              </a:lnSpc>
              <a:buNone/>
            </a:pPr>
            <a:endParaRPr lang="en-GB" sz="2000" b="1" dirty="0"/>
          </a:p>
        </p:txBody>
      </p:sp>
      <p:sp>
        <p:nvSpPr>
          <p:cNvPr id="4" name="Right Brace 3"/>
          <p:cNvSpPr/>
          <p:nvPr/>
        </p:nvSpPr>
        <p:spPr>
          <a:xfrm>
            <a:off x="7572396" y="1714488"/>
            <a:ext cx="1143008" cy="4857784"/>
          </a:xfrm>
          <a:prstGeom prst="righ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8572528" y="928670"/>
            <a:ext cx="571504" cy="569386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b="1" dirty="0" smtClean="0">
                <a:ln>
                  <a:solidFill>
                    <a:schemeClr val="accent1">
                      <a:lumMod val="75000"/>
                    </a:schemeClr>
                  </a:solidFill>
                </a:ln>
              </a:rPr>
              <a:t>NEGA</a:t>
            </a:r>
          </a:p>
          <a:p>
            <a:r>
              <a:rPr lang="en-GB" sz="2800" b="1" dirty="0" smtClean="0">
                <a:ln>
                  <a:solidFill>
                    <a:schemeClr val="accent1">
                      <a:lumMod val="75000"/>
                    </a:schemeClr>
                  </a:solidFill>
                </a:ln>
              </a:rPr>
              <a:t>T</a:t>
            </a:r>
          </a:p>
          <a:p>
            <a:r>
              <a:rPr lang="en-GB" sz="2800" b="1" dirty="0" smtClean="0">
                <a:ln>
                  <a:solidFill>
                    <a:schemeClr val="accent1">
                      <a:lumMod val="75000"/>
                    </a:schemeClr>
                  </a:solidFill>
                </a:ln>
              </a:rPr>
              <a:t>I</a:t>
            </a:r>
          </a:p>
          <a:p>
            <a:r>
              <a:rPr lang="en-GB" sz="2800" b="1" dirty="0" smtClean="0">
                <a:ln>
                  <a:solidFill>
                    <a:schemeClr val="accent1">
                      <a:lumMod val="75000"/>
                    </a:schemeClr>
                  </a:solidFill>
                </a:ln>
              </a:rPr>
              <a:t>V</a:t>
            </a:r>
          </a:p>
          <a:p>
            <a:r>
              <a:rPr lang="en-GB" sz="2800" b="1" dirty="0" smtClean="0">
                <a:ln>
                  <a:solidFill>
                    <a:schemeClr val="accent1">
                      <a:lumMod val="75000"/>
                    </a:schemeClr>
                  </a:solidFill>
                </a:ln>
              </a:rPr>
              <a:t>E IMAGE</a:t>
            </a:r>
            <a:endParaRPr lang="en-GB" sz="2800" b="1" dirty="0">
              <a:ln>
                <a:solidFill>
                  <a:schemeClr val="accent1">
                    <a:lumMod val="75000"/>
                  </a:schemeClr>
                </a:solidFill>
              </a:ln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z="2000" b="1" smtClean="0">
                <a:latin typeface="Algerian" pitchFamily="82" charset="0"/>
              </a:rPr>
              <a:pPr/>
              <a:t>5</a:t>
            </a:fld>
            <a:endParaRPr lang="en-GB" b="1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  <p:bldP spid="5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ADMISSIONS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In the last three years, the University has not been able to meet its admission quota. The table below shows the percentage of admission in the last three </a:t>
            </a:r>
            <a:r>
              <a:rPr lang="en-US" dirty="0" smtClean="0"/>
              <a:t>sessions.</a:t>
            </a:r>
            <a:endParaRPr lang="en-GB" dirty="0"/>
          </a:p>
          <a:p>
            <a:pPr algn="just">
              <a:lnSpc>
                <a:spcPct val="150000"/>
              </a:lnSpc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z="2000" b="1" smtClean="0">
                <a:latin typeface="Algerian" pitchFamily="82" charset="0"/>
              </a:rPr>
              <a:pPr/>
              <a:t>6</a:t>
            </a:fld>
            <a:endParaRPr lang="en-GB" b="1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1406" y="857232"/>
          <a:ext cx="9001157" cy="507209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356"/>
                <a:gridCol w="2265932"/>
                <a:gridCol w="1797119"/>
                <a:gridCol w="2031525"/>
                <a:gridCol w="2125225"/>
              </a:tblGrid>
              <a:tr h="205299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dirty="0"/>
                        <a:t>S/N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dirty="0"/>
                        <a:t>SESSION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dirty="0"/>
                        <a:t>QUOTA PER SESSION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/>
                        <a:t>TOTAL ADMITTED PER SESSION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dirty="0"/>
                        <a:t>PERCENTAGE ADMISSION PER SESSION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0063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3200"/>
                        <a:t>1.</a:t>
                      </a:r>
                      <a:endParaRPr lang="en-GB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3200"/>
                        <a:t>2012/2013</a:t>
                      </a:r>
                      <a:endParaRPr lang="en-GB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3200"/>
                        <a:t>4,236</a:t>
                      </a:r>
                      <a:endParaRPr lang="en-GB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3200"/>
                        <a:t>4,126</a:t>
                      </a:r>
                      <a:endParaRPr lang="en-GB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3200" dirty="0"/>
                        <a:t>97.4%</a:t>
                      </a:r>
                      <a:endParaRPr lang="en-GB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0063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3200"/>
                        <a:t>2.</a:t>
                      </a:r>
                      <a:endParaRPr lang="en-GB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3200"/>
                        <a:t>2013/2014</a:t>
                      </a:r>
                      <a:endParaRPr lang="en-GB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3200"/>
                        <a:t>5,383</a:t>
                      </a:r>
                      <a:endParaRPr lang="en-GB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3200"/>
                        <a:t>2,936</a:t>
                      </a:r>
                      <a:endParaRPr lang="en-GB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3200" dirty="0"/>
                        <a:t>55.0%</a:t>
                      </a:r>
                      <a:endParaRPr lang="en-GB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0063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3200" dirty="0"/>
                        <a:t>3.</a:t>
                      </a:r>
                      <a:endParaRPr lang="en-GB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3200" dirty="0"/>
                        <a:t>2014/2015</a:t>
                      </a:r>
                      <a:endParaRPr lang="en-GB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3200"/>
                        <a:t>5,423</a:t>
                      </a:r>
                      <a:endParaRPr lang="en-GB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3200"/>
                        <a:t>4,614</a:t>
                      </a:r>
                      <a:endParaRPr lang="en-GB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3200" dirty="0"/>
                        <a:t>85.0%</a:t>
                      </a:r>
                      <a:endParaRPr lang="en-GB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z="2000" b="1" smtClean="0">
                <a:latin typeface="Algerian" pitchFamily="82" charset="0"/>
              </a:rPr>
              <a:pPr/>
              <a:t>7</a:t>
            </a:fld>
            <a:endParaRPr lang="en-GB" b="1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2428892"/>
          </a:xfrm>
        </p:spPr>
        <p:txBody>
          <a:bodyPr>
            <a:normAutofit fontScale="90000"/>
          </a:bodyPr>
          <a:lstStyle/>
          <a:p>
            <a:r>
              <a:rPr lang="en-US" b="1" i="1" dirty="0" smtClean="0"/>
              <a:t>REPORT OF THE COMMITTEE ON THE DECLINING RATE OF CANDIDATES SEEKING ADMISSION INTO THE UNIVERSITY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2928934"/>
            <a:ext cx="8229600" cy="271464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1" i="1" dirty="0" smtClean="0"/>
              <a:t>Table below shows Students</a:t>
            </a:r>
            <a:r>
              <a:rPr lang="en-US" b="1" i="1" dirty="0"/>
              <a:t>’ Subscription to the University for 8 </a:t>
            </a:r>
            <a:r>
              <a:rPr lang="en-US" b="1" i="1" dirty="0">
                <a:hlinkClick r:id="rId2" action="ppaction://hlinkfile"/>
              </a:rPr>
              <a:t>years</a:t>
            </a:r>
            <a:endParaRPr lang="en-GB" dirty="0"/>
          </a:p>
          <a:p>
            <a:pPr algn="just">
              <a:lnSpc>
                <a:spcPct val="150000"/>
              </a:lnSpc>
              <a:buNone/>
            </a:pPr>
            <a:endParaRPr lang="en-GB" dirty="0"/>
          </a:p>
          <a:p>
            <a:pPr algn="just">
              <a:lnSpc>
                <a:spcPct val="150000"/>
              </a:lnSpc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z="2000" b="1" smtClean="0">
                <a:latin typeface="Algerian" pitchFamily="82" charset="0"/>
              </a:rPr>
              <a:pPr/>
              <a:t>8</a:t>
            </a:fld>
            <a:endParaRPr lang="en-GB" sz="2000" b="1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411807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 smtClean="0"/>
              <a:t>TRANSCRIPTS</a:t>
            </a:r>
            <a:endParaRPr lang="en-GB" dirty="0" smtClean="0"/>
          </a:p>
          <a:p>
            <a:pPr algn="just">
              <a:lnSpc>
                <a:spcPct val="150000"/>
              </a:lnSpc>
              <a:buNone/>
            </a:pPr>
            <a:r>
              <a:rPr lang="en-US" b="1" dirty="0" smtClean="0"/>
              <a:t>	Problems Associated with Issuance of Transcripts</a:t>
            </a:r>
            <a:endParaRPr lang="en-GB" dirty="0" smtClean="0"/>
          </a:p>
          <a:p>
            <a:pPr lvl="0" algn="just">
              <a:lnSpc>
                <a:spcPct val="150000"/>
              </a:lnSpc>
            </a:pPr>
            <a:r>
              <a:rPr lang="en-US" dirty="0" smtClean="0"/>
              <a:t>Late release of examination results</a:t>
            </a:r>
            <a:endParaRPr lang="en-GB" dirty="0" smtClean="0"/>
          </a:p>
          <a:p>
            <a:pPr lvl="0" algn="just">
              <a:lnSpc>
                <a:spcPct val="150000"/>
              </a:lnSpc>
            </a:pPr>
            <a:r>
              <a:rPr lang="en-US" dirty="0" smtClean="0"/>
              <a:t>Poor data collation</a:t>
            </a:r>
            <a:endParaRPr lang="en-GB" dirty="0" smtClean="0"/>
          </a:p>
          <a:p>
            <a:pPr lvl="0" algn="just">
              <a:lnSpc>
                <a:spcPct val="150000"/>
              </a:lnSpc>
            </a:pPr>
            <a:r>
              <a:rPr lang="en-US" dirty="0" smtClean="0"/>
              <a:t>Loss of data through poor storage</a:t>
            </a:r>
          </a:p>
          <a:p>
            <a:pPr lvl="0" algn="just">
              <a:lnSpc>
                <a:spcPct val="150000"/>
              </a:lnSpc>
            </a:pPr>
            <a:r>
              <a:rPr lang="en-US" dirty="0" smtClean="0"/>
              <a:t>Inadequate staff</a:t>
            </a:r>
            <a:r>
              <a:rPr lang="en-GB" dirty="0" err="1" smtClean="0"/>
              <a:t>ing</a:t>
            </a:r>
            <a:endParaRPr lang="en-GB" dirty="0" smtClean="0"/>
          </a:p>
          <a:p>
            <a:pPr lvl="0" algn="just">
              <a:lnSpc>
                <a:spcPct val="150000"/>
              </a:lnSpc>
            </a:pPr>
            <a:r>
              <a:rPr lang="en-GB" dirty="0" smtClean="0"/>
              <a:t>Inadequate facilities / infrastructure 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z="2000" b="1" smtClean="0">
                <a:latin typeface="Algerian" pitchFamily="82" charset="0"/>
              </a:rPr>
              <a:pPr/>
              <a:t>9</a:t>
            </a:fld>
            <a:endParaRPr lang="en-GB" b="1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Way Forward on Improved Transcript </a:t>
            </a:r>
            <a:r>
              <a:rPr lang="en-US" b="1" dirty="0" smtClean="0"/>
              <a:t>Issuance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US" dirty="0"/>
              <a:t>Data </a:t>
            </a:r>
            <a:r>
              <a:rPr lang="en-US" dirty="0" smtClean="0"/>
              <a:t>recovery/storage</a:t>
            </a:r>
          </a:p>
          <a:p>
            <a:pPr lvl="0" algn="just">
              <a:lnSpc>
                <a:spcPct val="150000"/>
              </a:lnSpc>
            </a:pPr>
            <a:r>
              <a:rPr lang="en-US" smtClean="0"/>
              <a:t>Timely release </a:t>
            </a:r>
            <a:r>
              <a:rPr lang="en-US" dirty="0" smtClean="0"/>
              <a:t>of </a:t>
            </a:r>
            <a:r>
              <a:rPr lang="en-US" smtClean="0"/>
              <a:t>examination results</a:t>
            </a:r>
            <a:endParaRPr lang="en-GB" dirty="0"/>
          </a:p>
          <a:p>
            <a:pPr lvl="0" algn="just">
              <a:lnSpc>
                <a:spcPct val="150000"/>
              </a:lnSpc>
            </a:pPr>
            <a:r>
              <a:rPr lang="en-US" dirty="0"/>
              <a:t>Improved staffing</a:t>
            </a:r>
            <a:endParaRPr lang="en-GB" dirty="0"/>
          </a:p>
          <a:p>
            <a:pPr lvl="0" algn="just">
              <a:lnSpc>
                <a:spcPct val="150000"/>
              </a:lnSpc>
            </a:pPr>
            <a:r>
              <a:rPr lang="en-US" dirty="0"/>
              <a:t>Provision of facilities – computer/office equipment, </a:t>
            </a:r>
            <a:r>
              <a:rPr lang="en-US" dirty="0" smtClean="0"/>
              <a:t>furniture and ICT/internet </a:t>
            </a:r>
            <a:endParaRPr lang="en-GB" dirty="0"/>
          </a:p>
          <a:p>
            <a:pPr lvl="0" algn="just">
              <a:lnSpc>
                <a:spcPct val="150000"/>
              </a:lnSpc>
            </a:pPr>
            <a:r>
              <a:rPr lang="en-US" dirty="0"/>
              <a:t>Digitalization of records – long term solutions</a:t>
            </a:r>
            <a:endParaRPr lang="en-GB" dirty="0"/>
          </a:p>
          <a:p>
            <a:pPr algn="just">
              <a:lnSpc>
                <a:spcPct val="150000"/>
              </a:lnSpc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z="2000" b="1" smtClean="0">
                <a:latin typeface="Algerian" pitchFamily="82" charset="0"/>
              </a:rPr>
              <a:pPr/>
              <a:t>10</a:t>
            </a:fld>
            <a:endParaRPr lang="en-GB" b="1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PERCEPTION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US" dirty="0"/>
              <a:t>Prospective Students and their parents</a:t>
            </a:r>
            <a:endParaRPr lang="en-GB" dirty="0"/>
          </a:p>
          <a:p>
            <a:pPr lvl="0">
              <a:lnSpc>
                <a:spcPct val="150000"/>
              </a:lnSpc>
            </a:pPr>
            <a:r>
              <a:rPr lang="en-US" dirty="0"/>
              <a:t>Our current students</a:t>
            </a:r>
            <a:endParaRPr lang="en-GB" dirty="0"/>
          </a:p>
          <a:p>
            <a:pPr lvl="0">
              <a:lnSpc>
                <a:spcPct val="150000"/>
              </a:lnSpc>
            </a:pPr>
            <a:r>
              <a:rPr lang="en-US" dirty="0"/>
              <a:t>Alumni</a:t>
            </a:r>
            <a:endParaRPr lang="en-GB" dirty="0"/>
          </a:p>
          <a:p>
            <a:pPr lvl="0">
              <a:lnSpc>
                <a:spcPct val="150000"/>
              </a:lnSpc>
              <a:buNone/>
            </a:pPr>
            <a:r>
              <a:rPr lang="en-US" dirty="0" smtClean="0"/>
              <a:t>Employers -	Quality </a:t>
            </a:r>
            <a:r>
              <a:rPr lang="en-US" dirty="0"/>
              <a:t>of graduates</a:t>
            </a:r>
            <a:endParaRPr lang="en-GB" dirty="0"/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			-	Responsiveness </a:t>
            </a:r>
            <a:r>
              <a:rPr lang="en-US" dirty="0"/>
              <a:t>to inquires </a:t>
            </a:r>
            <a:endParaRPr lang="en-GB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z="2000" b="1" smtClean="0">
                <a:latin typeface="Algerian" pitchFamily="82" charset="0"/>
              </a:rPr>
              <a:pPr/>
              <a:t>11</a:t>
            </a:fld>
            <a:endParaRPr lang="en-GB" b="1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z="2000" b="1" smtClean="0">
                <a:latin typeface="Algerian" pitchFamily="82" charset="0"/>
              </a:rPr>
              <a:pPr/>
              <a:t>12</a:t>
            </a:fld>
            <a:endParaRPr lang="en-GB" b="1" dirty="0">
              <a:latin typeface="Algerian" pitchFamily="82" charset="0"/>
            </a:endParaRPr>
          </a:p>
        </p:txBody>
      </p:sp>
      <p:pic>
        <p:nvPicPr>
          <p:cNvPr id="9" name="Content Placeholder 8" descr="inn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348" y="285728"/>
            <a:ext cx="7786742" cy="571504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50000"/>
            </a:schemeClr>
          </a:solidFill>
          <a:scene3d>
            <a:camera prst="orthographicFront"/>
            <a:lightRig rig="threePt" dir="t"/>
          </a:scene3d>
          <a:sp3d>
            <a:bevelT prst="slope"/>
          </a:sp3d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</a:rPr>
              <a:t>Thank you.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algn="just"/>
            <a:r>
              <a:rPr lang="en-GB" b="1" dirty="0" smtClean="0">
                <a:solidFill>
                  <a:schemeClr val="bg1"/>
                </a:solidFill>
              </a:rPr>
              <a:t>E. A. Ogunyemi</a:t>
            </a:r>
          </a:p>
          <a:p>
            <a:pPr algn="just">
              <a:buNone/>
            </a:pPr>
            <a:r>
              <a:rPr lang="en-GB" b="1" dirty="0" smtClean="0">
                <a:solidFill>
                  <a:schemeClr val="bg1"/>
                </a:solidFill>
              </a:rPr>
              <a:t>	Registrar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5A4-C89E-4763-BD70-D73A9EE2B886}" type="slidenum">
              <a:rPr lang="en-GB" sz="2000" b="1" smtClean="0">
                <a:latin typeface="Algerian" pitchFamily="82" charset="0"/>
              </a:rPr>
              <a:pPr/>
              <a:t>13</a:t>
            </a:fld>
            <a:endParaRPr lang="en-GB" b="1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405</Words>
  <Application>Microsoft Office PowerPoint</Application>
  <PresentationFormat>On-screen Show (4:3)</PresentationFormat>
  <Paragraphs>109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PROJECTING THE IMAGE OF EKITI STATE UNIVERSITY THROUGH IMPROVED STUDENTS’ ADMISSIONS AND EXAMINATION PROCESSING</vt:lpstr>
      <vt:lpstr>Slide 2</vt:lpstr>
      <vt:lpstr>The core values of the University include the following:</vt:lpstr>
      <vt:lpstr>The University in the 90s</vt:lpstr>
      <vt:lpstr>Current Situation</vt:lpstr>
      <vt:lpstr>ADMISSIONS</vt:lpstr>
      <vt:lpstr>Slide 7</vt:lpstr>
      <vt:lpstr>REPORT OF THE COMMITTEE ON THE DECLINING RATE OF CANDIDATES SEEKING ADMISSION INTO THE UNIVERSITY</vt:lpstr>
      <vt:lpstr>Slide 9</vt:lpstr>
      <vt:lpstr>Way Forward on Improved Transcript Issuance</vt:lpstr>
      <vt:lpstr>PERCEPTION</vt:lpstr>
      <vt:lpstr>Slide 12</vt:lpstr>
      <vt:lpstr>Slide 13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STUDENTS’ ADMISSIONS AND EXAMINATION PROCESSING: CHALLENGES AND WAY FORWARD</dc:title>
  <dc:creator>registrar office</dc:creator>
  <cp:lastModifiedBy>registrar office</cp:lastModifiedBy>
  <cp:revision>16</cp:revision>
  <dcterms:created xsi:type="dcterms:W3CDTF">2016-02-04T09:54:06Z</dcterms:created>
  <dcterms:modified xsi:type="dcterms:W3CDTF">2016-02-04T11:49:06Z</dcterms:modified>
</cp:coreProperties>
</file>