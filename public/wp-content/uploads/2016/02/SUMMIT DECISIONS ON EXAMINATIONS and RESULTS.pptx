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63" r:id="rId3"/>
    <p:sldId id="257" r:id="rId4"/>
    <p:sldId id="264" r:id="rId5"/>
    <p:sldId id="268" r:id="rId6"/>
    <p:sldId id="258" r:id="rId7"/>
    <p:sldId id="259" r:id="rId8"/>
    <p:sldId id="265" r:id="rId9"/>
    <p:sldId id="271" r:id="rId10"/>
    <p:sldId id="260" r:id="rId11"/>
    <p:sldId id="262" r:id="rId12"/>
    <p:sldId id="266" r:id="rId13"/>
    <p:sldId id="267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309" autoAdjust="0"/>
    <p:restoredTop sz="94434" autoAdjust="0"/>
  </p:normalViewPr>
  <p:slideViewPr>
    <p:cSldViewPr snapToGrid="0">
      <p:cViewPr varScale="1">
        <p:scale>
          <a:sx n="58" d="100"/>
          <a:sy n="58" d="100"/>
        </p:scale>
        <p:origin x="42" y="3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4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DD1E1A-8D16-419E-B868-5775DBEB58AA}" type="datetimeFigureOut">
              <a:rPr lang="en-US" smtClean="0"/>
              <a:t>2/4/2016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83916C-BBA0-44E6-BAEB-B3DA85F62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70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83916C-BBA0-44E6-BAEB-B3DA85F624D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554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2/4/2016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2/4/2016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2/4/2016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9831" y="954937"/>
            <a:ext cx="9852338" cy="2203899"/>
          </a:xfrm>
        </p:spPr>
        <p:txBody>
          <a:bodyPr>
            <a:normAutofit fontScale="90000"/>
          </a:bodyPr>
          <a:lstStyle/>
          <a:p>
            <a:r>
              <a:rPr lang="en-US" sz="5400" dirty="0" smtClean="0">
                <a:latin typeface="Castellar" panose="020A0402060406010301" pitchFamily="18" charset="0"/>
              </a:rPr>
              <a:t>EKITI STATE UNIVERSITY, ADO EKITI</a:t>
            </a:r>
            <a:br>
              <a:rPr lang="en-US" sz="5400" dirty="0" smtClean="0">
                <a:latin typeface="Castellar" panose="020A0402060406010301" pitchFamily="18" charset="0"/>
              </a:rPr>
            </a:br>
            <a:r>
              <a:rPr lang="en-US" sz="5400" dirty="0" smtClean="0">
                <a:latin typeface="Castellar" panose="020A0402060406010301" pitchFamily="18" charset="0"/>
              </a:rPr>
              <a:t>ACADEMIC SUMMIT</a:t>
            </a:r>
            <a:endParaRPr lang="en-US" sz="5400" dirty="0">
              <a:latin typeface="Castellar" panose="020A0402060406010301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4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SUMMIT DECISIONS ON</a:t>
            </a:r>
          </a:p>
          <a:p>
            <a:r>
              <a:rPr lang="en-US" sz="48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EXAMINATIONS AND RESULTS</a:t>
            </a:r>
            <a:endParaRPr lang="en-US" sz="4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447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8000" dirty="0" smtClean="0">
                <a:latin typeface="Castellar" panose="020A0402060406010301" pitchFamily="18" charset="0"/>
              </a:rPr>
              <a:t>OUTLINES</a:t>
            </a:r>
            <a:endParaRPr lang="en-US" sz="8000" dirty="0">
              <a:latin typeface="Castellar" panose="020A0402060406010301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sz="6000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ALLOCATION OF COURSES</a:t>
            </a:r>
            <a:endParaRPr lang="en-US" sz="6000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EXAMINATIONS</a:t>
            </a:r>
          </a:p>
          <a:p>
            <a:r>
              <a:rPr lang="en-US" sz="6000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6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777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smtClean="0">
                <a:solidFill>
                  <a:srgbClr val="00B050"/>
                </a:solidFill>
                <a:latin typeface="Castellar" panose="020A0402060406010301" pitchFamily="18" charset="0"/>
              </a:rPr>
              <a:t>ALLOCATION OF </a:t>
            </a:r>
            <a:r>
              <a:rPr lang="en-US" sz="5400" b="1" dirty="0" smtClean="0">
                <a:solidFill>
                  <a:srgbClr val="00B050"/>
                </a:solidFill>
                <a:latin typeface="Castellar" panose="020A0402060406010301" pitchFamily="18" charset="0"/>
              </a:rPr>
              <a:t>COURSES</a:t>
            </a:r>
            <a:endParaRPr lang="en-US" sz="5400" b="1" dirty="0">
              <a:solidFill>
                <a:srgbClr val="00B050"/>
              </a:solidFill>
              <a:latin typeface="Castellar" panose="020A0402060406010301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1886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COURSES FOR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SEMESTER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 DONE BEFORE THE COMMENCEMENT OF THE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SEMESTER</a:t>
            </a:r>
          </a:p>
          <a:p>
            <a:pPr marL="0" indent="0">
              <a:buNone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MUCH AS POSSIBLE LECTURERS SHOULD NOT BE OVERLOADED. PAIRING OF LECTURERS WHERE NECESSARY SHOULD NOT EXCEED 2 LECTURERS PER ONE DEPARTMENTAL COURSE.</a:t>
            </a:r>
          </a:p>
          <a:p>
            <a:pPr marL="0" indent="0">
              <a:buNone/>
            </a:pPr>
            <a:endParaRPr lang="en-US" sz="4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9572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2069"/>
            <a:ext cx="10515600" cy="1468619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solidFill>
                  <a:srgbClr val="00B050"/>
                </a:solidFill>
                <a:latin typeface="Castellar" panose="020A0402060406010301" pitchFamily="18" charset="0"/>
              </a:rPr>
              <a:t>ALLOCATION OF COURSES</a:t>
            </a:r>
            <a:r>
              <a:rPr lang="en-US" sz="5400" dirty="0" smtClean="0">
                <a:solidFill>
                  <a:srgbClr val="00B050"/>
                </a:solidFill>
                <a:latin typeface="Castellar" panose="020A0402060406010301" pitchFamily="18" charset="0"/>
              </a:rPr>
              <a:t/>
            </a:r>
            <a:br>
              <a:rPr lang="en-US" sz="5400" dirty="0" smtClean="0">
                <a:solidFill>
                  <a:srgbClr val="00B050"/>
                </a:solidFill>
                <a:latin typeface="Castellar" panose="020A0402060406010301" pitchFamily="18" charset="0"/>
              </a:rPr>
            </a:br>
            <a:r>
              <a:rPr lang="en-US" sz="5400" dirty="0" smtClean="0">
                <a:solidFill>
                  <a:srgbClr val="00B050"/>
                </a:solidFill>
                <a:latin typeface="Castellar" panose="020A0402060406010301" pitchFamily="18" charset="0"/>
              </a:rPr>
              <a:t>CONT’D</a:t>
            </a:r>
            <a:endParaRPr lang="en-US" sz="5400" dirty="0">
              <a:solidFill>
                <a:srgbClr val="00B050"/>
              </a:solidFill>
              <a:latin typeface="Castellar" panose="020A0402060406010301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92966"/>
            <a:ext cx="10515600" cy="503237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ISSUES ARISING FROM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 OF COURSES SHOULD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RESOLVED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BEFORE THE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BEGINS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ICT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FULLY DEPLOYED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STUDENTS’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SHOULD OPEN FOR STUDENTS’ REGISTRATION 2 WEEKS BEFORE THE SEMESTER COMMENCES AND CLOSED 2 WEEKS AFTER RESUMPTION</a:t>
            </a:r>
          </a:p>
          <a:p>
            <a:pPr marL="0" indent="0">
              <a:buNone/>
            </a:pPr>
            <a:endParaRPr lang="en-US" sz="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1949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9615"/>
            <a:ext cx="10515600" cy="1511074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solidFill>
                  <a:srgbClr val="00B050"/>
                </a:solidFill>
                <a:latin typeface="Castellar" panose="020A0402060406010301" pitchFamily="18" charset="0"/>
              </a:rPr>
              <a:t>ALLOCATION OF COURSES</a:t>
            </a:r>
            <a:r>
              <a:rPr lang="en-US" sz="5400" dirty="0">
                <a:solidFill>
                  <a:srgbClr val="00B050"/>
                </a:solidFill>
                <a:latin typeface="Castellar" panose="020A0402060406010301" pitchFamily="18" charset="0"/>
              </a:rPr>
              <a:t/>
            </a:r>
            <a:br>
              <a:rPr lang="en-US" sz="5400" dirty="0">
                <a:solidFill>
                  <a:srgbClr val="00B050"/>
                </a:solidFill>
                <a:latin typeface="Castellar" panose="020A0402060406010301" pitchFamily="18" charset="0"/>
              </a:rPr>
            </a:br>
            <a:r>
              <a:rPr lang="en-US" sz="5400" dirty="0" smtClean="0">
                <a:solidFill>
                  <a:srgbClr val="00B050"/>
                </a:solidFill>
                <a:latin typeface="Castellar" panose="020A0402060406010301" pitchFamily="18" charset="0"/>
              </a:rPr>
              <a:t>CONT’D</a:t>
            </a:r>
            <a:endParaRPr lang="en-US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36432"/>
          </a:xfrm>
        </p:spPr>
        <p:txBody>
          <a:bodyPr>
            <a:normAutofit fontScale="5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5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LECTURE TIME TABLE SHOULD BE OUT BEFORE RESUMPTION OF THE SEMESTER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LECTURERS SHOULD START TEACHING IMMEDIATELY THE SEMESTER BEGINS</a:t>
            </a:r>
            <a:endParaRPr lang="en-US" sz="5800" dirty="0"/>
          </a:p>
          <a:p>
            <a:pPr>
              <a:buFont typeface="Wingdings" panose="05000000000000000000" pitchFamily="2" charset="2"/>
              <a:buChar char="Ø"/>
            </a:pPr>
            <a:endParaRPr lang="en-US" sz="5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5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 </a:t>
            </a:r>
            <a: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SUBMISSION OF </a:t>
            </a:r>
            <a:r>
              <a:rPr lang="en-US" sz="5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SUGGESTED QUESTIONS AND MARKING SCHEMES SHOULD BE DONE 4 WEEKS INTO THE SEMESTER</a:t>
            </a:r>
          </a:p>
          <a:p>
            <a:pPr marL="0" indent="0">
              <a:buNone/>
            </a:pPr>
            <a:endParaRPr lang="en-US" sz="5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SANCTION FOR </a:t>
            </a:r>
            <a:r>
              <a:rPr lang="en-US" sz="5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DEFAULTERS. THIS SHOULD BE CLEARLY DEFINED AND IMPLEMENTED.</a:t>
            </a:r>
            <a:endParaRPr lang="en-US" sz="5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795351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 smtClean="0"/>
              <a:t>	</a:t>
            </a:r>
            <a:r>
              <a:rPr lang="en-US" sz="7200" dirty="0" smtClean="0">
                <a:solidFill>
                  <a:srgbClr val="FF0000"/>
                </a:solidFill>
                <a:latin typeface="Castellar" panose="020A0402060406010301" pitchFamily="18" charset="0"/>
              </a:rPr>
              <a:t>EXAMINATIONS</a:t>
            </a:r>
            <a:endParaRPr lang="en-US" sz="7200" dirty="0">
              <a:solidFill>
                <a:srgbClr val="FF0000"/>
              </a:solidFill>
              <a:latin typeface="Castellar" panose="020A0402060406010301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0900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SHOULD NOT BE ALLOWED INTO THE EXAMINATION HALL FOR COURSES THEY DID NOT REGISTER FOR.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CBT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UNIVERSITY BASED COURSES. THESE ARE GST AND ESC COURSES.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CBT FOR INTER-FACULTIES COURSES- 100L COURSES IN THE FACULTY OF SCIENCE. MOST OF THESE COURSES ARE OFFERED BY COGNATE FACULTIES LIKE ENGINEERING, AGRICULTURAL SCIENCES AND  EDUCATION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749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 smtClean="0">
                <a:solidFill>
                  <a:srgbClr val="FF0000"/>
                </a:solidFill>
                <a:latin typeface="Castellar" panose="020A0402060406010301" pitchFamily="18" charset="0"/>
              </a:rPr>
              <a:t>EXAMINATIONS CONT’D</a:t>
            </a:r>
            <a:endParaRPr lang="en-US" sz="6000" dirty="0">
              <a:solidFill>
                <a:srgbClr val="FF0000"/>
              </a:solidFill>
              <a:latin typeface="Castellar" panose="020A0402060406010301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093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CONFERENCE MARKING SHOULD BE EMPLOYED FOR DEPARTMENT AND FACULTY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COURSES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 300 STUDENTS .</a:t>
            </a:r>
          </a:p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INVIGILATION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EXAMINATIONS SHOULD BE SEEN AS AN IMPORTANT UNIVERSITY ASSIGNMENT WHICH SHOULD BE DONE THOROUGHLY.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NOT THE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PROPER TIME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INVIGILATORS TO ENGAGE IN TALKING BUSINESS AND LEAVE THE STUDENTS TO DO WHAT THEY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608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 smtClean="0">
                <a:solidFill>
                  <a:srgbClr val="FF0000"/>
                </a:solidFill>
                <a:latin typeface="Castellar" panose="020A0402060406010301" pitchFamily="18" charset="0"/>
              </a:rPr>
              <a:t>EXAMINATIONS CONT’D</a:t>
            </a:r>
            <a:endParaRPr lang="en-US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93670"/>
            <a:ext cx="10515600" cy="526433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PROFESSORS SHOULD BE ASSIGNED TO MONITOR INVIGILATORS AND STUDENTS DURING EXAMINATIONS</a:t>
            </a:r>
          </a:p>
          <a:p>
            <a:pPr marL="0" indent="0">
              <a:buNone/>
            </a:pPr>
            <a:endParaRPr lang="en-US" sz="1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4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INVIGILATORS </a:t>
            </a:r>
            <a:r>
              <a:rPr lang="en-US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ARE NOT PRESENT AT THEIR DUTY </a:t>
            </a:r>
            <a:r>
              <a:rPr lang="en-US" sz="4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POSTS </a:t>
            </a:r>
            <a:r>
              <a:rPr lang="en-US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 </a:t>
            </a:r>
            <a:r>
              <a:rPr lang="en-US" sz="4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SANCTIONED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4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INVIGILATORS </a:t>
            </a:r>
            <a:r>
              <a:rPr lang="en-US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ARE FOUND AIDING AND ABETTING EXAM MISCONDUCT SHOULD BE </a:t>
            </a:r>
            <a:r>
              <a:rPr lang="en-US" sz="4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SANCTIONED</a:t>
            </a:r>
          </a:p>
          <a:p>
            <a:pPr marL="0" indent="0"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CASES OF EXAM MISCONDUCT MUST BE REPORTED FOR DISCIPLINARY ACTION WITHIN 24 HOURS</a:t>
            </a:r>
            <a:endParaRPr lang="en-US" sz="4600" dirty="0"/>
          </a:p>
        </p:txBody>
      </p:sp>
    </p:spTree>
    <p:extLst>
      <p:ext uri="{BB962C8B-B14F-4D97-AF65-F5344CB8AC3E}">
        <p14:creationId xmlns:p14="http://schemas.microsoft.com/office/powerpoint/2010/main" val="2164788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dirty="0" smtClean="0">
                <a:solidFill>
                  <a:srgbClr val="FF0000"/>
                </a:solidFill>
                <a:latin typeface="Castellar" panose="020A0402060406010301" pitchFamily="18" charset="0"/>
              </a:rPr>
              <a:t>EXAMINATIONS </a:t>
            </a:r>
            <a:r>
              <a:rPr lang="en-US" sz="6000" dirty="0">
                <a:solidFill>
                  <a:srgbClr val="FF0000"/>
                </a:solidFill>
                <a:latin typeface="Castellar" panose="020A0402060406010301" pitchFamily="18" charset="0"/>
              </a:rPr>
              <a:t>CONT’D</a:t>
            </a:r>
            <a:endParaRPr lang="en-US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Castellar" panose="020A0402060406010301" pitchFamily="18" charset="0"/>
                <a:cs typeface="Times New Roman" panose="02020603050405020304" pitchFamily="18" charset="0"/>
              </a:rPr>
              <a:t>RULES AND REGULATIONS GUIDING THE CONDUCT OF EXAMINATIONS SHOULD BE GIVEN ADEQUATE PUBLICITY TO BOTH STAFF AND STUDENTS</a:t>
            </a:r>
          </a:p>
          <a:p>
            <a:r>
              <a:rPr lang="en-US" sz="4000" dirty="0">
                <a:latin typeface="Castellar" panose="020A0402060406010301" pitchFamily="18" charset="0"/>
                <a:cs typeface="Times New Roman" panose="02020603050405020304" pitchFamily="18" charset="0"/>
              </a:rPr>
              <a:t>`</a:t>
            </a:r>
          </a:p>
        </p:txBody>
      </p:sp>
    </p:spTree>
    <p:extLst>
      <p:ext uri="{BB962C8B-B14F-4D97-AF65-F5344CB8AC3E}">
        <p14:creationId xmlns:p14="http://schemas.microsoft.com/office/powerpoint/2010/main" val="14727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</a:t>
            </a:r>
            <a:r>
              <a:rPr lang="en-US" sz="7200" dirty="0" smtClean="0">
                <a:solidFill>
                  <a:srgbClr val="FFC000"/>
                </a:solidFill>
                <a:latin typeface="Castellar" panose="020A0402060406010301" pitchFamily="18" charset="0"/>
              </a:rPr>
              <a:t>RESULTS</a:t>
            </a:r>
            <a:endParaRPr lang="en-US" sz="7200" dirty="0">
              <a:solidFill>
                <a:srgbClr val="FFC000"/>
              </a:solidFill>
              <a:latin typeface="Castellar" panose="020A0402060406010301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LECTURERS ARE TO SUBMIT THE EXAMINATION SCORES AND GRADES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ALL COURSES THEY EXAMINED TO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THEIR RESPECTIVE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HODs NOT LATER THAN 2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WEEKS AFTER THE LAST EXAMINATION PAPER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1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ICT SHOULD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HENCEFORTH BE USED FOR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COMPUTATIONS. THIS WILL EASE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(TO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GREATER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EXTENT)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BURDEN OF RESULTS COMPUTATIONS ON THE LEVEL ADVISERS AND MINIMIZE ERRORS IN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COMPUTATIONS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591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	</a:t>
            </a:r>
            <a:r>
              <a:rPr lang="en-US" sz="7200" dirty="0" smtClean="0">
                <a:solidFill>
                  <a:srgbClr val="FFC000"/>
                </a:solidFill>
                <a:latin typeface="Castellar" panose="020A0402060406010301" pitchFamily="18" charset="0"/>
              </a:rPr>
              <a:t>RESULTS CONTD</a:t>
            </a:r>
            <a:endParaRPr lang="en-US" sz="7200" dirty="0">
              <a:solidFill>
                <a:srgbClr val="FFC000"/>
              </a:solidFill>
              <a:latin typeface="Castellar" panose="020A0402060406010301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5233"/>
            <a:ext cx="10515600" cy="5032375"/>
          </a:xfrm>
        </p:spPr>
        <p:txBody>
          <a:bodyPr>
            <a:noAutofit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DEPARTMENTAL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BOARDS ARE EXPECTED TO MEET AND MODERATE THE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NOT LATER THAN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WEEKS AFTER THE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EXAMINATION.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MUST BE UPLOADED FOR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 IMMEDIATELY.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THAT DEFAULTS SHOULD BE SANCTIONED. THOSE TO BE SANCTIONED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AFFECTED COURSE LECTURER(S),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HOD THAT FAILS TO UPLOAD THE RESULTS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THE ICT OFFICER THAT FAILS TO DO THE NEEDFUL.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609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7200" dirty="0">
                <a:solidFill>
                  <a:srgbClr val="FFC000"/>
                </a:solidFill>
                <a:latin typeface="Castellar" panose="020A0402060406010301" pitchFamily="18" charset="0"/>
              </a:rPr>
              <a:t>RESULTS CONTD</a:t>
            </a:r>
            <a:endParaRPr lang="en-US" sz="7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8557"/>
            <a:ext cx="10515600" cy="5339443"/>
          </a:xfrm>
        </p:spPr>
        <p:txBody>
          <a:bodyPr>
            <a:normAutofit fontScale="92500"/>
          </a:bodyPr>
          <a:lstStyle/>
          <a:p>
            <a:r>
              <a:rPr lang="en-US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COMMITTEE OF SENATE </a:t>
            </a:r>
            <a:r>
              <a:rPr lang="en-US" sz="3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SHOULD CONSIDER </a:t>
            </a:r>
            <a:r>
              <a:rPr lang="en-US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AND RECOMMEND FOR SENATE APPROVAL 4 WEEKS AFTER THE </a:t>
            </a:r>
            <a:r>
              <a:rPr lang="en-US" sz="3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EXAMINATION.</a:t>
            </a:r>
          </a:p>
          <a:p>
            <a:r>
              <a:rPr lang="en-US" sz="3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</a:t>
            </a:r>
            <a:r>
              <a:rPr lang="en-US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 ABLE TO ACCESS ALL THEIR RESULTS ON THE UNIVERSITY PORTAL AFTER SENATE HAS APPROVED THE RESULTS</a:t>
            </a:r>
            <a:r>
              <a:rPr lang="en-US" sz="3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SENATE </a:t>
            </a:r>
            <a:r>
              <a:rPr lang="en-US" sz="3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APPROVED RESULTS SHOULD ALSO BE SENT BY EMAIL OR BY  POST TO THE PARENTS AND GUARDIANS OF THE STUDENTS</a:t>
            </a: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55246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Engravers MT" panose="02090707080505020304" pitchFamily="18" charset="0"/>
              </a:rPr>
              <a:t>APPRECIATION</a:t>
            </a:r>
            <a:endParaRPr lang="en-US" dirty="0">
              <a:latin typeface="Engravers MT" panose="020907070805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 smtClean="0">
              <a:latin typeface="Imprint MT Shadow" panose="04020605060303030202" pitchFamily="82" charset="0"/>
            </a:endParaRPr>
          </a:p>
          <a:p>
            <a:pPr marL="0" indent="0" algn="ctr">
              <a:buNone/>
            </a:pPr>
            <a:endParaRPr lang="en-US" dirty="0">
              <a:latin typeface="Imprint MT Shadow" panose="04020605060303030202" pitchFamily="82" charset="0"/>
            </a:endParaRPr>
          </a:p>
          <a:p>
            <a:pPr marL="0" indent="0" algn="ctr">
              <a:buNone/>
            </a:pP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Imprint MT Shadow" panose="04020605060303030202" pitchFamily="82" charset="0"/>
              </a:rPr>
              <a:t>THANK YOU</a:t>
            </a:r>
          </a:p>
          <a:p>
            <a:pPr marL="0" indent="0" algn="ctr">
              <a:buNone/>
            </a:pPr>
            <a:endParaRPr lang="en-US" dirty="0" smtClean="0">
              <a:solidFill>
                <a:schemeClr val="accent6">
                  <a:lumMod val="75000"/>
                </a:schemeClr>
              </a:solidFill>
              <a:latin typeface="Imprint MT Shadow" panose="04020605060303030202" pitchFamily="82" charset="0"/>
            </a:endParaRPr>
          </a:p>
          <a:p>
            <a:pPr marL="0" indent="0" algn="ctr">
              <a:buNone/>
            </a:pP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Imprint MT Shadow" panose="04020605060303030202" pitchFamily="82" charset="0"/>
              </a:rPr>
              <a:t>GOD BLESS YOU</a:t>
            </a:r>
          </a:p>
          <a:p>
            <a:pPr marL="0" indent="0" algn="ctr">
              <a:buNone/>
            </a:pPr>
            <a:endParaRPr lang="en-US" dirty="0" smtClean="0">
              <a:solidFill>
                <a:schemeClr val="accent6">
                  <a:lumMod val="75000"/>
                </a:schemeClr>
              </a:solidFill>
              <a:latin typeface="Imprint MT Shadow" panose="04020605060303030202" pitchFamily="82" charset="0"/>
            </a:endParaRPr>
          </a:p>
          <a:p>
            <a:pPr marL="0" indent="0" algn="ctr">
              <a:buNone/>
            </a:pPr>
            <a:r>
              <a:rPr lang="en-US" dirty="0" smtClean="0">
                <a:solidFill>
                  <a:schemeClr val="accent6">
                    <a:lumMod val="75000"/>
                  </a:schemeClr>
                </a:solidFill>
                <a:latin typeface="Imprint MT Shadow" panose="04020605060303030202" pitchFamily="82" charset="0"/>
              </a:rPr>
              <a:t>GOD BLESS EKSU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Imprint MT Shadow" panose="0402060506030303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989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512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96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476</TotalTime>
  <Words>547</Words>
  <Application>Microsoft Office PowerPoint</Application>
  <PresentationFormat>Widescreen</PresentationFormat>
  <Paragraphs>67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Castellar</vt:lpstr>
      <vt:lpstr>Engravers MT</vt:lpstr>
      <vt:lpstr>Imprint MT Shadow</vt:lpstr>
      <vt:lpstr>Times New Roman</vt:lpstr>
      <vt:lpstr>Wingdings</vt:lpstr>
      <vt:lpstr>Office Theme</vt:lpstr>
      <vt:lpstr>EKITI STATE UNIVERSITY, ADO EKITI ACADEMIC SUMMIT</vt:lpstr>
      <vt:lpstr>OUTLINES</vt:lpstr>
      <vt:lpstr>ALLOCATION OF COURSES</vt:lpstr>
      <vt:lpstr>ALLOCATION OF COURSES CONT’D</vt:lpstr>
      <vt:lpstr>ALLOCATION OF COURSES CONT’D</vt:lpstr>
      <vt:lpstr> EXAMINATIONS</vt:lpstr>
      <vt:lpstr>EXAMINATIONS CONT’D</vt:lpstr>
      <vt:lpstr>EXAMINATIONS CONT’D</vt:lpstr>
      <vt:lpstr>EXAMINATIONS CONT’D</vt:lpstr>
      <vt:lpstr> RESULTS</vt:lpstr>
      <vt:lpstr> RESULTS CONTD</vt:lpstr>
      <vt:lpstr>RESULTS CONTD</vt:lpstr>
      <vt:lpstr>APPRECIATION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EKITI STATE UNIVERSITY, ADO EKITI ACADEMIC SUMMIT</dc:title>
  <dc:creator>Owner</dc:creator>
  <cp:lastModifiedBy>Owner</cp:lastModifiedBy>
  <cp:revision>26</cp:revision>
  <dcterms:created xsi:type="dcterms:W3CDTF">2016-02-03T17:11:43Z</dcterms:created>
  <dcterms:modified xsi:type="dcterms:W3CDTF">2016-02-04T12:54:22Z</dcterms:modified>
</cp:coreProperties>
</file>