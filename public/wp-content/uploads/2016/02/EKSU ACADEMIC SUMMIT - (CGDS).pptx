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Default Extension="docx" ContentType="application/vnd.openxmlformats-officedocument.wordprocessingml.document"/>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63" r:id="rId2"/>
    <p:sldId id="274" r:id="rId3"/>
    <p:sldId id="264" r:id="rId4"/>
    <p:sldId id="270" r:id="rId5"/>
    <p:sldId id="265" r:id="rId6"/>
    <p:sldId id="258" r:id="rId7"/>
    <p:sldId id="259" r:id="rId8"/>
    <p:sldId id="260" r:id="rId9"/>
    <p:sldId id="261" r:id="rId10"/>
    <p:sldId id="262" r:id="rId11"/>
    <p:sldId id="266" r:id="rId12"/>
    <p:sldId id="267" r:id="rId13"/>
    <p:sldId id="268" r:id="rId14"/>
    <p:sldId id="271" r:id="rId15"/>
    <p:sldId id="269" r:id="rId16"/>
  </p:sldIdLst>
  <p:sldSz cx="9144000" cy="6858000" type="screen4x3"/>
  <p:notesSz cx="7053263" cy="93091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88" autoAdjust="0"/>
    <p:restoredTop sz="94671" autoAdjust="0"/>
  </p:normalViewPr>
  <p:slideViewPr>
    <p:cSldViewPr>
      <p:cViewPr>
        <p:scale>
          <a:sx n="75" d="100"/>
          <a:sy n="75" d="100"/>
        </p:scale>
        <p:origin x="-1140" y="-138"/>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56414" cy="465455"/>
          </a:xfrm>
          <a:prstGeom prst="rect">
            <a:avLst/>
          </a:prstGeom>
        </p:spPr>
        <p:txBody>
          <a:bodyPr vert="horz" lIns="93497" tIns="46749" rIns="93497" bIns="46749" rtlCol="0"/>
          <a:lstStyle>
            <a:lvl1pPr algn="l">
              <a:defRPr sz="1200"/>
            </a:lvl1pPr>
          </a:lstStyle>
          <a:p>
            <a:endParaRPr lang="en-US"/>
          </a:p>
        </p:txBody>
      </p:sp>
      <p:sp>
        <p:nvSpPr>
          <p:cNvPr id="3" name="Date Placeholder 2"/>
          <p:cNvSpPr>
            <a:spLocks noGrp="1"/>
          </p:cNvSpPr>
          <p:nvPr>
            <p:ph type="dt" idx="1"/>
          </p:nvPr>
        </p:nvSpPr>
        <p:spPr>
          <a:xfrm>
            <a:off x="3995217" y="0"/>
            <a:ext cx="3056414" cy="465455"/>
          </a:xfrm>
          <a:prstGeom prst="rect">
            <a:avLst/>
          </a:prstGeom>
        </p:spPr>
        <p:txBody>
          <a:bodyPr vert="horz" lIns="93497" tIns="46749" rIns="93497" bIns="46749" rtlCol="0"/>
          <a:lstStyle>
            <a:lvl1pPr algn="r">
              <a:defRPr sz="1200"/>
            </a:lvl1pPr>
          </a:lstStyle>
          <a:p>
            <a:fld id="{42EBD14D-39DE-4990-B9FC-BE236F24A2F6}" type="datetimeFigureOut">
              <a:rPr lang="en-US" smtClean="0"/>
              <a:pPr/>
              <a:t>2/4/2016</a:t>
            </a:fld>
            <a:endParaRPr lang="en-US"/>
          </a:p>
        </p:txBody>
      </p:sp>
      <p:sp>
        <p:nvSpPr>
          <p:cNvPr id="4" name="Slide Image Placeholder 3"/>
          <p:cNvSpPr>
            <a:spLocks noGrp="1" noRot="1" noChangeAspect="1"/>
          </p:cNvSpPr>
          <p:nvPr>
            <p:ph type="sldImg" idx="2"/>
          </p:nvPr>
        </p:nvSpPr>
        <p:spPr>
          <a:xfrm>
            <a:off x="1200150" y="698500"/>
            <a:ext cx="4654550" cy="3490913"/>
          </a:xfrm>
          <a:prstGeom prst="rect">
            <a:avLst/>
          </a:prstGeom>
          <a:noFill/>
          <a:ln w="12700">
            <a:solidFill>
              <a:prstClr val="black"/>
            </a:solidFill>
          </a:ln>
        </p:spPr>
        <p:txBody>
          <a:bodyPr vert="horz" lIns="93497" tIns="46749" rIns="93497" bIns="46749" rtlCol="0" anchor="ctr"/>
          <a:lstStyle/>
          <a:p>
            <a:endParaRPr lang="en-US"/>
          </a:p>
        </p:txBody>
      </p:sp>
      <p:sp>
        <p:nvSpPr>
          <p:cNvPr id="5" name="Notes Placeholder 4"/>
          <p:cNvSpPr>
            <a:spLocks noGrp="1"/>
          </p:cNvSpPr>
          <p:nvPr>
            <p:ph type="body" sz="quarter" idx="3"/>
          </p:nvPr>
        </p:nvSpPr>
        <p:spPr>
          <a:xfrm>
            <a:off x="705327" y="4421823"/>
            <a:ext cx="5642610" cy="4189095"/>
          </a:xfrm>
          <a:prstGeom prst="rect">
            <a:avLst/>
          </a:prstGeom>
        </p:spPr>
        <p:txBody>
          <a:bodyPr vert="horz" lIns="93497" tIns="46749" rIns="93497" bIns="46749"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42029"/>
            <a:ext cx="3056414" cy="465455"/>
          </a:xfrm>
          <a:prstGeom prst="rect">
            <a:avLst/>
          </a:prstGeom>
        </p:spPr>
        <p:txBody>
          <a:bodyPr vert="horz" lIns="93497" tIns="46749" rIns="93497" bIns="46749" rtlCol="0" anchor="b"/>
          <a:lstStyle>
            <a:lvl1pPr algn="l">
              <a:defRPr sz="1200"/>
            </a:lvl1pPr>
          </a:lstStyle>
          <a:p>
            <a:endParaRPr lang="en-US"/>
          </a:p>
        </p:txBody>
      </p:sp>
      <p:sp>
        <p:nvSpPr>
          <p:cNvPr id="7" name="Slide Number Placeholder 6"/>
          <p:cNvSpPr>
            <a:spLocks noGrp="1"/>
          </p:cNvSpPr>
          <p:nvPr>
            <p:ph type="sldNum" sz="quarter" idx="5"/>
          </p:nvPr>
        </p:nvSpPr>
        <p:spPr>
          <a:xfrm>
            <a:off x="3995217" y="8842029"/>
            <a:ext cx="3056414" cy="465455"/>
          </a:xfrm>
          <a:prstGeom prst="rect">
            <a:avLst/>
          </a:prstGeom>
        </p:spPr>
        <p:txBody>
          <a:bodyPr vert="horz" lIns="93497" tIns="46749" rIns="93497" bIns="46749" rtlCol="0" anchor="b"/>
          <a:lstStyle>
            <a:lvl1pPr algn="r">
              <a:defRPr sz="1200"/>
            </a:lvl1pPr>
          </a:lstStyle>
          <a:p>
            <a:fld id="{BC5E5921-DAC3-4322-8265-8D709E187088}" type="slidenum">
              <a:rPr lang="en-US" smtClean="0"/>
              <a:pPr/>
              <a:t>‹#›</a:t>
            </a:fld>
            <a:endParaRPr lang="en-US"/>
          </a:p>
        </p:txBody>
      </p:sp>
    </p:spTree>
    <p:extLst>
      <p:ext uri="{BB962C8B-B14F-4D97-AF65-F5344CB8AC3E}">
        <p14:creationId xmlns:p14="http://schemas.microsoft.com/office/powerpoint/2010/main" xmlns="" val="32065993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C9CC1970-1FC9-4AA0-9869-C04AFA4AA03A}" type="slidenum">
              <a:rPr lang="en-US" smtClean="0"/>
              <a:pPr/>
              <a:t>1</a:t>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r>
              <a:rPr lang="en-US" smtClean="0"/>
              <a:t>3/2/2016</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87417F-CD80-46DB-B84D-5F1ADE59F8BD}" type="slidenum">
              <a:rPr lang="en-US" smtClean="0"/>
              <a:pPr/>
              <a:t>‹#›</a:t>
            </a:fld>
            <a:endParaRPr lang="en-US"/>
          </a:p>
        </p:txBody>
      </p:sp>
    </p:spTree>
    <p:extLst>
      <p:ext uri="{BB962C8B-B14F-4D97-AF65-F5344CB8AC3E}">
        <p14:creationId xmlns:p14="http://schemas.microsoft.com/office/powerpoint/2010/main" xmlns="" val="19520981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3/2/2016</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87417F-CD80-46DB-B84D-5F1ADE59F8BD}" type="slidenum">
              <a:rPr lang="en-US" smtClean="0"/>
              <a:pPr/>
              <a:t>‹#›</a:t>
            </a:fld>
            <a:endParaRPr lang="en-US"/>
          </a:p>
        </p:txBody>
      </p:sp>
    </p:spTree>
    <p:extLst>
      <p:ext uri="{BB962C8B-B14F-4D97-AF65-F5344CB8AC3E}">
        <p14:creationId xmlns:p14="http://schemas.microsoft.com/office/powerpoint/2010/main" xmlns="" val="226159598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r>
              <a:rPr lang="en-US" smtClean="0"/>
              <a:t>3/2/2016</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87417F-CD80-46DB-B84D-5F1ADE59F8BD}" type="slidenum">
              <a:rPr lang="en-US" smtClean="0"/>
              <a:pPr/>
              <a:t>‹#›</a:t>
            </a:fld>
            <a:endParaRPr lang="en-US"/>
          </a:p>
        </p:txBody>
      </p:sp>
    </p:spTree>
    <p:extLst>
      <p:ext uri="{BB962C8B-B14F-4D97-AF65-F5344CB8AC3E}">
        <p14:creationId xmlns:p14="http://schemas.microsoft.com/office/powerpoint/2010/main" xmlns="" val="607384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r>
              <a:rPr lang="en-US" smtClean="0"/>
              <a:t>3/2/2016</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87417F-CD80-46DB-B84D-5F1ADE59F8BD}" type="slidenum">
              <a:rPr lang="en-US" smtClean="0"/>
              <a:pPr/>
              <a:t>‹#›</a:t>
            </a:fld>
            <a:endParaRPr lang="en-US"/>
          </a:p>
        </p:txBody>
      </p:sp>
    </p:spTree>
    <p:extLst>
      <p:ext uri="{BB962C8B-B14F-4D97-AF65-F5344CB8AC3E}">
        <p14:creationId xmlns:p14="http://schemas.microsoft.com/office/powerpoint/2010/main" xmlns="" val="273652125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r>
              <a:rPr lang="en-US" smtClean="0"/>
              <a:t>3/2/2016</a:t>
            </a:r>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387417F-CD80-46DB-B84D-5F1ADE59F8BD}" type="slidenum">
              <a:rPr lang="en-US" smtClean="0"/>
              <a:pPr/>
              <a:t>‹#›</a:t>
            </a:fld>
            <a:endParaRPr lang="en-US"/>
          </a:p>
        </p:txBody>
      </p:sp>
    </p:spTree>
    <p:extLst>
      <p:ext uri="{BB962C8B-B14F-4D97-AF65-F5344CB8AC3E}">
        <p14:creationId xmlns:p14="http://schemas.microsoft.com/office/powerpoint/2010/main" xmlns="" val="21440378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r>
              <a:rPr lang="en-US" smtClean="0"/>
              <a:t>3/2/2016</a:t>
            </a:r>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387417F-CD80-46DB-B84D-5F1ADE59F8BD}" type="slidenum">
              <a:rPr lang="en-US" smtClean="0"/>
              <a:pPr/>
              <a:t>‹#›</a:t>
            </a:fld>
            <a:endParaRPr lang="en-US"/>
          </a:p>
        </p:txBody>
      </p:sp>
    </p:spTree>
    <p:extLst>
      <p:ext uri="{BB962C8B-B14F-4D97-AF65-F5344CB8AC3E}">
        <p14:creationId xmlns:p14="http://schemas.microsoft.com/office/powerpoint/2010/main" xmlns="" val="21657413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3/2/2016</a:t>
            </a:r>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387417F-CD80-46DB-B84D-5F1ADE59F8BD}" type="slidenum">
              <a:rPr lang="en-US" smtClean="0"/>
              <a:pPr/>
              <a:t>‹#›</a:t>
            </a:fld>
            <a:endParaRPr lang="en-US"/>
          </a:p>
        </p:txBody>
      </p:sp>
    </p:spTree>
    <p:extLst>
      <p:ext uri="{BB962C8B-B14F-4D97-AF65-F5344CB8AC3E}">
        <p14:creationId xmlns:p14="http://schemas.microsoft.com/office/powerpoint/2010/main" xmlns="" val="3124317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3/2/2016</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87417F-CD80-46DB-B84D-5F1ADE59F8BD}" type="slidenum">
              <a:rPr lang="en-US" smtClean="0"/>
              <a:pPr/>
              <a:t>‹#›</a:t>
            </a:fld>
            <a:endParaRPr lang="en-US"/>
          </a:p>
        </p:txBody>
      </p:sp>
    </p:spTree>
    <p:extLst>
      <p:ext uri="{BB962C8B-B14F-4D97-AF65-F5344CB8AC3E}">
        <p14:creationId xmlns:p14="http://schemas.microsoft.com/office/powerpoint/2010/main" xmlns="" val="335258693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r>
              <a:rPr lang="en-US" smtClean="0"/>
              <a:t>3/2/2016</a:t>
            </a:r>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387417F-CD80-46DB-B84D-5F1ADE59F8BD}" type="slidenum">
              <a:rPr lang="en-US" smtClean="0"/>
              <a:pPr/>
              <a:t>‹#›</a:t>
            </a:fld>
            <a:endParaRPr lang="en-US"/>
          </a:p>
        </p:txBody>
      </p:sp>
    </p:spTree>
    <p:extLst>
      <p:ext uri="{BB962C8B-B14F-4D97-AF65-F5344CB8AC3E}">
        <p14:creationId xmlns:p14="http://schemas.microsoft.com/office/powerpoint/2010/main" xmlns="" val="286458331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3/2/2016</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87417F-CD80-46DB-B84D-5F1ADE59F8BD}" type="slidenum">
              <a:rPr lang="en-US" smtClean="0"/>
              <a:pPr/>
              <a:t>‹#›</a:t>
            </a:fld>
            <a:endParaRPr lang="en-US"/>
          </a:p>
        </p:txBody>
      </p:sp>
    </p:spTree>
    <p:extLst>
      <p:ext uri="{BB962C8B-B14F-4D97-AF65-F5344CB8AC3E}">
        <p14:creationId xmlns:p14="http://schemas.microsoft.com/office/powerpoint/2010/main" xmlns="" val="3953857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r>
              <a:rPr lang="en-US" smtClean="0"/>
              <a:t>3/2/2016</a:t>
            </a:r>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387417F-CD80-46DB-B84D-5F1ADE59F8BD}" type="slidenum">
              <a:rPr lang="en-US" smtClean="0"/>
              <a:pPr/>
              <a:t>‹#›</a:t>
            </a:fld>
            <a:endParaRPr lang="en-US"/>
          </a:p>
        </p:txBody>
      </p:sp>
    </p:spTree>
    <p:extLst>
      <p:ext uri="{BB962C8B-B14F-4D97-AF65-F5344CB8AC3E}">
        <p14:creationId xmlns:p14="http://schemas.microsoft.com/office/powerpoint/2010/main" xmlns="" val="3121551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smtClean="0"/>
              <a:t>3/2/2016</a:t>
            </a:r>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387417F-CD80-46DB-B84D-5F1ADE59F8BD}" type="slidenum">
              <a:rPr lang="en-US" smtClean="0"/>
              <a:pPr/>
              <a:t>‹#›</a:t>
            </a:fld>
            <a:endParaRPr lang="en-US"/>
          </a:p>
        </p:txBody>
      </p:sp>
    </p:spTree>
    <p:extLst>
      <p:ext uri="{BB962C8B-B14F-4D97-AF65-F5344CB8AC3E}">
        <p14:creationId xmlns:p14="http://schemas.microsoft.com/office/powerpoint/2010/main" xmlns="" val="178235972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package" Target="../embeddings/Microsoft_Office_Word_Document1.docx"/><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133600"/>
            <a:ext cx="8001000" cy="1524000"/>
          </a:xfrm>
        </p:spPr>
        <p:txBody>
          <a:bodyPr>
            <a:normAutofit fontScale="90000"/>
          </a:bodyPr>
          <a:lstStyle/>
          <a:p>
            <a:r>
              <a:rPr lang="en-US" sz="2000" b="1" dirty="0" smtClean="0"/>
              <a:t>POSITION ON ACADEMIC PROGRAMMES VIABILITY, ACCOMMODATION, CLASSROOM, ACCREDITATION, EXAMINATION, RESULT PROCESSING, CHALLENGES AND WAY FORWARD TO PROPEL EKSU TO WORLD CLASS UNIVERSITY</a:t>
            </a:r>
            <a:r>
              <a:rPr lang="en-US" sz="2400" dirty="0" smtClean="0"/>
              <a:t/>
            </a:r>
            <a:br>
              <a:rPr lang="en-US" sz="2400" dirty="0" smtClean="0"/>
            </a:br>
            <a:r>
              <a:rPr lang="en-US" sz="2400" b="1" dirty="0" smtClean="0"/>
              <a:t> </a:t>
            </a:r>
            <a:r>
              <a:rPr lang="en-US" sz="2400" dirty="0" smtClean="0"/>
              <a:t/>
            </a:r>
            <a:br>
              <a:rPr lang="en-US" sz="2400" dirty="0" smtClean="0"/>
            </a:br>
            <a:endParaRPr lang="en-US" sz="2400" b="1" dirty="0">
              <a:latin typeface="Aharoni" pitchFamily="2" charset="-79"/>
              <a:cs typeface="Aharoni" pitchFamily="2" charset="-79"/>
            </a:endParaRPr>
          </a:p>
        </p:txBody>
      </p:sp>
      <p:sp>
        <p:nvSpPr>
          <p:cNvPr id="3" name="Content Placeholder 2"/>
          <p:cNvSpPr>
            <a:spLocks noGrp="1"/>
          </p:cNvSpPr>
          <p:nvPr>
            <p:ph idx="1"/>
          </p:nvPr>
        </p:nvSpPr>
        <p:spPr>
          <a:xfrm>
            <a:off x="457200" y="3581400"/>
            <a:ext cx="8229600" cy="2544763"/>
          </a:xfrm>
        </p:spPr>
        <p:txBody>
          <a:bodyPr>
            <a:normAutofit fontScale="92500" lnSpcReduction="10000"/>
          </a:bodyPr>
          <a:lstStyle/>
          <a:p>
            <a:pPr marL="0" indent="0" algn="ctr">
              <a:buNone/>
            </a:pPr>
            <a:r>
              <a:rPr lang="en-GB" sz="3000" b="1" dirty="0" smtClean="0"/>
              <a:t>PRESENTED</a:t>
            </a:r>
            <a:r>
              <a:rPr lang="en-US" sz="3000" b="1" dirty="0" smtClean="0"/>
              <a:t> </a:t>
            </a:r>
          </a:p>
          <a:p>
            <a:pPr marL="0" indent="0" algn="ctr">
              <a:buNone/>
            </a:pPr>
            <a:r>
              <a:rPr lang="en-GB" b="1" dirty="0" smtClean="0"/>
              <a:t>By</a:t>
            </a:r>
          </a:p>
          <a:p>
            <a:pPr marL="0" indent="0" algn="ctr">
              <a:buNone/>
            </a:pPr>
            <a:r>
              <a:rPr lang="en-GB" b="1" dirty="0" smtClean="0"/>
              <a:t>Prof. E. Y. ADERIBIGBE</a:t>
            </a:r>
          </a:p>
          <a:p>
            <a:pPr marL="0" indent="0" algn="ctr">
              <a:buNone/>
            </a:pPr>
            <a:r>
              <a:rPr lang="en-GB" b="1" dirty="0" smtClean="0"/>
              <a:t>Director (CGDS)</a:t>
            </a:r>
          </a:p>
          <a:p>
            <a:pPr marL="0" indent="0" algn="ctr">
              <a:buNone/>
            </a:pPr>
            <a:r>
              <a:rPr lang="en-GB" b="1" dirty="0" smtClean="0"/>
              <a:t>At the EKSU ACADEMIC SUMMIT, 2016</a:t>
            </a:r>
          </a:p>
          <a:p>
            <a:pPr marL="0" indent="0" algn="ctr">
              <a:buNone/>
            </a:pPr>
            <a:endParaRPr lang="en-GB" dirty="0" smtClean="0"/>
          </a:p>
        </p:txBody>
      </p:sp>
      <p:pic>
        <p:nvPicPr>
          <p:cNvPr id="1026"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914400" y="762000"/>
            <a:ext cx="7162800" cy="13335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
        <p:nvSpPr>
          <p:cNvPr id="7" name="Slide Number Placeholder 6"/>
          <p:cNvSpPr>
            <a:spLocks noGrp="1"/>
          </p:cNvSpPr>
          <p:nvPr>
            <p:ph type="sldNum" sz="quarter" idx="12"/>
          </p:nvPr>
        </p:nvSpPr>
        <p:spPr/>
        <p:txBody>
          <a:bodyPr/>
          <a:lstStyle/>
          <a:p>
            <a:fld id="{1387417F-CD80-46DB-B84D-5F1ADE59F8BD}" type="slidenum">
              <a:rPr lang="en-US" smtClean="0"/>
              <a:pPr/>
              <a:t>1</a:t>
            </a:fld>
            <a:endParaRPr lang="en-US"/>
          </a:p>
        </p:txBody>
      </p:sp>
      <p:sp>
        <p:nvSpPr>
          <p:cNvPr id="8" name="Date Placeholder 7"/>
          <p:cNvSpPr>
            <a:spLocks noGrp="1"/>
          </p:cNvSpPr>
          <p:nvPr>
            <p:ph type="dt" sz="half" idx="10"/>
          </p:nvPr>
        </p:nvSpPr>
        <p:spPr/>
        <p:txBody>
          <a:bodyPr/>
          <a:lstStyle/>
          <a:p>
            <a:r>
              <a:rPr lang="en-US" dirty="0" smtClean="0"/>
              <a:t>Wednesday, February 03, 2016</a:t>
            </a:r>
            <a:endParaRPr lang="en-US" dirty="0"/>
          </a:p>
        </p:txBody>
      </p:sp>
    </p:spTree>
    <p:extLst>
      <p:ext uri="{BB962C8B-B14F-4D97-AF65-F5344CB8AC3E}">
        <p14:creationId xmlns:p14="http://schemas.microsoft.com/office/powerpoint/2010/main" xmlns="" val="2311185549"/>
      </p:ext>
    </p:extLst>
  </p:cSld>
  <p:clrMapOvr>
    <a:masterClrMapping/>
  </p:clrMapOvr>
  <p:transition/>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dirty="0"/>
              <a:t>OUTLINE</a:t>
            </a:r>
            <a:r>
              <a:rPr lang="en-US" dirty="0"/>
              <a:t/>
            </a:r>
            <a:br>
              <a:rPr lang="en-US" dirty="0"/>
            </a:br>
            <a:endParaRPr lang="en-US" dirty="0"/>
          </a:p>
        </p:txBody>
      </p:sp>
      <p:sp>
        <p:nvSpPr>
          <p:cNvPr id="3" name="Content Placeholder 2"/>
          <p:cNvSpPr>
            <a:spLocks noGrp="1"/>
          </p:cNvSpPr>
          <p:nvPr>
            <p:ph idx="1"/>
          </p:nvPr>
        </p:nvSpPr>
        <p:spPr>
          <a:xfrm>
            <a:off x="457200" y="1219200"/>
            <a:ext cx="8229600" cy="4906963"/>
          </a:xfrm>
        </p:spPr>
        <p:txBody>
          <a:bodyPr>
            <a:normAutofit fontScale="92500" lnSpcReduction="10000"/>
          </a:bodyPr>
          <a:lstStyle/>
          <a:p>
            <a:pPr marL="514350" indent="-514350">
              <a:buFont typeface="+mj-lt"/>
              <a:buAutoNum type="alphaUcPeriod"/>
            </a:pPr>
            <a:r>
              <a:rPr lang="en-US" dirty="0" smtClean="0"/>
              <a:t>PREAMBLE</a:t>
            </a:r>
            <a:endParaRPr lang="en-US" dirty="0"/>
          </a:p>
          <a:p>
            <a:pPr marL="857250" lvl="1" indent="-400050">
              <a:buFont typeface="+mj-lt"/>
              <a:buAutoNum type="romanLcPeriod"/>
            </a:pPr>
            <a:r>
              <a:rPr lang="en-US" dirty="0"/>
              <a:t>Establishment of CGDS</a:t>
            </a:r>
          </a:p>
          <a:p>
            <a:pPr marL="857250" lvl="1" indent="-400050">
              <a:buFont typeface="+mj-lt"/>
              <a:buAutoNum type="romanLcPeriod"/>
            </a:pPr>
            <a:r>
              <a:rPr lang="en-US" dirty="0"/>
              <a:t>Approval of CGDS Academic </a:t>
            </a:r>
            <a:r>
              <a:rPr lang="en-US" dirty="0" err="1"/>
              <a:t>programme</a:t>
            </a:r>
            <a:endParaRPr lang="en-US" dirty="0"/>
          </a:p>
          <a:p>
            <a:pPr marL="514350" lvl="0" indent="-514350">
              <a:buFont typeface="+mj-lt"/>
              <a:buAutoNum type="alphaUcPeriod"/>
            </a:pPr>
            <a:r>
              <a:rPr lang="en-US" dirty="0"/>
              <a:t>VIABILITY OF ACADEMIC PROGRAMMES AND NON-DEGREE CERTIFICATE COURSES</a:t>
            </a:r>
          </a:p>
          <a:p>
            <a:pPr marL="857250" lvl="1" indent="-400050">
              <a:buFont typeface="+mj-lt"/>
              <a:buAutoNum type="romanLcPeriod"/>
            </a:pPr>
            <a:r>
              <a:rPr lang="en-US" dirty="0"/>
              <a:t>Projected Revenue from Centre for Gender and Development Studies (CGDS)</a:t>
            </a:r>
          </a:p>
          <a:p>
            <a:pPr lvl="0">
              <a:buFont typeface="+mj-lt"/>
              <a:buAutoNum type="alphaUcPeriod"/>
            </a:pPr>
            <a:r>
              <a:rPr lang="en-US" dirty="0"/>
              <a:t>SITUATION ANALYSIS</a:t>
            </a:r>
          </a:p>
          <a:p>
            <a:pPr lvl="0">
              <a:buFont typeface="+mj-lt"/>
              <a:buAutoNum type="alphaUcPeriod"/>
            </a:pPr>
            <a:r>
              <a:rPr lang="en-US" dirty="0"/>
              <a:t>CHALLENGES</a:t>
            </a:r>
          </a:p>
          <a:p>
            <a:pPr lvl="0">
              <a:buFont typeface="+mj-lt"/>
              <a:buAutoNum type="alphaUcPeriod"/>
            </a:pPr>
            <a:r>
              <a:rPr lang="en-US" dirty="0"/>
              <a:t>WAY FORWARD</a:t>
            </a:r>
          </a:p>
          <a:p>
            <a:endParaRPr lang="en-US" dirty="0"/>
          </a:p>
          <a:p>
            <a:pPr marL="0" indent="0">
              <a:buNone/>
            </a:pPr>
            <a:endParaRPr lang="en-US" dirty="0"/>
          </a:p>
        </p:txBody>
      </p:sp>
      <p:sp>
        <p:nvSpPr>
          <p:cNvPr id="4" name="Date Placeholder 3"/>
          <p:cNvSpPr>
            <a:spLocks noGrp="1"/>
          </p:cNvSpPr>
          <p:nvPr>
            <p:ph type="dt" sz="half" idx="10"/>
          </p:nvPr>
        </p:nvSpPr>
        <p:spPr/>
        <p:txBody>
          <a:bodyPr/>
          <a:lstStyle/>
          <a:p>
            <a:r>
              <a:rPr lang="en-US" smtClean="0"/>
              <a:t>3/2/2016</a:t>
            </a:r>
            <a:endParaRPr lang="en-US"/>
          </a:p>
        </p:txBody>
      </p:sp>
      <p:sp>
        <p:nvSpPr>
          <p:cNvPr id="5" name="Slide Number Placeholder 4"/>
          <p:cNvSpPr>
            <a:spLocks noGrp="1"/>
          </p:cNvSpPr>
          <p:nvPr>
            <p:ph type="sldNum" sz="quarter" idx="12"/>
          </p:nvPr>
        </p:nvSpPr>
        <p:spPr/>
        <p:txBody>
          <a:bodyPr/>
          <a:lstStyle/>
          <a:p>
            <a:fld id="{1387417F-CD80-46DB-B84D-5F1ADE59F8BD}" type="slidenum">
              <a:rPr lang="en-US" smtClean="0"/>
              <a:pPr/>
              <a:t>2</a:t>
            </a:fld>
            <a:endParaRPr lang="en-US"/>
          </a:p>
        </p:txBody>
      </p:sp>
    </p:spTree>
    <p:extLst>
      <p:ext uri="{BB962C8B-B14F-4D97-AF65-F5344CB8AC3E}">
        <p14:creationId xmlns:p14="http://schemas.microsoft.com/office/powerpoint/2010/main" xmlns="" val="194591336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28800" y="228600"/>
            <a:ext cx="4953000" cy="685800"/>
          </a:xfrm>
        </p:spPr>
        <p:txBody>
          <a:bodyPr>
            <a:noAutofit/>
          </a:bodyPr>
          <a:lstStyle/>
          <a:p>
            <a:pPr marL="742950" lvl="0" indent="-742950">
              <a:buFont typeface="+mj-lt"/>
              <a:buAutoNum type="alphaUcPeriod"/>
            </a:pPr>
            <a:r>
              <a:rPr lang="en-US" sz="2400" b="1" dirty="0" smtClean="0"/>
              <a:t>PREAMBLE</a:t>
            </a:r>
            <a:r>
              <a:rPr lang="en-US" sz="2400" dirty="0" smtClean="0"/>
              <a:t/>
            </a:r>
            <a:br>
              <a:rPr lang="en-US" sz="2400" dirty="0" smtClean="0"/>
            </a:br>
            <a:endParaRPr lang="en-US" sz="2400" dirty="0"/>
          </a:p>
        </p:txBody>
      </p:sp>
      <p:sp>
        <p:nvSpPr>
          <p:cNvPr id="3" name="Content Placeholder 2"/>
          <p:cNvSpPr>
            <a:spLocks noGrp="1"/>
          </p:cNvSpPr>
          <p:nvPr>
            <p:ph idx="1"/>
          </p:nvPr>
        </p:nvSpPr>
        <p:spPr>
          <a:xfrm>
            <a:off x="457200" y="1066800"/>
            <a:ext cx="8153400" cy="5410200"/>
          </a:xfrm>
        </p:spPr>
        <p:txBody>
          <a:bodyPr>
            <a:normAutofit fontScale="92500"/>
          </a:bodyPr>
          <a:lstStyle/>
          <a:p>
            <a:pPr marL="571500" lvl="0" indent="-571500">
              <a:buFont typeface="+mj-lt"/>
              <a:buAutoNum type="romanLcPeriod"/>
            </a:pPr>
            <a:r>
              <a:rPr lang="en-US" b="1" dirty="0" smtClean="0"/>
              <a:t>Establishment of CGDS: </a:t>
            </a:r>
          </a:p>
          <a:p>
            <a:pPr marL="971550" lvl="1" indent="-571500">
              <a:buFont typeface="Wingdings" pitchFamily="2" charset="2"/>
              <a:buChar char="Ø"/>
            </a:pPr>
            <a:r>
              <a:rPr lang="en-US" dirty="0" smtClean="0"/>
              <a:t>The establishment of the CGDS was initiated by the Vice-Chancellor in February, 2012. </a:t>
            </a:r>
          </a:p>
          <a:p>
            <a:pPr marL="971550" lvl="1" indent="-571500">
              <a:buFont typeface="Wingdings" pitchFamily="2" charset="2"/>
              <a:buChar char="Ø"/>
            </a:pPr>
            <a:r>
              <a:rPr lang="en-US" dirty="0" smtClean="0"/>
              <a:t>The members of the Committee that prepared the document for the establishment of the Centre were drawn from different Departments and Faculties in the University. </a:t>
            </a:r>
          </a:p>
          <a:p>
            <a:pPr marL="971550" lvl="1" indent="-571500">
              <a:buFont typeface="Wingdings" pitchFamily="2" charset="2"/>
              <a:buChar char="Ø"/>
            </a:pPr>
            <a:r>
              <a:rPr lang="en-US" dirty="0" smtClean="0"/>
              <a:t>The report of the Committee was presented and approved at the 207</a:t>
            </a:r>
            <a:r>
              <a:rPr lang="en-US" baseline="30000" dirty="0" smtClean="0"/>
              <a:t>th</a:t>
            </a:r>
            <a:r>
              <a:rPr lang="en-US" dirty="0" smtClean="0"/>
              <a:t> Senate session held on 20</a:t>
            </a:r>
            <a:r>
              <a:rPr lang="en-US" baseline="30000" dirty="0" smtClean="0"/>
              <a:t>th</a:t>
            </a:r>
            <a:r>
              <a:rPr lang="en-US" dirty="0" smtClean="0"/>
              <a:t> November, 2012;</a:t>
            </a:r>
          </a:p>
          <a:p>
            <a:pPr marL="971550" lvl="1" indent="-571500">
              <a:buFont typeface="Wingdings" pitchFamily="2" charset="2"/>
              <a:buChar char="Ø"/>
            </a:pPr>
            <a:r>
              <a:rPr lang="en-US" dirty="0" smtClean="0"/>
              <a:t> while the University Governing Council approved the establishment of the CGDS on 13</a:t>
            </a:r>
            <a:r>
              <a:rPr lang="en-US" baseline="30000" dirty="0" smtClean="0"/>
              <a:t>th</a:t>
            </a:r>
            <a:r>
              <a:rPr lang="en-US" dirty="0" smtClean="0"/>
              <a:t> June, 2013. </a:t>
            </a:r>
          </a:p>
          <a:p>
            <a:pPr marL="571500" lvl="0" indent="-571500">
              <a:buNone/>
            </a:pPr>
            <a:endParaRPr lang="en-US" dirty="0"/>
          </a:p>
        </p:txBody>
      </p:sp>
      <p:sp>
        <p:nvSpPr>
          <p:cNvPr id="5" name="Date Placeholder 4"/>
          <p:cNvSpPr>
            <a:spLocks noGrp="1"/>
          </p:cNvSpPr>
          <p:nvPr>
            <p:ph type="dt" sz="half" idx="10"/>
          </p:nvPr>
        </p:nvSpPr>
        <p:spPr/>
        <p:txBody>
          <a:bodyPr/>
          <a:lstStyle/>
          <a:p>
            <a:r>
              <a:rPr lang="en-US" smtClean="0"/>
              <a:t>3/2/2016</a:t>
            </a:r>
            <a:endParaRPr lang="en-US" dirty="0"/>
          </a:p>
        </p:txBody>
      </p:sp>
      <p:sp>
        <p:nvSpPr>
          <p:cNvPr id="6" name="Slide Number Placeholder 5"/>
          <p:cNvSpPr>
            <a:spLocks noGrp="1"/>
          </p:cNvSpPr>
          <p:nvPr>
            <p:ph type="sldNum" sz="quarter" idx="12"/>
          </p:nvPr>
        </p:nvSpPr>
        <p:spPr/>
        <p:txBody>
          <a:bodyPr/>
          <a:lstStyle/>
          <a:p>
            <a:fld id="{1387417F-CD80-46DB-B84D-5F1ADE59F8BD}" type="slidenum">
              <a:rPr lang="en-US" smtClean="0"/>
              <a:pPr/>
              <a:t>3</a:t>
            </a:fld>
            <a:endParaRPr 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dirty="0" smtClean="0"/>
              <a:t>3/2/2016</a:t>
            </a:r>
            <a:endParaRPr lang="en-US" dirty="0"/>
          </a:p>
        </p:txBody>
      </p:sp>
      <p:sp>
        <p:nvSpPr>
          <p:cNvPr id="3" name="Slide Number Placeholder 2"/>
          <p:cNvSpPr>
            <a:spLocks noGrp="1"/>
          </p:cNvSpPr>
          <p:nvPr>
            <p:ph type="sldNum" sz="quarter" idx="12"/>
          </p:nvPr>
        </p:nvSpPr>
        <p:spPr/>
        <p:txBody>
          <a:bodyPr/>
          <a:lstStyle/>
          <a:p>
            <a:fld id="{1387417F-CD80-46DB-B84D-5F1ADE59F8BD}" type="slidenum">
              <a:rPr lang="en-US" smtClean="0"/>
              <a:pPr/>
              <a:t>4</a:t>
            </a:fld>
            <a:endParaRPr lang="en-US"/>
          </a:p>
        </p:txBody>
      </p:sp>
      <p:sp>
        <p:nvSpPr>
          <p:cNvPr id="4" name="Rectangle 3"/>
          <p:cNvSpPr/>
          <p:nvPr/>
        </p:nvSpPr>
        <p:spPr>
          <a:xfrm>
            <a:off x="609600" y="838200"/>
            <a:ext cx="8305800" cy="4401205"/>
          </a:xfrm>
          <a:prstGeom prst="rect">
            <a:avLst/>
          </a:prstGeom>
        </p:spPr>
        <p:txBody>
          <a:bodyPr wrap="square">
            <a:spAutoFit/>
          </a:bodyPr>
          <a:lstStyle/>
          <a:p>
            <a:pPr marL="571500" lvl="0" indent="-571500">
              <a:buNone/>
            </a:pPr>
            <a:r>
              <a:rPr lang="en-US" sz="2000" b="1" dirty="0" smtClean="0"/>
              <a:t>ii.    Approval of CGDS Academic </a:t>
            </a:r>
            <a:r>
              <a:rPr lang="en-US" sz="2000" b="1" dirty="0" err="1" smtClean="0"/>
              <a:t>Programme</a:t>
            </a:r>
            <a:r>
              <a:rPr lang="en-US" sz="2000" b="1" dirty="0" smtClean="0"/>
              <a:t>: </a:t>
            </a:r>
            <a:endParaRPr lang="en-US" sz="2000" dirty="0" smtClean="0"/>
          </a:p>
          <a:p>
            <a:pPr lvl="1">
              <a:buFont typeface="Wingdings" pitchFamily="2" charset="2"/>
              <a:buChar char="Ø"/>
            </a:pPr>
            <a:r>
              <a:rPr lang="en-US" sz="2000" b="1" dirty="0" smtClean="0"/>
              <a:t>Senate</a:t>
            </a:r>
            <a:r>
              <a:rPr lang="en-US" sz="2000" dirty="0" smtClean="0"/>
              <a:t>: The 219</a:t>
            </a:r>
            <a:r>
              <a:rPr lang="en-US" sz="2000" baseline="30000" dirty="0" smtClean="0"/>
              <a:t>th</a:t>
            </a:r>
            <a:r>
              <a:rPr lang="en-US" sz="2000" dirty="0" smtClean="0"/>
              <a:t> regular meeting of Senate held on 5</a:t>
            </a:r>
            <a:r>
              <a:rPr lang="en-US" sz="2000" baseline="30000" dirty="0" smtClean="0"/>
              <a:t>th</a:t>
            </a:r>
            <a:r>
              <a:rPr lang="en-US" sz="2000" dirty="0" smtClean="0"/>
              <a:t> September, 2014, considered and approved the CGDS Academic programs. Senate elected some of its members to serve as its representatives on the Governing and Academic Boards at its 223</a:t>
            </a:r>
            <a:r>
              <a:rPr lang="en-US" sz="2000" baseline="30000" dirty="0" smtClean="0"/>
              <a:t>rd</a:t>
            </a:r>
            <a:r>
              <a:rPr lang="en-US" sz="2000" dirty="0" smtClean="0"/>
              <a:t> meeting of 20</a:t>
            </a:r>
            <a:r>
              <a:rPr lang="en-US" sz="2000" baseline="30000" dirty="0" smtClean="0"/>
              <a:t>th</a:t>
            </a:r>
            <a:r>
              <a:rPr lang="en-US" sz="2000" dirty="0" smtClean="0"/>
              <a:t> May, 2015; </a:t>
            </a:r>
          </a:p>
          <a:p>
            <a:pPr lvl="1">
              <a:buFont typeface="Wingdings" pitchFamily="2" charset="2"/>
              <a:buChar char="Ø"/>
            </a:pPr>
            <a:r>
              <a:rPr lang="en-US" sz="2000" b="1" dirty="0" smtClean="0"/>
              <a:t>Council: </a:t>
            </a:r>
            <a:r>
              <a:rPr lang="en-US" sz="2000" dirty="0" smtClean="0"/>
              <a:t>The University Governing Council approved the re-constitution of Governing and Academic Boards of the Centre for Gender and Development Studies, at its meeting held on 10</a:t>
            </a:r>
            <a:r>
              <a:rPr lang="en-US" sz="2000" baseline="30000" dirty="0" smtClean="0"/>
              <a:t>th</a:t>
            </a:r>
            <a:r>
              <a:rPr lang="en-US" sz="2000" dirty="0" smtClean="0"/>
              <a:t> October, 2014. </a:t>
            </a:r>
          </a:p>
          <a:p>
            <a:pPr lvl="1">
              <a:buFont typeface="Wingdings" pitchFamily="2" charset="2"/>
              <a:buChar char="Ø"/>
            </a:pPr>
            <a:r>
              <a:rPr lang="en-US" sz="2000" b="1" dirty="0" smtClean="0"/>
              <a:t>Vision/Mission Statement:</a:t>
            </a:r>
            <a:r>
              <a:rPr lang="en-US" sz="2000" dirty="0" smtClean="0"/>
              <a:t> In the 5-Year (2014-2018) EKSU Strategic Plan Document, CGDS:</a:t>
            </a:r>
          </a:p>
          <a:p>
            <a:pPr lvl="2">
              <a:buFont typeface="Wingdings" pitchFamily="2" charset="2"/>
              <a:buChar char="ü"/>
            </a:pPr>
            <a:r>
              <a:rPr lang="en-US" sz="2000" dirty="0" smtClean="0"/>
              <a:t>Is a Centre of Excellence, for the inter-disciplinary study of gender and development issues at the </a:t>
            </a:r>
            <a:r>
              <a:rPr lang="en-US" sz="2000" dirty="0" err="1" smtClean="0"/>
              <a:t>Ekiti</a:t>
            </a:r>
            <a:r>
              <a:rPr lang="en-US" sz="2000" dirty="0" smtClean="0"/>
              <a:t> State University (EKSU); </a:t>
            </a:r>
          </a:p>
          <a:p>
            <a:pPr lvl="2">
              <a:buFont typeface="Wingdings" pitchFamily="2" charset="2"/>
              <a:buChar char="ü"/>
            </a:pPr>
            <a:r>
              <a:rPr lang="en-US" sz="2000" dirty="0" smtClean="0"/>
              <a:t>Design and develop academic programs and short courses, at undergraduate and postgraduate levels.</a:t>
            </a:r>
            <a:endParaRPr lang="en-US" sz="2000" dirty="0"/>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304800"/>
            <a:ext cx="8229600" cy="457200"/>
          </a:xfrm>
        </p:spPr>
        <p:txBody>
          <a:bodyPr>
            <a:normAutofit/>
          </a:bodyPr>
          <a:lstStyle/>
          <a:p>
            <a:pPr marL="342900" indent="-342900"/>
            <a:r>
              <a:rPr lang="en-US" sz="1800" b="1" dirty="0" smtClean="0"/>
              <a:t>B. VIABILITY OF ACADEMIC PROGRAMS AND NON-DEGREE CERTIFICATE COURSES</a:t>
            </a:r>
            <a:endParaRPr lang="en-US" sz="1800" dirty="0"/>
          </a:p>
        </p:txBody>
      </p:sp>
      <p:graphicFrame>
        <p:nvGraphicFramePr>
          <p:cNvPr id="1026" name="Object 2"/>
          <p:cNvGraphicFramePr>
            <a:graphicFrameLocks noChangeAspect="1"/>
          </p:cNvGraphicFramePr>
          <p:nvPr/>
        </p:nvGraphicFramePr>
        <p:xfrm>
          <a:off x="609600" y="1295400"/>
          <a:ext cx="7150100" cy="4457700"/>
        </p:xfrm>
        <a:graphic>
          <a:graphicData uri="http://schemas.openxmlformats.org/presentationml/2006/ole">
            <p:oleObj spid="_x0000_s1030" name="Document" r:id="rId3" imgW="6055518" imgH="3683844" progId="Word.Document.12">
              <p:embed/>
            </p:oleObj>
          </a:graphicData>
        </a:graphic>
      </p:graphicFrame>
      <p:sp>
        <p:nvSpPr>
          <p:cNvPr id="4" name="Rectangle 3"/>
          <p:cNvSpPr/>
          <p:nvPr/>
        </p:nvSpPr>
        <p:spPr>
          <a:xfrm>
            <a:off x="609600" y="762000"/>
            <a:ext cx="7239000" cy="307777"/>
          </a:xfrm>
          <a:prstGeom prst="rect">
            <a:avLst/>
          </a:prstGeom>
        </p:spPr>
        <p:txBody>
          <a:bodyPr wrap="square">
            <a:spAutoFit/>
          </a:bodyPr>
          <a:lstStyle/>
          <a:p>
            <a:r>
              <a:rPr lang="en-US" sz="1400" dirty="0" smtClean="0"/>
              <a:t>The Centre has the under-listed academic programs and non-degree certificate courses:</a:t>
            </a:r>
            <a:endParaRPr lang="en-US" sz="1400" dirty="0"/>
          </a:p>
        </p:txBody>
      </p:sp>
      <p:sp>
        <p:nvSpPr>
          <p:cNvPr id="5" name="Rectangle 4"/>
          <p:cNvSpPr/>
          <p:nvPr/>
        </p:nvSpPr>
        <p:spPr>
          <a:xfrm>
            <a:off x="457200" y="5867400"/>
            <a:ext cx="8153400" cy="307777"/>
          </a:xfrm>
          <a:prstGeom prst="rect">
            <a:avLst/>
          </a:prstGeom>
        </p:spPr>
        <p:txBody>
          <a:bodyPr wrap="square">
            <a:spAutoFit/>
          </a:bodyPr>
          <a:lstStyle/>
          <a:p>
            <a:pPr lvl="0" fontAlgn="base">
              <a:spcBef>
                <a:spcPct val="0"/>
              </a:spcBef>
              <a:spcAft>
                <a:spcPct val="0"/>
              </a:spcAft>
            </a:pPr>
            <a:r>
              <a:rPr lang="en-US" sz="1400" dirty="0" smtClean="0">
                <a:latin typeface="Calibri" pitchFamily="34" charset="0"/>
                <a:ea typeface="Calibri" pitchFamily="34" charset="0"/>
                <a:cs typeface="Times New Roman" pitchFamily="18" charset="0"/>
              </a:rPr>
              <a:t>The projected financial implications of these programs are as shown in the tables below:</a:t>
            </a:r>
            <a:endParaRPr lang="en-US" sz="1400" dirty="0" smtClean="0">
              <a:latin typeface="Arial" pitchFamily="34" charset="0"/>
              <a:cs typeface="Arial" pitchFamily="34" charset="0"/>
            </a:endParaRPr>
          </a:p>
        </p:txBody>
      </p:sp>
      <p:sp>
        <p:nvSpPr>
          <p:cNvPr id="6" name="Date Placeholder 5"/>
          <p:cNvSpPr>
            <a:spLocks noGrp="1"/>
          </p:cNvSpPr>
          <p:nvPr>
            <p:ph type="dt" sz="half" idx="10"/>
          </p:nvPr>
        </p:nvSpPr>
        <p:spPr/>
        <p:txBody>
          <a:bodyPr/>
          <a:lstStyle/>
          <a:p>
            <a:r>
              <a:rPr lang="en-US" smtClean="0"/>
              <a:t>3/2/2016</a:t>
            </a:r>
            <a:endParaRPr lang="en-US" dirty="0"/>
          </a:p>
        </p:txBody>
      </p:sp>
      <p:sp>
        <p:nvSpPr>
          <p:cNvPr id="7" name="Slide Number Placeholder 6"/>
          <p:cNvSpPr>
            <a:spLocks noGrp="1"/>
          </p:cNvSpPr>
          <p:nvPr>
            <p:ph type="sldNum" sz="quarter" idx="12"/>
          </p:nvPr>
        </p:nvSpPr>
        <p:spPr/>
        <p:txBody>
          <a:bodyPr/>
          <a:lstStyle/>
          <a:p>
            <a:fld id="{1387417F-CD80-46DB-B84D-5F1ADE59F8BD}" type="slidenum">
              <a:rPr lang="en-US" smtClean="0"/>
              <a:pPr/>
              <a:t>5</a:t>
            </a:fld>
            <a:endParaRPr lang="en-US"/>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85800" y="152400"/>
            <a:ext cx="7162800" cy="762000"/>
          </a:xfrm>
        </p:spPr>
        <p:txBody>
          <a:bodyPr>
            <a:normAutofit fontScale="90000"/>
          </a:bodyPr>
          <a:lstStyle/>
          <a:p>
            <a:r>
              <a:rPr lang="en-US" sz="1800" b="1" dirty="0" smtClean="0"/>
              <a:t>PROJECTED REVENUE FROM CENTRE FOR GENDER AND DEVELOPMENT STUDIES</a:t>
            </a:r>
            <a:r>
              <a:rPr lang="en-US" sz="1800" dirty="0" smtClean="0"/>
              <a:t/>
            </a:r>
            <a:br>
              <a:rPr lang="en-US" sz="1800" dirty="0" smtClean="0"/>
            </a:br>
            <a:r>
              <a:rPr lang="en-US" sz="1800" dirty="0" smtClean="0"/>
              <a:t/>
            </a:r>
            <a:br>
              <a:rPr lang="en-US" sz="1800" dirty="0" smtClean="0"/>
            </a:br>
            <a:endParaRPr lang="en-US" sz="1800"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xmlns="" val="2464094780"/>
              </p:ext>
            </p:extLst>
          </p:nvPr>
        </p:nvGraphicFramePr>
        <p:xfrm>
          <a:off x="1240971" y="1298375"/>
          <a:ext cx="6080760" cy="2054424"/>
        </p:xfrm>
        <a:graphic>
          <a:graphicData uri="http://schemas.openxmlformats.org/drawingml/2006/table">
            <a:tbl>
              <a:tblPr firstRow="1" firstCol="1" bandRow="1">
                <a:tableStyleId>{5C22544A-7EE6-4342-B048-85BDC9FD1C3A}</a:tableStyleId>
              </a:tblPr>
              <a:tblGrid>
                <a:gridCol w="697230"/>
                <a:gridCol w="742950"/>
                <a:gridCol w="914400"/>
                <a:gridCol w="1699260"/>
                <a:gridCol w="1013460"/>
                <a:gridCol w="1013460"/>
              </a:tblGrid>
              <a:tr h="672484">
                <a:tc>
                  <a:txBody>
                    <a:bodyPr/>
                    <a:lstStyle/>
                    <a:p>
                      <a:pPr marL="0" marR="0">
                        <a:spcBef>
                          <a:spcPts val="0"/>
                        </a:spcBef>
                        <a:spcAft>
                          <a:spcPts val="0"/>
                        </a:spcAft>
                      </a:pPr>
                      <a:r>
                        <a:rPr lang="en-US" sz="1200" dirty="0" smtClean="0">
                          <a:effectLst/>
                        </a:rPr>
                        <a:t>Year</a:t>
                      </a:r>
                      <a:endParaRPr lang="en-US" sz="1100"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200">
                          <a:effectLst/>
                        </a:rPr>
                        <a:t>No. of Students</a:t>
                      </a:r>
                      <a:endParaRPr lang="en-US" sz="110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200" dirty="0">
                          <a:effectLst/>
                        </a:rPr>
                        <a:t>No. of Semesters</a:t>
                      </a:r>
                      <a:endParaRPr lang="en-US" sz="1100"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200">
                          <a:effectLst/>
                        </a:rPr>
                        <a:t>Tuition fees (per Semester</a:t>
                      </a:r>
                      <a:endParaRPr lang="en-US" sz="1100">
                        <a:effectLst/>
                      </a:endParaRPr>
                    </a:p>
                    <a:p>
                      <a:pPr marL="0" marR="0">
                        <a:spcBef>
                          <a:spcPts val="0"/>
                        </a:spcBef>
                        <a:spcAft>
                          <a:spcPts val="0"/>
                        </a:spcAft>
                      </a:pPr>
                      <a:r>
                        <a:rPr lang="en-US" sz="1200">
                          <a:effectLst/>
                        </a:rPr>
                        <a:t>  </a:t>
                      </a:r>
                      <a:r>
                        <a:rPr lang="en-US" sz="1200" strike="sngStrike">
                          <a:effectLst/>
                        </a:rPr>
                        <a:t>N</a:t>
                      </a:r>
                      <a:r>
                        <a:rPr lang="en-US" sz="1200">
                          <a:effectLst/>
                        </a:rPr>
                        <a:t>75,000</a:t>
                      </a:r>
                      <a:endParaRPr lang="en-US" sz="110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200" dirty="0">
                          <a:effectLst/>
                        </a:rPr>
                        <a:t>Total fees Per Group</a:t>
                      </a:r>
                      <a:endParaRPr lang="en-US" sz="1100" dirty="0">
                        <a:effectLst/>
                      </a:endParaRPr>
                    </a:p>
                    <a:p>
                      <a:pPr marL="0" marR="0">
                        <a:spcBef>
                          <a:spcPts val="0"/>
                        </a:spcBef>
                        <a:spcAft>
                          <a:spcPts val="0"/>
                        </a:spcAft>
                      </a:pPr>
                      <a:r>
                        <a:rPr lang="en-US" sz="1200" dirty="0">
                          <a:effectLst/>
                        </a:rPr>
                        <a:t>=N=</a:t>
                      </a:r>
                      <a:endParaRPr lang="en-US" sz="1100"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200">
                          <a:effectLst/>
                        </a:rPr>
                        <a:t>Total Fees Annually</a:t>
                      </a:r>
                      <a:endParaRPr lang="en-US" sz="1100">
                        <a:effectLst/>
                      </a:endParaRPr>
                    </a:p>
                    <a:p>
                      <a:pPr marL="0" marR="0">
                        <a:spcBef>
                          <a:spcPts val="0"/>
                        </a:spcBef>
                        <a:spcAft>
                          <a:spcPts val="0"/>
                        </a:spcAft>
                      </a:pPr>
                      <a:r>
                        <a:rPr lang="en-US" sz="1200">
                          <a:effectLst/>
                        </a:rPr>
                        <a:t>=N=</a:t>
                      </a:r>
                      <a:endParaRPr lang="en-US" sz="1100">
                        <a:effectLst/>
                        <a:latin typeface="Calibri"/>
                        <a:ea typeface="Calibri"/>
                        <a:cs typeface="Times New Roman"/>
                      </a:endParaRPr>
                    </a:p>
                  </a:txBody>
                  <a:tcPr marL="68580" marR="68580" marT="0" marB="0"/>
                </a:tc>
              </a:tr>
              <a:tr h="276388">
                <a:tc>
                  <a:txBody>
                    <a:bodyPr/>
                    <a:lstStyle/>
                    <a:p>
                      <a:pPr marL="0" marR="0">
                        <a:lnSpc>
                          <a:spcPct val="150000"/>
                        </a:lnSpc>
                        <a:spcBef>
                          <a:spcPts val="0"/>
                        </a:spcBef>
                        <a:spcAft>
                          <a:spcPts val="0"/>
                        </a:spcAft>
                      </a:pPr>
                      <a:r>
                        <a:rPr lang="en-US" sz="1100">
                          <a:effectLst/>
                        </a:rPr>
                        <a:t> 1</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50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dirty="0">
                          <a:effectLst/>
                        </a:rPr>
                        <a:t>7,500,000</a:t>
                      </a:r>
                      <a:endParaRPr lang="en-US" sz="1100" dirty="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7,500,000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7,500,000</a:t>
                      </a:r>
                      <a:endParaRPr lang="en-US" sz="1100">
                        <a:effectLst/>
                        <a:latin typeface="Calibri"/>
                        <a:ea typeface="Calibri"/>
                        <a:cs typeface="Times New Roman"/>
                      </a:endParaRPr>
                    </a:p>
                  </a:txBody>
                  <a:tcPr marL="68580" marR="68580" marT="0" marB="0"/>
                </a:tc>
              </a:tr>
              <a:tr h="276388">
                <a:tc>
                  <a:txBody>
                    <a:bodyPr/>
                    <a:lstStyle/>
                    <a:p>
                      <a:pPr marL="0" marR="0">
                        <a:lnSpc>
                          <a:spcPct val="150000"/>
                        </a:lnSpc>
                        <a:spcBef>
                          <a:spcPts val="0"/>
                        </a:spcBef>
                        <a:spcAft>
                          <a:spcPts val="0"/>
                        </a:spcAft>
                      </a:pPr>
                      <a:r>
                        <a:rPr lang="en-US" sz="1100">
                          <a:effectLst/>
                        </a:rPr>
                        <a:t> 2</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75</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dirty="0">
                          <a:effectLst/>
                        </a:rPr>
                        <a:t>11,250,000</a:t>
                      </a:r>
                      <a:endParaRPr lang="en-US" sz="1100" dirty="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11,250,000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11,250,000</a:t>
                      </a:r>
                      <a:endParaRPr lang="en-US" sz="1100">
                        <a:effectLst/>
                        <a:latin typeface="Calibri"/>
                        <a:ea typeface="Calibri"/>
                        <a:cs typeface="Times New Roman"/>
                      </a:endParaRPr>
                    </a:p>
                  </a:txBody>
                  <a:tcPr marL="68580" marR="68580" marT="0" marB="0"/>
                </a:tc>
              </a:tr>
              <a:tr h="276388">
                <a:tc>
                  <a:txBody>
                    <a:bodyPr/>
                    <a:lstStyle/>
                    <a:p>
                      <a:pPr marL="0" marR="0">
                        <a:lnSpc>
                          <a:spcPct val="150000"/>
                        </a:lnSpc>
                        <a:spcBef>
                          <a:spcPts val="0"/>
                        </a:spcBef>
                        <a:spcAft>
                          <a:spcPts val="0"/>
                        </a:spcAft>
                      </a:pPr>
                      <a:r>
                        <a:rPr lang="en-US" sz="1100">
                          <a:effectLst/>
                        </a:rPr>
                        <a:t> 3</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15,000,000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15,000,000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15,000,000</a:t>
                      </a:r>
                      <a:endParaRPr lang="en-US" sz="1100">
                        <a:effectLst/>
                        <a:latin typeface="Calibri"/>
                        <a:ea typeface="Calibri"/>
                        <a:cs typeface="Times New Roman"/>
                      </a:endParaRPr>
                    </a:p>
                  </a:txBody>
                  <a:tcPr marL="68580" marR="68580" marT="0" marB="0"/>
                </a:tc>
              </a:tr>
              <a:tr h="276388">
                <a:tc>
                  <a:txBody>
                    <a:bodyPr/>
                    <a:lstStyle/>
                    <a:p>
                      <a:pPr marL="0" marR="0">
                        <a:lnSpc>
                          <a:spcPct val="150000"/>
                        </a:lnSpc>
                        <a:spcBef>
                          <a:spcPts val="0"/>
                        </a:spcBef>
                        <a:spcAft>
                          <a:spcPts val="0"/>
                        </a:spcAft>
                      </a:pPr>
                      <a:r>
                        <a:rPr lang="en-US" sz="1100">
                          <a:effectLst/>
                        </a:rPr>
                        <a:t> 4</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125</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18,750,000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18,750,000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18,750,000</a:t>
                      </a:r>
                      <a:endParaRPr lang="en-US" sz="1100">
                        <a:effectLst/>
                        <a:latin typeface="Calibri"/>
                        <a:ea typeface="Calibri"/>
                        <a:cs typeface="Times New Roman"/>
                      </a:endParaRPr>
                    </a:p>
                  </a:txBody>
                  <a:tcPr marL="68580" marR="68580" marT="0" marB="0"/>
                </a:tc>
              </a:tr>
              <a:tr h="276388">
                <a:tc>
                  <a:txBody>
                    <a:bodyPr/>
                    <a:lstStyle/>
                    <a:p>
                      <a:pPr marL="0" marR="0">
                        <a:lnSpc>
                          <a:spcPct val="150000"/>
                        </a:lnSpc>
                        <a:spcBef>
                          <a:spcPts val="0"/>
                        </a:spcBef>
                        <a:spcAft>
                          <a:spcPts val="0"/>
                        </a:spcAft>
                      </a:pPr>
                      <a:r>
                        <a:rPr lang="en-US" sz="1100" dirty="0">
                          <a:effectLst/>
                        </a:rPr>
                        <a:t>TOTAL</a:t>
                      </a:r>
                      <a:endParaRPr lang="en-US" sz="1100" dirty="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350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8</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dirty="0">
                          <a:effectLst/>
                        </a:rPr>
                        <a:t>52,500,000</a:t>
                      </a:r>
                      <a:endParaRPr lang="en-US" sz="1100" dirty="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52,500,000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dirty="0">
                          <a:effectLst/>
                        </a:rPr>
                        <a:t>52,500,000</a:t>
                      </a:r>
                      <a:endParaRPr lang="en-US" sz="1100" dirty="0">
                        <a:effectLst/>
                        <a:latin typeface="Calibri"/>
                        <a:ea typeface="Calibri"/>
                        <a:cs typeface="Times New Roman"/>
                      </a:endParaRPr>
                    </a:p>
                  </a:txBody>
                  <a:tcPr marL="68580" marR="68580" marT="0" marB="0"/>
                </a:tc>
              </a:tr>
            </a:tbl>
          </a:graphicData>
        </a:graphic>
      </p:graphicFrame>
      <p:sp>
        <p:nvSpPr>
          <p:cNvPr id="5" name="Rectangle 1"/>
          <p:cNvSpPr>
            <a:spLocks noChangeArrowheads="1"/>
          </p:cNvSpPr>
          <p:nvPr/>
        </p:nvSpPr>
        <p:spPr bwMode="auto">
          <a:xfrm>
            <a:off x="1066800" y="3200400"/>
            <a:ext cx="9144000"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0" i="0" u="none" strike="noStrike" cap="none" normalizeH="0" baseline="0" dirty="0" smtClean="0">
                <a:ln>
                  <a:noFill/>
                </a:ln>
                <a:solidFill>
                  <a:schemeClr val="tx1"/>
                </a:solidFill>
                <a:effectLst/>
                <a:latin typeface="Cambria" pitchFamily="18" charset="0"/>
                <a:ea typeface="Calibri" pitchFamily="34" charset="0"/>
                <a:cs typeface="Arial" pitchFamily="34" charset="0"/>
              </a:rPr>
              <a:t>Note: Candidates would be admitted twice in an academic session (i.e. First and Second Semesters)</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6" name="Table 5"/>
          <p:cNvGraphicFramePr>
            <a:graphicFrameLocks noGrp="1"/>
          </p:cNvGraphicFramePr>
          <p:nvPr>
            <p:extLst>
              <p:ext uri="{D42A27DB-BD31-4B8C-83A1-F6EECF244321}">
                <p14:modId xmlns:p14="http://schemas.microsoft.com/office/powerpoint/2010/main" xmlns="" val="3458867289"/>
              </p:ext>
            </p:extLst>
          </p:nvPr>
        </p:nvGraphicFramePr>
        <p:xfrm>
          <a:off x="1204686" y="4346928"/>
          <a:ext cx="6126480" cy="1901472"/>
        </p:xfrm>
        <a:graphic>
          <a:graphicData uri="http://schemas.openxmlformats.org/drawingml/2006/table">
            <a:tbl>
              <a:tblPr firstRow="1" firstCol="1" bandRow="1">
                <a:tableStyleId>{5C22544A-7EE6-4342-B048-85BDC9FD1C3A}</a:tableStyleId>
              </a:tblPr>
              <a:tblGrid>
                <a:gridCol w="1497330"/>
                <a:gridCol w="2114550"/>
                <a:gridCol w="1371600"/>
                <a:gridCol w="1143000"/>
              </a:tblGrid>
              <a:tr h="622417">
                <a:tc>
                  <a:txBody>
                    <a:bodyPr/>
                    <a:lstStyle/>
                    <a:p>
                      <a:pPr marL="0" marR="0">
                        <a:spcBef>
                          <a:spcPts val="0"/>
                        </a:spcBef>
                        <a:spcAft>
                          <a:spcPts val="0"/>
                        </a:spcAft>
                      </a:pPr>
                      <a:r>
                        <a:rPr lang="en-US" sz="1200" dirty="0">
                          <a:effectLst/>
                        </a:rPr>
                        <a:t>PROJECTED ENROLMENT PER COURSE</a:t>
                      </a:r>
                      <a:endParaRPr lang="en-US" sz="1100"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200" dirty="0" smtClean="0">
                          <a:effectLst/>
                        </a:rPr>
                        <a:t>COURSES</a:t>
                      </a:r>
                      <a:endParaRPr lang="en-US" sz="1100"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200" dirty="0">
                          <a:effectLst/>
                        </a:rPr>
                        <a:t>COST IMPLICATION PER COURSE</a:t>
                      </a:r>
                      <a:endParaRPr lang="en-US" sz="1100"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200">
                          <a:effectLst/>
                        </a:rPr>
                        <a:t>TOTAL COST FOR FIVE COURSES</a:t>
                      </a:r>
                      <a:endParaRPr lang="en-US" sz="1100">
                        <a:effectLst/>
                        <a:latin typeface="Calibri"/>
                        <a:ea typeface="Calibri"/>
                        <a:cs typeface="Times New Roman"/>
                      </a:endParaRPr>
                    </a:p>
                  </a:txBody>
                  <a:tcPr marL="68580" marR="68580" marT="0" marB="0"/>
                </a:tc>
              </a:tr>
              <a:tr h="255811">
                <a:tc>
                  <a:txBody>
                    <a:bodyPr/>
                    <a:lstStyle/>
                    <a:p>
                      <a:pPr marL="0" marR="0">
                        <a:lnSpc>
                          <a:spcPct val="150000"/>
                        </a:lnSpc>
                        <a:spcBef>
                          <a:spcPts val="0"/>
                        </a:spcBef>
                        <a:spcAft>
                          <a:spcPts val="0"/>
                        </a:spcAft>
                      </a:pPr>
                      <a:r>
                        <a:rPr lang="en-US" sz="1100">
                          <a:effectLst/>
                        </a:rPr>
                        <a:t>50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GDS, GDH,GHR,GAS &amp; GSC</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7,500,000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35,500,000.00</a:t>
                      </a:r>
                      <a:endParaRPr lang="en-US" sz="1100">
                        <a:effectLst/>
                        <a:latin typeface="Calibri"/>
                        <a:ea typeface="Calibri"/>
                        <a:cs typeface="Times New Roman"/>
                      </a:endParaRPr>
                    </a:p>
                  </a:txBody>
                  <a:tcPr marL="68580" marR="68580" marT="0" marB="0"/>
                </a:tc>
              </a:tr>
              <a:tr h="255811">
                <a:tc>
                  <a:txBody>
                    <a:bodyPr/>
                    <a:lstStyle/>
                    <a:p>
                      <a:pPr marL="0" marR="0">
                        <a:lnSpc>
                          <a:spcPct val="150000"/>
                        </a:lnSpc>
                        <a:spcBef>
                          <a:spcPts val="0"/>
                        </a:spcBef>
                        <a:spcAft>
                          <a:spcPts val="0"/>
                        </a:spcAft>
                      </a:pPr>
                      <a:r>
                        <a:rPr lang="en-US" sz="1100">
                          <a:effectLst/>
                        </a:rPr>
                        <a:t>75</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GDS, GDH,GHR,GAS &amp; GSC</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11,250,000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52,250,000.00</a:t>
                      </a:r>
                      <a:endParaRPr lang="en-US" sz="1100">
                        <a:effectLst/>
                        <a:latin typeface="Calibri"/>
                        <a:ea typeface="Calibri"/>
                        <a:cs typeface="Times New Roman"/>
                      </a:endParaRPr>
                    </a:p>
                  </a:txBody>
                  <a:tcPr marL="68580" marR="68580" marT="0" marB="0"/>
                </a:tc>
              </a:tr>
              <a:tr h="255811">
                <a:tc>
                  <a:txBody>
                    <a:bodyPr/>
                    <a:lstStyle/>
                    <a:p>
                      <a:pPr marL="0" marR="0">
                        <a:lnSpc>
                          <a:spcPct val="150000"/>
                        </a:lnSpc>
                        <a:spcBef>
                          <a:spcPts val="0"/>
                        </a:spcBef>
                        <a:spcAft>
                          <a:spcPts val="0"/>
                        </a:spcAft>
                      </a:pPr>
                      <a:r>
                        <a:rPr lang="en-US" sz="1100">
                          <a:effectLst/>
                        </a:rPr>
                        <a:t>100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dirty="0">
                          <a:effectLst/>
                        </a:rPr>
                        <a:t>GDS, GDH,GHR,GAS &amp; GSC</a:t>
                      </a:r>
                      <a:endParaRPr lang="en-US" sz="1100" dirty="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15,000,000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75,000,000.00</a:t>
                      </a:r>
                      <a:endParaRPr lang="en-US" sz="1100">
                        <a:effectLst/>
                        <a:latin typeface="Calibri"/>
                        <a:ea typeface="Calibri"/>
                        <a:cs typeface="Times New Roman"/>
                      </a:endParaRPr>
                    </a:p>
                  </a:txBody>
                  <a:tcPr marL="68580" marR="68580" marT="0" marB="0"/>
                </a:tc>
              </a:tr>
              <a:tr h="255811">
                <a:tc>
                  <a:txBody>
                    <a:bodyPr/>
                    <a:lstStyle/>
                    <a:p>
                      <a:pPr marL="0" marR="0">
                        <a:lnSpc>
                          <a:spcPct val="150000"/>
                        </a:lnSpc>
                        <a:spcBef>
                          <a:spcPts val="0"/>
                        </a:spcBef>
                        <a:spcAft>
                          <a:spcPts val="0"/>
                        </a:spcAft>
                      </a:pPr>
                      <a:r>
                        <a:rPr lang="en-US" sz="1100">
                          <a:effectLst/>
                        </a:rPr>
                        <a:t>125</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dirty="0">
                          <a:effectLst/>
                        </a:rPr>
                        <a:t>GDS, GDH,GHR,GAS &amp; GSC</a:t>
                      </a:r>
                      <a:endParaRPr lang="en-US" sz="1100" dirty="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18,750,000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92,850,000.00</a:t>
                      </a:r>
                      <a:endParaRPr lang="en-US" sz="1100">
                        <a:effectLst/>
                        <a:latin typeface="Calibri"/>
                        <a:ea typeface="Calibri"/>
                        <a:cs typeface="Times New Roman"/>
                      </a:endParaRPr>
                    </a:p>
                  </a:txBody>
                  <a:tcPr marL="68580" marR="68580" marT="0" marB="0"/>
                </a:tc>
              </a:tr>
              <a:tr h="255811">
                <a:tc>
                  <a:txBody>
                    <a:bodyPr/>
                    <a:lstStyle/>
                    <a:p>
                      <a:pPr marL="0" marR="0">
                        <a:lnSpc>
                          <a:spcPct val="150000"/>
                        </a:lnSpc>
                        <a:spcBef>
                          <a:spcPts val="0"/>
                        </a:spcBef>
                        <a:spcAft>
                          <a:spcPts val="0"/>
                        </a:spcAft>
                      </a:pPr>
                      <a:r>
                        <a:rPr lang="en-US" sz="1100">
                          <a:effectLst/>
                        </a:rPr>
                        <a:t>350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dirty="0">
                          <a:effectLst/>
                        </a:rPr>
                        <a:t>8 Semesters (i.e. 4 Sessions)</a:t>
                      </a:r>
                      <a:endParaRPr lang="en-US" sz="1100" dirty="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dirty="0">
                          <a:effectLst/>
                        </a:rPr>
                        <a:t>52,500,000</a:t>
                      </a:r>
                      <a:endParaRPr lang="en-US" sz="1100" dirty="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dirty="0">
                          <a:effectLst/>
                        </a:rPr>
                        <a:t>262,500,000.00</a:t>
                      </a:r>
                      <a:endParaRPr lang="en-US" sz="1100" dirty="0">
                        <a:effectLst/>
                        <a:latin typeface="Calibri"/>
                        <a:ea typeface="Calibri"/>
                        <a:cs typeface="Times New Roman"/>
                      </a:endParaRPr>
                    </a:p>
                  </a:txBody>
                  <a:tcPr marL="68580" marR="68580" marT="0" marB="0"/>
                </a:tc>
              </a:tr>
            </a:tbl>
          </a:graphicData>
        </a:graphic>
      </p:graphicFrame>
      <p:sp>
        <p:nvSpPr>
          <p:cNvPr id="7" name="Rectangle 2"/>
          <p:cNvSpPr>
            <a:spLocks noChangeArrowheads="1"/>
          </p:cNvSpPr>
          <p:nvPr/>
        </p:nvSpPr>
        <p:spPr bwMode="auto">
          <a:xfrm>
            <a:off x="1447800" y="3889728"/>
            <a:ext cx="6061587" cy="457200"/>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Cambria" pitchFamily="18" charset="0"/>
                <a:ea typeface="Calibri" pitchFamily="34" charset="0"/>
                <a:cs typeface="Arial" pitchFamily="34" charset="0"/>
              </a:rPr>
              <a:t>TABLE II: SUMMARY OF PROJECTED REVENUE FOR THE FIVE NON-DEGREE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Cambria" pitchFamily="18" charset="0"/>
                <a:ea typeface="Calibri" pitchFamily="34" charset="0"/>
                <a:cs typeface="Arial" pitchFamily="34" charset="0"/>
              </a:rPr>
              <a:t>	       CERTIFICATE COURSES</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8" name="Rectangle 7"/>
          <p:cNvSpPr/>
          <p:nvPr/>
        </p:nvSpPr>
        <p:spPr>
          <a:xfrm>
            <a:off x="1295400" y="914400"/>
            <a:ext cx="6477000" cy="307777"/>
          </a:xfrm>
          <a:prstGeom prst="rect">
            <a:avLst/>
          </a:prstGeom>
        </p:spPr>
        <p:txBody>
          <a:bodyPr wrap="square">
            <a:spAutoFit/>
          </a:bodyPr>
          <a:lstStyle/>
          <a:p>
            <a:r>
              <a:rPr lang="en-US" sz="1400" b="1" dirty="0"/>
              <a:t>TABLE I:  PROJECTED REVENUE FROM NON-DEGREE CERTIFICATE COURSES</a:t>
            </a:r>
            <a:endParaRPr lang="en-US" sz="1400" dirty="0"/>
          </a:p>
        </p:txBody>
      </p:sp>
      <p:sp>
        <p:nvSpPr>
          <p:cNvPr id="10" name="Date Placeholder 9"/>
          <p:cNvSpPr>
            <a:spLocks noGrp="1"/>
          </p:cNvSpPr>
          <p:nvPr>
            <p:ph type="dt" sz="half" idx="10"/>
          </p:nvPr>
        </p:nvSpPr>
        <p:spPr/>
        <p:txBody>
          <a:bodyPr/>
          <a:lstStyle/>
          <a:p>
            <a:r>
              <a:rPr lang="en-US" smtClean="0"/>
              <a:t>3/2/2016</a:t>
            </a:r>
            <a:endParaRPr lang="en-US" dirty="0"/>
          </a:p>
        </p:txBody>
      </p:sp>
      <p:sp>
        <p:nvSpPr>
          <p:cNvPr id="11" name="Slide Number Placeholder 10"/>
          <p:cNvSpPr>
            <a:spLocks noGrp="1"/>
          </p:cNvSpPr>
          <p:nvPr>
            <p:ph type="sldNum" sz="quarter" idx="12"/>
          </p:nvPr>
        </p:nvSpPr>
        <p:spPr/>
        <p:txBody>
          <a:bodyPr/>
          <a:lstStyle/>
          <a:p>
            <a:fld id="{1387417F-CD80-46DB-B84D-5F1ADE59F8BD}" type="slidenum">
              <a:rPr lang="en-US" smtClean="0"/>
              <a:pPr/>
              <a:t>6</a:t>
            </a:fld>
            <a:endParaRPr lang="en-US"/>
          </a:p>
        </p:txBody>
      </p:sp>
    </p:spTree>
    <p:extLst>
      <p:ext uri="{BB962C8B-B14F-4D97-AF65-F5344CB8AC3E}">
        <p14:creationId xmlns:p14="http://schemas.microsoft.com/office/powerpoint/2010/main" xmlns="" val="101119304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xmlns="" val="1760494588"/>
              </p:ext>
            </p:extLst>
          </p:nvPr>
        </p:nvGraphicFramePr>
        <p:xfrm>
          <a:off x="990600" y="761999"/>
          <a:ext cx="6690360" cy="2678194"/>
        </p:xfrm>
        <a:graphic>
          <a:graphicData uri="http://schemas.openxmlformats.org/drawingml/2006/table">
            <a:tbl>
              <a:tblPr firstRow="1" firstCol="1" bandRow="1">
                <a:tableStyleId>{5C22544A-7EE6-4342-B048-85BDC9FD1C3A}</a:tableStyleId>
              </a:tblPr>
              <a:tblGrid>
                <a:gridCol w="1303655"/>
                <a:gridCol w="789305"/>
                <a:gridCol w="914400"/>
                <a:gridCol w="1499870"/>
                <a:gridCol w="1176020"/>
                <a:gridCol w="1007110"/>
              </a:tblGrid>
              <a:tr h="1420894">
                <a:tc>
                  <a:txBody>
                    <a:bodyPr/>
                    <a:lstStyle/>
                    <a:p>
                      <a:pPr marL="0" marR="0">
                        <a:spcBef>
                          <a:spcPts val="0"/>
                        </a:spcBef>
                        <a:spcAft>
                          <a:spcPts val="0"/>
                        </a:spcAft>
                      </a:pPr>
                      <a:r>
                        <a:rPr lang="en-US" sz="1200" dirty="0">
                          <a:effectLst/>
                        </a:rPr>
                        <a:t>Year</a:t>
                      </a:r>
                      <a:endParaRPr lang="en-US" sz="1100"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200" dirty="0">
                          <a:effectLst/>
                        </a:rPr>
                        <a:t>No. of Students</a:t>
                      </a:r>
                      <a:endParaRPr lang="en-US" sz="1100"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200" dirty="0">
                          <a:effectLst/>
                        </a:rPr>
                        <a:t>No. of Semesters</a:t>
                      </a:r>
                      <a:endParaRPr lang="en-US" sz="1100"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200">
                          <a:effectLst/>
                        </a:rPr>
                        <a:t>Tuition Fees Per Semester </a:t>
                      </a:r>
                      <a:endParaRPr lang="en-US" sz="1100">
                        <a:effectLst/>
                      </a:endParaRPr>
                    </a:p>
                    <a:p>
                      <a:pPr marL="0" marR="0">
                        <a:spcBef>
                          <a:spcPts val="0"/>
                        </a:spcBef>
                        <a:spcAft>
                          <a:spcPts val="0"/>
                        </a:spcAft>
                      </a:pPr>
                      <a:r>
                        <a:rPr lang="en-US" sz="1200">
                          <a:effectLst/>
                        </a:rPr>
                        <a:t>        </a:t>
                      </a:r>
                      <a:endParaRPr lang="en-US" sz="1100">
                        <a:effectLst/>
                      </a:endParaRPr>
                    </a:p>
                    <a:p>
                      <a:pPr marL="0" marR="0">
                        <a:spcBef>
                          <a:spcPts val="0"/>
                        </a:spcBef>
                        <a:spcAft>
                          <a:spcPts val="0"/>
                        </a:spcAft>
                      </a:pPr>
                      <a:r>
                        <a:rPr lang="en-US" sz="1200">
                          <a:effectLst/>
                        </a:rPr>
                        <a:t>    =N=</a:t>
                      </a:r>
                      <a:endParaRPr lang="en-US" sz="110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200">
                          <a:effectLst/>
                        </a:rPr>
                        <a:t>Total fees Per Student for 3 Semesters</a:t>
                      </a:r>
                      <a:endParaRPr lang="en-US" sz="1100">
                        <a:effectLst/>
                      </a:endParaRPr>
                    </a:p>
                    <a:p>
                      <a:pPr marL="0" marR="0">
                        <a:spcBef>
                          <a:spcPts val="0"/>
                        </a:spcBef>
                        <a:spcAft>
                          <a:spcPts val="0"/>
                        </a:spcAft>
                      </a:pPr>
                      <a:r>
                        <a:rPr lang="en-US" sz="1200">
                          <a:effectLst/>
                        </a:rPr>
                        <a:t>    =N=</a:t>
                      </a:r>
                      <a:endParaRPr lang="en-US" sz="110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200">
                          <a:effectLst/>
                        </a:rPr>
                        <a:t>Total Fees Annually</a:t>
                      </a:r>
                      <a:endParaRPr lang="en-US" sz="1100">
                        <a:effectLst/>
                      </a:endParaRPr>
                    </a:p>
                    <a:p>
                      <a:pPr marL="0" marR="0">
                        <a:spcBef>
                          <a:spcPts val="0"/>
                        </a:spcBef>
                        <a:spcAft>
                          <a:spcPts val="0"/>
                        </a:spcAft>
                      </a:pPr>
                      <a:r>
                        <a:rPr lang="en-US" sz="1200">
                          <a:effectLst/>
                        </a:rPr>
                        <a:t>     </a:t>
                      </a:r>
                      <a:endParaRPr lang="en-US" sz="1100">
                        <a:effectLst/>
                      </a:endParaRPr>
                    </a:p>
                    <a:p>
                      <a:pPr marL="0" marR="0">
                        <a:spcBef>
                          <a:spcPts val="0"/>
                        </a:spcBef>
                        <a:spcAft>
                          <a:spcPts val="0"/>
                        </a:spcAft>
                      </a:pPr>
                      <a:r>
                        <a:rPr lang="en-US" sz="1200">
                          <a:effectLst/>
                        </a:rPr>
                        <a:t>   =N=</a:t>
                      </a:r>
                      <a:endParaRPr lang="en-US" sz="1100">
                        <a:effectLst/>
                        <a:latin typeface="Calibri"/>
                        <a:ea typeface="Calibri"/>
                        <a:cs typeface="Times New Roman"/>
                      </a:endParaRPr>
                    </a:p>
                  </a:txBody>
                  <a:tcPr marL="68580" marR="68580" marT="0" marB="0"/>
                </a:tc>
              </a:tr>
              <a:tr h="249221">
                <a:tc>
                  <a:txBody>
                    <a:bodyPr/>
                    <a:lstStyle/>
                    <a:p>
                      <a:pPr marL="0" marR="0">
                        <a:lnSpc>
                          <a:spcPct val="150000"/>
                        </a:lnSpc>
                        <a:spcBef>
                          <a:spcPts val="0"/>
                        </a:spcBef>
                        <a:spcAft>
                          <a:spcPts val="0"/>
                        </a:spcAft>
                      </a:pPr>
                      <a:r>
                        <a:rPr lang="en-US" sz="1100" dirty="0">
                          <a:effectLst/>
                        </a:rPr>
                        <a:t> 1</a:t>
                      </a:r>
                      <a:endParaRPr lang="en-US" sz="1100" dirty="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50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3</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60,000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180,000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9,000,000</a:t>
                      </a:r>
                      <a:endParaRPr lang="en-US" sz="1100">
                        <a:effectLst/>
                        <a:latin typeface="Calibri"/>
                        <a:ea typeface="Calibri"/>
                        <a:cs typeface="Times New Roman"/>
                      </a:endParaRPr>
                    </a:p>
                  </a:txBody>
                  <a:tcPr marL="68580" marR="68580" marT="0" marB="0"/>
                </a:tc>
              </a:tr>
              <a:tr h="249221">
                <a:tc>
                  <a:txBody>
                    <a:bodyPr/>
                    <a:lstStyle/>
                    <a:p>
                      <a:pPr marL="0" marR="0">
                        <a:lnSpc>
                          <a:spcPct val="150000"/>
                        </a:lnSpc>
                        <a:spcBef>
                          <a:spcPts val="0"/>
                        </a:spcBef>
                        <a:spcAft>
                          <a:spcPts val="0"/>
                        </a:spcAft>
                      </a:pPr>
                      <a:r>
                        <a:rPr lang="en-US" sz="1100" dirty="0">
                          <a:effectLst/>
                        </a:rPr>
                        <a:t> 2</a:t>
                      </a:r>
                      <a:endParaRPr lang="en-US" sz="1100" dirty="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75</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3</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60,000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180,000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13,000,000</a:t>
                      </a:r>
                      <a:endParaRPr lang="en-US" sz="1100">
                        <a:effectLst/>
                        <a:latin typeface="Calibri"/>
                        <a:ea typeface="Calibri"/>
                        <a:cs typeface="Times New Roman"/>
                      </a:endParaRPr>
                    </a:p>
                  </a:txBody>
                  <a:tcPr marL="68580" marR="68580" marT="0" marB="0"/>
                </a:tc>
              </a:tr>
              <a:tr h="249221">
                <a:tc>
                  <a:txBody>
                    <a:bodyPr/>
                    <a:lstStyle/>
                    <a:p>
                      <a:pPr marL="0" marR="0">
                        <a:lnSpc>
                          <a:spcPct val="150000"/>
                        </a:lnSpc>
                        <a:spcBef>
                          <a:spcPts val="0"/>
                        </a:spcBef>
                        <a:spcAft>
                          <a:spcPts val="0"/>
                        </a:spcAft>
                      </a:pPr>
                      <a:r>
                        <a:rPr lang="en-US" sz="1100">
                          <a:effectLst/>
                        </a:rPr>
                        <a:t> 3</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3</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60,000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180,000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18,000,000</a:t>
                      </a:r>
                      <a:endParaRPr lang="en-US" sz="1100">
                        <a:effectLst/>
                        <a:latin typeface="Calibri"/>
                        <a:ea typeface="Calibri"/>
                        <a:cs typeface="Times New Roman"/>
                      </a:endParaRPr>
                    </a:p>
                  </a:txBody>
                  <a:tcPr marL="68580" marR="68580" marT="0" marB="0"/>
                </a:tc>
              </a:tr>
              <a:tr h="249221">
                <a:tc>
                  <a:txBody>
                    <a:bodyPr/>
                    <a:lstStyle/>
                    <a:p>
                      <a:pPr marL="0" marR="0">
                        <a:lnSpc>
                          <a:spcPct val="150000"/>
                        </a:lnSpc>
                        <a:spcBef>
                          <a:spcPts val="0"/>
                        </a:spcBef>
                        <a:spcAft>
                          <a:spcPts val="0"/>
                        </a:spcAft>
                      </a:pPr>
                      <a:r>
                        <a:rPr lang="en-US" sz="1100">
                          <a:effectLst/>
                        </a:rPr>
                        <a:t> 4</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125</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dirty="0">
                          <a:effectLst/>
                        </a:rPr>
                        <a:t>3</a:t>
                      </a:r>
                      <a:endParaRPr lang="en-US" sz="1100" dirty="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dirty="0">
                          <a:effectLst/>
                        </a:rPr>
                        <a:t>60,000</a:t>
                      </a:r>
                      <a:endParaRPr lang="en-US" sz="1100" dirty="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180,000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22,500,000</a:t>
                      </a:r>
                      <a:endParaRPr lang="en-US" sz="1100">
                        <a:effectLst/>
                        <a:latin typeface="Calibri"/>
                        <a:ea typeface="Calibri"/>
                        <a:cs typeface="Times New Roman"/>
                      </a:endParaRPr>
                    </a:p>
                  </a:txBody>
                  <a:tcPr marL="68580" marR="68580" marT="0" marB="0"/>
                </a:tc>
              </a:tr>
              <a:tr h="249221">
                <a:tc>
                  <a:txBody>
                    <a:bodyPr/>
                    <a:lstStyle/>
                    <a:p>
                      <a:pPr marL="0" marR="0">
                        <a:lnSpc>
                          <a:spcPct val="150000"/>
                        </a:lnSpc>
                        <a:spcBef>
                          <a:spcPts val="0"/>
                        </a:spcBef>
                        <a:spcAft>
                          <a:spcPts val="0"/>
                        </a:spcAft>
                      </a:pPr>
                      <a:r>
                        <a:rPr lang="en-US" sz="1100">
                          <a:effectLst/>
                        </a:rPr>
                        <a:t>TOTAL</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270</a:t>
                      </a:r>
                      <a:endParaRPr lang="en-US" sz="1100">
                        <a:effectLst/>
                        <a:latin typeface="Calibri"/>
                        <a:ea typeface="Calibri"/>
                        <a:cs typeface="Times New Roman"/>
                      </a:endParaRPr>
                    </a:p>
                  </a:txBody>
                  <a:tcPr marL="68580" marR="68580" marT="0" marB="0"/>
                </a:tc>
                <a:tc gridSpan="3">
                  <a:txBody>
                    <a:bodyPr/>
                    <a:lstStyle/>
                    <a:p>
                      <a:pPr marL="0" marR="0">
                        <a:lnSpc>
                          <a:spcPct val="150000"/>
                        </a:lnSpc>
                        <a:spcBef>
                          <a:spcPts val="0"/>
                        </a:spcBef>
                        <a:spcAft>
                          <a:spcPts val="0"/>
                        </a:spcAft>
                      </a:pPr>
                      <a:r>
                        <a:rPr lang="en-US" sz="1100" dirty="0">
                          <a:effectLst/>
                        </a:rPr>
                        <a:t> </a:t>
                      </a:r>
                      <a:endParaRPr lang="en-US" sz="1100" dirty="0">
                        <a:effectLst/>
                        <a:latin typeface="Calibri"/>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a:txBody>
                    <a:bodyPr/>
                    <a:lstStyle/>
                    <a:p>
                      <a:pPr marL="0" marR="0">
                        <a:lnSpc>
                          <a:spcPct val="150000"/>
                        </a:lnSpc>
                        <a:spcBef>
                          <a:spcPts val="0"/>
                        </a:spcBef>
                        <a:spcAft>
                          <a:spcPts val="0"/>
                        </a:spcAft>
                      </a:pPr>
                      <a:r>
                        <a:rPr lang="en-US" sz="1100" dirty="0">
                          <a:effectLst/>
                        </a:rPr>
                        <a:t>63,000,000</a:t>
                      </a:r>
                      <a:endParaRPr lang="en-US" sz="1100" dirty="0">
                        <a:effectLst/>
                        <a:latin typeface="Calibri"/>
                        <a:ea typeface="Calibri"/>
                        <a:cs typeface="Times New Roman"/>
                      </a:endParaRPr>
                    </a:p>
                  </a:txBody>
                  <a:tcPr marL="68580" marR="68580" marT="0" marB="0"/>
                </a:tc>
              </a:tr>
            </a:tbl>
          </a:graphicData>
        </a:graphic>
      </p:graphicFrame>
      <p:sp>
        <p:nvSpPr>
          <p:cNvPr id="3" name="Rectangle 1"/>
          <p:cNvSpPr>
            <a:spLocks noChangeArrowheads="1"/>
          </p:cNvSpPr>
          <p:nvPr/>
        </p:nvSpPr>
        <p:spPr bwMode="auto">
          <a:xfrm>
            <a:off x="1066800" y="0"/>
            <a:ext cx="6781800" cy="7386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Cambria" pitchFamily="18" charset="0"/>
                <a:ea typeface="Calibri" pitchFamily="34" charset="0"/>
                <a:cs typeface="Arial" pitchFamily="34" charset="0"/>
              </a:rPr>
              <a:t>TABLE III:  PROJECTED REVENUE POSTGRADUATE DIPLOMA IN SOCIAL WORK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Cambria" pitchFamily="18" charset="0"/>
                <a:ea typeface="Calibri" pitchFamily="34" charset="0"/>
                <a:cs typeface="Arial" pitchFamily="34" charset="0"/>
              </a:rPr>
              <a:t>	       (PGD</a:t>
            </a:r>
            <a:r>
              <a:rPr lang="en-US" sz="1200" b="1" baseline="0" dirty="0" smtClean="0">
                <a:latin typeface="Cambria" pitchFamily="18" charset="0"/>
                <a:ea typeface="Calibri" pitchFamily="34" charset="0"/>
                <a:cs typeface="Arial" pitchFamily="34" charset="0"/>
              </a:rPr>
              <a:t>,</a:t>
            </a:r>
            <a:r>
              <a:rPr kumimoji="0" lang="en-US" sz="1200" b="1" i="0" u="none" strike="noStrike" cap="none" normalizeH="0" baseline="0" dirty="0" smtClean="0">
                <a:ln>
                  <a:noFill/>
                </a:ln>
                <a:solidFill>
                  <a:schemeClr val="tx1"/>
                </a:solidFill>
                <a:effectLst/>
                <a:latin typeface="Cambria" pitchFamily="18" charset="0"/>
                <a:ea typeface="Calibri" pitchFamily="34" charset="0"/>
                <a:cs typeface="Arial" pitchFamily="34" charset="0"/>
              </a:rPr>
              <a:t> SOW)</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xmlns="" val="2257498475"/>
              </p:ext>
            </p:extLst>
          </p:nvPr>
        </p:nvGraphicFramePr>
        <p:xfrm>
          <a:off x="1074420" y="4026932"/>
          <a:ext cx="6545580" cy="2602468"/>
        </p:xfrm>
        <a:graphic>
          <a:graphicData uri="http://schemas.openxmlformats.org/drawingml/2006/table">
            <a:tbl>
              <a:tblPr firstRow="1" firstCol="1" bandRow="1">
                <a:tableStyleId>{5C22544A-7EE6-4342-B048-85BDC9FD1C3A}</a:tableStyleId>
              </a:tblPr>
              <a:tblGrid>
                <a:gridCol w="747109"/>
                <a:gridCol w="849640"/>
                <a:gridCol w="984298"/>
                <a:gridCol w="1614522"/>
                <a:gridCol w="1265916"/>
                <a:gridCol w="1084095"/>
              </a:tblGrid>
              <a:tr h="989518">
                <a:tc>
                  <a:txBody>
                    <a:bodyPr/>
                    <a:lstStyle/>
                    <a:p>
                      <a:pPr marL="0" marR="0">
                        <a:spcBef>
                          <a:spcPts val="0"/>
                        </a:spcBef>
                        <a:spcAft>
                          <a:spcPts val="0"/>
                        </a:spcAft>
                      </a:pPr>
                      <a:r>
                        <a:rPr lang="en-US" sz="1200" dirty="0">
                          <a:effectLst/>
                        </a:rPr>
                        <a:t>Year</a:t>
                      </a:r>
                      <a:endParaRPr lang="en-US" sz="1100"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200" dirty="0">
                          <a:effectLst/>
                        </a:rPr>
                        <a:t>No. of Students</a:t>
                      </a:r>
                      <a:endParaRPr lang="en-US" sz="1100"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200">
                          <a:effectLst/>
                        </a:rPr>
                        <a:t>No. of Semesters</a:t>
                      </a:r>
                      <a:endParaRPr lang="en-US" sz="110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200" dirty="0">
                          <a:effectLst/>
                        </a:rPr>
                        <a:t>Tuition Fees Per Semester </a:t>
                      </a:r>
                      <a:endParaRPr lang="en-US" sz="1100" dirty="0">
                        <a:effectLst/>
                      </a:endParaRPr>
                    </a:p>
                    <a:p>
                      <a:pPr marL="0" marR="0">
                        <a:spcBef>
                          <a:spcPts val="0"/>
                        </a:spcBef>
                        <a:spcAft>
                          <a:spcPts val="0"/>
                        </a:spcAft>
                      </a:pPr>
                      <a:r>
                        <a:rPr lang="en-US" sz="1200" dirty="0">
                          <a:effectLst/>
                        </a:rPr>
                        <a:t> </a:t>
                      </a:r>
                      <a:endParaRPr lang="en-US" sz="1100" dirty="0">
                        <a:effectLst/>
                      </a:endParaRPr>
                    </a:p>
                    <a:p>
                      <a:pPr marL="0" marR="0">
                        <a:spcBef>
                          <a:spcPts val="0"/>
                        </a:spcBef>
                        <a:spcAft>
                          <a:spcPts val="0"/>
                        </a:spcAft>
                      </a:pPr>
                      <a:r>
                        <a:rPr lang="en-US" sz="1200" dirty="0">
                          <a:effectLst/>
                        </a:rPr>
                        <a:t>=N=</a:t>
                      </a:r>
                      <a:endParaRPr lang="en-US" sz="1100" dirty="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200">
                          <a:effectLst/>
                        </a:rPr>
                        <a:t>Total fees Per Student for 3 Semesters</a:t>
                      </a:r>
                      <a:endParaRPr lang="en-US" sz="1100">
                        <a:effectLst/>
                      </a:endParaRPr>
                    </a:p>
                    <a:p>
                      <a:pPr marL="0" marR="0">
                        <a:spcBef>
                          <a:spcPts val="0"/>
                        </a:spcBef>
                        <a:spcAft>
                          <a:spcPts val="0"/>
                        </a:spcAft>
                      </a:pPr>
                      <a:r>
                        <a:rPr lang="en-US" sz="1200">
                          <a:effectLst/>
                        </a:rPr>
                        <a:t>  =N=</a:t>
                      </a:r>
                      <a:endParaRPr lang="en-US" sz="1100">
                        <a:effectLst/>
                        <a:latin typeface="Calibri"/>
                        <a:ea typeface="Calibri"/>
                        <a:cs typeface="Times New Roman"/>
                      </a:endParaRPr>
                    </a:p>
                  </a:txBody>
                  <a:tcPr marL="68580" marR="68580" marT="0" marB="0"/>
                </a:tc>
                <a:tc>
                  <a:txBody>
                    <a:bodyPr/>
                    <a:lstStyle/>
                    <a:p>
                      <a:pPr marL="0" marR="0">
                        <a:spcBef>
                          <a:spcPts val="0"/>
                        </a:spcBef>
                        <a:spcAft>
                          <a:spcPts val="0"/>
                        </a:spcAft>
                      </a:pPr>
                      <a:r>
                        <a:rPr lang="en-US" sz="1200" dirty="0">
                          <a:effectLst/>
                        </a:rPr>
                        <a:t>Total Fees Annually</a:t>
                      </a:r>
                      <a:endParaRPr lang="en-US" sz="1100" dirty="0">
                        <a:effectLst/>
                      </a:endParaRPr>
                    </a:p>
                    <a:p>
                      <a:pPr marL="0" marR="0">
                        <a:spcBef>
                          <a:spcPts val="0"/>
                        </a:spcBef>
                        <a:spcAft>
                          <a:spcPts val="0"/>
                        </a:spcAft>
                      </a:pPr>
                      <a:r>
                        <a:rPr lang="en-US" sz="1200" dirty="0">
                          <a:effectLst/>
                        </a:rPr>
                        <a:t> </a:t>
                      </a:r>
                      <a:endParaRPr lang="en-US" sz="1100" dirty="0">
                        <a:effectLst/>
                      </a:endParaRPr>
                    </a:p>
                    <a:p>
                      <a:pPr marL="0" marR="0">
                        <a:spcBef>
                          <a:spcPts val="0"/>
                        </a:spcBef>
                        <a:spcAft>
                          <a:spcPts val="0"/>
                        </a:spcAft>
                      </a:pPr>
                      <a:r>
                        <a:rPr lang="en-US" sz="1200" dirty="0">
                          <a:effectLst/>
                        </a:rPr>
                        <a:t>=N=</a:t>
                      </a:r>
                      <a:endParaRPr lang="en-US" sz="1100" dirty="0">
                        <a:effectLst/>
                        <a:latin typeface="Calibri"/>
                        <a:ea typeface="Calibri"/>
                        <a:cs typeface="Times New Roman"/>
                      </a:endParaRPr>
                    </a:p>
                  </a:txBody>
                  <a:tcPr marL="68580" marR="68580" marT="0" marB="0"/>
                </a:tc>
              </a:tr>
              <a:tr h="305016">
                <a:tc>
                  <a:txBody>
                    <a:bodyPr/>
                    <a:lstStyle/>
                    <a:p>
                      <a:pPr marL="0" marR="0">
                        <a:lnSpc>
                          <a:spcPct val="150000"/>
                        </a:lnSpc>
                        <a:spcBef>
                          <a:spcPts val="0"/>
                        </a:spcBef>
                        <a:spcAft>
                          <a:spcPts val="0"/>
                        </a:spcAft>
                      </a:pPr>
                      <a:r>
                        <a:rPr lang="en-US" sz="1100">
                          <a:effectLst/>
                        </a:rPr>
                        <a:t> 1</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50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3</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60,000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180,000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 9,000,000</a:t>
                      </a:r>
                      <a:endParaRPr lang="en-US" sz="1100">
                        <a:effectLst/>
                        <a:latin typeface="Calibri"/>
                        <a:ea typeface="Calibri"/>
                        <a:cs typeface="Times New Roman"/>
                      </a:endParaRPr>
                    </a:p>
                  </a:txBody>
                  <a:tcPr marL="68580" marR="68580" marT="0" marB="0"/>
                </a:tc>
              </a:tr>
              <a:tr h="305016">
                <a:tc>
                  <a:txBody>
                    <a:bodyPr/>
                    <a:lstStyle/>
                    <a:p>
                      <a:pPr marL="0" marR="0">
                        <a:lnSpc>
                          <a:spcPct val="150000"/>
                        </a:lnSpc>
                        <a:spcBef>
                          <a:spcPts val="0"/>
                        </a:spcBef>
                        <a:spcAft>
                          <a:spcPts val="0"/>
                        </a:spcAft>
                      </a:pPr>
                      <a:r>
                        <a:rPr lang="en-US" sz="1100">
                          <a:effectLst/>
                        </a:rPr>
                        <a:t> 2</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75</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3</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60,000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180,000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13,000,000</a:t>
                      </a:r>
                      <a:endParaRPr lang="en-US" sz="1100">
                        <a:effectLst/>
                        <a:latin typeface="Calibri"/>
                        <a:ea typeface="Calibri"/>
                        <a:cs typeface="Times New Roman"/>
                      </a:endParaRPr>
                    </a:p>
                  </a:txBody>
                  <a:tcPr marL="68580" marR="68580" marT="0" marB="0"/>
                </a:tc>
              </a:tr>
              <a:tr h="305016">
                <a:tc>
                  <a:txBody>
                    <a:bodyPr/>
                    <a:lstStyle/>
                    <a:p>
                      <a:pPr marL="0" marR="0">
                        <a:lnSpc>
                          <a:spcPct val="150000"/>
                        </a:lnSpc>
                        <a:spcBef>
                          <a:spcPts val="0"/>
                        </a:spcBef>
                        <a:spcAft>
                          <a:spcPts val="0"/>
                        </a:spcAft>
                      </a:pPr>
                      <a:r>
                        <a:rPr lang="en-US" sz="1100">
                          <a:effectLst/>
                        </a:rPr>
                        <a:t> 3</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dirty="0">
                          <a:effectLst/>
                        </a:rPr>
                        <a:t>100</a:t>
                      </a:r>
                      <a:endParaRPr lang="en-US" sz="1100" dirty="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3</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60,000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dirty="0">
                          <a:effectLst/>
                        </a:rPr>
                        <a:t>180,000</a:t>
                      </a:r>
                      <a:endParaRPr lang="en-US" sz="1100" dirty="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18,000,000</a:t>
                      </a:r>
                      <a:endParaRPr lang="en-US" sz="1100">
                        <a:effectLst/>
                        <a:latin typeface="Calibri"/>
                        <a:ea typeface="Calibri"/>
                        <a:cs typeface="Times New Roman"/>
                      </a:endParaRPr>
                    </a:p>
                  </a:txBody>
                  <a:tcPr marL="68580" marR="68580" marT="0" marB="0"/>
                </a:tc>
              </a:tr>
              <a:tr h="305016">
                <a:tc>
                  <a:txBody>
                    <a:bodyPr/>
                    <a:lstStyle/>
                    <a:p>
                      <a:pPr marL="0" marR="0">
                        <a:lnSpc>
                          <a:spcPct val="150000"/>
                        </a:lnSpc>
                        <a:spcBef>
                          <a:spcPts val="0"/>
                        </a:spcBef>
                        <a:spcAft>
                          <a:spcPts val="0"/>
                        </a:spcAft>
                      </a:pPr>
                      <a:r>
                        <a:rPr lang="en-US" sz="1100">
                          <a:effectLst/>
                        </a:rPr>
                        <a:t> 4</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125</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3</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60,000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180,000</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22,500,000</a:t>
                      </a:r>
                      <a:endParaRPr lang="en-US" sz="1100">
                        <a:effectLst/>
                        <a:latin typeface="Calibri"/>
                        <a:ea typeface="Calibri"/>
                        <a:cs typeface="Times New Roman"/>
                      </a:endParaRPr>
                    </a:p>
                  </a:txBody>
                  <a:tcPr marL="68580" marR="68580" marT="0" marB="0"/>
                </a:tc>
              </a:tr>
              <a:tr h="392886">
                <a:tc>
                  <a:txBody>
                    <a:bodyPr/>
                    <a:lstStyle/>
                    <a:p>
                      <a:pPr marL="0" marR="0">
                        <a:lnSpc>
                          <a:spcPct val="150000"/>
                        </a:lnSpc>
                        <a:spcBef>
                          <a:spcPts val="0"/>
                        </a:spcBef>
                        <a:spcAft>
                          <a:spcPts val="0"/>
                        </a:spcAft>
                      </a:pPr>
                      <a:r>
                        <a:rPr lang="en-US" sz="1100">
                          <a:effectLst/>
                        </a:rPr>
                        <a:t>TOTAL</a:t>
                      </a:r>
                      <a:endParaRPr lang="en-US" sz="110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dirty="0">
                          <a:effectLst/>
                        </a:rPr>
                        <a:t>270</a:t>
                      </a:r>
                      <a:endParaRPr lang="en-US" sz="1100" dirty="0">
                        <a:effectLst/>
                        <a:latin typeface="Calibri"/>
                        <a:ea typeface="Calibri"/>
                        <a:cs typeface="Times New Roman"/>
                      </a:endParaRPr>
                    </a:p>
                  </a:txBody>
                  <a:tcPr marL="68580" marR="68580" marT="0" marB="0"/>
                </a:tc>
                <a:tc>
                  <a:txBody>
                    <a:bodyPr/>
                    <a:lstStyle/>
                    <a:p>
                      <a:pPr marL="0" marR="0">
                        <a:lnSpc>
                          <a:spcPct val="150000"/>
                        </a:lnSpc>
                        <a:spcBef>
                          <a:spcPts val="0"/>
                        </a:spcBef>
                        <a:spcAft>
                          <a:spcPts val="0"/>
                        </a:spcAft>
                      </a:pPr>
                      <a:r>
                        <a:rPr lang="en-US" sz="1100">
                          <a:effectLst/>
                        </a:rPr>
                        <a:t>12</a:t>
                      </a:r>
                      <a:endParaRPr lang="en-US" sz="1100">
                        <a:effectLst/>
                        <a:latin typeface="Calibri"/>
                        <a:ea typeface="Calibri"/>
                        <a:cs typeface="Times New Roman"/>
                      </a:endParaRPr>
                    </a:p>
                  </a:txBody>
                  <a:tcPr marL="68580" marR="68580" marT="0" marB="0"/>
                </a:tc>
                <a:tc gridSpan="2">
                  <a:txBody>
                    <a:bodyPr/>
                    <a:lstStyle/>
                    <a:p>
                      <a:pPr marL="0" marR="0">
                        <a:lnSpc>
                          <a:spcPct val="150000"/>
                        </a:lnSpc>
                        <a:spcBef>
                          <a:spcPts val="0"/>
                        </a:spcBef>
                        <a:spcAft>
                          <a:spcPts val="0"/>
                        </a:spcAft>
                      </a:pPr>
                      <a:r>
                        <a:rPr lang="en-US" sz="1100" u="none" strike="noStrike" dirty="0">
                          <a:effectLst/>
                        </a:rPr>
                        <a:t> </a:t>
                      </a:r>
                      <a:endParaRPr lang="en-US" sz="1100" dirty="0">
                        <a:effectLst/>
                        <a:latin typeface="Calibri"/>
                        <a:ea typeface="Calibri"/>
                        <a:cs typeface="Times New Roman"/>
                      </a:endParaRPr>
                    </a:p>
                  </a:txBody>
                  <a:tcPr marL="68580" marR="68580" marT="0" marB="0"/>
                </a:tc>
                <a:tc hMerge="1">
                  <a:txBody>
                    <a:bodyPr/>
                    <a:lstStyle/>
                    <a:p>
                      <a:endParaRPr lang="en-US"/>
                    </a:p>
                  </a:txBody>
                  <a:tcPr/>
                </a:tc>
                <a:tc>
                  <a:txBody>
                    <a:bodyPr/>
                    <a:lstStyle/>
                    <a:p>
                      <a:pPr marL="0" marR="0">
                        <a:lnSpc>
                          <a:spcPct val="150000"/>
                        </a:lnSpc>
                        <a:spcBef>
                          <a:spcPts val="0"/>
                        </a:spcBef>
                        <a:spcAft>
                          <a:spcPts val="0"/>
                        </a:spcAft>
                      </a:pPr>
                      <a:r>
                        <a:rPr lang="en-US" sz="1100" dirty="0">
                          <a:effectLst/>
                        </a:rPr>
                        <a:t>63,000,000</a:t>
                      </a:r>
                      <a:endParaRPr lang="en-US" sz="1100" dirty="0">
                        <a:effectLst/>
                        <a:latin typeface="Calibri"/>
                        <a:ea typeface="Calibri"/>
                        <a:cs typeface="Times New Roman"/>
                      </a:endParaRPr>
                    </a:p>
                  </a:txBody>
                  <a:tcPr marL="68580" marR="68580" marT="0" marB="0"/>
                </a:tc>
              </a:tr>
            </a:tbl>
          </a:graphicData>
        </a:graphic>
      </p:graphicFrame>
      <p:sp>
        <p:nvSpPr>
          <p:cNvPr id="5" name="Rectangle 2"/>
          <p:cNvSpPr>
            <a:spLocks noChangeArrowheads="1"/>
          </p:cNvSpPr>
          <p:nvPr/>
        </p:nvSpPr>
        <p:spPr bwMode="auto">
          <a:xfrm>
            <a:off x="1066800" y="3612630"/>
            <a:ext cx="6705600" cy="73866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Cambria" pitchFamily="18" charset="0"/>
                <a:ea typeface="Calibri" pitchFamily="34" charset="0"/>
                <a:cs typeface="Arial" pitchFamily="34" charset="0"/>
              </a:rPr>
              <a:t>TABLE IV:  PROJECTED REVENUE POSTGRADUATE DIPLOMA IN GENDER AND    </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Cambria" pitchFamily="18" charset="0"/>
                <a:ea typeface="Calibri" pitchFamily="34" charset="0"/>
                <a:cs typeface="Arial" pitchFamily="34" charset="0"/>
              </a:rPr>
              <a:t>	       DEVELOPMENT STUDIES PROGRAMME (PGD, GDS)</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7" name="Slide Number Placeholder 6"/>
          <p:cNvSpPr>
            <a:spLocks noGrp="1"/>
          </p:cNvSpPr>
          <p:nvPr>
            <p:ph type="sldNum" sz="quarter" idx="12"/>
          </p:nvPr>
        </p:nvSpPr>
        <p:spPr/>
        <p:txBody>
          <a:bodyPr/>
          <a:lstStyle/>
          <a:p>
            <a:fld id="{1387417F-CD80-46DB-B84D-5F1ADE59F8BD}" type="slidenum">
              <a:rPr lang="en-US" smtClean="0"/>
              <a:pPr/>
              <a:t>7</a:t>
            </a:fld>
            <a:endParaRPr lang="en-US"/>
          </a:p>
        </p:txBody>
      </p:sp>
      <p:sp>
        <p:nvSpPr>
          <p:cNvPr id="9" name="Date Placeholder 8"/>
          <p:cNvSpPr>
            <a:spLocks noGrp="1"/>
          </p:cNvSpPr>
          <p:nvPr>
            <p:ph type="dt" sz="half" idx="10"/>
          </p:nvPr>
        </p:nvSpPr>
        <p:spPr>
          <a:xfrm>
            <a:off x="152400" y="6492875"/>
            <a:ext cx="2133600" cy="365125"/>
          </a:xfrm>
        </p:spPr>
        <p:txBody>
          <a:bodyPr/>
          <a:lstStyle/>
          <a:p>
            <a:r>
              <a:rPr lang="en-US" dirty="0" smtClean="0"/>
              <a:t>3/2/2016</a:t>
            </a:r>
            <a:endParaRPr lang="en-US" dirty="0"/>
          </a:p>
        </p:txBody>
      </p:sp>
    </p:spTree>
    <p:extLst>
      <p:ext uri="{BB962C8B-B14F-4D97-AF65-F5344CB8AC3E}">
        <p14:creationId xmlns:p14="http://schemas.microsoft.com/office/powerpoint/2010/main" xmlns="" val="1229005198"/>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xmlns="" val="2126611256"/>
              </p:ext>
            </p:extLst>
          </p:nvPr>
        </p:nvGraphicFramePr>
        <p:xfrm>
          <a:off x="1371600" y="312057"/>
          <a:ext cx="6203314" cy="3284996"/>
        </p:xfrm>
        <a:graphic>
          <a:graphicData uri="http://schemas.openxmlformats.org/drawingml/2006/table">
            <a:tbl>
              <a:tblPr firstRow="1" firstCol="1" bandRow="1">
                <a:tableStyleId>{5C22544A-7EE6-4342-B048-85BDC9FD1C3A}</a:tableStyleId>
              </a:tblPr>
              <a:tblGrid>
                <a:gridCol w="984850"/>
                <a:gridCol w="821407"/>
                <a:gridCol w="1296329"/>
                <a:gridCol w="1130409"/>
                <a:gridCol w="984230"/>
                <a:gridCol w="986089"/>
              </a:tblGrid>
              <a:tr h="652399">
                <a:tc>
                  <a:txBody>
                    <a:bodyPr/>
                    <a:lstStyle/>
                    <a:p>
                      <a:pPr marL="0" marR="0">
                        <a:lnSpc>
                          <a:spcPct val="115000"/>
                        </a:lnSpc>
                        <a:spcBef>
                          <a:spcPts val="0"/>
                        </a:spcBef>
                        <a:spcAft>
                          <a:spcPts val="0"/>
                        </a:spcAft>
                      </a:pPr>
                      <a:r>
                        <a:rPr lang="en-US" sz="1100" dirty="0">
                          <a:effectLst/>
                        </a:rPr>
                        <a:t>Year</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No of Students</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No of Semesters</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Tuition fees (2 semesters) N180, 000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Total fees per Group</a:t>
                      </a:r>
                    </a:p>
                    <a:p>
                      <a:pPr marL="0" marR="0">
                        <a:lnSpc>
                          <a:spcPct val="115000"/>
                        </a:lnSpc>
                        <a:spcBef>
                          <a:spcPts val="0"/>
                        </a:spcBef>
                        <a:spcAft>
                          <a:spcPts val="0"/>
                        </a:spcAft>
                      </a:pPr>
                      <a:r>
                        <a:rPr lang="en-US" sz="1100">
                          <a:effectLst/>
                        </a:rPr>
                        <a:t>   =N=</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dirty="0">
                          <a:effectLst/>
                        </a:rPr>
                        <a:t>Total Fees Annually</a:t>
                      </a:r>
                    </a:p>
                    <a:p>
                      <a:pPr marL="0" marR="0">
                        <a:lnSpc>
                          <a:spcPct val="115000"/>
                        </a:lnSpc>
                        <a:spcBef>
                          <a:spcPts val="0"/>
                        </a:spcBef>
                        <a:spcAft>
                          <a:spcPts val="0"/>
                        </a:spcAft>
                      </a:pPr>
                      <a:r>
                        <a:rPr lang="en-US" sz="1100" dirty="0">
                          <a:effectLst/>
                        </a:rPr>
                        <a:t>    =N=</a:t>
                      </a:r>
                      <a:endParaRPr lang="en-US" sz="1100" dirty="0">
                        <a:effectLst/>
                        <a:latin typeface="Calibri"/>
                        <a:ea typeface="Calibri"/>
                        <a:cs typeface="Times New Roman"/>
                      </a:endParaRPr>
                    </a:p>
                  </a:txBody>
                  <a:tcPr marL="68580" marR="68580" marT="0" marB="0"/>
                </a:tc>
              </a:tr>
              <a:tr h="221801">
                <a:tc>
                  <a:txBody>
                    <a:bodyPr/>
                    <a:lstStyle/>
                    <a:p>
                      <a:pPr marL="0" marR="0">
                        <a:lnSpc>
                          <a:spcPct val="115000"/>
                        </a:lnSpc>
                        <a:spcBef>
                          <a:spcPts val="0"/>
                        </a:spcBef>
                        <a:spcAft>
                          <a:spcPts val="0"/>
                        </a:spcAft>
                      </a:pPr>
                      <a:r>
                        <a:rPr lang="en-US" sz="1100" dirty="0">
                          <a:effectLst/>
                        </a:rPr>
                        <a:t>1</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3,600,000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3,600,000</a:t>
                      </a:r>
                      <a:endParaRPr lang="en-US" sz="1100">
                        <a:effectLst/>
                        <a:latin typeface="Calibri"/>
                        <a:ea typeface="Calibri"/>
                        <a:cs typeface="Times New Roman"/>
                      </a:endParaRPr>
                    </a:p>
                  </a:txBody>
                  <a:tcPr marL="68580" marR="68580" marT="0" marB="0"/>
                </a:tc>
              </a:tr>
              <a:tr h="221801">
                <a:tc rowSpan="2">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3,600,000</a:t>
                      </a:r>
                      <a:endParaRPr lang="en-US" sz="1100">
                        <a:effectLst/>
                        <a:latin typeface="Calibri"/>
                        <a:ea typeface="Calibri"/>
                        <a:cs typeface="Times New Roman"/>
                      </a:endParaRPr>
                    </a:p>
                  </a:txBody>
                  <a:tcPr marL="68580" marR="68580" marT="0" marB="0"/>
                </a:tc>
                <a:tc rowSpan="2">
                  <a:txBody>
                    <a:bodyPr/>
                    <a:lstStyle/>
                    <a:p>
                      <a:pPr marL="0" marR="0">
                        <a:lnSpc>
                          <a:spcPct val="115000"/>
                        </a:lnSpc>
                        <a:spcBef>
                          <a:spcPts val="0"/>
                        </a:spcBef>
                        <a:spcAft>
                          <a:spcPts val="0"/>
                        </a:spcAft>
                      </a:pPr>
                      <a:r>
                        <a:rPr lang="en-US" sz="1100">
                          <a:effectLst/>
                        </a:rPr>
                        <a:t>9,000,000</a:t>
                      </a:r>
                      <a:endParaRPr lang="en-US" sz="1100">
                        <a:effectLst/>
                        <a:latin typeface="Calibri"/>
                        <a:ea typeface="Calibri"/>
                        <a:cs typeface="Times New Roman"/>
                      </a:endParaRPr>
                    </a:p>
                  </a:txBody>
                  <a:tcPr marL="68580" marR="68580" marT="0" marB="0"/>
                </a:tc>
              </a:tr>
              <a:tr h="221801">
                <a:tc vMerge="1">
                  <a:txBody>
                    <a:bodyPr/>
                    <a:lstStyle/>
                    <a:p>
                      <a:endParaRPr lang="en-US"/>
                    </a:p>
                  </a:txBody>
                  <a:tcPr/>
                </a:tc>
                <a:tc>
                  <a:txBody>
                    <a:bodyPr/>
                    <a:lstStyle/>
                    <a:p>
                      <a:pPr marL="0" marR="0">
                        <a:lnSpc>
                          <a:spcPct val="115000"/>
                        </a:lnSpc>
                        <a:spcBef>
                          <a:spcPts val="0"/>
                        </a:spcBef>
                        <a:spcAft>
                          <a:spcPts val="0"/>
                        </a:spcAft>
                      </a:pPr>
                      <a:r>
                        <a:rPr lang="en-US" sz="1100">
                          <a:effectLst/>
                        </a:rPr>
                        <a:t>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dirty="0">
                          <a:effectLst/>
                        </a:rPr>
                        <a:t>2</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 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5,400,000</a:t>
                      </a:r>
                      <a:endParaRPr lang="en-US" sz="1100">
                        <a:effectLst/>
                        <a:latin typeface="Calibri"/>
                        <a:ea typeface="Calibri"/>
                        <a:cs typeface="Times New Roman"/>
                      </a:endParaRPr>
                    </a:p>
                  </a:txBody>
                  <a:tcPr marL="68580" marR="68580" marT="0" marB="0"/>
                </a:tc>
                <a:tc vMerge="1">
                  <a:txBody>
                    <a:bodyPr/>
                    <a:lstStyle/>
                    <a:p>
                      <a:endParaRPr lang="en-US"/>
                    </a:p>
                  </a:txBody>
                  <a:tcPr/>
                </a:tc>
              </a:tr>
              <a:tr h="221801">
                <a:tc rowSpan="3">
                  <a:txBody>
                    <a:bodyPr/>
                    <a:lstStyle/>
                    <a:p>
                      <a:pPr marL="0" marR="0">
                        <a:lnSpc>
                          <a:spcPct val="115000"/>
                        </a:lnSpc>
                        <a:spcBef>
                          <a:spcPts val="0"/>
                        </a:spcBef>
                        <a:spcAft>
                          <a:spcPts val="0"/>
                        </a:spcAft>
                      </a:pPr>
                      <a:r>
                        <a:rPr lang="en-US" sz="1100">
                          <a:effectLst/>
                        </a:rPr>
                        <a:t>3</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 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3,600,000</a:t>
                      </a:r>
                      <a:endParaRPr lang="en-US" sz="1100">
                        <a:effectLst/>
                        <a:latin typeface="Calibri"/>
                        <a:ea typeface="Calibri"/>
                        <a:cs typeface="Times New Roman"/>
                      </a:endParaRPr>
                    </a:p>
                  </a:txBody>
                  <a:tcPr marL="68580" marR="68580" marT="0" marB="0"/>
                </a:tc>
                <a:tc rowSpan="3">
                  <a:txBody>
                    <a:bodyPr/>
                    <a:lstStyle/>
                    <a:p>
                      <a:pPr marL="0" marR="0">
                        <a:lnSpc>
                          <a:spcPct val="115000"/>
                        </a:lnSpc>
                        <a:spcBef>
                          <a:spcPts val="0"/>
                        </a:spcBef>
                        <a:spcAft>
                          <a:spcPts val="0"/>
                        </a:spcAft>
                      </a:pPr>
                      <a:r>
                        <a:rPr lang="en-US" sz="1100" dirty="0">
                          <a:effectLst/>
                        </a:rPr>
                        <a:t>16, 200,000</a:t>
                      </a:r>
                      <a:endParaRPr lang="en-US" sz="1100" dirty="0">
                        <a:effectLst/>
                        <a:latin typeface="Calibri"/>
                        <a:ea typeface="Calibri"/>
                        <a:cs typeface="Times New Roman"/>
                      </a:endParaRPr>
                    </a:p>
                  </a:txBody>
                  <a:tcPr marL="68580" marR="68580" marT="0" marB="0"/>
                </a:tc>
              </a:tr>
              <a:tr h="221801">
                <a:tc vMerge="1">
                  <a:txBody>
                    <a:bodyPr/>
                    <a:lstStyle/>
                    <a:p>
                      <a:endParaRPr lang="en-US"/>
                    </a:p>
                  </a:txBody>
                  <a:tcPr/>
                </a:tc>
                <a:tc>
                  <a:txBody>
                    <a:bodyPr/>
                    <a:lstStyle/>
                    <a:p>
                      <a:pPr marL="0" marR="0">
                        <a:lnSpc>
                          <a:spcPct val="115000"/>
                        </a:lnSpc>
                        <a:spcBef>
                          <a:spcPts val="0"/>
                        </a:spcBef>
                        <a:spcAft>
                          <a:spcPts val="0"/>
                        </a:spcAft>
                      </a:pPr>
                      <a:r>
                        <a:rPr lang="en-US" sz="1100">
                          <a:effectLst/>
                        </a:rPr>
                        <a:t>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 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5,400,000</a:t>
                      </a:r>
                      <a:endParaRPr lang="en-US" sz="1100">
                        <a:effectLst/>
                        <a:latin typeface="Calibri"/>
                        <a:ea typeface="Calibri"/>
                        <a:cs typeface="Times New Roman"/>
                      </a:endParaRPr>
                    </a:p>
                  </a:txBody>
                  <a:tcPr marL="68580" marR="68580" marT="0" marB="0"/>
                </a:tc>
                <a:tc vMerge="1">
                  <a:txBody>
                    <a:bodyPr/>
                    <a:lstStyle/>
                    <a:p>
                      <a:endParaRPr lang="en-US"/>
                    </a:p>
                  </a:txBody>
                  <a:tcPr/>
                </a:tc>
              </a:tr>
              <a:tr h="221801">
                <a:tc vMerge="1">
                  <a:txBody>
                    <a:bodyPr/>
                    <a:lstStyle/>
                    <a:p>
                      <a:endParaRPr lang="en-US"/>
                    </a:p>
                  </a:txBody>
                  <a:tcPr/>
                </a:tc>
                <a:tc>
                  <a:txBody>
                    <a:bodyPr/>
                    <a:lstStyle/>
                    <a:p>
                      <a:pPr marL="0" marR="0">
                        <a:lnSpc>
                          <a:spcPct val="115000"/>
                        </a:lnSpc>
                        <a:spcBef>
                          <a:spcPts val="0"/>
                        </a:spcBef>
                        <a:spcAft>
                          <a:spcPts val="0"/>
                        </a:spcAft>
                      </a:pPr>
                      <a:r>
                        <a:rPr lang="en-US"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 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7,200,000</a:t>
                      </a:r>
                      <a:endParaRPr lang="en-US" sz="1100">
                        <a:effectLst/>
                        <a:latin typeface="Calibri"/>
                        <a:ea typeface="Calibri"/>
                        <a:cs typeface="Times New Roman"/>
                      </a:endParaRPr>
                    </a:p>
                  </a:txBody>
                  <a:tcPr marL="68580" marR="68580" marT="0" marB="0"/>
                </a:tc>
                <a:tc vMerge="1">
                  <a:txBody>
                    <a:bodyPr/>
                    <a:lstStyle/>
                    <a:p>
                      <a:endParaRPr lang="en-US"/>
                    </a:p>
                  </a:txBody>
                  <a:tcPr/>
                </a:tc>
              </a:tr>
              <a:tr h="221801">
                <a:tc rowSpan="3">
                  <a:txBody>
                    <a:bodyPr/>
                    <a:lstStyle/>
                    <a:p>
                      <a:pPr marL="0" marR="0">
                        <a:lnSpc>
                          <a:spcPct val="115000"/>
                        </a:lnSpc>
                        <a:spcBef>
                          <a:spcPts val="0"/>
                        </a:spcBef>
                        <a:spcAft>
                          <a:spcPts val="0"/>
                        </a:spcAft>
                      </a:pPr>
                      <a:r>
                        <a:rPr lang="en-US" sz="1100">
                          <a:effectLst/>
                        </a:rPr>
                        <a:t>4</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 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5, 400,000</a:t>
                      </a:r>
                      <a:endParaRPr lang="en-US" sz="1100">
                        <a:effectLst/>
                        <a:latin typeface="Calibri"/>
                        <a:ea typeface="Calibri"/>
                        <a:cs typeface="Times New Roman"/>
                      </a:endParaRPr>
                    </a:p>
                  </a:txBody>
                  <a:tcPr marL="68580" marR="68580" marT="0" marB="0"/>
                </a:tc>
                <a:tc rowSpan="3">
                  <a:txBody>
                    <a:bodyPr/>
                    <a:lstStyle/>
                    <a:p>
                      <a:pPr marL="0" marR="0">
                        <a:lnSpc>
                          <a:spcPct val="115000"/>
                        </a:lnSpc>
                        <a:spcBef>
                          <a:spcPts val="0"/>
                        </a:spcBef>
                        <a:spcAft>
                          <a:spcPts val="0"/>
                        </a:spcAft>
                      </a:pPr>
                      <a:r>
                        <a:rPr lang="en-US" sz="1100">
                          <a:effectLst/>
                        </a:rPr>
                        <a:t>19, 800,000</a:t>
                      </a:r>
                      <a:endParaRPr lang="en-US" sz="1100">
                        <a:effectLst/>
                        <a:latin typeface="Calibri"/>
                        <a:ea typeface="Calibri"/>
                        <a:cs typeface="Times New Roman"/>
                      </a:endParaRPr>
                    </a:p>
                  </a:txBody>
                  <a:tcPr marL="68580" marR="68580" marT="0" marB="0"/>
                </a:tc>
              </a:tr>
              <a:tr h="221801">
                <a:tc vMerge="1">
                  <a:txBody>
                    <a:bodyPr/>
                    <a:lstStyle/>
                    <a:p>
                      <a:endParaRPr lang="en-US"/>
                    </a:p>
                  </a:txBody>
                  <a:tcPr/>
                </a:tc>
                <a:tc>
                  <a:txBody>
                    <a:bodyPr/>
                    <a:lstStyle/>
                    <a:p>
                      <a:pPr marL="0" marR="0">
                        <a:lnSpc>
                          <a:spcPct val="115000"/>
                        </a:lnSpc>
                        <a:spcBef>
                          <a:spcPts val="0"/>
                        </a:spcBef>
                        <a:spcAft>
                          <a:spcPts val="0"/>
                        </a:spcAft>
                      </a:pPr>
                      <a:r>
                        <a:rPr lang="en-US"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 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7,200,000</a:t>
                      </a:r>
                      <a:endParaRPr lang="en-US" sz="1100">
                        <a:effectLst/>
                        <a:latin typeface="Calibri"/>
                        <a:ea typeface="Calibri"/>
                        <a:cs typeface="Times New Roman"/>
                      </a:endParaRPr>
                    </a:p>
                  </a:txBody>
                  <a:tcPr marL="68580" marR="68580" marT="0" marB="0"/>
                </a:tc>
                <a:tc vMerge="1">
                  <a:txBody>
                    <a:bodyPr/>
                    <a:lstStyle/>
                    <a:p>
                      <a:endParaRPr lang="en-US"/>
                    </a:p>
                  </a:txBody>
                  <a:tcPr/>
                </a:tc>
              </a:tr>
              <a:tr h="221801">
                <a:tc vMerge="1">
                  <a:txBody>
                    <a:bodyPr/>
                    <a:lstStyle/>
                    <a:p>
                      <a:endParaRPr lang="en-US"/>
                    </a:p>
                  </a:txBody>
                  <a:tcPr/>
                </a:tc>
                <a:tc>
                  <a:txBody>
                    <a:bodyPr/>
                    <a:lstStyle/>
                    <a:p>
                      <a:pPr marL="0" marR="0">
                        <a:lnSpc>
                          <a:spcPct val="115000"/>
                        </a:lnSpc>
                        <a:spcBef>
                          <a:spcPts val="0"/>
                        </a:spcBef>
                        <a:spcAft>
                          <a:spcPts val="0"/>
                        </a:spcAft>
                      </a:pPr>
                      <a:r>
                        <a:rPr lang="en-US"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 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7,200,000</a:t>
                      </a:r>
                      <a:endParaRPr lang="en-US" sz="1100">
                        <a:effectLst/>
                        <a:latin typeface="Calibri"/>
                        <a:ea typeface="Calibri"/>
                        <a:cs typeface="Times New Roman"/>
                      </a:endParaRPr>
                    </a:p>
                  </a:txBody>
                  <a:tcPr marL="68580" marR="68580" marT="0" marB="0"/>
                </a:tc>
                <a:tc vMerge="1">
                  <a:txBody>
                    <a:bodyPr/>
                    <a:lstStyle/>
                    <a:p>
                      <a:endParaRPr lang="en-US"/>
                    </a:p>
                  </a:txBody>
                  <a:tcPr/>
                </a:tc>
              </a:tr>
              <a:tr h="221801">
                <a:tc rowSpan="2">
                  <a:txBody>
                    <a:bodyPr/>
                    <a:lstStyle/>
                    <a:p>
                      <a:pPr marL="0" marR="0">
                        <a:lnSpc>
                          <a:spcPct val="115000"/>
                        </a:lnSpc>
                        <a:spcBef>
                          <a:spcPts val="0"/>
                        </a:spcBef>
                        <a:spcAft>
                          <a:spcPts val="0"/>
                        </a:spcAft>
                      </a:pPr>
                      <a:r>
                        <a:rPr lang="en-US" sz="1100">
                          <a:effectLst/>
                        </a:rPr>
                        <a:t>5</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 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7,200,000</a:t>
                      </a:r>
                      <a:endParaRPr lang="en-US" sz="1100">
                        <a:effectLst/>
                        <a:latin typeface="Calibri"/>
                        <a:ea typeface="Calibri"/>
                        <a:cs typeface="Times New Roman"/>
                      </a:endParaRPr>
                    </a:p>
                  </a:txBody>
                  <a:tcPr marL="68580" marR="68580" marT="0" marB="0"/>
                </a:tc>
                <a:tc rowSpan="2">
                  <a:txBody>
                    <a:bodyPr/>
                    <a:lstStyle/>
                    <a:p>
                      <a:pPr marL="0" marR="0">
                        <a:lnSpc>
                          <a:spcPct val="115000"/>
                        </a:lnSpc>
                        <a:spcBef>
                          <a:spcPts val="0"/>
                        </a:spcBef>
                        <a:spcAft>
                          <a:spcPts val="0"/>
                        </a:spcAft>
                      </a:pPr>
                      <a:r>
                        <a:rPr lang="en-US" sz="1100">
                          <a:effectLst/>
                        </a:rPr>
                        <a:t>14, 400,000</a:t>
                      </a:r>
                      <a:endParaRPr lang="en-US" sz="1100">
                        <a:effectLst/>
                        <a:latin typeface="Calibri"/>
                        <a:ea typeface="Calibri"/>
                        <a:cs typeface="Times New Roman"/>
                      </a:endParaRPr>
                    </a:p>
                  </a:txBody>
                  <a:tcPr marL="68580" marR="68580" marT="0" marB="0"/>
                </a:tc>
              </a:tr>
              <a:tr h="221801">
                <a:tc vMerge="1">
                  <a:txBody>
                    <a:bodyPr/>
                    <a:lstStyle/>
                    <a:p>
                      <a:endParaRPr lang="en-US"/>
                    </a:p>
                  </a:txBody>
                  <a:tcPr/>
                </a:tc>
                <a:tc>
                  <a:txBody>
                    <a:bodyPr/>
                    <a:lstStyle/>
                    <a:p>
                      <a:pPr marL="0" marR="0">
                        <a:lnSpc>
                          <a:spcPct val="115000"/>
                        </a:lnSpc>
                        <a:spcBef>
                          <a:spcPts val="0"/>
                        </a:spcBef>
                        <a:spcAft>
                          <a:spcPts val="0"/>
                        </a:spcAft>
                      </a:pPr>
                      <a:r>
                        <a:rPr lang="en-US"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 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7,200,000</a:t>
                      </a:r>
                      <a:endParaRPr lang="en-US" sz="1100">
                        <a:effectLst/>
                        <a:latin typeface="Calibri"/>
                        <a:ea typeface="Calibri"/>
                        <a:cs typeface="Times New Roman"/>
                      </a:endParaRPr>
                    </a:p>
                  </a:txBody>
                  <a:tcPr marL="68580" marR="68580" marT="0" marB="0"/>
                </a:tc>
                <a:tc vMerge="1">
                  <a:txBody>
                    <a:bodyPr/>
                    <a:lstStyle/>
                    <a:p>
                      <a:endParaRPr lang="en-US"/>
                    </a:p>
                  </a:txBody>
                  <a:tcPr/>
                </a:tc>
              </a:tr>
              <a:tr h="177134">
                <a:tc gridSpan="6">
                  <a:txBody>
                    <a:bodyPr/>
                    <a:lstStyle/>
                    <a:p>
                      <a:pPr marL="68580" marR="0">
                        <a:lnSpc>
                          <a:spcPct val="115000"/>
                        </a:lnSpc>
                        <a:spcBef>
                          <a:spcPts val="0"/>
                        </a:spcBef>
                        <a:spcAft>
                          <a:spcPts val="0"/>
                        </a:spcAft>
                      </a:pPr>
                      <a:r>
                        <a:rPr lang="en-US" sz="1100" dirty="0">
                          <a:effectLst/>
                        </a:rPr>
                        <a:t>                                                                                                    TOTAL                                                     63, 000,000</a:t>
                      </a:r>
                      <a:endParaRPr lang="en-US" sz="1100" dirty="0">
                        <a:effectLst/>
                        <a:latin typeface="Calibri"/>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bl>
          </a:graphicData>
        </a:graphic>
      </p:graphicFrame>
      <p:sp>
        <p:nvSpPr>
          <p:cNvPr id="3" name="Rectangle 1"/>
          <p:cNvSpPr>
            <a:spLocks noChangeArrowheads="1"/>
          </p:cNvSpPr>
          <p:nvPr/>
        </p:nvSpPr>
        <p:spPr bwMode="auto">
          <a:xfrm>
            <a:off x="1066800" y="76200"/>
            <a:ext cx="6588086" cy="5539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200" b="1" i="0" u="none" strike="noStrike" cap="none" normalizeH="0" baseline="0" dirty="0" smtClean="0">
                <a:ln>
                  <a:noFill/>
                </a:ln>
                <a:solidFill>
                  <a:schemeClr val="tx1"/>
                </a:solidFill>
                <a:effectLst/>
                <a:latin typeface="Cambria" pitchFamily="18" charset="0"/>
                <a:ea typeface="Calibri" pitchFamily="34" charset="0"/>
                <a:cs typeface="Arial" pitchFamily="34" charset="0"/>
              </a:rPr>
              <a:t>TABLE V: </a:t>
            </a:r>
            <a:r>
              <a:rPr kumimoji="0" lang="en-US" sz="1200" b="0" i="0" u="none" strike="noStrike" cap="none" normalizeH="0" baseline="0" dirty="0" smtClean="0">
                <a:ln>
                  <a:noFill/>
                </a:ln>
                <a:solidFill>
                  <a:schemeClr val="tx1"/>
                </a:solidFill>
                <a:effectLst/>
                <a:latin typeface="Cambria" pitchFamily="18" charset="0"/>
                <a:ea typeface="Calibri" pitchFamily="34" charset="0"/>
                <a:cs typeface="Times New Roman" pitchFamily="18" charset="0"/>
              </a:rPr>
              <a:t>PROJECTED REVENUE FOR M.Sc</a:t>
            </a:r>
            <a:r>
              <a:rPr lang="en-US" sz="1200" baseline="0" dirty="0" smtClean="0">
                <a:latin typeface="Cambria" pitchFamily="18" charset="0"/>
                <a:ea typeface="Calibri" pitchFamily="34" charset="0"/>
                <a:cs typeface="Times New Roman" pitchFamily="18" charset="0"/>
              </a:rPr>
              <a:t>.</a:t>
            </a:r>
            <a:r>
              <a:rPr lang="en-US" sz="1200" dirty="0" smtClean="0">
                <a:latin typeface="Cambria" pitchFamily="18" charset="0"/>
                <a:ea typeface="Calibri" pitchFamily="34" charset="0"/>
                <a:cs typeface="Times New Roman" pitchFamily="18" charset="0"/>
              </a:rPr>
              <a:t> </a:t>
            </a:r>
            <a:r>
              <a:rPr kumimoji="0" lang="en-US" sz="1200" b="0" i="0" u="none" strike="noStrike" cap="none" normalizeH="0" baseline="0" dirty="0" smtClean="0">
                <a:ln>
                  <a:noFill/>
                </a:ln>
                <a:solidFill>
                  <a:schemeClr val="tx1"/>
                </a:solidFill>
                <a:effectLst/>
                <a:latin typeface="Cambria" pitchFamily="18" charset="0"/>
                <a:ea typeface="Calibri" pitchFamily="34" charset="0"/>
                <a:cs typeface="Times New Roman" pitchFamily="18" charset="0"/>
              </a:rPr>
              <a:t>GENDER AND DEVELOPMENT STUDIES {EXECUTIVE}</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xmlns="" val="3075617520"/>
              </p:ext>
            </p:extLst>
          </p:nvPr>
        </p:nvGraphicFramePr>
        <p:xfrm>
          <a:off x="1371600" y="3886200"/>
          <a:ext cx="6099810" cy="2907919"/>
        </p:xfrm>
        <a:graphic>
          <a:graphicData uri="http://schemas.openxmlformats.org/drawingml/2006/table">
            <a:tbl>
              <a:tblPr firstRow="1" firstCol="1" bandRow="1">
                <a:tableStyleId>{5C22544A-7EE6-4342-B048-85BDC9FD1C3A}</a:tableStyleId>
              </a:tblPr>
              <a:tblGrid>
                <a:gridCol w="1016635"/>
                <a:gridCol w="1016635"/>
                <a:gridCol w="940117"/>
                <a:gridCol w="1093153"/>
                <a:gridCol w="1016635"/>
                <a:gridCol w="1016635"/>
              </a:tblGrid>
              <a:tr h="543560">
                <a:tc>
                  <a:txBody>
                    <a:bodyPr/>
                    <a:lstStyle/>
                    <a:p>
                      <a:pPr marL="0" marR="0">
                        <a:lnSpc>
                          <a:spcPct val="115000"/>
                        </a:lnSpc>
                        <a:spcBef>
                          <a:spcPts val="0"/>
                        </a:spcBef>
                        <a:spcAft>
                          <a:spcPts val="0"/>
                        </a:spcAft>
                      </a:pPr>
                      <a:r>
                        <a:rPr lang="en-US" sz="1100" dirty="0">
                          <a:effectLst/>
                        </a:rPr>
                        <a:t>Year</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No of Students</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No of Semester</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Tuition fees (2 semesters) N150, 000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Total Fees per Group</a:t>
                      </a:r>
                    </a:p>
                    <a:p>
                      <a:pPr marL="0" marR="0">
                        <a:lnSpc>
                          <a:spcPct val="115000"/>
                        </a:lnSpc>
                        <a:spcBef>
                          <a:spcPts val="0"/>
                        </a:spcBef>
                        <a:spcAft>
                          <a:spcPts val="0"/>
                        </a:spcAft>
                      </a:pPr>
                      <a:r>
                        <a:rPr lang="en-US" sz="1100">
                          <a:effectLst/>
                        </a:rPr>
                        <a:t>    =N=</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Total Fees Annually</a:t>
                      </a:r>
                    </a:p>
                    <a:p>
                      <a:pPr marL="0" marR="0">
                        <a:lnSpc>
                          <a:spcPct val="115000"/>
                        </a:lnSpc>
                        <a:spcBef>
                          <a:spcPts val="0"/>
                        </a:spcBef>
                        <a:spcAft>
                          <a:spcPts val="0"/>
                        </a:spcAft>
                      </a:pPr>
                      <a:r>
                        <a:rPr lang="en-US" sz="1100">
                          <a:effectLst/>
                        </a:rPr>
                        <a:t>   =N=</a:t>
                      </a:r>
                      <a:endParaRPr lang="en-US" sz="1100">
                        <a:effectLst/>
                        <a:latin typeface="Calibri"/>
                        <a:ea typeface="Calibri"/>
                        <a:cs typeface="Times New Roman"/>
                      </a:endParaRPr>
                    </a:p>
                  </a:txBody>
                  <a:tcPr marL="68580" marR="68580" marT="0" marB="0"/>
                </a:tc>
              </a:tr>
              <a:tr h="180975">
                <a:tc>
                  <a:txBody>
                    <a:bodyPr/>
                    <a:lstStyle/>
                    <a:p>
                      <a:pPr marL="0" marR="0">
                        <a:lnSpc>
                          <a:spcPct val="115000"/>
                        </a:lnSpc>
                        <a:spcBef>
                          <a:spcPts val="0"/>
                        </a:spcBef>
                        <a:spcAft>
                          <a:spcPts val="0"/>
                        </a:spcAft>
                      </a:pPr>
                      <a:r>
                        <a:rPr lang="en-US" sz="1100">
                          <a:effectLst/>
                        </a:rPr>
                        <a:t>1</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150,000X20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 3,600,000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3,000,000</a:t>
                      </a:r>
                      <a:endParaRPr lang="en-US" sz="1100">
                        <a:effectLst/>
                        <a:latin typeface="Calibri"/>
                        <a:ea typeface="Calibri"/>
                        <a:cs typeface="Times New Roman"/>
                      </a:endParaRPr>
                    </a:p>
                  </a:txBody>
                  <a:tcPr marL="68580" marR="68580" marT="0" marB="0"/>
                </a:tc>
              </a:tr>
              <a:tr h="170180">
                <a:tc rowSpan="2">
                  <a:txBody>
                    <a:bodyPr/>
                    <a:lstStyle/>
                    <a:p>
                      <a:pPr marL="0" marR="0">
                        <a:lnSpc>
                          <a:spcPct val="115000"/>
                        </a:lnSpc>
                        <a:spcBef>
                          <a:spcPts val="0"/>
                        </a:spcBef>
                        <a:spcAft>
                          <a:spcPts val="0"/>
                        </a:spcAft>
                      </a:pPr>
                      <a:r>
                        <a:rPr lang="en-US" sz="1100" dirty="0">
                          <a:effectLst/>
                        </a:rPr>
                        <a:t>2</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dirty="0">
                          <a:effectLst/>
                        </a:rPr>
                        <a:t>2</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150,000X20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 3,600,000</a:t>
                      </a:r>
                      <a:endParaRPr lang="en-US" sz="1100">
                        <a:effectLst/>
                        <a:latin typeface="Calibri"/>
                        <a:ea typeface="Calibri"/>
                        <a:cs typeface="Times New Roman"/>
                      </a:endParaRPr>
                    </a:p>
                  </a:txBody>
                  <a:tcPr marL="68580" marR="68580" marT="0" marB="0"/>
                </a:tc>
                <a:tc rowSpan="2">
                  <a:txBody>
                    <a:bodyPr/>
                    <a:lstStyle/>
                    <a:p>
                      <a:pPr marL="0" marR="0">
                        <a:lnSpc>
                          <a:spcPct val="115000"/>
                        </a:lnSpc>
                        <a:spcBef>
                          <a:spcPts val="0"/>
                        </a:spcBef>
                        <a:spcAft>
                          <a:spcPts val="0"/>
                        </a:spcAft>
                      </a:pPr>
                      <a:r>
                        <a:rPr lang="en-US" sz="1100">
                          <a:effectLst/>
                        </a:rPr>
                        <a:t> 7,500,000</a:t>
                      </a:r>
                      <a:endParaRPr lang="en-US" sz="1100">
                        <a:effectLst/>
                        <a:latin typeface="Calibri"/>
                        <a:ea typeface="Calibri"/>
                        <a:cs typeface="Times New Roman"/>
                      </a:endParaRPr>
                    </a:p>
                  </a:txBody>
                  <a:tcPr marL="68580" marR="68580" marT="0" marB="0"/>
                </a:tc>
              </a:tr>
              <a:tr h="97790">
                <a:tc vMerge="1">
                  <a:txBody>
                    <a:bodyPr/>
                    <a:lstStyle/>
                    <a:p>
                      <a:endParaRPr lang="en-US"/>
                    </a:p>
                  </a:txBody>
                  <a:tcPr/>
                </a:tc>
                <a:tc>
                  <a:txBody>
                    <a:bodyPr/>
                    <a:lstStyle/>
                    <a:p>
                      <a:pPr marL="0" marR="0">
                        <a:lnSpc>
                          <a:spcPct val="115000"/>
                        </a:lnSpc>
                        <a:spcBef>
                          <a:spcPts val="0"/>
                        </a:spcBef>
                        <a:spcAft>
                          <a:spcPts val="0"/>
                        </a:spcAft>
                      </a:pPr>
                      <a:r>
                        <a:rPr lang="en-US" sz="1100">
                          <a:effectLst/>
                        </a:rPr>
                        <a:t>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150,000X 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4,500,000</a:t>
                      </a:r>
                      <a:endParaRPr lang="en-US" sz="1100">
                        <a:effectLst/>
                        <a:latin typeface="Calibri"/>
                        <a:ea typeface="Calibri"/>
                        <a:cs typeface="Times New Roman"/>
                      </a:endParaRPr>
                    </a:p>
                  </a:txBody>
                  <a:tcPr marL="68580" marR="68580" marT="0" marB="0"/>
                </a:tc>
                <a:tc vMerge="1">
                  <a:txBody>
                    <a:bodyPr/>
                    <a:lstStyle/>
                    <a:p>
                      <a:endParaRPr lang="en-US"/>
                    </a:p>
                  </a:txBody>
                  <a:tcPr/>
                </a:tc>
              </a:tr>
              <a:tr h="180975">
                <a:tc rowSpan="3">
                  <a:txBody>
                    <a:bodyPr/>
                    <a:lstStyle/>
                    <a:p>
                      <a:pPr marL="0" marR="0">
                        <a:lnSpc>
                          <a:spcPct val="115000"/>
                        </a:lnSpc>
                        <a:spcBef>
                          <a:spcPts val="0"/>
                        </a:spcBef>
                        <a:spcAft>
                          <a:spcPts val="0"/>
                        </a:spcAft>
                      </a:pPr>
                      <a:r>
                        <a:rPr lang="en-US" sz="1100">
                          <a:effectLst/>
                        </a:rPr>
                        <a:t>3</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150,000X 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3,000,000</a:t>
                      </a:r>
                      <a:endParaRPr lang="en-US" sz="1100">
                        <a:effectLst/>
                        <a:latin typeface="Calibri"/>
                        <a:ea typeface="Calibri"/>
                        <a:cs typeface="Times New Roman"/>
                      </a:endParaRPr>
                    </a:p>
                  </a:txBody>
                  <a:tcPr marL="68580" marR="68580" marT="0" marB="0"/>
                </a:tc>
                <a:tc rowSpan="3">
                  <a:txBody>
                    <a:bodyPr/>
                    <a:lstStyle/>
                    <a:p>
                      <a:pPr marL="0" marR="0">
                        <a:lnSpc>
                          <a:spcPct val="115000"/>
                        </a:lnSpc>
                        <a:spcBef>
                          <a:spcPts val="0"/>
                        </a:spcBef>
                        <a:spcAft>
                          <a:spcPts val="0"/>
                        </a:spcAft>
                      </a:pPr>
                      <a:r>
                        <a:rPr lang="en-US" sz="1100">
                          <a:effectLst/>
                        </a:rPr>
                        <a:t> 13, 500,000</a:t>
                      </a:r>
                      <a:endParaRPr lang="en-US" sz="1100">
                        <a:effectLst/>
                        <a:latin typeface="Calibri"/>
                        <a:ea typeface="Calibri"/>
                        <a:cs typeface="Times New Roman"/>
                      </a:endParaRPr>
                    </a:p>
                  </a:txBody>
                  <a:tcPr marL="68580" marR="68580" marT="0" marB="0"/>
                </a:tc>
              </a:tr>
              <a:tr h="97790">
                <a:tc vMerge="1">
                  <a:txBody>
                    <a:bodyPr/>
                    <a:lstStyle/>
                    <a:p>
                      <a:endParaRPr lang="en-US"/>
                    </a:p>
                  </a:txBody>
                  <a:tcPr/>
                </a:tc>
                <a:tc>
                  <a:txBody>
                    <a:bodyPr/>
                    <a:lstStyle/>
                    <a:p>
                      <a:pPr marL="0" marR="0">
                        <a:lnSpc>
                          <a:spcPct val="115000"/>
                        </a:lnSpc>
                        <a:spcBef>
                          <a:spcPts val="0"/>
                        </a:spcBef>
                        <a:spcAft>
                          <a:spcPts val="0"/>
                        </a:spcAft>
                      </a:pPr>
                      <a:r>
                        <a:rPr lang="en-US" sz="1100">
                          <a:effectLst/>
                        </a:rPr>
                        <a:t>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150,000X 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4,500,000</a:t>
                      </a:r>
                      <a:endParaRPr lang="en-US" sz="1100">
                        <a:effectLst/>
                        <a:latin typeface="Calibri"/>
                        <a:ea typeface="Calibri"/>
                        <a:cs typeface="Times New Roman"/>
                      </a:endParaRPr>
                    </a:p>
                  </a:txBody>
                  <a:tcPr marL="68580" marR="68580" marT="0" marB="0"/>
                </a:tc>
                <a:tc vMerge="1">
                  <a:txBody>
                    <a:bodyPr/>
                    <a:lstStyle/>
                    <a:p>
                      <a:endParaRPr lang="en-US"/>
                    </a:p>
                  </a:txBody>
                  <a:tcPr/>
                </a:tc>
              </a:tr>
              <a:tr h="97790">
                <a:tc vMerge="1">
                  <a:txBody>
                    <a:bodyPr/>
                    <a:lstStyle/>
                    <a:p>
                      <a:endParaRPr lang="en-US"/>
                    </a:p>
                  </a:txBody>
                  <a:tcPr/>
                </a:tc>
                <a:tc>
                  <a:txBody>
                    <a:bodyPr/>
                    <a:lstStyle/>
                    <a:p>
                      <a:pPr marL="0" marR="0">
                        <a:lnSpc>
                          <a:spcPct val="115000"/>
                        </a:lnSpc>
                        <a:spcBef>
                          <a:spcPts val="0"/>
                        </a:spcBef>
                        <a:spcAft>
                          <a:spcPts val="0"/>
                        </a:spcAft>
                      </a:pPr>
                      <a:r>
                        <a:rPr lang="en-US"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150,000X 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6,000,000</a:t>
                      </a:r>
                      <a:endParaRPr lang="en-US" sz="1100">
                        <a:effectLst/>
                        <a:latin typeface="Calibri"/>
                        <a:ea typeface="Calibri"/>
                        <a:cs typeface="Times New Roman"/>
                      </a:endParaRPr>
                    </a:p>
                  </a:txBody>
                  <a:tcPr marL="68580" marR="68580" marT="0" marB="0"/>
                </a:tc>
                <a:tc vMerge="1">
                  <a:txBody>
                    <a:bodyPr/>
                    <a:lstStyle/>
                    <a:p>
                      <a:endParaRPr lang="en-US"/>
                    </a:p>
                  </a:txBody>
                  <a:tcPr/>
                </a:tc>
              </a:tr>
              <a:tr h="180975">
                <a:tc rowSpan="3">
                  <a:txBody>
                    <a:bodyPr/>
                    <a:lstStyle/>
                    <a:p>
                      <a:pPr marL="0" marR="0">
                        <a:lnSpc>
                          <a:spcPct val="115000"/>
                        </a:lnSpc>
                        <a:spcBef>
                          <a:spcPts val="0"/>
                        </a:spcBef>
                        <a:spcAft>
                          <a:spcPts val="0"/>
                        </a:spcAft>
                      </a:pPr>
                      <a:r>
                        <a:rPr lang="en-US" sz="1100">
                          <a:effectLst/>
                        </a:rPr>
                        <a:t>4</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150,000X 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4, 500,000</a:t>
                      </a:r>
                      <a:endParaRPr lang="en-US" sz="1100">
                        <a:effectLst/>
                        <a:latin typeface="Calibri"/>
                        <a:ea typeface="Calibri"/>
                        <a:cs typeface="Times New Roman"/>
                      </a:endParaRPr>
                    </a:p>
                  </a:txBody>
                  <a:tcPr marL="68580" marR="68580" marT="0" marB="0"/>
                </a:tc>
                <a:tc rowSpan="3">
                  <a:txBody>
                    <a:bodyPr/>
                    <a:lstStyle/>
                    <a:p>
                      <a:pPr marL="0" marR="0">
                        <a:lnSpc>
                          <a:spcPct val="115000"/>
                        </a:lnSpc>
                        <a:spcBef>
                          <a:spcPts val="0"/>
                        </a:spcBef>
                        <a:spcAft>
                          <a:spcPts val="0"/>
                        </a:spcAft>
                      </a:pPr>
                      <a:r>
                        <a:rPr lang="en-US" sz="1100">
                          <a:effectLst/>
                        </a:rPr>
                        <a:t> 16, 500,000</a:t>
                      </a:r>
                      <a:endParaRPr lang="en-US" sz="1100">
                        <a:effectLst/>
                        <a:latin typeface="Calibri"/>
                        <a:ea typeface="Calibri"/>
                        <a:cs typeface="Times New Roman"/>
                      </a:endParaRPr>
                    </a:p>
                  </a:txBody>
                  <a:tcPr marL="68580" marR="68580" marT="0" marB="0"/>
                </a:tc>
              </a:tr>
              <a:tr h="97790">
                <a:tc vMerge="1">
                  <a:txBody>
                    <a:bodyPr/>
                    <a:lstStyle/>
                    <a:p>
                      <a:endParaRPr lang="en-US"/>
                    </a:p>
                  </a:txBody>
                  <a:tcPr/>
                </a:tc>
                <a:tc>
                  <a:txBody>
                    <a:bodyPr/>
                    <a:lstStyle/>
                    <a:p>
                      <a:pPr marL="0" marR="0">
                        <a:lnSpc>
                          <a:spcPct val="115000"/>
                        </a:lnSpc>
                        <a:spcBef>
                          <a:spcPts val="0"/>
                        </a:spcBef>
                        <a:spcAft>
                          <a:spcPts val="0"/>
                        </a:spcAft>
                      </a:pPr>
                      <a:r>
                        <a:rPr lang="en-US"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150,000X 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6,000,000</a:t>
                      </a:r>
                      <a:endParaRPr lang="en-US" sz="1100">
                        <a:effectLst/>
                        <a:latin typeface="Calibri"/>
                        <a:ea typeface="Calibri"/>
                        <a:cs typeface="Times New Roman"/>
                      </a:endParaRPr>
                    </a:p>
                  </a:txBody>
                  <a:tcPr marL="68580" marR="68580" marT="0" marB="0"/>
                </a:tc>
                <a:tc vMerge="1">
                  <a:txBody>
                    <a:bodyPr/>
                    <a:lstStyle/>
                    <a:p>
                      <a:endParaRPr lang="en-US"/>
                    </a:p>
                  </a:txBody>
                  <a:tcPr/>
                </a:tc>
              </a:tr>
              <a:tr h="97790">
                <a:tc vMerge="1">
                  <a:txBody>
                    <a:bodyPr/>
                    <a:lstStyle/>
                    <a:p>
                      <a:endParaRPr lang="en-US"/>
                    </a:p>
                  </a:txBody>
                  <a:tcPr/>
                </a:tc>
                <a:tc>
                  <a:txBody>
                    <a:bodyPr/>
                    <a:lstStyle/>
                    <a:p>
                      <a:pPr marL="0" marR="0">
                        <a:lnSpc>
                          <a:spcPct val="115000"/>
                        </a:lnSpc>
                        <a:spcBef>
                          <a:spcPts val="0"/>
                        </a:spcBef>
                        <a:spcAft>
                          <a:spcPts val="0"/>
                        </a:spcAft>
                      </a:pPr>
                      <a:r>
                        <a:rPr lang="en-US"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150,000X 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6,000,000</a:t>
                      </a:r>
                      <a:endParaRPr lang="en-US" sz="1100">
                        <a:effectLst/>
                        <a:latin typeface="Calibri"/>
                        <a:ea typeface="Calibri"/>
                        <a:cs typeface="Times New Roman"/>
                      </a:endParaRPr>
                    </a:p>
                  </a:txBody>
                  <a:tcPr marL="68580" marR="68580" marT="0" marB="0"/>
                </a:tc>
                <a:tc vMerge="1">
                  <a:txBody>
                    <a:bodyPr/>
                    <a:lstStyle/>
                    <a:p>
                      <a:endParaRPr lang="en-US"/>
                    </a:p>
                  </a:txBody>
                  <a:tcPr/>
                </a:tc>
              </a:tr>
              <a:tr h="180975">
                <a:tc rowSpan="2">
                  <a:txBody>
                    <a:bodyPr/>
                    <a:lstStyle/>
                    <a:p>
                      <a:pPr marL="0" marR="0">
                        <a:lnSpc>
                          <a:spcPct val="115000"/>
                        </a:lnSpc>
                        <a:spcBef>
                          <a:spcPts val="0"/>
                        </a:spcBef>
                        <a:spcAft>
                          <a:spcPts val="0"/>
                        </a:spcAft>
                      </a:pPr>
                      <a:r>
                        <a:rPr lang="en-US" sz="1100">
                          <a:effectLst/>
                        </a:rPr>
                        <a:t>5</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150,000X 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6,000,000</a:t>
                      </a:r>
                      <a:endParaRPr lang="en-US" sz="1100">
                        <a:effectLst/>
                        <a:latin typeface="Calibri"/>
                        <a:ea typeface="Calibri"/>
                        <a:cs typeface="Times New Roman"/>
                      </a:endParaRPr>
                    </a:p>
                  </a:txBody>
                  <a:tcPr marL="68580" marR="68580" marT="0" marB="0"/>
                </a:tc>
                <a:tc rowSpan="2">
                  <a:txBody>
                    <a:bodyPr/>
                    <a:lstStyle/>
                    <a:p>
                      <a:pPr marL="0" marR="0">
                        <a:lnSpc>
                          <a:spcPct val="115000"/>
                        </a:lnSpc>
                        <a:spcBef>
                          <a:spcPts val="0"/>
                        </a:spcBef>
                        <a:spcAft>
                          <a:spcPts val="0"/>
                        </a:spcAft>
                      </a:pPr>
                      <a:r>
                        <a:rPr lang="en-US" sz="1100">
                          <a:effectLst/>
                        </a:rPr>
                        <a:t> 12,000,000</a:t>
                      </a:r>
                      <a:endParaRPr lang="en-US" sz="1100">
                        <a:effectLst/>
                        <a:latin typeface="Calibri"/>
                        <a:ea typeface="Calibri"/>
                        <a:cs typeface="Times New Roman"/>
                      </a:endParaRPr>
                    </a:p>
                  </a:txBody>
                  <a:tcPr marL="68580" marR="68580" marT="0" marB="0"/>
                </a:tc>
              </a:tr>
              <a:tr h="97790">
                <a:tc vMerge="1">
                  <a:txBody>
                    <a:bodyPr/>
                    <a:lstStyle/>
                    <a:p>
                      <a:endParaRPr lang="en-US"/>
                    </a:p>
                  </a:txBody>
                  <a:tcPr/>
                </a:tc>
                <a:tc>
                  <a:txBody>
                    <a:bodyPr/>
                    <a:lstStyle/>
                    <a:p>
                      <a:pPr marL="0" marR="0">
                        <a:lnSpc>
                          <a:spcPct val="115000"/>
                        </a:lnSpc>
                        <a:spcBef>
                          <a:spcPts val="0"/>
                        </a:spcBef>
                        <a:spcAft>
                          <a:spcPts val="0"/>
                        </a:spcAft>
                      </a:pPr>
                      <a:r>
                        <a:rPr lang="en-US"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150,000X 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6,000,000</a:t>
                      </a:r>
                      <a:endParaRPr lang="en-US" sz="1100">
                        <a:effectLst/>
                        <a:latin typeface="Calibri"/>
                        <a:ea typeface="Calibri"/>
                        <a:cs typeface="Times New Roman"/>
                      </a:endParaRPr>
                    </a:p>
                  </a:txBody>
                  <a:tcPr marL="68580" marR="68580" marT="0" marB="0"/>
                </a:tc>
                <a:tc vMerge="1">
                  <a:txBody>
                    <a:bodyPr/>
                    <a:lstStyle/>
                    <a:p>
                      <a:endParaRPr lang="en-US"/>
                    </a:p>
                  </a:txBody>
                  <a:tcPr/>
                </a:tc>
              </a:tr>
              <a:tr h="208915">
                <a:tc gridSpan="6">
                  <a:txBody>
                    <a:bodyPr/>
                    <a:lstStyle/>
                    <a:p>
                      <a:pPr marL="68580" marR="0">
                        <a:lnSpc>
                          <a:spcPct val="115000"/>
                        </a:lnSpc>
                        <a:spcBef>
                          <a:spcPts val="0"/>
                        </a:spcBef>
                        <a:spcAft>
                          <a:spcPts val="0"/>
                        </a:spcAft>
                      </a:pPr>
                      <a:r>
                        <a:rPr lang="en-US" sz="1100" dirty="0">
                          <a:effectLst/>
                        </a:rPr>
                        <a:t>                                                                                                    TOTAL                                                 52, 500,000</a:t>
                      </a:r>
                      <a:endParaRPr lang="en-US" sz="1100" dirty="0">
                        <a:effectLst/>
                        <a:latin typeface="Calibri"/>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bl>
          </a:graphicData>
        </a:graphic>
      </p:graphicFrame>
      <p:sp>
        <p:nvSpPr>
          <p:cNvPr id="5" name="Rectangle 2"/>
          <p:cNvSpPr>
            <a:spLocks noChangeArrowheads="1"/>
          </p:cNvSpPr>
          <p:nvPr/>
        </p:nvSpPr>
        <p:spPr bwMode="auto">
          <a:xfrm>
            <a:off x="1295400" y="3581400"/>
            <a:ext cx="7162800" cy="5539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1" u="none" strike="noStrike" cap="none" normalizeH="0" baseline="0" dirty="0" smtClean="0">
                <a:ln>
                  <a:noFill/>
                </a:ln>
                <a:solidFill>
                  <a:schemeClr val="tx1"/>
                </a:solidFill>
                <a:effectLst/>
                <a:latin typeface="Cambria" pitchFamily="18" charset="0"/>
                <a:ea typeface="Calibri" pitchFamily="34" charset="0"/>
                <a:cs typeface="Times New Roman" pitchFamily="18" charset="0"/>
              </a:rPr>
              <a:t>TABLE VI: </a:t>
            </a:r>
            <a:r>
              <a:rPr kumimoji="0" lang="en-US" sz="1200" i="0" u="none" strike="noStrike" cap="none" normalizeH="0" baseline="0" dirty="0" smtClean="0">
                <a:ln>
                  <a:noFill/>
                </a:ln>
                <a:solidFill>
                  <a:schemeClr val="tx1"/>
                </a:solidFill>
                <a:effectLst/>
                <a:latin typeface="Cambria" pitchFamily="18" charset="0"/>
                <a:ea typeface="Calibri" pitchFamily="34" charset="0"/>
                <a:cs typeface="Times New Roman" pitchFamily="18" charset="0"/>
              </a:rPr>
              <a:t>PROJECTED</a:t>
            </a:r>
            <a:r>
              <a:rPr kumimoji="0" lang="en-US" sz="1200" b="0" i="0" u="none" strike="noStrike" cap="none" normalizeH="0" baseline="0" dirty="0" smtClean="0">
                <a:ln>
                  <a:noFill/>
                </a:ln>
                <a:solidFill>
                  <a:schemeClr val="tx1"/>
                </a:solidFill>
                <a:effectLst/>
                <a:latin typeface="Cambria" pitchFamily="18" charset="0"/>
                <a:ea typeface="Calibri" pitchFamily="34" charset="0"/>
                <a:cs typeface="Times New Roman" pitchFamily="18" charset="0"/>
              </a:rPr>
              <a:t> REVENUE FOR M.Sc. GENDER AND DEVELOPMENT STUDIES {REGULAR}</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7" name="Slide Number Placeholder 6"/>
          <p:cNvSpPr>
            <a:spLocks noGrp="1"/>
          </p:cNvSpPr>
          <p:nvPr>
            <p:ph type="sldNum" sz="quarter" idx="12"/>
          </p:nvPr>
        </p:nvSpPr>
        <p:spPr/>
        <p:txBody>
          <a:bodyPr/>
          <a:lstStyle/>
          <a:p>
            <a:fld id="{1387417F-CD80-46DB-B84D-5F1ADE59F8BD}" type="slidenum">
              <a:rPr lang="en-US" smtClean="0"/>
              <a:pPr/>
              <a:t>8</a:t>
            </a:fld>
            <a:endParaRPr lang="en-US"/>
          </a:p>
        </p:txBody>
      </p:sp>
      <p:sp>
        <p:nvSpPr>
          <p:cNvPr id="9" name="Date Placeholder 8"/>
          <p:cNvSpPr>
            <a:spLocks noGrp="1"/>
          </p:cNvSpPr>
          <p:nvPr>
            <p:ph type="dt" sz="half" idx="10"/>
          </p:nvPr>
        </p:nvSpPr>
        <p:spPr/>
        <p:txBody>
          <a:bodyPr/>
          <a:lstStyle/>
          <a:p>
            <a:r>
              <a:rPr lang="en-US" dirty="0" smtClean="0"/>
              <a:t>3/2/2016</a:t>
            </a:r>
            <a:endParaRPr lang="en-US" dirty="0"/>
          </a:p>
        </p:txBody>
      </p:sp>
    </p:spTree>
    <p:extLst>
      <p:ext uri="{BB962C8B-B14F-4D97-AF65-F5344CB8AC3E}">
        <p14:creationId xmlns:p14="http://schemas.microsoft.com/office/powerpoint/2010/main" xmlns="" val="162424025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xmlns="" val="2655821589"/>
              </p:ext>
            </p:extLst>
          </p:nvPr>
        </p:nvGraphicFramePr>
        <p:xfrm>
          <a:off x="1389743" y="217715"/>
          <a:ext cx="6195060" cy="2931625"/>
        </p:xfrm>
        <a:graphic>
          <a:graphicData uri="http://schemas.openxmlformats.org/drawingml/2006/table">
            <a:tbl>
              <a:tblPr firstRow="1" firstCol="1" bandRow="1">
                <a:tableStyleId>{5C22544A-7EE6-4342-B048-85BDC9FD1C3A}</a:tableStyleId>
              </a:tblPr>
              <a:tblGrid>
                <a:gridCol w="1013460"/>
                <a:gridCol w="1013460"/>
                <a:gridCol w="1070610"/>
                <a:gridCol w="1070610"/>
                <a:gridCol w="1013460"/>
                <a:gridCol w="1013460"/>
              </a:tblGrid>
              <a:tr h="574641">
                <a:tc>
                  <a:txBody>
                    <a:bodyPr/>
                    <a:lstStyle/>
                    <a:p>
                      <a:pPr marL="0" marR="0">
                        <a:lnSpc>
                          <a:spcPct val="115000"/>
                        </a:lnSpc>
                        <a:spcBef>
                          <a:spcPts val="0"/>
                        </a:spcBef>
                        <a:spcAft>
                          <a:spcPts val="0"/>
                        </a:spcAft>
                      </a:pPr>
                      <a:r>
                        <a:rPr lang="en-GB" sz="1100" dirty="0">
                          <a:effectLst/>
                        </a:rPr>
                        <a:t>Year</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No of  students</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No. of Semesters</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Tuition fees (2 semesters </a:t>
                      </a:r>
                      <a:r>
                        <a:rPr lang="en-GB" sz="1100" strike="sngStrike">
                          <a:effectLst/>
                        </a:rPr>
                        <a:t>N</a:t>
                      </a:r>
                      <a:r>
                        <a:rPr lang="en-GB" sz="1100">
                          <a:effectLst/>
                        </a:rPr>
                        <a:t>180,000)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Total fees per Group</a:t>
                      </a:r>
                      <a:endParaRPr lang="en-US" sz="1100">
                        <a:effectLst/>
                      </a:endParaRPr>
                    </a:p>
                    <a:p>
                      <a:pPr marL="0" marR="0">
                        <a:lnSpc>
                          <a:spcPct val="115000"/>
                        </a:lnSpc>
                        <a:spcBef>
                          <a:spcPts val="0"/>
                        </a:spcBef>
                        <a:spcAft>
                          <a:spcPts val="0"/>
                        </a:spcAft>
                      </a:pPr>
                      <a:r>
                        <a:rPr lang="en-GB" sz="1100">
                          <a:effectLst/>
                        </a:rPr>
                        <a:t>=N=</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Total fee Annually</a:t>
                      </a:r>
                      <a:endParaRPr lang="en-US" sz="1100">
                        <a:effectLst/>
                      </a:endParaRPr>
                    </a:p>
                    <a:p>
                      <a:pPr marL="0" marR="0">
                        <a:lnSpc>
                          <a:spcPct val="115000"/>
                        </a:lnSpc>
                        <a:spcBef>
                          <a:spcPts val="0"/>
                        </a:spcBef>
                        <a:spcAft>
                          <a:spcPts val="0"/>
                        </a:spcAft>
                      </a:pPr>
                      <a:r>
                        <a:rPr lang="en-GB" sz="1100">
                          <a:effectLst/>
                        </a:rPr>
                        <a:t>=N=</a:t>
                      </a:r>
                      <a:endParaRPr lang="en-US" sz="1100">
                        <a:effectLst/>
                        <a:latin typeface="Calibri"/>
                        <a:ea typeface="Calibri"/>
                        <a:cs typeface="Times New Roman"/>
                      </a:endParaRPr>
                    </a:p>
                  </a:txBody>
                  <a:tcPr marL="68580" marR="68580" marT="0" marB="0"/>
                </a:tc>
              </a:tr>
              <a:tr h="183911">
                <a:tc>
                  <a:txBody>
                    <a:bodyPr/>
                    <a:lstStyle/>
                    <a:p>
                      <a:pPr marL="342900" marR="0" lvl="0" indent="-342900">
                        <a:lnSpc>
                          <a:spcPct val="115000"/>
                        </a:lnSpc>
                        <a:spcBef>
                          <a:spcPts val="0"/>
                        </a:spcBef>
                        <a:spcAft>
                          <a:spcPts val="0"/>
                        </a:spcAft>
                        <a:buFont typeface="+mj-lt"/>
                        <a:buAutoNum type="arabicPeriod"/>
                      </a:pPr>
                      <a:r>
                        <a:rPr lang="en-GB" sz="1100" dirty="0">
                          <a:effectLst/>
                        </a:rPr>
                        <a:t> </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180,000 20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3,600,000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3,600,000</a:t>
                      </a:r>
                      <a:endParaRPr lang="en-US" sz="1100">
                        <a:effectLst/>
                        <a:latin typeface="Calibri"/>
                        <a:ea typeface="Calibri"/>
                        <a:cs typeface="Times New Roman"/>
                      </a:endParaRPr>
                    </a:p>
                  </a:txBody>
                  <a:tcPr marL="68580" marR="68580" marT="0" marB="0"/>
                </a:tc>
              </a:tr>
              <a:tr h="183911">
                <a:tc rowSpan="2">
                  <a:txBody>
                    <a:bodyPr/>
                    <a:lstStyle/>
                    <a:p>
                      <a:pPr marL="342900" marR="0" lvl="0" indent="-342900">
                        <a:lnSpc>
                          <a:spcPct val="115000"/>
                        </a:lnSpc>
                        <a:spcBef>
                          <a:spcPts val="0"/>
                        </a:spcBef>
                        <a:spcAft>
                          <a:spcPts val="0"/>
                        </a:spcAft>
                        <a:buFont typeface="+mj-lt"/>
                        <a:buAutoNum type="arabicPeriod"/>
                      </a:pPr>
                      <a:r>
                        <a:rPr lang="en-GB" sz="1100" dirty="0">
                          <a:effectLst/>
                        </a:rPr>
                        <a:t> </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3,600,000</a:t>
                      </a:r>
                      <a:endParaRPr lang="en-US" sz="1100">
                        <a:effectLst/>
                        <a:latin typeface="Calibri"/>
                        <a:ea typeface="Calibri"/>
                        <a:cs typeface="Times New Roman"/>
                      </a:endParaRPr>
                    </a:p>
                  </a:txBody>
                  <a:tcPr marL="68580" marR="68580" marT="0" marB="0"/>
                </a:tc>
                <a:tc rowSpan="2">
                  <a:txBody>
                    <a:bodyPr/>
                    <a:lstStyle/>
                    <a:p>
                      <a:pPr marL="0" marR="0">
                        <a:lnSpc>
                          <a:spcPct val="115000"/>
                        </a:lnSpc>
                        <a:spcBef>
                          <a:spcPts val="0"/>
                        </a:spcBef>
                        <a:spcAft>
                          <a:spcPts val="0"/>
                        </a:spcAft>
                      </a:pPr>
                      <a:r>
                        <a:rPr lang="en-GB" sz="1100">
                          <a:effectLst/>
                        </a:rPr>
                        <a:t>9,000,000</a:t>
                      </a:r>
                      <a:endParaRPr lang="en-US" sz="1100">
                        <a:effectLst/>
                        <a:latin typeface="Calibri"/>
                        <a:ea typeface="Calibri"/>
                        <a:cs typeface="Times New Roman"/>
                      </a:endParaRPr>
                    </a:p>
                  </a:txBody>
                  <a:tcPr marL="68580" marR="68580" marT="0" marB="0"/>
                </a:tc>
              </a:tr>
              <a:tr h="183911">
                <a:tc vMerge="1">
                  <a:txBody>
                    <a:bodyPr/>
                    <a:lstStyle/>
                    <a:p>
                      <a:endParaRPr lang="en-US"/>
                    </a:p>
                  </a:txBody>
                  <a:tcPr/>
                </a:tc>
                <a:tc>
                  <a:txBody>
                    <a:bodyPr/>
                    <a:lstStyle/>
                    <a:p>
                      <a:pPr marL="0" marR="0">
                        <a:lnSpc>
                          <a:spcPct val="115000"/>
                        </a:lnSpc>
                        <a:spcBef>
                          <a:spcPts val="0"/>
                        </a:spcBef>
                        <a:spcAft>
                          <a:spcPts val="0"/>
                        </a:spcAft>
                      </a:pPr>
                      <a:r>
                        <a:rPr lang="en-GB" sz="1100">
                          <a:effectLst/>
                        </a:rPr>
                        <a:t>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dirty="0">
                          <a:effectLst/>
                        </a:rPr>
                        <a:t>5,400,000</a:t>
                      </a:r>
                      <a:endParaRPr lang="en-US" sz="1100" dirty="0">
                        <a:effectLst/>
                        <a:latin typeface="Calibri"/>
                        <a:ea typeface="Calibri"/>
                        <a:cs typeface="Times New Roman"/>
                      </a:endParaRPr>
                    </a:p>
                  </a:txBody>
                  <a:tcPr marL="68580" marR="68580" marT="0" marB="0"/>
                </a:tc>
                <a:tc vMerge="1">
                  <a:txBody>
                    <a:bodyPr/>
                    <a:lstStyle/>
                    <a:p>
                      <a:endParaRPr lang="en-US"/>
                    </a:p>
                  </a:txBody>
                  <a:tcPr/>
                </a:tc>
              </a:tr>
              <a:tr h="183911">
                <a:tc rowSpan="3">
                  <a:txBody>
                    <a:bodyPr/>
                    <a:lstStyle/>
                    <a:p>
                      <a:pPr marL="342900" marR="0" lvl="0" indent="-342900">
                        <a:lnSpc>
                          <a:spcPct val="115000"/>
                        </a:lnSpc>
                        <a:spcBef>
                          <a:spcPts val="0"/>
                        </a:spcBef>
                        <a:spcAft>
                          <a:spcPts val="0"/>
                        </a:spcAft>
                        <a:buFont typeface="+mj-lt"/>
                        <a:buAutoNum type="arabicPeriod"/>
                      </a:pPr>
                      <a:r>
                        <a:rPr lang="en-GB" sz="1100" dirty="0">
                          <a:effectLst/>
                        </a:rPr>
                        <a:t> </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3,600,000</a:t>
                      </a:r>
                      <a:endParaRPr lang="en-US" sz="1100">
                        <a:effectLst/>
                        <a:latin typeface="Calibri"/>
                        <a:ea typeface="Calibri"/>
                        <a:cs typeface="Times New Roman"/>
                      </a:endParaRPr>
                    </a:p>
                  </a:txBody>
                  <a:tcPr marL="68580" marR="68580" marT="0" marB="0"/>
                </a:tc>
                <a:tc rowSpan="3">
                  <a:txBody>
                    <a:bodyPr/>
                    <a:lstStyle/>
                    <a:p>
                      <a:pPr marL="0" marR="0">
                        <a:lnSpc>
                          <a:spcPct val="115000"/>
                        </a:lnSpc>
                        <a:spcBef>
                          <a:spcPts val="0"/>
                        </a:spcBef>
                        <a:spcAft>
                          <a:spcPts val="0"/>
                        </a:spcAft>
                      </a:pPr>
                      <a:r>
                        <a:rPr lang="en-GB" sz="1100">
                          <a:effectLst/>
                        </a:rPr>
                        <a:t>16,200,000</a:t>
                      </a:r>
                      <a:endParaRPr lang="en-US" sz="1100">
                        <a:effectLst/>
                        <a:latin typeface="Calibri"/>
                        <a:ea typeface="Calibri"/>
                        <a:cs typeface="Times New Roman"/>
                      </a:endParaRPr>
                    </a:p>
                  </a:txBody>
                  <a:tcPr marL="68580" marR="68580" marT="0" marB="0"/>
                </a:tc>
              </a:tr>
              <a:tr h="183911">
                <a:tc vMerge="1">
                  <a:txBody>
                    <a:bodyPr/>
                    <a:lstStyle/>
                    <a:p>
                      <a:endParaRPr lang="en-US"/>
                    </a:p>
                  </a:txBody>
                  <a:tcPr/>
                </a:tc>
                <a:tc>
                  <a:txBody>
                    <a:bodyPr/>
                    <a:lstStyle/>
                    <a:p>
                      <a:pPr marL="0" marR="0">
                        <a:lnSpc>
                          <a:spcPct val="115000"/>
                        </a:lnSpc>
                        <a:spcBef>
                          <a:spcPts val="0"/>
                        </a:spcBef>
                        <a:spcAft>
                          <a:spcPts val="0"/>
                        </a:spcAft>
                      </a:pPr>
                      <a:r>
                        <a:rPr lang="en-GB" sz="1100">
                          <a:effectLst/>
                        </a:rPr>
                        <a:t>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5,400,000</a:t>
                      </a:r>
                      <a:endParaRPr lang="en-US" sz="1100">
                        <a:effectLst/>
                        <a:latin typeface="Calibri"/>
                        <a:ea typeface="Calibri"/>
                        <a:cs typeface="Times New Roman"/>
                      </a:endParaRPr>
                    </a:p>
                  </a:txBody>
                  <a:tcPr marL="68580" marR="68580" marT="0" marB="0"/>
                </a:tc>
                <a:tc vMerge="1">
                  <a:txBody>
                    <a:bodyPr/>
                    <a:lstStyle/>
                    <a:p>
                      <a:endParaRPr lang="en-US"/>
                    </a:p>
                  </a:txBody>
                  <a:tcPr/>
                </a:tc>
              </a:tr>
              <a:tr h="183911">
                <a:tc vMerge="1">
                  <a:txBody>
                    <a:bodyPr/>
                    <a:lstStyle/>
                    <a:p>
                      <a:endParaRPr lang="en-US"/>
                    </a:p>
                  </a:txBody>
                  <a:tcPr/>
                </a:tc>
                <a:tc>
                  <a:txBody>
                    <a:bodyPr/>
                    <a:lstStyle/>
                    <a:p>
                      <a:pPr marL="0" marR="0">
                        <a:lnSpc>
                          <a:spcPct val="115000"/>
                        </a:lnSpc>
                        <a:spcBef>
                          <a:spcPts val="0"/>
                        </a:spcBef>
                        <a:spcAft>
                          <a:spcPts val="0"/>
                        </a:spcAft>
                      </a:pPr>
                      <a:r>
                        <a:rPr lang="en-GB"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dirty="0">
                          <a:effectLst/>
                        </a:rPr>
                        <a:t> </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7,200,000</a:t>
                      </a:r>
                      <a:endParaRPr lang="en-US" sz="1100">
                        <a:effectLst/>
                        <a:latin typeface="Calibri"/>
                        <a:ea typeface="Calibri"/>
                        <a:cs typeface="Times New Roman"/>
                      </a:endParaRPr>
                    </a:p>
                  </a:txBody>
                  <a:tcPr marL="68580" marR="68580" marT="0" marB="0"/>
                </a:tc>
                <a:tc vMerge="1">
                  <a:txBody>
                    <a:bodyPr/>
                    <a:lstStyle/>
                    <a:p>
                      <a:endParaRPr lang="en-US"/>
                    </a:p>
                  </a:txBody>
                  <a:tcPr/>
                </a:tc>
              </a:tr>
              <a:tr h="183911">
                <a:tc rowSpan="3">
                  <a:txBody>
                    <a:bodyPr/>
                    <a:lstStyle/>
                    <a:p>
                      <a:pPr marL="342900" marR="0" lvl="0" indent="-342900">
                        <a:lnSpc>
                          <a:spcPct val="115000"/>
                        </a:lnSpc>
                        <a:spcBef>
                          <a:spcPts val="0"/>
                        </a:spcBef>
                        <a:spcAft>
                          <a:spcPts val="0"/>
                        </a:spcAft>
                        <a:buFont typeface="+mj-lt"/>
                        <a:buAutoNum type="arabicPeriod"/>
                      </a:pPr>
                      <a:r>
                        <a:rPr lang="en-GB" sz="1100" dirty="0">
                          <a:effectLst/>
                        </a:rPr>
                        <a:t> </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5,400,000</a:t>
                      </a:r>
                      <a:endParaRPr lang="en-US" sz="1100">
                        <a:effectLst/>
                        <a:latin typeface="Calibri"/>
                        <a:ea typeface="Calibri"/>
                        <a:cs typeface="Times New Roman"/>
                      </a:endParaRPr>
                    </a:p>
                  </a:txBody>
                  <a:tcPr marL="68580" marR="68580" marT="0" marB="0"/>
                </a:tc>
                <a:tc rowSpan="3">
                  <a:txBody>
                    <a:bodyPr/>
                    <a:lstStyle/>
                    <a:p>
                      <a:pPr marL="0" marR="0">
                        <a:lnSpc>
                          <a:spcPct val="115000"/>
                        </a:lnSpc>
                        <a:spcBef>
                          <a:spcPts val="0"/>
                        </a:spcBef>
                        <a:spcAft>
                          <a:spcPts val="0"/>
                        </a:spcAft>
                      </a:pPr>
                      <a:r>
                        <a:rPr lang="en-GB" sz="1100">
                          <a:effectLst/>
                        </a:rPr>
                        <a:t>19,800,000</a:t>
                      </a:r>
                      <a:endParaRPr lang="en-US" sz="1100">
                        <a:effectLst/>
                        <a:latin typeface="Calibri"/>
                        <a:ea typeface="Calibri"/>
                        <a:cs typeface="Times New Roman"/>
                      </a:endParaRPr>
                    </a:p>
                  </a:txBody>
                  <a:tcPr marL="68580" marR="68580" marT="0" marB="0"/>
                </a:tc>
              </a:tr>
              <a:tr h="183911">
                <a:tc vMerge="1">
                  <a:txBody>
                    <a:bodyPr/>
                    <a:lstStyle/>
                    <a:p>
                      <a:endParaRPr lang="en-US"/>
                    </a:p>
                  </a:txBody>
                  <a:tcPr/>
                </a:tc>
                <a:tc>
                  <a:txBody>
                    <a:bodyPr/>
                    <a:lstStyle/>
                    <a:p>
                      <a:pPr marL="0" marR="0">
                        <a:lnSpc>
                          <a:spcPct val="115000"/>
                        </a:lnSpc>
                        <a:spcBef>
                          <a:spcPts val="0"/>
                        </a:spcBef>
                        <a:spcAft>
                          <a:spcPts val="0"/>
                        </a:spcAft>
                      </a:pPr>
                      <a:r>
                        <a:rPr lang="en-GB"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7,200,000</a:t>
                      </a:r>
                      <a:endParaRPr lang="en-US" sz="1100">
                        <a:effectLst/>
                        <a:latin typeface="Calibri"/>
                        <a:ea typeface="Calibri"/>
                        <a:cs typeface="Times New Roman"/>
                      </a:endParaRPr>
                    </a:p>
                  </a:txBody>
                  <a:tcPr marL="68580" marR="68580" marT="0" marB="0"/>
                </a:tc>
                <a:tc vMerge="1">
                  <a:txBody>
                    <a:bodyPr/>
                    <a:lstStyle/>
                    <a:p>
                      <a:endParaRPr lang="en-US"/>
                    </a:p>
                  </a:txBody>
                  <a:tcPr/>
                </a:tc>
              </a:tr>
              <a:tr h="183911">
                <a:tc vMerge="1">
                  <a:txBody>
                    <a:bodyPr/>
                    <a:lstStyle/>
                    <a:p>
                      <a:endParaRPr lang="en-US"/>
                    </a:p>
                  </a:txBody>
                  <a:tcPr/>
                </a:tc>
                <a:tc>
                  <a:txBody>
                    <a:bodyPr/>
                    <a:lstStyle/>
                    <a:p>
                      <a:pPr marL="0" marR="0">
                        <a:lnSpc>
                          <a:spcPct val="115000"/>
                        </a:lnSpc>
                        <a:spcBef>
                          <a:spcPts val="0"/>
                        </a:spcBef>
                        <a:spcAft>
                          <a:spcPts val="0"/>
                        </a:spcAft>
                      </a:pPr>
                      <a:r>
                        <a:rPr lang="en-GB"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7,200,000</a:t>
                      </a:r>
                      <a:endParaRPr lang="en-US" sz="1100">
                        <a:effectLst/>
                        <a:latin typeface="Calibri"/>
                        <a:ea typeface="Calibri"/>
                        <a:cs typeface="Times New Roman"/>
                      </a:endParaRPr>
                    </a:p>
                  </a:txBody>
                  <a:tcPr marL="68580" marR="68580" marT="0" marB="0"/>
                </a:tc>
                <a:tc vMerge="1">
                  <a:txBody>
                    <a:bodyPr/>
                    <a:lstStyle/>
                    <a:p>
                      <a:endParaRPr lang="en-US"/>
                    </a:p>
                  </a:txBody>
                  <a:tcPr/>
                </a:tc>
              </a:tr>
              <a:tr h="183911">
                <a:tc rowSpan="2">
                  <a:txBody>
                    <a:bodyPr/>
                    <a:lstStyle/>
                    <a:p>
                      <a:pPr marL="342900" marR="0" lvl="0" indent="-342900">
                        <a:lnSpc>
                          <a:spcPct val="115000"/>
                        </a:lnSpc>
                        <a:spcBef>
                          <a:spcPts val="0"/>
                        </a:spcBef>
                        <a:spcAft>
                          <a:spcPts val="0"/>
                        </a:spcAft>
                        <a:buFont typeface="+mj-lt"/>
                        <a:buAutoNum type="arabicPeriod"/>
                      </a:pPr>
                      <a:r>
                        <a:rPr lang="en-GB" sz="1100" dirty="0">
                          <a:effectLst/>
                        </a:rPr>
                        <a:t> </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dirty="0">
                          <a:effectLst/>
                        </a:rPr>
                        <a:t>7,200,000</a:t>
                      </a:r>
                      <a:endParaRPr lang="en-US" sz="1100" dirty="0">
                        <a:effectLst/>
                        <a:latin typeface="Calibri"/>
                        <a:ea typeface="Calibri"/>
                        <a:cs typeface="Times New Roman"/>
                      </a:endParaRPr>
                    </a:p>
                  </a:txBody>
                  <a:tcPr marL="68580" marR="68580" marT="0" marB="0"/>
                </a:tc>
                <a:tc rowSpan="2">
                  <a:txBody>
                    <a:bodyPr/>
                    <a:lstStyle/>
                    <a:p>
                      <a:pPr marL="0" marR="0">
                        <a:lnSpc>
                          <a:spcPct val="115000"/>
                        </a:lnSpc>
                        <a:spcBef>
                          <a:spcPts val="0"/>
                        </a:spcBef>
                        <a:spcAft>
                          <a:spcPts val="0"/>
                        </a:spcAft>
                      </a:pPr>
                      <a:r>
                        <a:rPr lang="en-GB" sz="1100">
                          <a:effectLst/>
                        </a:rPr>
                        <a:t>14,400,000</a:t>
                      </a:r>
                      <a:endParaRPr lang="en-US" sz="1100">
                        <a:effectLst/>
                        <a:latin typeface="Calibri"/>
                        <a:ea typeface="Calibri"/>
                        <a:cs typeface="Times New Roman"/>
                      </a:endParaRPr>
                    </a:p>
                  </a:txBody>
                  <a:tcPr marL="68580" marR="68580" marT="0" marB="0"/>
                </a:tc>
              </a:tr>
              <a:tr h="183911">
                <a:tc vMerge="1">
                  <a:txBody>
                    <a:bodyPr/>
                    <a:lstStyle/>
                    <a:p>
                      <a:endParaRPr lang="en-US"/>
                    </a:p>
                  </a:txBody>
                  <a:tcPr/>
                </a:tc>
                <a:tc>
                  <a:txBody>
                    <a:bodyPr/>
                    <a:lstStyle/>
                    <a:p>
                      <a:pPr marL="0" marR="0">
                        <a:lnSpc>
                          <a:spcPct val="115000"/>
                        </a:lnSpc>
                        <a:spcBef>
                          <a:spcPts val="0"/>
                        </a:spcBef>
                        <a:spcAft>
                          <a:spcPts val="0"/>
                        </a:spcAft>
                      </a:pPr>
                      <a:r>
                        <a:rPr lang="en-GB"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7,200,000</a:t>
                      </a:r>
                      <a:endParaRPr lang="en-US" sz="1100">
                        <a:effectLst/>
                        <a:latin typeface="Calibri"/>
                        <a:ea typeface="Calibri"/>
                        <a:cs typeface="Times New Roman"/>
                      </a:endParaRPr>
                    </a:p>
                  </a:txBody>
                  <a:tcPr marL="68580" marR="68580" marT="0" marB="0"/>
                </a:tc>
                <a:tc vMerge="1">
                  <a:txBody>
                    <a:bodyPr/>
                    <a:lstStyle/>
                    <a:p>
                      <a:endParaRPr lang="en-US"/>
                    </a:p>
                  </a:txBody>
                  <a:tcPr/>
                </a:tc>
              </a:tr>
              <a:tr h="232621">
                <a:tc gridSpan="5">
                  <a:txBody>
                    <a:bodyPr/>
                    <a:lstStyle/>
                    <a:p>
                      <a:pPr marL="0" marR="0">
                        <a:lnSpc>
                          <a:spcPct val="115000"/>
                        </a:lnSpc>
                        <a:spcBef>
                          <a:spcPts val="0"/>
                        </a:spcBef>
                        <a:spcAft>
                          <a:spcPts val="0"/>
                        </a:spcAft>
                        <a:tabLst>
                          <a:tab pos="4029075" algn="l"/>
                        </a:tabLst>
                      </a:pPr>
                      <a:r>
                        <a:rPr lang="en-GB" sz="1100" dirty="0">
                          <a:effectLst/>
                        </a:rPr>
                        <a:t>       	TOTAL</a:t>
                      </a:r>
                      <a:endParaRPr lang="en-US" sz="1100" dirty="0">
                        <a:effectLst/>
                        <a:latin typeface="Calibri"/>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nSpc>
                          <a:spcPct val="115000"/>
                        </a:lnSpc>
                        <a:spcBef>
                          <a:spcPts val="0"/>
                        </a:spcBef>
                        <a:spcAft>
                          <a:spcPts val="0"/>
                        </a:spcAft>
                      </a:pPr>
                      <a:r>
                        <a:rPr lang="en-GB" sz="1100" dirty="0">
                          <a:effectLst/>
                        </a:rPr>
                        <a:t>63,000,000</a:t>
                      </a:r>
                      <a:endParaRPr lang="en-US" sz="1100" dirty="0">
                        <a:effectLst/>
                        <a:latin typeface="Calibri"/>
                        <a:ea typeface="Calibri"/>
                        <a:cs typeface="Times New Roman"/>
                      </a:endParaRPr>
                    </a:p>
                  </a:txBody>
                  <a:tcPr marL="68580" marR="68580" marT="0" marB="0"/>
                </a:tc>
              </a:tr>
            </a:tbl>
          </a:graphicData>
        </a:graphic>
      </p:graphicFrame>
      <p:sp>
        <p:nvSpPr>
          <p:cNvPr id="3" name="Rectangle 1"/>
          <p:cNvSpPr>
            <a:spLocks noChangeArrowheads="1"/>
          </p:cNvSpPr>
          <p:nvPr/>
        </p:nvSpPr>
        <p:spPr bwMode="auto">
          <a:xfrm>
            <a:off x="1371600" y="-29029"/>
            <a:ext cx="5581143" cy="461665"/>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4029075" algn="l"/>
              </a:tabLst>
            </a:pPr>
            <a:r>
              <a:rPr kumimoji="0" lang="en-US" sz="1200" b="1" i="0" u="none" strike="noStrike" cap="none" normalizeH="0" baseline="0" dirty="0" smtClean="0">
                <a:ln>
                  <a:noFill/>
                </a:ln>
                <a:solidFill>
                  <a:schemeClr val="tx1"/>
                </a:solidFill>
                <a:effectLst/>
                <a:latin typeface="Cambria" pitchFamily="18" charset="0"/>
                <a:ea typeface="Calibri" pitchFamily="34" charset="0"/>
                <a:cs typeface="Arial" pitchFamily="34" charset="0"/>
              </a:rPr>
              <a:t>TABLE VII:  </a:t>
            </a:r>
            <a:r>
              <a:rPr kumimoji="0" lang="en-US" sz="1200" i="0" u="none" strike="noStrike" cap="none" normalizeH="0" baseline="0" dirty="0" smtClean="0">
                <a:ln>
                  <a:noFill/>
                </a:ln>
                <a:solidFill>
                  <a:schemeClr val="tx1"/>
                </a:solidFill>
                <a:effectLst/>
                <a:latin typeface="Cambria" pitchFamily="18" charset="0"/>
                <a:ea typeface="Calibri" pitchFamily="34" charset="0"/>
                <a:cs typeface="Arial" pitchFamily="34" charset="0"/>
              </a:rPr>
              <a:t>PROJECTED REVENUE </a:t>
            </a:r>
            <a:r>
              <a:rPr kumimoji="0" lang="en-GB" sz="1100" i="0" u="none" strike="noStrike" cap="none" normalizeH="0" baseline="0" dirty="0" smtClean="0">
                <a:ln>
                  <a:noFill/>
                </a:ln>
                <a:solidFill>
                  <a:schemeClr val="tx1"/>
                </a:solidFill>
                <a:effectLst/>
                <a:latin typeface="Cambria" pitchFamily="18" charset="0"/>
                <a:ea typeface="Calibri" pitchFamily="34" charset="0"/>
                <a:cs typeface="Times New Roman" pitchFamily="18" charset="0"/>
              </a:rPr>
              <a:t>M.Sc. SOCIAL WORK </a:t>
            </a:r>
            <a:r>
              <a:rPr kumimoji="0" lang="en-US" sz="1200" i="0" u="none" strike="noStrike" cap="none" normalizeH="0" baseline="0" dirty="0" smtClean="0">
                <a:ln>
                  <a:noFill/>
                </a:ln>
                <a:solidFill>
                  <a:schemeClr val="tx1"/>
                </a:solidFill>
                <a:effectLst/>
                <a:latin typeface="Cambria" pitchFamily="18" charset="0"/>
                <a:ea typeface="Calibri" pitchFamily="34" charset="0"/>
                <a:cs typeface="Arial" pitchFamily="34" charset="0"/>
              </a:rPr>
              <a:t>{EXECUTIVE} PROGRAMME</a:t>
            </a:r>
            <a:endParaRPr kumimoji="0" lang="en-US" sz="80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4029075" algn="l"/>
              </a:tabLst>
            </a:pPr>
            <a:r>
              <a:rPr kumimoji="0" lang="en-US" sz="1200" b="1" i="0" u="none" strike="noStrike" cap="none" normalizeH="0" baseline="0" dirty="0" smtClean="0">
                <a:ln>
                  <a:noFill/>
                </a:ln>
                <a:solidFill>
                  <a:schemeClr val="tx1"/>
                </a:solidFill>
                <a:effectLst/>
                <a:latin typeface="Cambria" pitchFamily="18" charset="0"/>
                <a:ea typeface="Calibri" pitchFamily="34" charset="0"/>
                <a:cs typeface="Arial" pitchFamily="34" charset="0"/>
              </a:rPr>
              <a:t>	       </a:t>
            </a: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xmlns="" val="730439465"/>
              </p:ext>
            </p:extLst>
          </p:nvPr>
        </p:nvGraphicFramePr>
        <p:xfrm>
          <a:off x="1400629" y="3810000"/>
          <a:ext cx="6145214" cy="2891790"/>
        </p:xfrm>
        <a:graphic>
          <a:graphicData uri="http://schemas.openxmlformats.org/drawingml/2006/table">
            <a:tbl>
              <a:tblPr firstRow="1" firstCol="1" bandRow="1">
                <a:tableStyleId>{5C22544A-7EE6-4342-B048-85BDC9FD1C3A}</a:tableStyleId>
              </a:tblPr>
              <a:tblGrid>
                <a:gridCol w="1013408"/>
                <a:gridCol w="1013408"/>
                <a:gridCol w="1070555"/>
                <a:gridCol w="1070555"/>
                <a:gridCol w="1013408"/>
                <a:gridCol w="963880"/>
              </a:tblGrid>
              <a:tr h="304345">
                <a:tc>
                  <a:txBody>
                    <a:bodyPr/>
                    <a:lstStyle/>
                    <a:p>
                      <a:pPr marL="0" marR="0">
                        <a:lnSpc>
                          <a:spcPct val="115000"/>
                        </a:lnSpc>
                        <a:spcBef>
                          <a:spcPts val="0"/>
                        </a:spcBef>
                        <a:spcAft>
                          <a:spcPts val="0"/>
                        </a:spcAft>
                      </a:pPr>
                      <a:r>
                        <a:rPr lang="en-GB" sz="1100" dirty="0">
                          <a:effectLst/>
                        </a:rPr>
                        <a:t>Year</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dirty="0">
                          <a:effectLst/>
                        </a:rPr>
                        <a:t>No of  students</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No. of Semesters</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Tuition fees (2 semesters (</a:t>
                      </a:r>
                      <a:r>
                        <a:rPr lang="en-GB" sz="1100" strike="sngStrike">
                          <a:effectLst/>
                        </a:rPr>
                        <a:t>N</a:t>
                      </a:r>
                      <a:r>
                        <a:rPr lang="en-GB" sz="1100">
                          <a:effectLst/>
                        </a:rPr>
                        <a:t>150,000)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Total fees per Group</a:t>
                      </a:r>
                      <a:endParaRPr lang="en-US" sz="1100">
                        <a:effectLst/>
                      </a:endParaRPr>
                    </a:p>
                    <a:p>
                      <a:pPr marL="0" marR="0">
                        <a:lnSpc>
                          <a:spcPct val="115000"/>
                        </a:lnSpc>
                        <a:spcBef>
                          <a:spcPts val="0"/>
                        </a:spcBef>
                        <a:spcAft>
                          <a:spcPts val="0"/>
                        </a:spcAft>
                      </a:pPr>
                      <a:r>
                        <a:rPr lang="en-GB" sz="1100">
                          <a:effectLst/>
                        </a:rPr>
                        <a:t>=N=</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Total fee Annually</a:t>
                      </a:r>
                      <a:endParaRPr lang="en-US" sz="1100">
                        <a:effectLst/>
                      </a:endParaRPr>
                    </a:p>
                    <a:p>
                      <a:pPr marL="0" marR="0">
                        <a:lnSpc>
                          <a:spcPct val="115000"/>
                        </a:lnSpc>
                        <a:spcBef>
                          <a:spcPts val="0"/>
                        </a:spcBef>
                        <a:spcAft>
                          <a:spcPts val="0"/>
                        </a:spcAft>
                      </a:pPr>
                      <a:r>
                        <a:rPr lang="en-GB" sz="1100">
                          <a:effectLst/>
                        </a:rPr>
                        <a:t>=N=</a:t>
                      </a:r>
                      <a:endParaRPr lang="en-US" sz="1100">
                        <a:effectLst/>
                        <a:latin typeface="Calibri"/>
                        <a:ea typeface="Calibri"/>
                        <a:cs typeface="Times New Roman"/>
                      </a:endParaRPr>
                    </a:p>
                  </a:txBody>
                  <a:tcPr marL="68580" marR="68580" marT="0" marB="0"/>
                </a:tc>
              </a:tr>
              <a:tr h="101448">
                <a:tc>
                  <a:txBody>
                    <a:bodyPr/>
                    <a:lstStyle/>
                    <a:p>
                      <a:pPr marL="342900" marR="0" lvl="0" indent="-342900">
                        <a:lnSpc>
                          <a:spcPct val="115000"/>
                        </a:lnSpc>
                        <a:spcBef>
                          <a:spcPts val="0"/>
                        </a:spcBef>
                        <a:spcAft>
                          <a:spcPts val="0"/>
                        </a:spcAft>
                        <a:buFont typeface="+mj-lt"/>
                        <a:buAutoNum type="arabicPeriod"/>
                      </a:pPr>
                      <a:r>
                        <a:rPr lang="en-GB"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150,000x20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3,000,000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3,000,000</a:t>
                      </a:r>
                      <a:endParaRPr lang="en-US" sz="1100">
                        <a:effectLst/>
                        <a:latin typeface="Calibri"/>
                        <a:ea typeface="Calibri"/>
                        <a:cs typeface="Times New Roman"/>
                      </a:endParaRPr>
                    </a:p>
                  </a:txBody>
                  <a:tcPr marL="68580" marR="68580" marT="0" marB="0"/>
                </a:tc>
              </a:tr>
              <a:tr h="95500">
                <a:tc rowSpan="2">
                  <a:txBody>
                    <a:bodyPr/>
                    <a:lstStyle/>
                    <a:p>
                      <a:pPr marL="342900" marR="0" lvl="0" indent="-342900">
                        <a:lnSpc>
                          <a:spcPct val="115000"/>
                        </a:lnSpc>
                        <a:spcBef>
                          <a:spcPts val="0"/>
                        </a:spcBef>
                        <a:spcAft>
                          <a:spcPts val="0"/>
                        </a:spcAft>
                        <a:buFont typeface="+mj-lt"/>
                        <a:buAutoNum type="arabicPeriod"/>
                      </a:pPr>
                      <a:r>
                        <a:rPr lang="en-GB"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150,000x20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3,000,000</a:t>
                      </a:r>
                      <a:endParaRPr lang="en-US" sz="1100">
                        <a:effectLst/>
                        <a:latin typeface="Calibri"/>
                        <a:ea typeface="Calibri"/>
                        <a:cs typeface="Times New Roman"/>
                      </a:endParaRPr>
                    </a:p>
                  </a:txBody>
                  <a:tcPr marL="68580" marR="68580" marT="0" marB="0"/>
                </a:tc>
                <a:tc rowSpan="2">
                  <a:txBody>
                    <a:bodyPr/>
                    <a:lstStyle/>
                    <a:p>
                      <a:pPr marL="0" marR="0">
                        <a:lnSpc>
                          <a:spcPct val="115000"/>
                        </a:lnSpc>
                        <a:spcBef>
                          <a:spcPts val="0"/>
                        </a:spcBef>
                        <a:spcAft>
                          <a:spcPts val="0"/>
                        </a:spcAft>
                      </a:pPr>
                      <a:r>
                        <a:rPr lang="en-GB" sz="1100">
                          <a:effectLst/>
                        </a:rPr>
                        <a:t>7,500,000</a:t>
                      </a:r>
                      <a:endParaRPr lang="en-US" sz="1100">
                        <a:effectLst/>
                        <a:latin typeface="Calibri"/>
                        <a:ea typeface="Calibri"/>
                        <a:cs typeface="Times New Roman"/>
                      </a:endParaRPr>
                    </a:p>
                  </a:txBody>
                  <a:tcPr marL="68580" marR="68580" marT="0" marB="0"/>
                </a:tc>
              </a:tr>
              <a:tr h="95500">
                <a:tc vMerge="1">
                  <a:txBody>
                    <a:bodyPr/>
                    <a:lstStyle/>
                    <a:p>
                      <a:endParaRPr lang="en-US"/>
                    </a:p>
                  </a:txBody>
                  <a:tcPr/>
                </a:tc>
                <a:tc>
                  <a:txBody>
                    <a:bodyPr/>
                    <a:lstStyle/>
                    <a:p>
                      <a:pPr marL="0" marR="0">
                        <a:lnSpc>
                          <a:spcPct val="115000"/>
                        </a:lnSpc>
                        <a:spcBef>
                          <a:spcPts val="0"/>
                        </a:spcBef>
                        <a:spcAft>
                          <a:spcPts val="0"/>
                        </a:spcAft>
                      </a:pPr>
                      <a:r>
                        <a:rPr lang="en-GB" sz="1100">
                          <a:effectLst/>
                        </a:rPr>
                        <a:t>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150,000x30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4,500,000</a:t>
                      </a:r>
                      <a:endParaRPr lang="en-US" sz="1100">
                        <a:effectLst/>
                        <a:latin typeface="Calibri"/>
                        <a:ea typeface="Calibri"/>
                        <a:cs typeface="Times New Roman"/>
                      </a:endParaRPr>
                    </a:p>
                  </a:txBody>
                  <a:tcPr marL="68580" marR="68580" marT="0" marB="0"/>
                </a:tc>
                <a:tc vMerge="1">
                  <a:txBody>
                    <a:bodyPr/>
                    <a:lstStyle/>
                    <a:p>
                      <a:endParaRPr lang="en-US"/>
                    </a:p>
                  </a:txBody>
                  <a:tcPr/>
                </a:tc>
              </a:tr>
              <a:tr h="95500">
                <a:tc rowSpan="3">
                  <a:txBody>
                    <a:bodyPr/>
                    <a:lstStyle/>
                    <a:p>
                      <a:pPr marL="342900" marR="0" lvl="0" indent="-342900">
                        <a:lnSpc>
                          <a:spcPct val="115000"/>
                        </a:lnSpc>
                        <a:spcBef>
                          <a:spcPts val="0"/>
                        </a:spcBef>
                        <a:spcAft>
                          <a:spcPts val="0"/>
                        </a:spcAft>
                        <a:buFont typeface="+mj-lt"/>
                        <a:buAutoNum type="arabicPeriod"/>
                      </a:pPr>
                      <a:r>
                        <a:rPr lang="en-GB"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150,000x20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3,000,000</a:t>
                      </a:r>
                      <a:endParaRPr lang="en-US" sz="1100">
                        <a:effectLst/>
                        <a:latin typeface="Calibri"/>
                        <a:ea typeface="Calibri"/>
                        <a:cs typeface="Times New Roman"/>
                      </a:endParaRPr>
                    </a:p>
                  </a:txBody>
                  <a:tcPr marL="68580" marR="68580" marT="0" marB="0"/>
                </a:tc>
                <a:tc rowSpan="3">
                  <a:txBody>
                    <a:bodyPr/>
                    <a:lstStyle/>
                    <a:p>
                      <a:pPr marL="0" marR="0">
                        <a:lnSpc>
                          <a:spcPct val="115000"/>
                        </a:lnSpc>
                        <a:spcBef>
                          <a:spcPts val="0"/>
                        </a:spcBef>
                        <a:spcAft>
                          <a:spcPts val="0"/>
                        </a:spcAft>
                      </a:pPr>
                      <a:r>
                        <a:rPr lang="en-GB" sz="1100">
                          <a:effectLst/>
                        </a:rPr>
                        <a:t>13,500,000</a:t>
                      </a:r>
                      <a:endParaRPr lang="en-US" sz="1100">
                        <a:effectLst/>
                        <a:latin typeface="Calibri"/>
                        <a:ea typeface="Calibri"/>
                        <a:cs typeface="Times New Roman"/>
                      </a:endParaRPr>
                    </a:p>
                  </a:txBody>
                  <a:tcPr marL="68580" marR="68580" marT="0" marB="0"/>
                </a:tc>
              </a:tr>
              <a:tr h="95500">
                <a:tc vMerge="1">
                  <a:txBody>
                    <a:bodyPr/>
                    <a:lstStyle/>
                    <a:p>
                      <a:endParaRPr lang="en-US"/>
                    </a:p>
                  </a:txBody>
                  <a:tcPr/>
                </a:tc>
                <a:tc>
                  <a:txBody>
                    <a:bodyPr/>
                    <a:lstStyle/>
                    <a:p>
                      <a:pPr marL="0" marR="0">
                        <a:lnSpc>
                          <a:spcPct val="115000"/>
                        </a:lnSpc>
                        <a:spcBef>
                          <a:spcPts val="0"/>
                        </a:spcBef>
                        <a:spcAft>
                          <a:spcPts val="0"/>
                        </a:spcAft>
                      </a:pPr>
                      <a:r>
                        <a:rPr lang="en-GB" sz="1100">
                          <a:effectLst/>
                        </a:rPr>
                        <a:t>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150,000x30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4,500,000</a:t>
                      </a:r>
                      <a:endParaRPr lang="en-US" sz="1100">
                        <a:effectLst/>
                        <a:latin typeface="Calibri"/>
                        <a:ea typeface="Calibri"/>
                        <a:cs typeface="Times New Roman"/>
                      </a:endParaRPr>
                    </a:p>
                  </a:txBody>
                  <a:tcPr marL="68580" marR="68580" marT="0" marB="0"/>
                </a:tc>
                <a:tc vMerge="1">
                  <a:txBody>
                    <a:bodyPr/>
                    <a:lstStyle/>
                    <a:p>
                      <a:endParaRPr lang="en-US"/>
                    </a:p>
                  </a:txBody>
                  <a:tcPr/>
                </a:tc>
              </a:tr>
              <a:tr h="95500">
                <a:tc vMerge="1">
                  <a:txBody>
                    <a:bodyPr/>
                    <a:lstStyle/>
                    <a:p>
                      <a:endParaRPr lang="en-US"/>
                    </a:p>
                  </a:txBody>
                  <a:tcPr/>
                </a:tc>
                <a:tc>
                  <a:txBody>
                    <a:bodyPr/>
                    <a:lstStyle/>
                    <a:p>
                      <a:pPr marL="0" marR="0">
                        <a:lnSpc>
                          <a:spcPct val="115000"/>
                        </a:lnSpc>
                        <a:spcBef>
                          <a:spcPts val="0"/>
                        </a:spcBef>
                        <a:spcAft>
                          <a:spcPts val="0"/>
                        </a:spcAft>
                      </a:pPr>
                      <a:r>
                        <a:rPr lang="en-GB"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150,000x40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6,000,000</a:t>
                      </a:r>
                      <a:endParaRPr lang="en-US" sz="1100">
                        <a:effectLst/>
                        <a:latin typeface="Calibri"/>
                        <a:ea typeface="Calibri"/>
                        <a:cs typeface="Times New Roman"/>
                      </a:endParaRPr>
                    </a:p>
                  </a:txBody>
                  <a:tcPr marL="68580" marR="68580" marT="0" marB="0"/>
                </a:tc>
                <a:tc vMerge="1">
                  <a:txBody>
                    <a:bodyPr/>
                    <a:lstStyle/>
                    <a:p>
                      <a:endParaRPr lang="en-US"/>
                    </a:p>
                  </a:txBody>
                  <a:tcPr/>
                </a:tc>
              </a:tr>
              <a:tr h="95500">
                <a:tc rowSpan="3">
                  <a:txBody>
                    <a:bodyPr/>
                    <a:lstStyle/>
                    <a:p>
                      <a:pPr marL="342900" marR="0" lvl="0" indent="-342900">
                        <a:lnSpc>
                          <a:spcPct val="115000"/>
                        </a:lnSpc>
                        <a:spcBef>
                          <a:spcPts val="0"/>
                        </a:spcBef>
                        <a:spcAft>
                          <a:spcPts val="0"/>
                        </a:spcAft>
                        <a:buFont typeface="+mj-lt"/>
                        <a:buAutoNum type="arabicPeriod"/>
                      </a:pPr>
                      <a:r>
                        <a:rPr lang="en-GB"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150,000x30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4,500,000</a:t>
                      </a:r>
                      <a:endParaRPr lang="en-US" sz="1100">
                        <a:effectLst/>
                        <a:latin typeface="Calibri"/>
                        <a:ea typeface="Calibri"/>
                        <a:cs typeface="Times New Roman"/>
                      </a:endParaRPr>
                    </a:p>
                  </a:txBody>
                  <a:tcPr marL="68580" marR="68580" marT="0" marB="0"/>
                </a:tc>
                <a:tc rowSpan="3">
                  <a:txBody>
                    <a:bodyPr/>
                    <a:lstStyle/>
                    <a:p>
                      <a:pPr marL="0" marR="0">
                        <a:lnSpc>
                          <a:spcPct val="115000"/>
                        </a:lnSpc>
                        <a:spcBef>
                          <a:spcPts val="0"/>
                        </a:spcBef>
                        <a:spcAft>
                          <a:spcPts val="0"/>
                        </a:spcAft>
                      </a:pPr>
                      <a:r>
                        <a:rPr lang="en-GB" sz="1100">
                          <a:effectLst/>
                        </a:rPr>
                        <a:t>16,500,000</a:t>
                      </a:r>
                      <a:endParaRPr lang="en-US" sz="1100">
                        <a:effectLst/>
                        <a:latin typeface="Calibri"/>
                        <a:ea typeface="Calibri"/>
                        <a:cs typeface="Times New Roman"/>
                      </a:endParaRPr>
                    </a:p>
                  </a:txBody>
                  <a:tcPr marL="68580" marR="68580" marT="0" marB="0"/>
                </a:tc>
              </a:tr>
              <a:tr h="95500">
                <a:tc vMerge="1">
                  <a:txBody>
                    <a:bodyPr/>
                    <a:lstStyle/>
                    <a:p>
                      <a:endParaRPr lang="en-US"/>
                    </a:p>
                  </a:txBody>
                  <a:tcPr/>
                </a:tc>
                <a:tc>
                  <a:txBody>
                    <a:bodyPr/>
                    <a:lstStyle/>
                    <a:p>
                      <a:pPr marL="0" marR="0">
                        <a:lnSpc>
                          <a:spcPct val="115000"/>
                        </a:lnSpc>
                        <a:spcBef>
                          <a:spcPts val="0"/>
                        </a:spcBef>
                        <a:spcAft>
                          <a:spcPts val="0"/>
                        </a:spcAft>
                      </a:pPr>
                      <a:r>
                        <a:rPr lang="en-GB"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150,000x40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6,000,000</a:t>
                      </a:r>
                      <a:endParaRPr lang="en-US" sz="1100">
                        <a:effectLst/>
                        <a:latin typeface="Calibri"/>
                        <a:ea typeface="Calibri"/>
                        <a:cs typeface="Times New Roman"/>
                      </a:endParaRPr>
                    </a:p>
                  </a:txBody>
                  <a:tcPr marL="68580" marR="68580" marT="0" marB="0"/>
                </a:tc>
                <a:tc vMerge="1">
                  <a:txBody>
                    <a:bodyPr/>
                    <a:lstStyle/>
                    <a:p>
                      <a:endParaRPr lang="en-US"/>
                    </a:p>
                  </a:txBody>
                  <a:tcPr/>
                </a:tc>
              </a:tr>
              <a:tr h="95500">
                <a:tc vMerge="1">
                  <a:txBody>
                    <a:bodyPr/>
                    <a:lstStyle/>
                    <a:p>
                      <a:endParaRPr lang="en-US"/>
                    </a:p>
                  </a:txBody>
                  <a:tcPr/>
                </a:tc>
                <a:tc>
                  <a:txBody>
                    <a:bodyPr/>
                    <a:lstStyle/>
                    <a:p>
                      <a:pPr marL="0" marR="0">
                        <a:lnSpc>
                          <a:spcPct val="115000"/>
                        </a:lnSpc>
                        <a:spcBef>
                          <a:spcPts val="0"/>
                        </a:spcBef>
                        <a:spcAft>
                          <a:spcPts val="0"/>
                        </a:spcAft>
                      </a:pPr>
                      <a:r>
                        <a:rPr lang="en-GB"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150,000x40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6,000,000</a:t>
                      </a:r>
                      <a:endParaRPr lang="en-US" sz="1100">
                        <a:effectLst/>
                        <a:latin typeface="Calibri"/>
                        <a:ea typeface="Calibri"/>
                        <a:cs typeface="Times New Roman"/>
                      </a:endParaRPr>
                    </a:p>
                  </a:txBody>
                  <a:tcPr marL="68580" marR="68580" marT="0" marB="0"/>
                </a:tc>
                <a:tc vMerge="1">
                  <a:txBody>
                    <a:bodyPr/>
                    <a:lstStyle/>
                    <a:p>
                      <a:endParaRPr lang="en-US"/>
                    </a:p>
                  </a:txBody>
                  <a:tcPr/>
                </a:tc>
              </a:tr>
              <a:tr h="95500">
                <a:tc rowSpan="2">
                  <a:txBody>
                    <a:bodyPr/>
                    <a:lstStyle/>
                    <a:p>
                      <a:pPr marL="342900" marR="0" lvl="0" indent="-342900">
                        <a:lnSpc>
                          <a:spcPct val="115000"/>
                        </a:lnSpc>
                        <a:spcBef>
                          <a:spcPts val="0"/>
                        </a:spcBef>
                        <a:spcAft>
                          <a:spcPts val="0"/>
                        </a:spcAft>
                        <a:buFont typeface="+mj-lt"/>
                        <a:buAutoNum type="arabicPeriod"/>
                      </a:pPr>
                      <a:r>
                        <a:rPr lang="en-GB"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150,000x40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6,000,000</a:t>
                      </a:r>
                      <a:endParaRPr lang="en-US" sz="1100">
                        <a:effectLst/>
                        <a:latin typeface="Calibri"/>
                        <a:ea typeface="Calibri"/>
                        <a:cs typeface="Times New Roman"/>
                      </a:endParaRPr>
                    </a:p>
                  </a:txBody>
                  <a:tcPr marL="68580" marR="68580" marT="0" marB="0"/>
                </a:tc>
                <a:tc rowSpan="2">
                  <a:txBody>
                    <a:bodyPr/>
                    <a:lstStyle/>
                    <a:p>
                      <a:pPr marL="0" marR="0">
                        <a:lnSpc>
                          <a:spcPct val="115000"/>
                        </a:lnSpc>
                        <a:spcBef>
                          <a:spcPts val="0"/>
                        </a:spcBef>
                        <a:spcAft>
                          <a:spcPts val="0"/>
                        </a:spcAft>
                      </a:pPr>
                      <a:r>
                        <a:rPr lang="en-GB" sz="1100">
                          <a:effectLst/>
                        </a:rPr>
                        <a:t>12,000,000</a:t>
                      </a:r>
                      <a:endParaRPr lang="en-US" sz="1100">
                        <a:effectLst/>
                        <a:latin typeface="Calibri"/>
                        <a:ea typeface="Calibri"/>
                        <a:cs typeface="Times New Roman"/>
                      </a:endParaRPr>
                    </a:p>
                  </a:txBody>
                  <a:tcPr marL="68580" marR="68580" marT="0" marB="0"/>
                </a:tc>
              </a:tr>
              <a:tr h="95500">
                <a:tc vMerge="1">
                  <a:txBody>
                    <a:bodyPr/>
                    <a:lstStyle/>
                    <a:p>
                      <a:endParaRPr lang="en-US"/>
                    </a:p>
                  </a:txBody>
                  <a:tcPr/>
                </a:tc>
                <a:tc>
                  <a:txBody>
                    <a:bodyPr/>
                    <a:lstStyle/>
                    <a:p>
                      <a:pPr marL="0" marR="0">
                        <a:lnSpc>
                          <a:spcPct val="115000"/>
                        </a:lnSpc>
                        <a:spcBef>
                          <a:spcPts val="0"/>
                        </a:spcBef>
                        <a:spcAft>
                          <a:spcPts val="0"/>
                        </a:spcAft>
                      </a:pPr>
                      <a:r>
                        <a:rPr lang="en-GB"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150,000x40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6,000,000</a:t>
                      </a:r>
                      <a:endParaRPr lang="en-US" sz="1100">
                        <a:effectLst/>
                        <a:latin typeface="Calibri"/>
                        <a:ea typeface="Calibri"/>
                        <a:cs typeface="Times New Roman"/>
                      </a:endParaRPr>
                    </a:p>
                  </a:txBody>
                  <a:tcPr marL="68580" marR="68580" marT="0" marB="0"/>
                </a:tc>
                <a:tc vMerge="1">
                  <a:txBody>
                    <a:bodyPr/>
                    <a:lstStyle/>
                    <a:p>
                      <a:endParaRPr lang="en-US"/>
                    </a:p>
                  </a:txBody>
                  <a:tcPr/>
                </a:tc>
              </a:tr>
              <a:tr h="101448">
                <a:tc gridSpan="5">
                  <a:txBody>
                    <a:bodyPr/>
                    <a:lstStyle/>
                    <a:p>
                      <a:pPr marL="0" marR="0">
                        <a:lnSpc>
                          <a:spcPct val="115000"/>
                        </a:lnSpc>
                        <a:spcBef>
                          <a:spcPts val="0"/>
                        </a:spcBef>
                        <a:spcAft>
                          <a:spcPts val="0"/>
                        </a:spcAft>
                        <a:tabLst>
                          <a:tab pos="3952875" algn="l"/>
                        </a:tabLst>
                      </a:pPr>
                      <a:r>
                        <a:rPr lang="en-GB" sz="1100">
                          <a:effectLst/>
                        </a:rPr>
                        <a:t>       	       TOTAL</a:t>
                      </a:r>
                      <a:endParaRPr lang="en-US" sz="1100">
                        <a:effectLst/>
                        <a:latin typeface="Calibri"/>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nSpc>
                          <a:spcPct val="115000"/>
                        </a:lnSpc>
                        <a:spcBef>
                          <a:spcPts val="0"/>
                        </a:spcBef>
                        <a:spcAft>
                          <a:spcPts val="0"/>
                        </a:spcAft>
                      </a:pPr>
                      <a:r>
                        <a:rPr lang="en-GB" sz="1100" dirty="0">
                          <a:effectLst/>
                        </a:rPr>
                        <a:t>52,500,000</a:t>
                      </a:r>
                      <a:endParaRPr lang="en-US" sz="1100" dirty="0">
                        <a:effectLst/>
                        <a:latin typeface="Calibri"/>
                        <a:ea typeface="Calibri"/>
                        <a:cs typeface="Times New Roman"/>
                      </a:endParaRPr>
                    </a:p>
                  </a:txBody>
                  <a:tcPr marL="68580" marR="68580" marT="0" marB="0"/>
                </a:tc>
              </a:tr>
            </a:tbl>
          </a:graphicData>
        </a:graphic>
      </p:graphicFrame>
      <p:sp>
        <p:nvSpPr>
          <p:cNvPr id="5" name="Rectangle 2"/>
          <p:cNvSpPr>
            <a:spLocks noChangeArrowheads="1"/>
          </p:cNvSpPr>
          <p:nvPr/>
        </p:nvSpPr>
        <p:spPr bwMode="auto">
          <a:xfrm>
            <a:off x="1342571" y="3494314"/>
            <a:ext cx="5377434" cy="5539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tab pos="3952875" algn="l"/>
              </a:tabLst>
            </a:pPr>
            <a:r>
              <a:rPr kumimoji="0" lang="en-US" sz="1200" b="1" i="0" u="none" strike="noStrike" cap="none" normalizeH="0" baseline="0" dirty="0" smtClean="0">
                <a:ln>
                  <a:noFill/>
                </a:ln>
                <a:solidFill>
                  <a:schemeClr val="tx1"/>
                </a:solidFill>
                <a:effectLst/>
                <a:latin typeface="Cambria" pitchFamily="18" charset="0"/>
                <a:ea typeface="Calibri" pitchFamily="34" charset="0"/>
                <a:cs typeface="Arial" pitchFamily="34" charset="0"/>
              </a:rPr>
              <a:t>TABLE VIII:  </a:t>
            </a:r>
            <a:r>
              <a:rPr kumimoji="0" lang="en-US" sz="1200" i="0" u="none" strike="noStrike" cap="none" normalizeH="0" baseline="0" dirty="0" smtClean="0">
                <a:ln>
                  <a:noFill/>
                </a:ln>
                <a:solidFill>
                  <a:schemeClr val="tx1"/>
                </a:solidFill>
                <a:effectLst/>
                <a:latin typeface="Cambria" pitchFamily="18" charset="0"/>
                <a:ea typeface="Calibri" pitchFamily="34" charset="0"/>
                <a:cs typeface="Arial" pitchFamily="34" charset="0"/>
              </a:rPr>
              <a:t>PROJECTED REVENUE </a:t>
            </a:r>
            <a:r>
              <a:rPr kumimoji="0" lang="en-GB" sz="1100" i="0" u="none" strike="noStrike" cap="none" normalizeH="0" baseline="0" dirty="0" smtClean="0">
                <a:ln>
                  <a:noFill/>
                </a:ln>
                <a:solidFill>
                  <a:schemeClr val="tx1"/>
                </a:solidFill>
                <a:effectLst/>
                <a:latin typeface="Cambria" pitchFamily="18" charset="0"/>
                <a:ea typeface="Calibri" pitchFamily="34" charset="0"/>
                <a:cs typeface="Times New Roman" pitchFamily="18" charset="0"/>
              </a:rPr>
              <a:t>M.Sc. SOCIAL WORK (REGULAR) PROGRAMME</a:t>
            </a:r>
            <a:endParaRPr kumimoji="0" lang="en-US" sz="80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tab pos="3952875" algn="l"/>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7" name="Slide Number Placeholder 6"/>
          <p:cNvSpPr>
            <a:spLocks noGrp="1"/>
          </p:cNvSpPr>
          <p:nvPr>
            <p:ph type="sldNum" sz="quarter" idx="12"/>
          </p:nvPr>
        </p:nvSpPr>
        <p:spPr/>
        <p:txBody>
          <a:bodyPr/>
          <a:lstStyle/>
          <a:p>
            <a:fld id="{1387417F-CD80-46DB-B84D-5F1ADE59F8BD}" type="slidenum">
              <a:rPr lang="en-US" smtClean="0"/>
              <a:pPr/>
              <a:t>9</a:t>
            </a:fld>
            <a:endParaRPr lang="en-US"/>
          </a:p>
        </p:txBody>
      </p:sp>
      <p:sp>
        <p:nvSpPr>
          <p:cNvPr id="9" name="Date Placeholder 8"/>
          <p:cNvSpPr>
            <a:spLocks noGrp="1"/>
          </p:cNvSpPr>
          <p:nvPr>
            <p:ph type="dt" sz="half" idx="10"/>
          </p:nvPr>
        </p:nvSpPr>
        <p:spPr/>
        <p:txBody>
          <a:bodyPr/>
          <a:lstStyle/>
          <a:p>
            <a:r>
              <a:rPr lang="en-US" dirty="0" smtClean="0"/>
              <a:t>3/2/2016</a:t>
            </a:r>
            <a:endParaRPr lang="en-US" dirty="0"/>
          </a:p>
        </p:txBody>
      </p:sp>
    </p:spTree>
    <p:extLst>
      <p:ext uri="{BB962C8B-B14F-4D97-AF65-F5344CB8AC3E}">
        <p14:creationId xmlns:p14="http://schemas.microsoft.com/office/powerpoint/2010/main" xmlns="" val="304032564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xmlns="" val="2647239803"/>
              </p:ext>
            </p:extLst>
          </p:nvPr>
        </p:nvGraphicFramePr>
        <p:xfrm>
          <a:off x="1219200" y="228600"/>
          <a:ext cx="6099810" cy="3124203"/>
        </p:xfrm>
        <a:graphic>
          <a:graphicData uri="http://schemas.openxmlformats.org/drawingml/2006/table">
            <a:tbl>
              <a:tblPr firstRow="1" firstCol="1" bandRow="1">
                <a:tableStyleId>{5C22544A-7EE6-4342-B048-85BDC9FD1C3A}</a:tableStyleId>
              </a:tblPr>
              <a:tblGrid>
                <a:gridCol w="1016635"/>
                <a:gridCol w="1016635"/>
                <a:gridCol w="1016635"/>
                <a:gridCol w="1016635"/>
                <a:gridCol w="1016635"/>
                <a:gridCol w="1016635"/>
              </a:tblGrid>
              <a:tr h="639037">
                <a:tc>
                  <a:txBody>
                    <a:bodyPr/>
                    <a:lstStyle/>
                    <a:p>
                      <a:pPr marL="0" marR="0">
                        <a:lnSpc>
                          <a:spcPct val="115000"/>
                        </a:lnSpc>
                        <a:spcBef>
                          <a:spcPts val="0"/>
                        </a:spcBef>
                        <a:spcAft>
                          <a:spcPts val="0"/>
                        </a:spcAft>
                      </a:pPr>
                      <a:r>
                        <a:rPr lang="en-US" sz="1100" dirty="0">
                          <a:effectLst/>
                        </a:rPr>
                        <a:t>Year</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No of students</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No of semester</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dirty="0">
                          <a:effectLst/>
                        </a:rPr>
                        <a:t>Tuition fees (semesters) N180, 000</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Total fees per group</a:t>
                      </a:r>
                    </a:p>
                    <a:p>
                      <a:pPr marL="0" marR="0">
                        <a:lnSpc>
                          <a:spcPct val="115000"/>
                        </a:lnSpc>
                        <a:spcBef>
                          <a:spcPts val="0"/>
                        </a:spcBef>
                        <a:spcAft>
                          <a:spcPts val="0"/>
                        </a:spcAft>
                      </a:pPr>
                      <a:r>
                        <a:rPr lang="en-US" sz="1100">
                          <a:effectLst/>
                        </a:rPr>
                        <a:t>    =N=</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Total fees annually</a:t>
                      </a:r>
                    </a:p>
                    <a:p>
                      <a:pPr marL="0" marR="0">
                        <a:lnSpc>
                          <a:spcPct val="115000"/>
                        </a:lnSpc>
                        <a:spcBef>
                          <a:spcPts val="0"/>
                        </a:spcBef>
                        <a:spcAft>
                          <a:spcPts val="0"/>
                        </a:spcAft>
                      </a:pPr>
                      <a:r>
                        <a:rPr lang="en-US" sz="1100">
                          <a:effectLst/>
                        </a:rPr>
                        <a:t>    =N=</a:t>
                      </a:r>
                      <a:endParaRPr lang="en-US" sz="1100">
                        <a:effectLst/>
                        <a:latin typeface="Calibri"/>
                        <a:ea typeface="Calibri"/>
                        <a:cs typeface="Times New Roman"/>
                      </a:endParaRPr>
                    </a:p>
                  </a:txBody>
                  <a:tcPr marL="68580" marR="68580" marT="0" marB="0"/>
                </a:tc>
              </a:tr>
              <a:tr h="204521">
                <a:tc>
                  <a:txBody>
                    <a:bodyPr/>
                    <a:lstStyle/>
                    <a:p>
                      <a:pPr marL="0" marR="0">
                        <a:lnSpc>
                          <a:spcPct val="115000"/>
                        </a:lnSpc>
                        <a:spcBef>
                          <a:spcPts val="0"/>
                        </a:spcBef>
                        <a:spcAft>
                          <a:spcPts val="0"/>
                        </a:spcAft>
                      </a:pPr>
                      <a:r>
                        <a:rPr lang="en-US" sz="1100">
                          <a:effectLst/>
                        </a:rPr>
                        <a:t>1</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3,600,000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3,600,000</a:t>
                      </a:r>
                      <a:endParaRPr lang="en-US" sz="1100">
                        <a:effectLst/>
                        <a:latin typeface="Calibri"/>
                        <a:ea typeface="Calibri"/>
                        <a:cs typeface="Times New Roman"/>
                      </a:endParaRPr>
                    </a:p>
                  </a:txBody>
                  <a:tcPr marL="68580" marR="68580" marT="0" marB="0"/>
                </a:tc>
              </a:tr>
              <a:tr h="204521">
                <a:tc rowSpan="2">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 3,600,000</a:t>
                      </a:r>
                      <a:endParaRPr lang="en-US" sz="1100">
                        <a:effectLst/>
                        <a:latin typeface="Calibri"/>
                        <a:ea typeface="Calibri"/>
                        <a:cs typeface="Times New Roman"/>
                      </a:endParaRPr>
                    </a:p>
                  </a:txBody>
                  <a:tcPr marL="68580" marR="68580" marT="0" marB="0"/>
                </a:tc>
                <a:tc rowSpan="2">
                  <a:txBody>
                    <a:bodyPr/>
                    <a:lstStyle/>
                    <a:p>
                      <a:pPr marL="0" marR="0">
                        <a:lnSpc>
                          <a:spcPct val="115000"/>
                        </a:lnSpc>
                        <a:spcBef>
                          <a:spcPts val="0"/>
                        </a:spcBef>
                        <a:spcAft>
                          <a:spcPts val="0"/>
                        </a:spcAft>
                      </a:pPr>
                      <a:r>
                        <a:rPr lang="en-US" sz="1100" dirty="0">
                          <a:effectLst/>
                        </a:rPr>
                        <a:t>9,000,000</a:t>
                      </a:r>
                      <a:endParaRPr lang="en-US" sz="1100" dirty="0">
                        <a:effectLst/>
                        <a:latin typeface="Calibri"/>
                        <a:ea typeface="Calibri"/>
                        <a:cs typeface="Times New Roman"/>
                      </a:endParaRPr>
                    </a:p>
                  </a:txBody>
                  <a:tcPr marL="68580" marR="68580" marT="0" marB="0"/>
                </a:tc>
              </a:tr>
              <a:tr h="204521">
                <a:tc vMerge="1">
                  <a:txBody>
                    <a:bodyPr/>
                    <a:lstStyle/>
                    <a:p>
                      <a:endParaRPr lang="en-US"/>
                    </a:p>
                  </a:txBody>
                  <a:tcPr/>
                </a:tc>
                <a:tc>
                  <a:txBody>
                    <a:bodyPr/>
                    <a:lstStyle/>
                    <a:p>
                      <a:pPr marL="0" marR="0">
                        <a:lnSpc>
                          <a:spcPct val="115000"/>
                        </a:lnSpc>
                        <a:spcBef>
                          <a:spcPts val="0"/>
                        </a:spcBef>
                        <a:spcAft>
                          <a:spcPts val="0"/>
                        </a:spcAft>
                      </a:pPr>
                      <a:r>
                        <a:rPr lang="en-US" sz="1100">
                          <a:effectLst/>
                        </a:rPr>
                        <a:t>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 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 5,400,000</a:t>
                      </a:r>
                      <a:endParaRPr lang="en-US" sz="1100">
                        <a:effectLst/>
                        <a:latin typeface="Calibri"/>
                        <a:ea typeface="Calibri"/>
                        <a:cs typeface="Times New Roman"/>
                      </a:endParaRPr>
                    </a:p>
                  </a:txBody>
                  <a:tcPr marL="68580" marR="68580" marT="0" marB="0"/>
                </a:tc>
                <a:tc vMerge="1">
                  <a:txBody>
                    <a:bodyPr/>
                    <a:lstStyle/>
                    <a:p>
                      <a:endParaRPr lang="en-US"/>
                    </a:p>
                  </a:txBody>
                  <a:tcPr/>
                </a:tc>
              </a:tr>
              <a:tr h="204521">
                <a:tc rowSpan="3">
                  <a:txBody>
                    <a:bodyPr/>
                    <a:lstStyle/>
                    <a:p>
                      <a:pPr marL="0" marR="0">
                        <a:lnSpc>
                          <a:spcPct val="115000"/>
                        </a:lnSpc>
                        <a:spcBef>
                          <a:spcPts val="0"/>
                        </a:spcBef>
                        <a:spcAft>
                          <a:spcPts val="0"/>
                        </a:spcAft>
                      </a:pPr>
                      <a:r>
                        <a:rPr lang="en-US" sz="1100">
                          <a:effectLst/>
                        </a:rPr>
                        <a:t>3</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 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 3,600,000</a:t>
                      </a:r>
                      <a:endParaRPr lang="en-US" sz="1100">
                        <a:effectLst/>
                        <a:latin typeface="Calibri"/>
                        <a:ea typeface="Calibri"/>
                        <a:cs typeface="Times New Roman"/>
                      </a:endParaRPr>
                    </a:p>
                  </a:txBody>
                  <a:tcPr marL="68580" marR="68580" marT="0" marB="0"/>
                </a:tc>
                <a:tc rowSpan="3">
                  <a:txBody>
                    <a:bodyPr/>
                    <a:lstStyle/>
                    <a:p>
                      <a:pPr marL="0" marR="0">
                        <a:lnSpc>
                          <a:spcPct val="115000"/>
                        </a:lnSpc>
                        <a:spcBef>
                          <a:spcPts val="0"/>
                        </a:spcBef>
                        <a:spcAft>
                          <a:spcPts val="0"/>
                        </a:spcAft>
                      </a:pPr>
                      <a:r>
                        <a:rPr lang="en-US" sz="1100">
                          <a:effectLst/>
                        </a:rPr>
                        <a:t>16, 200,000</a:t>
                      </a:r>
                      <a:endParaRPr lang="en-US" sz="1100">
                        <a:effectLst/>
                        <a:latin typeface="Calibri"/>
                        <a:ea typeface="Calibri"/>
                        <a:cs typeface="Times New Roman"/>
                      </a:endParaRPr>
                    </a:p>
                  </a:txBody>
                  <a:tcPr marL="68580" marR="68580" marT="0" marB="0"/>
                </a:tc>
              </a:tr>
              <a:tr h="204521">
                <a:tc vMerge="1">
                  <a:txBody>
                    <a:bodyPr/>
                    <a:lstStyle/>
                    <a:p>
                      <a:endParaRPr lang="en-US"/>
                    </a:p>
                  </a:txBody>
                  <a:tcPr/>
                </a:tc>
                <a:tc>
                  <a:txBody>
                    <a:bodyPr/>
                    <a:lstStyle/>
                    <a:p>
                      <a:pPr marL="0" marR="0">
                        <a:lnSpc>
                          <a:spcPct val="115000"/>
                        </a:lnSpc>
                        <a:spcBef>
                          <a:spcPts val="0"/>
                        </a:spcBef>
                        <a:spcAft>
                          <a:spcPts val="0"/>
                        </a:spcAft>
                      </a:pPr>
                      <a:r>
                        <a:rPr lang="en-US" sz="1100">
                          <a:effectLst/>
                        </a:rPr>
                        <a:t>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 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 5,400,000</a:t>
                      </a:r>
                      <a:endParaRPr lang="en-US" sz="1100">
                        <a:effectLst/>
                        <a:latin typeface="Calibri"/>
                        <a:ea typeface="Calibri"/>
                        <a:cs typeface="Times New Roman"/>
                      </a:endParaRPr>
                    </a:p>
                  </a:txBody>
                  <a:tcPr marL="68580" marR="68580" marT="0" marB="0"/>
                </a:tc>
                <a:tc vMerge="1">
                  <a:txBody>
                    <a:bodyPr/>
                    <a:lstStyle/>
                    <a:p>
                      <a:endParaRPr lang="en-US"/>
                    </a:p>
                  </a:txBody>
                  <a:tcPr/>
                </a:tc>
              </a:tr>
              <a:tr h="204521">
                <a:tc vMerge="1">
                  <a:txBody>
                    <a:bodyPr/>
                    <a:lstStyle/>
                    <a:p>
                      <a:endParaRPr lang="en-US"/>
                    </a:p>
                  </a:txBody>
                  <a:tcPr/>
                </a:tc>
                <a:tc>
                  <a:txBody>
                    <a:bodyPr/>
                    <a:lstStyle/>
                    <a:p>
                      <a:pPr marL="0" marR="0">
                        <a:lnSpc>
                          <a:spcPct val="115000"/>
                        </a:lnSpc>
                        <a:spcBef>
                          <a:spcPts val="0"/>
                        </a:spcBef>
                        <a:spcAft>
                          <a:spcPts val="0"/>
                        </a:spcAft>
                      </a:pPr>
                      <a:r>
                        <a:rPr lang="en-US"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 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 7,200,000</a:t>
                      </a:r>
                      <a:endParaRPr lang="en-US" sz="1100">
                        <a:effectLst/>
                        <a:latin typeface="Calibri"/>
                        <a:ea typeface="Calibri"/>
                        <a:cs typeface="Times New Roman"/>
                      </a:endParaRPr>
                    </a:p>
                  </a:txBody>
                  <a:tcPr marL="68580" marR="68580" marT="0" marB="0"/>
                </a:tc>
                <a:tc vMerge="1">
                  <a:txBody>
                    <a:bodyPr/>
                    <a:lstStyle/>
                    <a:p>
                      <a:endParaRPr lang="en-US"/>
                    </a:p>
                  </a:txBody>
                  <a:tcPr/>
                </a:tc>
              </a:tr>
              <a:tr h="204521">
                <a:tc rowSpan="3">
                  <a:txBody>
                    <a:bodyPr/>
                    <a:lstStyle/>
                    <a:p>
                      <a:pPr marL="0" marR="0">
                        <a:lnSpc>
                          <a:spcPct val="115000"/>
                        </a:lnSpc>
                        <a:spcBef>
                          <a:spcPts val="0"/>
                        </a:spcBef>
                        <a:spcAft>
                          <a:spcPts val="0"/>
                        </a:spcAft>
                      </a:pPr>
                      <a:r>
                        <a:rPr lang="en-US" sz="1100">
                          <a:effectLst/>
                        </a:rPr>
                        <a:t>4</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 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 5, 400,000</a:t>
                      </a:r>
                      <a:endParaRPr lang="en-US" sz="1100">
                        <a:effectLst/>
                        <a:latin typeface="Calibri"/>
                        <a:ea typeface="Calibri"/>
                        <a:cs typeface="Times New Roman"/>
                      </a:endParaRPr>
                    </a:p>
                  </a:txBody>
                  <a:tcPr marL="68580" marR="68580" marT="0" marB="0"/>
                </a:tc>
                <a:tc rowSpan="3">
                  <a:txBody>
                    <a:bodyPr/>
                    <a:lstStyle/>
                    <a:p>
                      <a:pPr marL="0" marR="0">
                        <a:lnSpc>
                          <a:spcPct val="115000"/>
                        </a:lnSpc>
                        <a:spcBef>
                          <a:spcPts val="0"/>
                        </a:spcBef>
                        <a:spcAft>
                          <a:spcPts val="0"/>
                        </a:spcAft>
                      </a:pPr>
                      <a:r>
                        <a:rPr lang="en-US" sz="1100">
                          <a:effectLst/>
                        </a:rPr>
                        <a:t> 19, 800,000</a:t>
                      </a:r>
                      <a:endParaRPr lang="en-US" sz="1100">
                        <a:effectLst/>
                        <a:latin typeface="Calibri"/>
                        <a:ea typeface="Calibri"/>
                        <a:cs typeface="Times New Roman"/>
                      </a:endParaRPr>
                    </a:p>
                  </a:txBody>
                  <a:tcPr marL="68580" marR="68580" marT="0" marB="0"/>
                </a:tc>
              </a:tr>
              <a:tr h="204521">
                <a:tc vMerge="1">
                  <a:txBody>
                    <a:bodyPr/>
                    <a:lstStyle/>
                    <a:p>
                      <a:endParaRPr lang="en-US"/>
                    </a:p>
                  </a:txBody>
                  <a:tcPr/>
                </a:tc>
                <a:tc>
                  <a:txBody>
                    <a:bodyPr/>
                    <a:lstStyle/>
                    <a:p>
                      <a:pPr marL="0" marR="0">
                        <a:lnSpc>
                          <a:spcPct val="115000"/>
                        </a:lnSpc>
                        <a:spcBef>
                          <a:spcPts val="0"/>
                        </a:spcBef>
                        <a:spcAft>
                          <a:spcPts val="0"/>
                        </a:spcAft>
                      </a:pPr>
                      <a:r>
                        <a:rPr lang="en-US"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 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 7,200,000</a:t>
                      </a:r>
                      <a:endParaRPr lang="en-US" sz="1100">
                        <a:effectLst/>
                        <a:latin typeface="Calibri"/>
                        <a:ea typeface="Calibri"/>
                        <a:cs typeface="Times New Roman"/>
                      </a:endParaRPr>
                    </a:p>
                  </a:txBody>
                  <a:tcPr marL="68580" marR="68580" marT="0" marB="0"/>
                </a:tc>
                <a:tc vMerge="1">
                  <a:txBody>
                    <a:bodyPr/>
                    <a:lstStyle/>
                    <a:p>
                      <a:endParaRPr lang="en-US"/>
                    </a:p>
                  </a:txBody>
                  <a:tcPr/>
                </a:tc>
              </a:tr>
              <a:tr h="204521">
                <a:tc vMerge="1">
                  <a:txBody>
                    <a:bodyPr/>
                    <a:lstStyle/>
                    <a:p>
                      <a:endParaRPr lang="en-US"/>
                    </a:p>
                  </a:txBody>
                  <a:tcPr/>
                </a:tc>
                <a:tc>
                  <a:txBody>
                    <a:bodyPr/>
                    <a:lstStyle/>
                    <a:p>
                      <a:pPr marL="0" marR="0">
                        <a:lnSpc>
                          <a:spcPct val="115000"/>
                        </a:lnSpc>
                        <a:spcBef>
                          <a:spcPts val="0"/>
                        </a:spcBef>
                        <a:spcAft>
                          <a:spcPts val="0"/>
                        </a:spcAft>
                      </a:pPr>
                      <a:r>
                        <a:rPr lang="en-US"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 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 7,200,000</a:t>
                      </a:r>
                      <a:endParaRPr lang="en-US" sz="1100">
                        <a:effectLst/>
                        <a:latin typeface="Calibri"/>
                        <a:ea typeface="Calibri"/>
                        <a:cs typeface="Times New Roman"/>
                      </a:endParaRPr>
                    </a:p>
                  </a:txBody>
                  <a:tcPr marL="68580" marR="68580" marT="0" marB="0"/>
                </a:tc>
                <a:tc vMerge="1">
                  <a:txBody>
                    <a:bodyPr/>
                    <a:lstStyle/>
                    <a:p>
                      <a:endParaRPr lang="en-US"/>
                    </a:p>
                  </a:txBody>
                  <a:tcPr/>
                </a:tc>
              </a:tr>
              <a:tr h="204521">
                <a:tc rowSpan="2">
                  <a:txBody>
                    <a:bodyPr/>
                    <a:lstStyle/>
                    <a:p>
                      <a:pPr marL="0" marR="0">
                        <a:lnSpc>
                          <a:spcPct val="115000"/>
                        </a:lnSpc>
                        <a:spcBef>
                          <a:spcPts val="0"/>
                        </a:spcBef>
                        <a:spcAft>
                          <a:spcPts val="0"/>
                        </a:spcAft>
                      </a:pPr>
                      <a:r>
                        <a:rPr lang="en-US" sz="1100">
                          <a:effectLst/>
                        </a:rPr>
                        <a:t>5</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 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 7,200,000</a:t>
                      </a:r>
                      <a:endParaRPr lang="en-US" sz="1100">
                        <a:effectLst/>
                        <a:latin typeface="Calibri"/>
                        <a:ea typeface="Calibri"/>
                        <a:cs typeface="Times New Roman"/>
                      </a:endParaRPr>
                    </a:p>
                  </a:txBody>
                  <a:tcPr marL="68580" marR="68580" marT="0" marB="0"/>
                </a:tc>
                <a:tc rowSpan="2">
                  <a:txBody>
                    <a:bodyPr/>
                    <a:lstStyle/>
                    <a:p>
                      <a:pPr marL="0" marR="0">
                        <a:lnSpc>
                          <a:spcPct val="115000"/>
                        </a:lnSpc>
                        <a:spcBef>
                          <a:spcPts val="0"/>
                        </a:spcBef>
                        <a:spcAft>
                          <a:spcPts val="0"/>
                        </a:spcAft>
                      </a:pPr>
                      <a:r>
                        <a:rPr lang="en-US" sz="1100">
                          <a:effectLst/>
                        </a:rPr>
                        <a:t>14, 400,000</a:t>
                      </a:r>
                      <a:endParaRPr lang="en-US" sz="1100">
                        <a:effectLst/>
                        <a:latin typeface="Calibri"/>
                        <a:ea typeface="Calibri"/>
                        <a:cs typeface="Times New Roman"/>
                      </a:endParaRPr>
                    </a:p>
                  </a:txBody>
                  <a:tcPr marL="68580" marR="68580" marT="0" marB="0"/>
                </a:tc>
              </a:tr>
              <a:tr h="204521">
                <a:tc vMerge="1">
                  <a:txBody>
                    <a:bodyPr/>
                    <a:lstStyle/>
                    <a:p>
                      <a:endParaRPr lang="en-US"/>
                    </a:p>
                  </a:txBody>
                  <a:tcPr/>
                </a:tc>
                <a:tc>
                  <a:txBody>
                    <a:bodyPr/>
                    <a:lstStyle/>
                    <a:p>
                      <a:pPr marL="0" marR="0">
                        <a:lnSpc>
                          <a:spcPct val="115000"/>
                        </a:lnSpc>
                        <a:spcBef>
                          <a:spcPts val="0"/>
                        </a:spcBef>
                        <a:spcAft>
                          <a:spcPts val="0"/>
                        </a:spcAft>
                      </a:pPr>
                      <a:r>
                        <a:rPr lang="en-US"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180,000X 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US" sz="1100">
                          <a:effectLst/>
                        </a:rPr>
                        <a:t> 7,200,000</a:t>
                      </a:r>
                      <a:endParaRPr lang="en-US" sz="1100">
                        <a:effectLst/>
                        <a:latin typeface="Calibri"/>
                        <a:ea typeface="Calibri"/>
                        <a:cs typeface="Times New Roman"/>
                      </a:endParaRPr>
                    </a:p>
                  </a:txBody>
                  <a:tcPr marL="68580" marR="68580" marT="0" marB="0"/>
                </a:tc>
                <a:tc vMerge="1">
                  <a:txBody>
                    <a:bodyPr/>
                    <a:lstStyle/>
                    <a:p>
                      <a:endParaRPr lang="en-US"/>
                    </a:p>
                  </a:txBody>
                  <a:tcPr/>
                </a:tc>
              </a:tr>
              <a:tr h="235435">
                <a:tc gridSpan="6">
                  <a:txBody>
                    <a:bodyPr/>
                    <a:lstStyle/>
                    <a:p>
                      <a:pPr marL="68580" marR="0">
                        <a:lnSpc>
                          <a:spcPct val="115000"/>
                        </a:lnSpc>
                        <a:spcBef>
                          <a:spcPts val="0"/>
                        </a:spcBef>
                        <a:spcAft>
                          <a:spcPts val="0"/>
                        </a:spcAft>
                      </a:pPr>
                      <a:r>
                        <a:rPr lang="en-US" sz="1100" dirty="0">
                          <a:effectLst/>
                        </a:rPr>
                        <a:t>                                                                                                    TOTAL                                                 63, 000,000</a:t>
                      </a:r>
                      <a:endParaRPr lang="en-US" sz="1100" dirty="0">
                        <a:effectLst/>
                        <a:latin typeface="Calibri"/>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r>
            </a:tbl>
          </a:graphicData>
        </a:graphic>
      </p:graphicFrame>
      <p:sp>
        <p:nvSpPr>
          <p:cNvPr id="3" name="Rectangle 1"/>
          <p:cNvSpPr>
            <a:spLocks noChangeArrowheads="1"/>
          </p:cNvSpPr>
          <p:nvPr/>
        </p:nvSpPr>
        <p:spPr bwMode="auto">
          <a:xfrm>
            <a:off x="990600" y="0"/>
            <a:ext cx="6441379" cy="5539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sz="1100" b="1" i="1" u="none" strike="noStrike" cap="none" normalizeH="0" baseline="0" dirty="0" smtClean="0">
                <a:ln>
                  <a:noFill/>
                </a:ln>
                <a:solidFill>
                  <a:schemeClr val="tx1"/>
                </a:solidFill>
                <a:effectLst/>
                <a:latin typeface="Cambria" pitchFamily="18" charset="0"/>
                <a:ea typeface="Calibri" pitchFamily="34" charset="0"/>
                <a:cs typeface="Times New Roman" pitchFamily="18" charset="0"/>
              </a:rPr>
              <a:t>TABLE IX: </a:t>
            </a:r>
            <a:r>
              <a:rPr kumimoji="0" lang="en-US" sz="1200" i="0" u="none" strike="noStrike" cap="none" normalizeH="0" baseline="0" dirty="0" smtClean="0">
                <a:ln>
                  <a:noFill/>
                </a:ln>
                <a:solidFill>
                  <a:schemeClr val="tx1"/>
                </a:solidFill>
                <a:effectLst/>
                <a:latin typeface="Cambria" pitchFamily="18" charset="0"/>
                <a:ea typeface="Calibri" pitchFamily="34" charset="0"/>
                <a:cs typeface="Times New Roman" pitchFamily="18" charset="0"/>
              </a:rPr>
              <a:t>PROJECTED </a:t>
            </a:r>
            <a:r>
              <a:rPr kumimoji="0" lang="en-US" sz="1200" b="0" i="0" u="none" strike="noStrike" cap="none" normalizeH="0" baseline="0" dirty="0" smtClean="0">
                <a:ln>
                  <a:noFill/>
                </a:ln>
                <a:solidFill>
                  <a:schemeClr val="tx1"/>
                </a:solidFill>
                <a:effectLst/>
                <a:latin typeface="Cambria" pitchFamily="18" charset="0"/>
                <a:ea typeface="Calibri" pitchFamily="34" charset="0"/>
                <a:cs typeface="Times New Roman" pitchFamily="18" charset="0"/>
              </a:rPr>
              <a:t>REVENUE FOR Ph.D. GENDER AND DEVELOPMENT STUDIES {REGULAR}</a:t>
            </a:r>
            <a:endParaRPr kumimoji="0" lang="en-US" sz="800" b="0" i="0" u="none" strike="noStrike" cap="none" normalizeH="0" baseline="0" dirty="0" smtClean="0">
              <a:ln>
                <a:noFill/>
              </a:ln>
              <a:solidFill>
                <a:schemeClr val="tx1"/>
              </a:solidFill>
              <a:effectLst/>
              <a:latin typeface="Arial" pitchFamily="34" charset="0"/>
              <a:cs typeface="Arial"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graphicFrame>
        <p:nvGraphicFramePr>
          <p:cNvPr id="4" name="Table 3"/>
          <p:cNvGraphicFramePr>
            <a:graphicFrameLocks noGrp="1"/>
          </p:cNvGraphicFramePr>
          <p:nvPr>
            <p:extLst>
              <p:ext uri="{D42A27DB-BD31-4B8C-83A1-F6EECF244321}">
                <p14:modId xmlns:p14="http://schemas.microsoft.com/office/powerpoint/2010/main" xmlns="" val="3118029348"/>
              </p:ext>
            </p:extLst>
          </p:nvPr>
        </p:nvGraphicFramePr>
        <p:xfrm>
          <a:off x="1143000" y="3886200"/>
          <a:ext cx="6195060" cy="2891790"/>
        </p:xfrm>
        <a:graphic>
          <a:graphicData uri="http://schemas.openxmlformats.org/drawingml/2006/table">
            <a:tbl>
              <a:tblPr firstRow="1" firstCol="1" bandRow="1">
                <a:tableStyleId>{5C22544A-7EE6-4342-B048-85BDC9FD1C3A}</a:tableStyleId>
              </a:tblPr>
              <a:tblGrid>
                <a:gridCol w="1013460"/>
                <a:gridCol w="1013460"/>
                <a:gridCol w="1070610"/>
                <a:gridCol w="1070610"/>
                <a:gridCol w="1013460"/>
                <a:gridCol w="1013460"/>
              </a:tblGrid>
              <a:tr h="550972">
                <a:tc>
                  <a:txBody>
                    <a:bodyPr/>
                    <a:lstStyle/>
                    <a:p>
                      <a:pPr marL="0" marR="0">
                        <a:lnSpc>
                          <a:spcPct val="115000"/>
                        </a:lnSpc>
                        <a:spcBef>
                          <a:spcPts val="0"/>
                        </a:spcBef>
                        <a:spcAft>
                          <a:spcPts val="0"/>
                        </a:spcAft>
                      </a:pPr>
                      <a:r>
                        <a:rPr lang="en-GB" sz="1100" dirty="0">
                          <a:effectLst/>
                        </a:rPr>
                        <a:t>Year</a:t>
                      </a:r>
                      <a:endParaRPr lang="en-US" sz="1100" dirty="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No of  students</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No. of Semesters</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Tuition fees (2 semesters </a:t>
                      </a:r>
                      <a:r>
                        <a:rPr lang="en-GB" sz="1100" strike="sngStrike">
                          <a:effectLst/>
                        </a:rPr>
                        <a:t>N</a:t>
                      </a:r>
                      <a:r>
                        <a:rPr lang="en-GB" sz="1100">
                          <a:effectLst/>
                        </a:rPr>
                        <a:t>180,000)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Total fees per Group</a:t>
                      </a:r>
                      <a:endParaRPr lang="en-US" sz="1100">
                        <a:effectLst/>
                      </a:endParaRPr>
                    </a:p>
                    <a:p>
                      <a:pPr marL="0" marR="0">
                        <a:lnSpc>
                          <a:spcPct val="115000"/>
                        </a:lnSpc>
                        <a:spcBef>
                          <a:spcPts val="0"/>
                        </a:spcBef>
                        <a:spcAft>
                          <a:spcPts val="0"/>
                        </a:spcAft>
                      </a:pPr>
                      <a:r>
                        <a:rPr lang="en-GB" sz="1100">
                          <a:effectLst/>
                        </a:rPr>
                        <a:t>=N=</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Total fee Annually</a:t>
                      </a:r>
                      <a:endParaRPr lang="en-US" sz="1100">
                        <a:effectLst/>
                      </a:endParaRPr>
                    </a:p>
                    <a:p>
                      <a:pPr marL="0" marR="0">
                        <a:lnSpc>
                          <a:spcPct val="115000"/>
                        </a:lnSpc>
                        <a:spcBef>
                          <a:spcPts val="0"/>
                        </a:spcBef>
                        <a:spcAft>
                          <a:spcPts val="0"/>
                        </a:spcAft>
                      </a:pPr>
                      <a:r>
                        <a:rPr lang="en-GB" sz="1100">
                          <a:effectLst/>
                        </a:rPr>
                        <a:t>=N=</a:t>
                      </a:r>
                      <a:endParaRPr lang="en-US" sz="1100">
                        <a:effectLst/>
                        <a:latin typeface="Calibri"/>
                        <a:ea typeface="Calibri"/>
                        <a:cs typeface="Times New Roman"/>
                      </a:endParaRPr>
                    </a:p>
                  </a:txBody>
                  <a:tcPr marL="68580" marR="68580" marT="0" marB="0"/>
                </a:tc>
              </a:tr>
              <a:tr h="176335">
                <a:tc>
                  <a:txBody>
                    <a:bodyPr/>
                    <a:lstStyle/>
                    <a:p>
                      <a:pPr marL="342900" marR="0" lvl="0" indent="-342900">
                        <a:lnSpc>
                          <a:spcPct val="115000"/>
                        </a:lnSpc>
                        <a:spcBef>
                          <a:spcPts val="0"/>
                        </a:spcBef>
                        <a:spcAft>
                          <a:spcPts val="0"/>
                        </a:spcAft>
                        <a:buFont typeface="+mj-lt"/>
                        <a:buAutoNum type="arabicPeriod"/>
                      </a:pPr>
                      <a:r>
                        <a:rPr lang="en-GB"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3,600,000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3,600,000</a:t>
                      </a:r>
                      <a:endParaRPr lang="en-US" sz="1100">
                        <a:effectLst/>
                        <a:latin typeface="Calibri"/>
                        <a:ea typeface="Calibri"/>
                        <a:cs typeface="Times New Roman"/>
                      </a:endParaRPr>
                    </a:p>
                  </a:txBody>
                  <a:tcPr marL="68580" marR="68580" marT="0" marB="0"/>
                </a:tc>
              </a:tr>
              <a:tr h="176335">
                <a:tc rowSpan="2">
                  <a:txBody>
                    <a:bodyPr/>
                    <a:lstStyle/>
                    <a:p>
                      <a:pPr marL="342900" marR="0" lvl="0" indent="-342900">
                        <a:lnSpc>
                          <a:spcPct val="115000"/>
                        </a:lnSpc>
                        <a:spcBef>
                          <a:spcPts val="0"/>
                        </a:spcBef>
                        <a:spcAft>
                          <a:spcPts val="0"/>
                        </a:spcAft>
                        <a:buFont typeface="+mj-lt"/>
                        <a:buAutoNum type="arabicPeriod"/>
                      </a:pPr>
                      <a:r>
                        <a:rPr lang="en-GB"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3,600,000</a:t>
                      </a:r>
                      <a:endParaRPr lang="en-US" sz="1100">
                        <a:effectLst/>
                        <a:latin typeface="Calibri"/>
                        <a:ea typeface="Calibri"/>
                        <a:cs typeface="Times New Roman"/>
                      </a:endParaRPr>
                    </a:p>
                  </a:txBody>
                  <a:tcPr marL="68580" marR="68580" marT="0" marB="0"/>
                </a:tc>
                <a:tc rowSpan="2">
                  <a:txBody>
                    <a:bodyPr/>
                    <a:lstStyle/>
                    <a:p>
                      <a:pPr marL="0" marR="0">
                        <a:lnSpc>
                          <a:spcPct val="115000"/>
                        </a:lnSpc>
                        <a:spcBef>
                          <a:spcPts val="0"/>
                        </a:spcBef>
                        <a:spcAft>
                          <a:spcPts val="0"/>
                        </a:spcAft>
                      </a:pPr>
                      <a:r>
                        <a:rPr lang="en-GB" sz="1100">
                          <a:effectLst/>
                        </a:rPr>
                        <a:t>9,000,000</a:t>
                      </a:r>
                      <a:endParaRPr lang="en-US" sz="1100">
                        <a:effectLst/>
                        <a:latin typeface="Calibri"/>
                        <a:ea typeface="Calibri"/>
                        <a:cs typeface="Times New Roman"/>
                      </a:endParaRPr>
                    </a:p>
                  </a:txBody>
                  <a:tcPr marL="68580" marR="68580" marT="0" marB="0"/>
                </a:tc>
              </a:tr>
              <a:tr h="176335">
                <a:tc vMerge="1">
                  <a:txBody>
                    <a:bodyPr/>
                    <a:lstStyle/>
                    <a:p>
                      <a:endParaRPr lang="en-US"/>
                    </a:p>
                  </a:txBody>
                  <a:tcPr/>
                </a:tc>
                <a:tc>
                  <a:txBody>
                    <a:bodyPr/>
                    <a:lstStyle/>
                    <a:p>
                      <a:pPr marL="0" marR="0">
                        <a:lnSpc>
                          <a:spcPct val="115000"/>
                        </a:lnSpc>
                        <a:spcBef>
                          <a:spcPts val="0"/>
                        </a:spcBef>
                        <a:spcAft>
                          <a:spcPts val="0"/>
                        </a:spcAft>
                      </a:pPr>
                      <a:r>
                        <a:rPr lang="en-GB" sz="1100">
                          <a:effectLst/>
                        </a:rPr>
                        <a:t>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dirty="0">
                          <a:effectLst/>
                        </a:rPr>
                        <a:t>5,400,000</a:t>
                      </a:r>
                      <a:endParaRPr lang="en-US" sz="1100" dirty="0">
                        <a:effectLst/>
                        <a:latin typeface="Calibri"/>
                        <a:ea typeface="Calibri"/>
                        <a:cs typeface="Times New Roman"/>
                      </a:endParaRPr>
                    </a:p>
                  </a:txBody>
                  <a:tcPr marL="68580" marR="68580" marT="0" marB="0"/>
                </a:tc>
                <a:tc vMerge="1">
                  <a:txBody>
                    <a:bodyPr/>
                    <a:lstStyle/>
                    <a:p>
                      <a:endParaRPr lang="en-US"/>
                    </a:p>
                  </a:txBody>
                  <a:tcPr/>
                </a:tc>
              </a:tr>
              <a:tr h="176335">
                <a:tc rowSpan="3">
                  <a:txBody>
                    <a:bodyPr/>
                    <a:lstStyle/>
                    <a:p>
                      <a:pPr marL="342900" marR="0" lvl="0" indent="-342900">
                        <a:lnSpc>
                          <a:spcPct val="115000"/>
                        </a:lnSpc>
                        <a:spcBef>
                          <a:spcPts val="0"/>
                        </a:spcBef>
                        <a:spcAft>
                          <a:spcPts val="0"/>
                        </a:spcAft>
                        <a:buFont typeface="+mj-lt"/>
                        <a:buAutoNum type="arabicPeriod"/>
                      </a:pPr>
                      <a:r>
                        <a:rPr lang="en-GB"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180,000x20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3,600,000</a:t>
                      </a:r>
                      <a:endParaRPr lang="en-US" sz="1100">
                        <a:effectLst/>
                        <a:latin typeface="Calibri"/>
                        <a:ea typeface="Calibri"/>
                        <a:cs typeface="Times New Roman"/>
                      </a:endParaRPr>
                    </a:p>
                  </a:txBody>
                  <a:tcPr marL="68580" marR="68580" marT="0" marB="0"/>
                </a:tc>
                <a:tc rowSpan="3">
                  <a:txBody>
                    <a:bodyPr/>
                    <a:lstStyle/>
                    <a:p>
                      <a:pPr marL="0" marR="0">
                        <a:lnSpc>
                          <a:spcPct val="115000"/>
                        </a:lnSpc>
                        <a:spcBef>
                          <a:spcPts val="0"/>
                        </a:spcBef>
                        <a:spcAft>
                          <a:spcPts val="0"/>
                        </a:spcAft>
                      </a:pPr>
                      <a:r>
                        <a:rPr lang="en-GB" sz="1100">
                          <a:effectLst/>
                        </a:rPr>
                        <a:t>16,200,000</a:t>
                      </a:r>
                      <a:endParaRPr lang="en-US" sz="1100">
                        <a:effectLst/>
                        <a:latin typeface="Calibri"/>
                        <a:ea typeface="Calibri"/>
                        <a:cs typeface="Times New Roman"/>
                      </a:endParaRPr>
                    </a:p>
                  </a:txBody>
                  <a:tcPr marL="68580" marR="68580" marT="0" marB="0"/>
                </a:tc>
              </a:tr>
              <a:tr h="176335">
                <a:tc vMerge="1">
                  <a:txBody>
                    <a:bodyPr/>
                    <a:lstStyle/>
                    <a:p>
                      <a:endParaRPr lang="en-US"/>
                    </a:p>
                  </a:txBody>
                  <a:tcPr/>
                </a:tc>
                <a:tc>
                  <a:txBody>
                    <a:bodyPr/>
                    <a:lstStyle/>
                    <a:p>
                      <a:pPr marL="0" marR="0">
                        <a:lnSpc>
                          <a:spcPct val="115000"/>
                        </a:lnSpc>
                        <a:spcBef>
                          <a:spcPts val="0"/>
                        </a:spcBef>
                        <a:spcAft>
                          <a:spcPts val="0"/>
                        </a:spcAft>
                      </a:pPr>
                      <a:r>
                        <a:rPr lang="en-GB" sz="1100">
                          <a:effectLst/>
                        </a:rPr>
                        <a:t>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dirty="0">
                          <a:effectLst/>
                        </a:rPr>
                        <a:t>5,400,000</a:t>
                      </a:r>
                      <a:endParaRPr lang="en-US" sz="1100" dirty="0">
                        <a:effectLst/>
                        <a:latin typeface="Calibri"/>
                        <a:ea typeface="Calibri"/>
                        <a:cs typeface="Times New Roman"/>
                      </a:endParaRPr>
                    </a:p>
                  </a:txBody>
                  <a:tcPr marL="68580" marR="68580" marT="0" marB="0"/>
                </a:tc>
                <a:tc vMerge="1">
                  <a:txBody>
                    <a:bodyPr/>
                    <a:lstStyle/>
                    <a:p>
                      <a:endParaRPr lang="en-US"/>
                    </a:p>
                  </a:txBody>
                  <a:tcPr/>
                </a:tc>
              </a:tr>
              <a:tr h="176335">
                <a:tc vMerge="1">
                  <a:txBody>
                    <a:bodyPr/>
                    <a:lstStyle/>
                    <a:p>
                      <a:endParaRPr lang="en-US"/>
                    </a:p>
                  </a:txBody>
                  <a:tcPr/>
                </a:tc>
                <a:tc>
                  <a:txBody>
                    <a:bodyPr/>
                    <a:lstStyle/>
                    <a:p>
                      <a:pPr marL="0" marR="0">
                        <a:lnSpc>
                          <a:spcPct val="115000"/>
                        </a:lnSpc>
                        <a:spcBef>
                          <a:spcPts val="0"/>
                        </a:spcBef>
                        <a:spcAft>
                          <a:spcPts val="0"/>
                        </a:spcAft>
                      </a:pPr>
                      <a:r>
                        <a:rPr lang="en-GB"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7,200,000</a:t>
                      </a:r>
                      <a:endParaRPr lang="en-US" sz="1100">
                        <a:effectLst/>
                        <a:latin typeface="Calibri"/>
                        <a:ea typeface="Calibri"/>
                        <a:cs typeface="Times New Roman"/>
                      </a:endParaRPr>
                    </a:p>
                  </a:txBody>
                  <a:tcPr marL="68580" marR="68580" marT="0" marB="0"/>
                </a:tc>
                <a:tc vMerge="1">
                  <a:txBody>
                    <a:bodyPr/>
                    <a:lstStyle/>
                    <a:p>
                      <a:endParaRPr lang="en-US"/>
                    </a:p>
                  </a:txBody>
                  <a:tcPr/>
                </a:tc>
              </a:tr>
              <a:tr h="176335">
                <a:tc rowSpan="3">
                  <a:txBody>
                    <a:bodyPr/>
                    <a:lstStyle/>
                    <a:p>
                      <a:pPr marL="342900" marR="0" lvl="0" indent="-342900">
                        <a:lnSpc>
                          <a:spcPct val="115000"/>
                        </a:lnSpc>
                        <a:spcBef>
                          <a:spcPts val="0"/>
                        </a:spcBef>
                        <a:spcAft>
                          <a:spcPts val="0"/>
                        </a:spcAft>
                        <a:buFont typeface="+mj-lt"/>
                        <a:buAutoNum type="arabicPeriod"/>
                      </a:pPr>
                      <a:r>
                        <a:rPr lang="en-GB"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180,000x30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5,400,000</a:t>
                      </a:r>
                      <a:endParaRPr lang="en-US" sz="1100">
                        <a:effectLst/>
                        <a:latin typeface="Calibri"/>
                        <a:ea typeface="Calibri"/>
                        <a:cs typeface="Times New Roman"/>
                      </a:endParaRPr>
                    </a:p>
                  </a:txBody>
                  <a:tcPr marL="68580" marR="68580" marT="0" marB="0"/>
                </a:tc>
                <a:tc rowSpan="3">
                  <a:txBody>
                    <a:bodyPr/>
                    <a:lstStyle/>
                    <a:p>
                      <a:pPr marL="0" marR="0">
                        <a:lnSpc>
                          <a:spcPct val="115000"/>
                        </a:lnSpc>
                        <a:spcBef>
                          <a:spcPts val="0"/>
                        </a:spcBef>
                        <a:spcAft>
                          <a:spcPts val="0"/>
                        </a:spcAft>
                      </a:pPr>
                      <a:r>
                        <a:rPr lang="en-GB" sz="1100">
                          <a:effectLst/>
                        </a:rPr>
                        <a:t>19,800,000</a:t>
                      </a:r>
                      <a:endParaRPr lang="en-US" sz="1100">
                        <a:effectLst/>
                        <a:latin typeface="Calibri"/>
                        <a:ea typeface="Calibri"/>
                        <a:cs typeface="Times New Roman"/>
                      </a:endParaRPr>
                    </a:p>
                  </a:txBody>
                  <a:tcPr marL="68580" marR="68580" marT="0" marB="0"/>
                </a:tc>
              </a:tr>
              <a:tr h="176335">
                <a:tc vMerge="1">
                  <a:txBody>
                    <a:bodyPr/>
                    <a:lstStyle/>
                    <a:p>
                      <a:endParaRPr lang="en-US"/>
                    </a:p>
                  </a:txBody>
                  <a:tcPr/>
                </a:tc>
                <a:tc>
                  <a:txBody>
                    <a:bodyPr/>
                    <a:lstStyle/>
                    <a:p>
                      <a:pPr marL="0" marR="0">
                        <a:lnSpc>
                          <a:spcPct val="115000"/>
                        </a:lnSpc>
                        <a:spcBef>
                          <a:spcPts val="0"/>
                        </a:spcBef>
                        <a:spcAft>
                          <a:spcPts val="0"/>
                        </a:spcAft>
                      </a:pPr>
                      <a:r>
                        <a:rPr lang="en-GB"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7,200,000</a:t>
                      </a:r>
                      <a:endParaRPr lang="en-US" sz="1100">
                        <a:effectLst/>
                        <a:latin typeface="Calibri"/>
                        <a:ea typeface="Calibri"/>
                        <a:cs typeface="Times New Roman"/>
                      </a:endParaRPr>
                    </a:p>
                  </a:txBody>
                  <a:tcPr marL="68580" marR="68580" marT="0" marB="0"/>
                </a:tc>
                <a:tc vMerge="1">
                  <a:txBody>
                    <a:bodyPr/>
                    <a:lstStyle/>
                    <a:p>
                      <a:endParaRPr lang="en-US"/>
                    </a:p>
                  </a:txBody>
                  <a:tcPr/>
                </a:tc>
              </a:tr>
              <a:tr h="176335">
                <a:tc vMerge="1">
                  <a:txBody>
                    <a:bodyPr/>
                    <a:lstStyle/>
                    <a:p>
                      <a:endParaRPr lang="en-US"/>
                    </a:p>
                  </a:txBody>
                  <a:tcPr/>
                </a:tc>
                <a:tc>
                  <a:txBody>
                    <a:bodyPr/>
                    <a:lstStyle/>
                    <a:p>
                      <a:pPr marL="0" marR="0">
                        <a:lnSpc>
                          <a:spcPct val="115000"/>
                        </a:lnSpc>
                        <a:spcBef>
                          <a:spcPts val="0"/>
                        </a:spcBef>
                        <a:spcAft>
                          <a:spcPts val="0"/>
                        </a:spcAft>
                      </a:pPr>
                      <a:r>
                        <a:rPr lang="en-GB"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7,200,000</a:t>
                      </a:r>
                      <a:endParaRPr lang="en-US" sz="1100">
                        <a:effectLst/>
                        <a:latin typeface="Calibri"/>
                        <a:ea typeface="Calibri"/>
                        <a:cs typeface="Times New Roman"/>
                      </a:endParaRPr>
                    </a:p>
                  </a:txBody>
                  <a:tcPr marL="68580" marR="68580" marT="0" marB="0"/>
                </a:tc>
                <a:tc vMerge="1">
                  <a:txBody>
                    <a:bodyPr/>
                    <a:lstStyle/>
                    <a:p>
                      <a:endParaRPr lang="en-US"/>
                    </a:p>
                  </a:txBody>
                  <a:tcPr/>
                </a:tc>
              </a:tr>
              <a:tr h="176335">
                <a:tc rowSpan="2">
                  <a:txBody>
                    <a:bodyPr/>
                    <a:lstStyle/>
                    <a:p>
                      <a:pPr marL="342900" marR="0" lvl="0" indent="-342900">
                        <a:lnSpc>
                          <a:spcPct val="115000"/>
                        </a:lnSpc>
                        <a:spcBef>
                          <a:spcPts val="0"/>
                        </a:spcBef>
                        <a:spcAft>
                          <a:spcPts val="0"/>
                        </a:spcAft>
                        <a:buFont typeface="+mj-lt"/>
                        <a:buAutoNum type="arabicPeriod"/>
                      </a:pPr>
                      <a:r>
                        <a:rPr lang="en-GB" sz="1100">
                          <a:effectLst/>
                        </a:rPr>
                        <a:t> </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7,200,000</a:t>
                      </a:r>
                      <a:endParaRPr lang="en-US" sz="1100">
                        <a:effectLst/>
                        <a:latin typeface="Calibri"/>
                        <a:ea typeface="Calibri"/>
                        <a:cs typeface="Times New Roman"/>
                      </a:endParaRPr>
                    </a:p>
                  </a:txBody>
                  <a:tcPr marL="68580" marR="68580" marT="0" marB="0"/>
                </a:tc>
                <a:tc rowSpan="2">
                  <a:txBody>
                    <a:bodyPr/>
                    <a:lstStyle/>
                    <a:p>
                      <a:pPr marL="0" marR="0">
                        <a:lnSpc>
                          <a:spcPct val="115000"/>
                        </a:lnSpc>
                        <a:spcBef>
                          <a:spcPts val="0"/>
                        </a:spcBef>
                        <a:spcAft>
                          <a:spcPts val="0"/>
                        </a:spcAft>
                      </a:pPr>
                      <a:r>
                        <a:rPr lang="en-GB" sz="1100">
                          <a:effectLst/>
                        </a:rPr>
                        <a:t>14,400,000</a:t>
                      </a:r>
                      <a:endParaRPr lang="en-US" sz="1100">
                        <a:effectLst/>
                        <a:latin typeface="Calibri"/>
                        <a:ea typeface="Calibri"/>
                        <a:cs typeface="Times New Roman"/>
                      </a:endParaRPr>
                    </a:p>
                  </a:txBody>
                  <a:tcPr marL="68580" marR="68580" marT="0" marB="0"/>
                </a:tc>
              </a:tr>
              <a:tr h="176335">
                <a:tc vMerge="1">
                  <a:txBody>
                    <a:bodyPr/>
                    <a:lstStyle/>
                    <a:p>
                      <a:endParaRPr lang="en-US"/>
                    </a:p>
                  </a:txBody>
                  <a:tcPr/>
                </a:tc>
                <a:tc>
                  <a:txBody>
                    <a:bodyPr/>
                    <a:lstStyle/>
                    <a:p>
                      <a:pPr marL="0" marR="0">
                        <a:lnSpc>
                          <a:spcPct val="115000"/>
                        </a:lnSpc>
                        <a:spcBef>
                          <a:spcPts val="0"/>
                        </a:spcBef>
                        <a:spcAft>
                          <a:spcPts val="0"/>
                        </a:spcAft>
                      </a:pPr>
                      <a:r>
                        <a:rPr lang="en-GB" sz="1100">
                          <a:effectLst/>
                        </a:rPr>
                        <a:t>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2</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180,000x40</a:t>
                      </a:r>
                      <a:endParaRPr lang="en-US" sz="1100">
                        <a:effectLst/>
                        <a:latin typeface="Calibri"/>
                        <a:ea typeface="Calibri"/>
                        <a:cs typeface="Times New Roman"/>
                      </a:endParaRPr>
                    </a:p>
                  </a:txBody>
                  <a:tcPr marL="68580" marR="68580" marT="0" marB="0"/>
                </a:tc>
                <a:tc>
                  <a:txBody>
                    <a:bodyPr/>
                    <a:lstStyle/>
                    <a:p>
                      <a:pPr marL="0" marR="0">
                        <a:lnSpc>
                          <a:spcPct val="115000"/>
                        </a:lnSpc>
                        <a:spcBef>
                          <a:spcPts val="0"/>
                        </a:spcBef>
                        <a:spcAft>
                          <a:spcPts val="0"/>
                        </a:spcAft>
                      </a:pPr>
                      <a:r>
                        <a:rPr lang="en-GB" sz="1100">
                          <a:effectLst/>
                        </a:rPr>
                        <a:t>7,200,000</a:t>
                      </a:r>
                      <a:endParaRPr lang="en-US" sz="1100">
                        <a:effectLst/>
                        <a:latin typeface="Calibri"/>
                        <a:ea typeface="Calibri"/>
                        <a:cs typeface="Times New Roman"/>
                      </a:endParaRPr>
                    </a:p>
                  </a:txBody>
                  <a:tcPr marL="68580" marR="68580" marT="0" marB="0"/>
                </a:tc>
                <a:tc vMerge="1">
                  <a:txBody>
                    <a:bodyPr/>
                    <a:lstStyle/>
                    <a:p>
                      <a:endParaRPr lang="en-US"/>
                    </a:p>
                  </a:txBody>
                  <a:tcPr/>
                </a:tc>
              </a:tr>
              <a:tr h="176335">
                <a:tc gridSpan="5">
                  <a:txBody>
                    <a:bodyPr/>
                    <a:lstStyle/>
                    <a:p>
                      <a:pPr marL="0" marR="0">
                        <a:lnSpc>
                          <a:spcPct val="115000"/>
                        </a:lnSpc>
                        <a:spcBef>
                          <a:spcPts val="0"/>
                        </a:spcBef>
                        <a:spcAft>
                          <a:spcPts val="0"/>
                        </a:spcAft>
                        <a:tabLst>
                          <a:tab pos="3952875" algn="l"/>
                        </a:tabLst>
                      </a:pPr>
                      <a:r>
                        <a:rPr lang="en-GB" sz="1100" dirty="0">
                          <a:effectLst/>
                        </a:rPr>
                        <a:t>       	       TOTAL</a:t>
                      </a:r>
                      <a:endParaRPr lang="en-US" sz="1100" dirty="0">
                        <a:effectLst/>
                        <a:latin typeface="Calibri"/>
                        <a:ea typeface="Calibri"/>
                        <a:cs typeface="Times New Roman"/>
                      </a:endParaRPr>
                    </a:p>
                  </a:txBody>
                  <a:tcPr marL="68580" marR="68580" marT="0" marB="0"/>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a:txBody>
                    <a:bodyPr/>
                    <a:lstStyle/>
                    <a:p>
                      <a:pPr marL="0" marR="0">
                        <a:lnSpc>
                          <a:spcPct val="115000"/>
                        </a:lnSpc>
                        <a:spcBef>
                          <a:spcPts val="0"/>
                        </a:spcBef>
                        <a:spcAft>
                          <a:spcPts val="0"/>
                        </a:spcAft>
                      </a:pPr>
                      <a:r>
                        <a:rPr lang="en-GB" sz="1100" dirty="0">
                          <a:effectLst/>
                        </a:rPr>
                        <a:t>63,000,000</a:t>
                      </a:r>
                      <a:endParaRPr lang="en-US" sz="1100" dirty="0">
                        <a:effectLst/>
                        <a:latin typeface="Calibri"/>
                        <a:ea typeface="Calibri"/>
                        <a:cs typeface="Times New Roman"/>
                      </a:endParaRPr>
                    </a:p>
                  </a:txBody>
                  <a:tcPr marL="68580" marR="68580" marT="0" marB="0"/>
                </a:tc>
              </a:tr>
            </a:tbl>
          </a:graphicData>
        </a:graphic>
      </p:graphicFrame>
      <p:sp>
        <p:nvSpPr>
          <p:cNvPr id="5" name="Rectangle 2"/>
          <p:cNvSpPr>
            <a:spLocks noChangeArrowheads="1"/>
          </p:cNvSpPr>
          <p:nvPr/>
        </p:nvSpPr>
        <p:spPr bwMode="auto">
          <a:xfrm>
            <a:off x="1066800" y="3505200"/>
            <a:ext cx="5943600" cy="55399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457200" algn="l" defTabSz="914400" rtl="0" eaLnBrk="1" fontAlgn="base" latinLnBrk="0" hangingPunct="1">
              <a:lnSpc>
                <a:spcPct val="100000"/>
              </a:lnSpc>
              <a:spcBef>
                <a:spcPct val="0"/>
              </a:spcBef>
              <a:spcAft>
                <a:spcPct val="0"/>
              </a:spcAft>
              <a:buClrTx/>
              <a:buSzTx/>
              <a:buFontTx/>
              <a:buNone/>
              <a:tabLst>
                <a:tab pos="3952875" algn="l"/>
              </a:tabLst>
            </a:pPr>
            <a:r>
              <a:rPr kumimoji="0" lang="en-US" sz="1200" b="1" i="0" u="none" strike="noStrike" cap="none" normalizeH="0" baseline="0" dirty="0" smtClean="0">
                <a:ln>
                  <a:noFill/>
                </a:ln>
                <a:solidFill>
                  <a:schemeClr val="tx1"/>
                </a:solidFill>
                <a:effectLst/>
                <a:latin typeface="Cambria" pitchFamily="18" charset="0"/>
                <a:ea typeface="Calibri" pitchFamily="34" charset="0"/>
                <a:cs typeface="Arial" pitchFamily="34" charset="0"/>
              </a:rPr>
              <a:t>TABLE X:  </a:t>
            </a:r>
            <a:r>
              <a:rPr kumimoji="0" lang="en-US" sz="1200" i="0" u="none" strike="noStrike" cap="none" normalizeH="0" baseline="0" dirty="0" smtClean="0">
                <a:ln>
                  <a:noFill/>
                </a:ln>
                <a:solidFill>
                  <a:schemeClr val="tx1"/>
                </a:solidFill>
                <a:effectLst/>
                <a:latin typeface="Cambria" pitchFamily="18" charset="0"/>
                <a:ea typeface="Calibri" pitchFamily="34" charset="0"/>
                <a:cs typeface="Arial" pitchFamily="34" charset="0"/>
              </a:rPr>
              <a:t>PROJECTED REVENUE </a:t>
            </a:r>
            <a:r>
              <a:rPr kumimoji="0" lang="en-GB" sz="1100" i="0" u="none" strike="noStrike" cap="none" normalizeH="0" baseline="0" dirty="0" smtClean="0">
                <a:ln>
                  <a:noFill/>
                </a:ln>
                <a:solidFill>
                  <a:schemeClr val="tx1"/>
                </a:solidFill>
                <a:effectLst/>
                <a:latin typeface="Cambria" pitchFamily="18" charset="0"/>
                <a:ea typeface="Calibri" pitchFamily="34" charset="0"/>
                <a:cs typeface="Times New Roman" pitchFamily="18" charset="0"/>
              </a:rPr>
              <a:t>Ph.D. SOCIAL WORK (REGULAR) PROGRAMME</a:t>
            </a:r>
            <a:endParaRPr kumimoji="0" lang="en-US" sz="800" i="0" u="none" strike="noStrike" cap="none" normalizeH="0" baseline="0" dirty="0" smtClean="0">
              <a:ln>
                <a:noFill/>
              </a:ln>
              <a:solidFill>
                <a:schemeClr val="tx1"/>
              </a:solidFill>
              <a:effectLst/>
              <a:latin typeface="Arial" pitchFamily="34" charset="0"/>
              <a:cs typeface="Arial" pitchFamily="34" charset="0"/>
            </a:endParaRPr>
          </a:p>
          <a:p>
            <a:pPr marL="0" marR="0" lvl="0" indent="457200" algn="l" defTabSz="914400" rtl="0" eaLnBrk="0" fontAlgn="base" latinLnBrk="0" hangingPunct="0">
              <a:lnSpc>
                <a:spcPct val="100000"/>
              </a:lnSpc>
              <a:spcBef>
                <a:spcPct val="0"/>
              </a:spcBef>
              <a:spcAft>
                <a:spcPct val="0"/>
              </a:spcAft>
              <a:buClrTx/>
              <a:buSzTx/>
              <a:buFontTx/>
              <a:buNone/>
              <a:tabLst>
                <a:tab pos="3952875" algn="l"/>
              </a:tabLst>
            </a:pPr>
            <a:endParaRPr kumimoji="0" lang="en-US" sz="1800" b="0" i="0" u="none" strike="noStrike" cap="none" normalizeH="0" baseline="0" dirty="0" smtClean="0">
              <a:ln>
                <a:noFill/>
              </a:ln>
              <a:solidFill>
                <a:schemeClr val="tx1"/>
              </a:solidFill>
              <a:effectLst/>
              <a:latin typeface="Arial" pitchFamily="34" charset="0"/>
              <a:cs typeface="Arial" pitchFamily="34" charset="0"/>
            </a:endParaRPr>
          </a:p>
        </p:txBody>
      </p:sp>
      <p:sp>
        <p:nvSpPr>
          <p:cNvPr id="6" name="Date Placeholder 5"/>
          <p:cNvSpPr>
            <a:spLocks noGrp="1"/>
          </p:cNvSpPr>
          <p:nvPr>
            <p:ph type="dt" sz="half" idx="10"/>
          </p:nvPr>
        </p:nvSpPr>
        <p:spPr>
          <a:xfrm>
            <a:off x="152400" y="6492875"/>
            <a:ext cx="2133600" cy="365125"/>
          </a:xfrm>
        </p:spPr>
        <p:txBody>
          <a:bodyPr/>
          <a:lstStyle/>
          <a:p>
            <a:r>
              <a:rPr lang="en-US" dirty="0" smtClean="0"/>
              <a:t>3/2/2016</a:t>
            </a:r>
            <a:endParaRPr lang="en-US" dirty="0"/>
          </a:p>
        </p:txBody>
      </p:sp>
      <p:sp>
        <p:nvSpPr>
          <p:cNvPr id="7" name="Slide Number Placeholder 6"/>
          <p:cNvSpPr>
            <a:spLocks noGrp="1"/>
          </p:cNvSpPr>
          <p:nvPr>
            <p:ph type="sldNum" sz="quarter" idx="12"/>
          </p:nvPr>
        </p:nvSpPr>
        <p:spPr/>
        <p:txBody>
          <a:bodyPr/>
          <a:lstStyle/>
          <a:p>
            <a:fld id="{1387417F-CD80-46DB-B84D-5F1ADE59F8BD}" type="slidenum">
              <a:rPr lang="en-US" smtClean="0"/>
              <a:pPr/>
              <a:t>10</a:t>
            </a:fld>
            <a:endParaRPr lang="en-US"/>
          </a:p>
        </p:txBody>
      </p:sp>
    </p:spTree>
    <p:extLst>
      <p:ext uri="{BB962C8B-B14F-4D97-AF65-F5344CB8AC3E}">
        <p14:creationId xmlns:p14="http://schemas.microsoft.com/office/powerpoint/2010/main" xmlns="" val="3041150569"/>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74638"/>
            <a:ext cx="6096000" cy="639762"/>
          </a:xfrm>
        </p:spPr>
        <p:txBody>
          <a:bodyPr>
            <a:noAutofit/>
          </a:bodyPr>
          <a:lstStyle/>
          <a:p>
            <a:pPr marL="742950" indent="-742950"/>
            <a:r>
              <a:rPr lang="en-US" sz="4000" b="1" dirty="0" smtClean="0"/>
              <a:t>C.   SITUATION ANALYSIS</a:t>
            </a:r>
            <a:endParaRPr lang="en-US" sz="4000" dirty="0"/>
          </a:p>
        </p:txBody>
      </p:sp>
      <p:sp>
        <p:nvSpPr>
          <p:cNvPr id="3" name="Content Placeholder 2"/>
          <p:cNvSpPr>
            <a:spLocks noGrp="1"/>
          </p:cNvSpPr>
          <p:nvPr>
            <p:ph idx="1"/>
          </p:nvPr>
        </p:nvSpPr>
        <p:spPr>
          <a:xfrm>
            <a:off x="457200" y="1066800"/>
            <a:ext cx="8229600" cy="5059363"/>
          </a:xfrm>
        </p:spPr>
        <p:txBody>
          <a:bodyPr>
            <a:normAutofit fontScale="47500" lnSpcReduction="20000"/>
          </a:bodyPr>
          <a:lstStyle/>
          <a:p>
            <a:pPr lvl="0">
              <a:buFont typeface="Wingdings" pitchFamily="2" charset="2"/>
              <a:buChar char="Ø"/>
            </a:pPr>
            <a:r>
              <a:rPr lang="en-US" sz="4500" b="1" dirty="0" smtClean="0"/>
              <a:t>Accommodation: </a:t>
            </a:r>
            <a:r>
              <a:rPr lang="en-US" sz="4500" dirty="0" smtClean="0"/>
              <a:t>The Centre is currently </a:t>
            </a:r>
            <a:r>
              <a:rPr lang="en-US" sz="4500" dirty="0" smtClean="0"/>
              <a:t>being </a:t>
            </a:r>
            <a:r>
              <a:rPr lang="en-US" sz="4500" dirty="0" smtClean="0"/>
              <a:t>housed at the </a:t>
            </a:r>
            <a:r>
              <a:rPr lang="en-US" sz="4500" dirty="0" smtClean="0"/>
              <a:t>former </a:t>
            </a:r>
            <a:r>
              <a:rPr lang="en-US" sz="4500" dirty="0" smtClean="0"/>
              <a:t>Faculty of Management Sciences Building. But it is good to note </a:t>
            </a:r>
            <a:r>
              <a:rPr lang="en-US" sz="4500" smtClean="0"/>
              <a:t>that the Centre </a:t>
            </a:r>
            <a:r>
              <a:rPr lang="en-US" sz="4500" dirty="0" smtClean="0"/>
              <a:t>now has a befitting building commensurate with the multi-purpose nature of its mandates. The Centre is particularly grateful to the University for making this possible through the TETFUND supported building projects;</a:t>
            </a:r>
          </a:p>
          <a:p>
            <a:pPr lvl="0">
              <a:buFont typeface="Wingdings" pitchFamily="2" charset="2"/>
              <a:buChar char="Ø"/>
            </a:pPr>
            <a:r>
              <a:rPr lang="en-US" sz="4500" b="1" dirty="0" smtClean="0"/>
              <a:t>Classroom: </a:t>
            </a:r>
            <a:r>
              <a:rPr lang="en-US" sz="4500" dirty="0" smtClean="0"/>
              <a:t>The Centre teaches the Student in its Conference room and two other rooms (Offices) at its present office block (former Faculty of Management Sciences Building). However, some Lecturers teaches their students at their Faculties;</a:t>
            </a:r>
          </a:p>
          <a:p>
            <a:pPr lvl="0">
              <a:buFont typeface="Wingdings" pitchFamily="2" charset="2"/>
              <a:buChar char="Ø"/>
            </a:pPr>
            <a:r>
              <a:rPr lang="en-US" sz="4500" b="1" dirty="0" smtClean="0"/>
              <a:t>Accreditation: </a:t>
            </a:r>
            <a:r>
              <a:rPr lang="en-US" sz="4500" dirty="0" smtClean="0"/>
              <a:t>The</a:t>
            </a:r>
            <a:r>
              <a:rPr lang="en-US" sz="4500" b="1" dirty="0" smtClean="0"/>
              <a:t> </a:t>
            </a:r>
            <a:r>
              <a:rPr lang="en-GB" sz="4500" dirty="0" smtClean="0"/>
              <a:t>two major academic programs (GDS and SOW) are yet to be accredited by NUC. The first set of students (2013/2014 session) are yet to graduate</a:t>
            </a:r>
            <a:endParaRPr lang="en-US" sz="4500" dirty="0" smtClean="0"/>
          </a:p>
          <a:p>
            <a:pPr lvl="0">
              <a:buFont typeface="Wingdings" pitchFamily="2" charset="2"/>
              <a:buChar char="Ø"/>
            </a:pPr>
            <a:r>
              <a:rPr lang="en-US" sz="4500" b="1" dirty="0" smtClean="0"/>
              <a:t>Examination: </a:t>
            </a:r>
            <a:r>
              <a:rPr lang="en-US" sz="4500" dirty="0" smtClean="0"/>
              <a:t>CGDS already conducted First Semester examination for the 2013/2014 sets of postgraduate students.</a:t>
            </a:r>
            <a:r>
              <a:rPr lang="en-US" sz="4500" b="1" dirty="0" smtClean="0"/>
              <a:t> </a:t>
            </a:r>
            <a:endParaRPr lang="en-US" sz="4500" dirty="0" smtClean="0"/>
          </a:p>
          <a:p>
            <a:pPr lvl="0">
              <a:buFont typeface="Wingdings" pitchFamily="2" charset="2"/>
              <a:buChar char="Ø"/>
            </a:pPr>
            <a:r>
              <a:rPr lang="en-US" sz="4500" b="1" dirty="0" smtClean="0"/>
              <a:t>Result Processing: </a:t>
            </a:r>
            <a:r>
              <a:rPr lang="en-US" sz="4500" dirty="0" smtClean="0"/>
              <a:t>Results</a:t>
            </a:r>
            <a:r>
              <a:rPr lang="en-US" sz="4500" b="1" dirty="0" smtClean="0"/>
              <a:t> </a:t>
            </a:r>
            <a:r>
              <a:rPr lang="en-US" sz="4500" dirty="0" smtClean="0"/>
              <a:t>of the First Semester examination for the 2013/2014 academic Session is under processing. </a:t>
            </a:r>
          </a:p>
          <a:p>
            <a:pPr>
              <a:buNone/>
            </a:pPr>
            <a:r>
              <a:rPr lang="en-US" sz="4500" dirty="0" smtClean="0"/>
              <a:t> </a:t>
            </a:r>
          </a:p>
          <a:p>
            <a:pPr>
              <a:buNone/>
            </a:pPr>
            <a:endParaRPr lang="en-US" dirty="0"/>
          </a:p>
        </p:txBody>
      </p:sp>
      <p:sp>
        <p:nvSpPr>
          <p:cNvPr id="4" name="Date Placeholder 3"/>
          <p:cNvSpPr>
            <a:spLocks noGrp="1"/>
          </p:cNvSpPr>
          <p:nvPr>
            <p:ph type="dt" sz="half" idx="10"/>
          </p:nvPr>
        </p:nvSpPr>
        <p:spPr/>
        <p:txBody>
          <a:bodyPr/>
          <a:lstStyle/>
          <a:p>
            <a:r>
              <a:rPr lang="en-US" smtClean="0"/>
              <a:t>3/2/2016</a:t>
            </a:r>
            <a:endParaRPr lang="en-US"/>
          </a:p>
        </p:txBody>
      </p:sp>
      <p:sp>
        <p:nvSpPr>
          <p:cNvPr id="5" name="Slide Number Placeholder 4"/>
          <p:cNvSpPr>
            <a:spLocks noGrp="1"/>
          </p:cNvSpPr>
          <p:nvPr>
            <p:ph type="sldNum" sz="quarter" idx="12"/>
          </p:nvPr>
        </p:nvSpPr>
        <p:spPr/>
        <p:txBody>
          <a:bodyPr/>
          <a:lstStyle/>
          <a:p>
            <a:fld id="{1387417F-CD80-46DB-B84D-5F1ADE59F8BD}" type="slidenum">
              <a:rPr lang="en-US" smtClean="0"/>
              <a:pPr/>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lvl="0"/>
            <a:r>
              <a:rPr lang="en-US" sz="4800" b="1" dirty="0" smtClean="0"/>
              <a:t>D.   CHALLENGES: </a:t>
            </a:r>
            <a:r>
              <a:rPr lang="en-US" sz="4800" dirty="0" smtClean="0"/>
              <a:t/>
            </a:r>
            <a:br>
              <a:rPr lang="en-US" sz="4800" dirty="0" smtClean="0"/>
            </a:br>
            <a:endParaRPr lang="en-US" sz="4800" dirty="0"/>
          </a:p>
        </p:txBody>
      </p:sp>
      <p:sp>
        <p:nvSpPr>
          <p:cNvPr id="3" name="Content Placeholder 2"/>
          <p:cNvSpPr>
            <a:spLocks noGrp="1"/>
          </p:cNvSpPr>
          <p:nvPr>
            <p:ph idx="1"/>
          </p:nvPr>
        </p:nvSpPr>
        <p:spPr/>
        <p:txBody>
          <a:bodyPr>
            <a:normAutofit fontScale="70000" lnSpcReduction="20000"/>
          </a:bodyPr>
          <a:lstStyle/>
          <a:p>
            <a:pPr marL="571500" lvl="0" indent="-571500">
              <a:buFont typeface="+mj-lt"/>
              <a:buAutoNum type="romanLcPeriod"/>
            </a:pPr>
            <a:r>
              <a:rPr lang="en-GB" b="1" dirty="0" smtClean="0"/>
              <a:t>Insufficient Academic Staff</a:t>
            </a:r>
            <a:r>
              <a:rPr lang="en-GB" dirty="0" smtClean="0"/>
              <a:t>:</a:t>
            </a:r>
          </a:p>
          <a:p>
            <a:pPr marL="971550" lvl="1" indent="-571500">
              <a:buFont typeface="Arial" pitchFamily="34" charset="0"/>
              <a:buChar char="•"/>
            </a:pPr>
            <a:r>
              <a:rPr lang="en-GB" dirty="0" smtClean="0"/>
              <a:t>Gender and Development expert</a:t>
            </a:r>
            <a:endParaRPr lang="en-US" dirty="0" smtClean="0"/>
          </a:p>
          <a:p>
            <a:pPr marL="971550" lvl="1" indent="-571500">
              <a:buFont typeface="Arial" pitchFamily="34" charset="0"/>
              <a:buChar char="•"/>
            </a:pPr>
            <a:r>
              <a:rPr lang="en-GB" dirty="0" smtClean="0"/>
              <a:t>Demographer / Statistician</a:t>
            </a:r>
            <a:endParaRPr lang="en-US" dirty="0" smtClean="0"/>
          </a:p>
          <a:p>
            <a:pPr marL="971550" lvl="1" indent="-571500">
              <a:buFont typeface="Arial" pitchFamily="34" charset="0"/>
              <a:buChar char="•"/>
            </a:pPr>
            <a:r>
              <a:rPr lang="en-GB" dirty="0" smtClean="0"/>
              <a:t>Policy Analyst</a:t>
            </a:r>
          </a:p>
          <a:p>
            <a:pPr marL="971550" lvl="1" indent="-571500">
              <a:buFont typeface="Arial" pitchFamily="34" charset="0"/>
              <a:buChar char="•"/>
            </a:pPr>
            <a:r>
              <a:rPr lang="en-GB" dirty="0" smtClean="0"/>
              <a:t>Legal Expert</a:t>
            </a:r>
            <a:endParaRPr lang="en-US" dirty="0" smtClean="0"/>
          </a:p>
          <a:p>
            <a:pPr marL="971550" lvl="1" indent="-571500">
              <a:buFont typeface="Arial" pitchFamily="34" charset="0"/>
              <a:buChar char="•"/>
            </a:pPr>
            <a:r>
              <a:rPr lang="en-GB" dirty="0" smtClean="0"/>
              <a:t>Project Officers</a:t>
            </a:r>
            <a:endParaRPr lang="en-US" dirty="0" smtClean="0"/>
          </a:p>
          <a:p>
            <a:pPr marL="971550" lvl="1" indent="-571500">
              <a:buFont typeface="Arial" pitchFamily="34" charset="0"/>
              <a:buChar char="•"/>
            </a:pPr>
            <a:r>
              <a:rPr lang="en-GB" dirty="0" smtClean="0"/>
              <a:t>Counselling Psychologist</a:t>
            </a:r>
            <a:endParaRPr lang="en-US" dirty="0" smtClean="0"/>
          </a:p>
          <a:p>
            <a:pPr marL="571500" lvl="0" indent="-571500">
              <a:buAutoNum type="romanLcPeriod" startAt="2"/>
            </a:pPr>
            <a:r>
              <a:rPr lang="en-GB" b="1" dirty="0" smtClean="0"/>
              <a:t>Low Budgetary Allocation;</a:t>
            </a:r>
            <a:endParaRPr lang="en-US" b="1" dirty="0" smtClean="0"/>
          </a:p>
          <a:p>
            <a:pPr marL="571500" lvl="0" indent="-571500">
              <a:buAutoNum type="romanLcPeriod" startAt="2"/>
            </a:pPr>
            <a:r>
              <a:rPr lang="en-GB" b="1" dirty="0" smtClean="0"/>
              <a:t>Poor logistical support;</a:t>
            </a:r>
            <a:endParaRPr lang="en-US" b="1" dirty="0" smtClean="0"/>
          </a:p>
          <a:p>
            <a:pPr marL="571500" lvl="0" indent="-571500">
              <a:buAutoNum type="romanLcPeriod" startAt="2"/>
            </a:pPr>
            <a:r>
              <a:rPr lang="en-GB" b="1" dirty="0" smtClean="0"/>
              <a:t>Lack of Utility Vehicles;</a:t>
            </a:r>
            <a:endParaRPr lang="en-US" b="1" dirty="0" smtClean="0"/>
          </a:p>
          <a:p>
            <a:pPr marL="571500" lvl="0" indent="-571500">
              <a:buAutoNum type="romanLcPeriod" startAt="2"/>
            </a:pPr>
            <a:r>
              <a:rPr lang="en-GB" b="1" dirty="0" smtClean="0"/>
              <a:t>Inadequate Teaching, Research and</a:t>
            </a:r>
            <a:r>
              <a:rPr lang="en-GB" dirty="0" smtClean="0"/>
              <a:t> </a:t>
            </a:r>
            <a:r>
              <a:rPr lang="en-GB" b="1" dirty="0" smtClean="0"/>
              <a:t>Office facilities;</a:t>
            </a:r>
            <a:endParaRPr lang="en-US" b="1" dirty="0" smtClean="0"/>
          </a:p>
          <a:p>
            <a:pPr marL="571500" lvl="0" indent="-571500">
              <a:buAutoNum type="romanLcPeriod" startAt="2"/>
            </a:pPr>
            <a:r>
              <a:rPr lang="en-GB" b="1" dirty="0" smtClean="0"/>
              <a:t>Payment of Honoraria to CGDS Fellows from Sociology and other Departments; and</a:t>
            </a:r>
            <a:endParaRPr lang="en-US" b="1" dirty="0" smtClean="0"/>
          </a:p>
          <a:p>
            <a:pPr marL="571500" lvl="0" indent="-571500">
              <a:buAutoNum type="romanLcPeriod" startAt="2"/>
            </a:pPr>
            <a:r>
              <a:rPr lang="en-GB" b="1" dirty="0" smtClean="0"/>
              <a:t>Funding of CGDS research, workshops and trainings.</a:t>
            </a:r>
            <a:endParaRPr lang="en-US" dirty="0" smtClean="0"/>
          </a:p>
          <a:p>
            <a:pPr marL="571500" indent="-571500">
              <a:buFont typeface="+mj-lt"/>
              <a:buAutoNum type="romanLcPeriod"/>
            </a:pPr>
            <a:endParaRPr lang="en-US" dirty="0"/>
          </a:p>
        </p:txBody>
      </p:sp>
      <p:sp>
        <p:nvSpPr>
          <p:cNvPr id="4" name="Date Placeholder 3"/>
          <p:cNvSpPr>
            <a:spLocks noGrp="1"/>
          </p:cNvSpPr>
          <p:nvPr>
            <p:ph type="dt" sz="half" idx="10"/>
          </p:nvPr>
        </p:nvSpPr>
        <p:spPr/>
        <p:txBody>
          <a:bodyPr/>
          <a:lstStyle/>
          <a:p>
            <a:r>
              <a:rPr lang="en-US" smtClean="0"/>
              <a:t>3/2/2016</a:t>
            </a:r>
            <a:endParaRPr lang="en-US"/>
          </a:p>
        </p:txBody>
      </p:sp>
      <p:sp>
        <p:nvSpPr>
          <p:cNvPr id="5" name="Slide Number Placeholder 4"/>
          <p:cNvSpPr>
            <a:spLocks noGrp="1"/>
          </p:cNvSpPr>
          <p:nvPr>
            <p:ph type="sldNum" sz="quarter" idx="12"/>
          </p:nvPr>
        </p:nvSpPr>
        <p:spPr/>
        <p:txBody>
          <a:bodyPr/>
          <a:lstStyle/>
          <a:p>
            <a:fld id="{1387417F-CD80-46DB-B84D-5F1ADE59F8BD}" type="slidenum">
              <a:rPr lang="en-US" smtClean="0"/>
              <a:pPr/>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81000" y="228600"/>
            <a:ext cx="8229600" cy="1143000"/>
          </a:xfrm>
        </p:spPr>
        <p:txBody>
          <a:bodyPr>
            <a:noAutofit/>
          </a:bodyPr>
          <a:lstStyle/>
          <a:p>
            <a:pPr lvl="0"/>
            <a:r>
              <a:rPr lang="en-US" sz="4800" b="1" dirty="0" smtClean="0"/>
              <a:t>E.   WAY FORWARD</a:t>
            </a:r>
            <a:r>
              <a:rPr lang="en-US" sz="4800" dirty="0" smtClean="0"/>
              <a:t>:</a:t>
            </a:r>
            <a:br>
              <a:rPr lang="en-US" sz="4800" dirty="0" smtClean="0"/>
            </a:br>
            <a:endParaRPr lang="en-US" sz="4800" dirty="0"/>
          </a:p>
        </p:txBody>
      </p:sp>
      <p:sp>
        <p:nvSpPr>
          <p:cNvPr id="3" name="Content Placeholder 2"/>
          <p:cNvSpPr>
            <a:spLocks noGrp="1"/>
          </p:cNvSpPr>
          <p:nvPr>
            <p:ph idx="1"/>
          </p:nvPr>
        </p:nvSpPr>
        <p:spPr>
          <a:xfrm>
            <a:off x="457200" y="1600200"/>
            <a:ext cx="8229600" cy="4648200"/>
          </a:xfrm>
        </p:spPr>
        <p:txBody>
          <a:bodyPr>
            <a:normAutofit fontScale="70000" lnSpcReduction="20000"/>
          </a:bodyPr>
          <a:lstStyle/>
          <a:p>
            <a:pPr marL="571500" lvl="0" indent="-571500">
              <a:buFont typeface="+mj-lt"/>
              <a:buAutoNum type="romanLcPeriod"/>
            </a:pPr>
            <a:r>
              <a:rPr lang="en-US" b="1" dirty="0" smtClean="0"/>
              <a:t>Completion of the CGDS Building and Relocation</a:t>
            </a:r>
            <a:r>
              <a:rPr lang="en-US" dirty="0" smtClean="0"/>
              <a:t>: </a:t>
            </a:r>
            <a:r>
              <a:rPr lang="en-GB" dirty="0" smtClean="0"/>
              <a:t>Smooth Completion of CGDS Building and relocation in preparation for NUC visitation of our Academic Programs.</a:t>
            </a:r>
            <a:r>
              <a:rPr lang="en-US" dirty="0" smtClean="0"/>
              <a:t> </a:t>
            </a:r>
          </a:p>
          <a:p>
            <a:pPr marL="571500" lvl="0" indent="-571500">
              <a:buFont typeface="+mj-lt"/>
              <a:buAutoNum type="romanLcPeriod"/>
            </a:pPr>
            <a:r>
              <a:rPr lang="en-GB" b="1" dirty="0" smtClean="0"/>
              <a:t>Teaching and Research Facilities:</a:t>
            </a:r>
            <a:r>
              <a:rPr lang="en-GB" dirty="0" smtClean="0"/>
              <a:t> </a:t>
            </a:r>
            <a:r>
              <a:rPr lang="en-US" dirty="0" smtClean="0"/>
              <a:t>The following facilities are urgently needed in the Centre to support its teaching, research and practical training activities:</a:t>
            </a:r>
          </a:p>
          <a:p>
            <a:pPr marL="971550" lvl="1" indent="-571500">
              <a:buFont typeface="Wingdings" pitchFamily="2" charset="2"/>
              <a:buChar char="Ø"/>
            </a:pPr>
            <a:r>
              <a:rPr lang="en-US" dirty="0" smtClean="0"/>
              <a:t>A resource centre fully equipped with not less than 20 computers for teaching and research demonstrations and simulations;</a:t>
            </a:r>
          </a:p>
          <a:p>
            <a:pPr marL="971550" lvl="1" indent="-571500">
              <a:buFont typeface="Wingdings" pitchFamily="2" charset="2"/>
              <a:buChar char="Ø"/>
            </a:pPr>
            <a:r>
              <a:rPr lang="en-US" dirty="0" smtClean="0"/>
              <a:t>Internet facilities to enable the Centre cope with national and international demands and mandates</a:t>
            </a:r>
          </a:p>
          <a:p>
            <a:pPr marL="971550" lvl="1" indent="-571500">
              <a:buFont typeface="Wingdings" pitchFamily="2" charset="2"/>
              <a:buChar char="Ø"/>
            </a:pPr>
            <a:r>
              <a:rPr lang="en-US" dirty="0" smtClean="0"/>
              <a:t>Funding supports for the Centre’s research activities </a:t>
            </a:r>
          </a:p>
          <a:p>
            <a:pPr marL="571500" lvl="0" indent="-571500">
              <a:buFont typeface="+mj-lt"/>
              <a:buAutoNum type="romanLcPeriod"/>
            </a:pPr>
            <a:r>
              <a:rPr lang="en-GB" b="1" dirty="0" smtClean="0"/>
              <a:t>Academic Programs</a:t>
            </a:r>
            <a:r>
              <a:rPr lang="en-GB" dirty="0" smtClean="0"/>
              <a:t>: Float postgraduate programs in Gender and Development Studies and Social Work through the </a:t>
            </a:r>
            <a:r>
              <a:rPr lang="en-GB" b="1" i="1" dirty="0" smtClean="0"/>
              <a:t>Directorate of Distance Learning</a:t>
            </a:r>
            <a:r>
              <a:rPr lang="en-GB" dirty="0" smtClean="0"/>
              <a:t>;</a:t>
            </a:r>
            <a:endParaRPr lang="en-US" dirty="0" smtClean="0"/>
          </a:p>
        </p:txBody>
      </p:sp>
      <p:sp>
        <p:nvSpPr>
          <p:cNvPr id="4" name="Date Placeholder 3"/>
          <p:cNvSpPr>
            <a:spLocks noGrp="1"/>
          </p:cNvSpPr>
          <p:nvPr>
            <p:ph type="dt" sz="half" idx="10"/>
          </p:nvPr>
        </p:nvSpPr>
        <p:spPr/>
        <p:txBody>
          <a:bodyPr/>
          <a:lstStyle/>
          <a:p>
            <a:r>
              <a:rPr lang="en-US" smtClean="0"/>
              <a:t>3/2/2016</a:t>
            </a:r>
            <a:endParaRPr lang="en-US"/>
          </a:p>
        </p:txBody>
      </p:sp>
      <p:sp>
        <p:nvSpPr>
          <p:cNvPr id="5" name="Slide Number Placeholder 4"/>
          <p:cNvSpPr>
            <a:spLocks noGrp="1"/>
          </p:cNvSpPr>
          <p:nvPr>
            <p:ph type="sldNum" sz="quarter" idx="12"/>
          </p:nvPr>
        </p:nvSpPr>
        <p:spPr/>
        <p:txBody>
          <a:bodyPr/>
          <a:lstStyle/>
          <a:p>
            <a:fld id="{1387417F-CD80-46DB-B84D-5F1ADE59F8BD}" type="slidenum">
              <a:rPr lang="en-US" smtClean="0"/>
              <a:pPr/>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smtClean="0"/>
              <a:t>3/2/2016</a:t>
            </a:r>
            <a:endParaRPr lang="en-US"/>
          </a:p>
        </p:txBody>
      </p:sp>
      <p:sp>
        <p:nvSpPr>
          <p:cNvPr id="3" name="Slide Number Placeholder 2"/>
          <p:cNvSpPr>
            <a:spLocks noGrp="1"/>
          </p:cNvSpPr>
          <p:nvPr>
            <p:ph type="sldNum" sz="quarter" idx="12"/>
          </p:nvPr>
        </p:nvSpPr>
        <p:spPr/>
        <p:txBody>
          <a:bodyPr/>
          <a:lstStyle/>
          <a:p>
            <a:fld id="{1387417F-CD80-46DB-B84D-5F1ADE59F8BD}" type="slidenum">
              <a:rPr lang="en-US" smtClean="0"/>
              <a:pPr/>
              <a:t>14</a:t>
            </a:fld>
            <a:endParaRPr lang="en-US"/>
          </a:p>
        </p:txBody>
      </p:sp>
      <p:sp>
        <p:nvSpPr>
          <p:cNvPr id="4" name="Rectangle 3"/>
          <p:cNvSpPr/>
          <p:nvPr/>
        </p:nvSpPr>
        <p:spPr>
          <a:xfrm>
            <a:off x="914400" y="474344"/>
            <a:ext cx="7391400" cy="5632311"/>
          </a:xfrm>
          <a:prstGeom prst="rect">
            <a:avLst/>
          </a:prstGeom>
        </p:spPr>
        <p:txBody>
          <a:bodyPr wrap="square">
            <a:spAutoFit/>
          </a:bodyPr>
          <a:lstStyle/>
          <a:p>
            <a:pPr marL="571500" lvl="0" indent="-571500"/>
            <a:r>
              <a:rPr lang="en-GB" sz="2400" b="1" dirty="0" smtClean="0"/>
              <a:t>iv.   Gender Mainstreaming</a:t>
            </a:r>
            <a:r>
              <a:rPr lang="en-GB" sz="2400" dirty="0" smtClean="0"/>
              <a:t>: </a:t>
            </a:r>
            <a:endParaRPr lang="en-US" sz="2400" dirty="0" smtClean="0"/>
          </a:p>
          <a:p>
            <a:pPr marL="971550" lvl="1" indent="-571500">
              <a:buFont typeface="Wingdings" pitchFamily="2" charset="2"/>
              <a:buChar char="Ø"/>
            </a:pPr>
            <a:r>
              <a:rPr lang="en-GB" sz="2400" b="1" dirty="0" smtClean="0"/>
              <a:t>Academic Curricula and Pedagogies:</a:t>
            </a:r>
            <a:r>
              <a:rPr lang="en-GB" sz="2400" dirty="0" smtClean="0"/>
              <a:t> Work with other Departments and Faculties to engender their Academic Curricula and Pedagogies;</a:t>
            </a:r>
            <a:endParaRPr lang="en-US" sz="2400" dirty="0" smtClean="0"/>
          </a:p>
          <a:p>
            <a:pPr marL="971550" lvl="1" indent="-571500">
              <a:buFont typeface="Wingdings" pitchFamily="2" charset="2"/>
              <a:buChar char="Ø"/>
            </a:pPr>
            <a:r>
              <a:rPr lang="en-GB" sz="2400" dirty="0" smtClean="0"/>
              <a:t>Mainstreaming Gender into University Management, Bursary, Registry, Heath Centre, Security and other non-academic units.</a:t>
            </a:r>
            <a:endParaRPr lang="en-US" sz="2400" dirty="0" smtClean="0"/>
          </a:p>
          <a:p>
            <a:pPr marL="571500" lvl="0" indent="-571500">
              <a:buAutoNum type="romanLcPeriod" startAt="5"/>
            </a:pPr>
            <a:r>
              <a:rPr lang="en-GB" sz="2400" b="1" dirty="0" smtClean="0"/>
              <a:t>Research:</a:t>
            </a:r>
            <a:r>
              <a:rPr lang="en-GB" sz="2400" dirty="0" smtClean="0"/>
              <a:t> Promote inter-disciplinary research on Gender issues, Social work and Policies;</a:t>
            </a:r>
            <a:endParaRPr lang="en-US" sz="2400" dirty="0" smtClean="0"/>
          </a:p>
          <a:p>
            <a:pPr marL="571500" lvl="0" indent="-571500">
              <a:buAutoNum type="romanLcPeriod" startAt="5"/>
            </a:pPr>
            <a:r>
              <a:rPr lang="en-GB" sz="2400" b="1" dirty="0" smtClean="0"/>
              <a:t>Trainings and Workshops:</a:t>
            </a:r>
            <a:r>
              <a:rPr lang="en-GB" sz="2400" dirty="0" smtClean="0"/>
              <a:t> Organise intensive workshops for key stakeholders; and</a:t>
            </a:r>
            <a:endParaRPr lang="en-US" sz="2400" b="1" dirty="0" smtClean="0"/>
          </a:p>
          <a:p>
            <a:pPr marL="571500" lvl="0" indent="-571500">
              <a:buAutoNum type="romanLcPeriod" startAt="5"/>
            </a:pPr>
            <a:r>
              <a:rPr lang="en-GB" sz="2400" b="1" dirty="0" smtClean="0"/>
              <a:t>Linkages and Collaborations</a:t>
            </a:r>
            <a:r>
              <a:rPr lang="en-GB" sz="2400" dirty="0" smtClean="0"/>
              <a:t>: Forge collaborations &amp; partnership with Government Agencies and donor Communities.</a:t>
            </a:r>
            <a:endParaRPr lang="en-US" sz="2400" dirty="0" smtClean="0"/>
          </a:p>
          <a:p>
            <a:pPr marL="571500" indent="-571500">
              <a:buFont typeface="+mj-lt"/>
              <a:buAutoNum type="romanLcPeriod"/>
            </a:pPr>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914400"/>
            <a:ext cx="8229600" cy="4724400"/>
          </a:xfrm>
        </p:spPr>
        <p:txBody>
          <a:bodyPr/>
          <a:lstStyle/>
          <a:p>
            <a:pPr algn="ctr"/>
            <a:endParaRPr lang="en-GB" b="1" dirty="0" smtClean="0">
              <a:solidFill>
                <a:srgbClr val="FF0000"/>
              </a:solidFill>
            </a:endParaRPr>
          </a:p>
          <a:p>
            <a:pPr marL="0" indent="0" algn="ctr">
              <a:buNone/>
            </a:pPr>
            <a:endParaRPr lang="en-GB" b="1" dirty="0">
              <a:solidFill>
                <a:srgbClr val="FF0000"/>
              </a:solidFill>
            </a:endParaRPr>
          </a:p>
          <a:p>
            <a:pPr algn="ctr"/>
            <a:endParaRPr lang="en-GB" b="1" dirty="0" smtClean="0">
              <a:solidFill>
                <a:srgbClr val="FF0000"/>
              </a:solidFill>
            </a:endParaRPr>
          </a:p>
          <a:p>
            <a:pPr marL="0" indent="0" algn="ctr">
              <a:buNone/>
            </a:pPr>
            <a:r>
              <a:rPr lang="en-GB" sz="4000" b="1" dirty="0" smtClean="0">
                <a:solidFill>
                  <a:srgbClr val="FF0000"/>
                </a:solidFill>
              </a:rPr>
              <a:t>Thank you for your rapt attention</a:t>
            </a:r>
            <a:endParaRPr lang="en-US" b="1" dirty="0">
              <a:solidFill>
                <a:srgbClr val="FF0000"/>
              </a:solidFill>
            </a:endParaRPr>
          </a:p>
        </p:txBody>
      </p:sp>
      <p:sp>
        <p:nvSpPr>
          <p:cNvPr id="4" name="Date Placeholder 3"/>
          <p:cNvSpPr>
            <a:spLocks noGrp="1"/>
          </p:cNvSpPr>
          <p:nvPr>
            <p:ph type="dt" sz="half" idx="10"/>
          </p:nvPr>
        </p:nvSpPr>
        <p:spPr/>
        <p:txBody>
          <a:bodyPr/>
          <a:lstStyle/>
          <a:p>
            <a:r>
              <a:rPr lang="en-US" smtClean="0"/>
              <a:t>3/2/2016</a:t>
            </a:r>
            <a:endParaRPr lang="en-US"/>
          </a:p>
        </p:txBody>
      </p:sp>
      <p:sp>
        <p:nvSpPr>
          <p:cNvPr id="6" name="Slide Number Placeholder 5"/>
          <p:cNvSpPr>
            <a:spLocks noGrp="1"/>
          </p:cNvSpPr>
          <p:nvPr>
            <p:ph type="sldNum" sz="quarter" idx="12"/>
          </p:nvPr>
        </p:nvSpPr>
        <p:spPr/>
        <p:txBody>
          <a:bodyPr/>
          <a:lstStyle/>
          <a:p>
            <a:fld id="{1387417F-CD80-46DB-B84D-5F1ADE59F8BD}" type="slidenum">
              <a:rPr lang="en-US" smtClean="0"/>
              <a:pPr/>
              <a:t>15</a:t>
            </a:fld>
            <a:endParaRPr lang="en-US"/>
          </a:p>
        </p:txBody>
      </p:sp>
    </p:spTree>
    <p:extLst>
      <p:ext uri="{BB962C8B-B14F-4D97-AF65-F5344CB8AC3E}">
        <p14:creationId xmlns:p14="http://schemas.microsoft.com/office/powerpoint/2010/main" xmlns="" val="10943791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348</TotalTime>
  <Words>1688</Words>
  <Application>Microsoft Office PowerPoint</Application>
  <PresentationFormat>On-screen Show (4:3)</PresentationFormat>
  <Paragraphs>638</Paragraphs>
  <Slides>15</Slides>
  <Notes>1</Notes>
  <HiddenSlides>1</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17" baseType="lpstr">
      <vt:lpstr>Office Theme</vt:lpstr>
      <vt:lpstr>Document</vt:lpstr>
      <vt:lpstr>POSITION ON ACADEMIC PROGRAMMES VIABILITY, ACCOMMODATION, CLASSROOM, ACCREDITATION, EXAMINATION, RESULT PROCESSING, CHALLENGES AND WAY FORWARD TO PROPEL EKSU TO WORLD CLASS UNIVERSITY   </vt:lpstr>
      <vt:lpstr>OUTLINE </vt:lpstr>
      <vt:lpstr>PREAMBLE </vt:lpstr>
      <vt:lpstr>Slide 4</vt:lpstr>
      <vt:lpstr>B. VIABILITY OF ACADEMIC PROGRAMS AND NON-DEGREE CERTIFICATE COURSES</vt:lpstr>
      <vt:lpstr>PROJECTED REVENUE FROM CENTRE FOR GENDER AND DEVELOPMENT STUDIES  </vt:lpstr>
      <vt:lpstr>Slide 7</vt:lpstr>
      <vt:lpstr>Slide 8</vt:lpstr>
      <vt:lpstr>Slide 9</vt:lpstr>
      <vt:lpstr>Slide 10</vt:lpstr>
      <vt:lpstr>C.   SITUATION ANALYSIS</vt:lpstr>
      <vt:lpstr>D.   CHALLENGES:  </vt:lpstr>
      <vt:lpstr>E.   WAY FORWARD: </vt:lpstr>
      <vt:lpstr>Slide 14</vt:lpstr>
      <vt:lpstr>Slide 15</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TABLE VI:  PROJECTED REVENUE POSTGRADUATE DIPLOMA IN SOCIAL WORK           (PGDSW)</dc:title>
  <dc:creator>Test</dc:creator>
  <cp:lastModifiedBy>Mr Akinwumi</cp:lastModifiedBy>
  <cp:revision>37</cp:revision>
  <cp:lastPrinted>2016-02-02T15:53:48Z</cp:lastPrinted>
  <dcterms:created xsi:type="dcterms:W3CDTF">2016-02-02T08:58:46Z</dcterms:created>
  <dcterms:modified xsi:type="dcterms:W3CDTF">2016-02-04T18:47:28Z</dcterms:modified>
</cp:coreProperties>
</file>