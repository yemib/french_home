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notesMasterIdLst>
    <p:notesMasterId r:id="rId36"/>
  </p:notesMasterIdLst>
  <p:sldIdLst>
    <p:sldId id="256" r:id="rId2"/>
    <p:sldId id="258" r:id="rId3"/>
    <p:sldId id="259" r:id="rId4"/>
    <p:sldId id="260" r:id="rId5"/>
    <p:sldId id="261" r:id="rId6"/>
    <p:sldId id="291" r:id="rId7"/>
    <p:sldId id="262" r:id="rId8"/>
    <p:sldId id="263" r:id="rId9"/>
    <p:sldId id="299" r:id="rId10"/>
    <p:sldId id="264" r:id="rId11"/>
    <p:sldId id="265" r:id="rId12"/>
    <p:sldId id="266" r:id="rId13"/>
    <p:sldId id="267" r:id="rId14"/>
    <p:sldId id="300" r:id="rId15"/>
    <p:sldId id="268" r:id="rId16"/>
    <p:sldId id="269" r:id="rId17"/>
    <p:sldId id="270" r:id="rId18"/>
    <p:sldId id="271" r:id="rId19"/>
    <p:sldId id="272" r:id="rId20"/>
    <p:sldId id="273" r:id="rId21"/>
    <p:sldId id="274" r:id="rId22"/>
    <p:sldId id="292" r:id="rId23"/>
    <p:sldId id="275" r:id="rId24"/>
    <p:sldId id="293" r:id="rId25"/>
    <p:sldId id="276" r:id="rId26"/>
    <p:sldId id="297" r:id="rId27"/>
    <p:sldId id="277" r:id="rId28"/>
    <p:sldId id="296" r:id="rId29"/>
    <p:sldId id="278" r:id="rId30"/>
    <p:sldId id="279" r:id="rId31"/>
    <p:sldId id="294" r:id="rId32"/>
    <p:sldId id="280" r:id="rId33"/>
    <p:sldId id="281" r:id="rId34"/>
    <p:sldId id="282"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72" autoAdjust="0"/>
    <p:restoredTop sz="94565" autoAdjust="0"/>
  </p:normalViewPr>
  <p:slideViewPr>
    <p:cSldViewPr>
      <p:cViewPr varScale="1">
        <p:scale>
          <a:sx n="67" d="100"/>
          <a:sy n="67" d="100"/>
        </p:scale>
        <p:origin x="1392"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95038A-2EB0-4BD6-B120-E09FCBA0292E}" type="datetimeFigureOut">
              <a:rPr lang="en-US" smtClean="0"/>
              <a:pPr/>
              <a:t>2/3/2016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2E832B4-14DC-4E52-9C7B-B59EBCF98051}" type="slidenum">
              <a:rPr lang="en-US" smtClean="0"/>
              <a:pPr/>
              <a:t>‹#›</a:t>
            </a:fld>
            <a:endParaRPr lang="en-US"/>
          </a:p>
        </p:txBody>
      </p:sp>
    </p:spTree>
    <p:extLst>
      <p:ext uri="{BB962C8B-B14F-4D97-AF65-F5344CB8AC3E}">
        <p14:creationId xmlns:p14="http://schemas.microsoft.com/office/powerpoint/2010/main" val="10671407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10FA1371-481E-496E-A97B-75D7DF351B29}" type="datetime1">
              <a:rPr lang="en-US" smtClean="0"/>
              <a:pPr/>
              <a:t>2/3/2016</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67D5B726-40CB-4F73-8E07-08029EDA142D}" type="datetime1">
              <a:rPr lang="en-US" smtClean="0"/>
              <a:pPr/>
              <a:t>2/3/2016</a:t>
            </a:fld>
            <a:endParaRPr lang="en-US"/>
          </a:p>
        </p:txBody>
      </p:sp>
      <p:sp>
        <p:nvSpPr>
          <p:cNvPr id="9" name="Slide Number Placeholder 8"/>
          <p:cNvSpPr>
            <a:spLocks noGrp="1"/>
          </p:cNvSpPr>
          <p:nvPr>
            <p:ph type="sldNum" sz="quarter" idx="15"/>
          </p:nvPr>
        </p:nvSpPr>
        <p:spPr/>
        <p:txBody>
          <a:bodyPr rtlCol="0"/>
          <a:lstStyle/>
          <a:p>
            <a:fld id="{B6F15528-21DE-4FAA-801E-634DDDAF4B2B}"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6A931601-234F-4F4D-8608-363FE3C00E8B}" type="datetime1">
              <a:rPr lang="en-US" smtClean="0"/>
              <a:pPr/>
              <a:t>2/3/2016</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009D3772-AFFE-40B5-8743-6B13AA000959}" type="datetime1">
              <a:rPr lang="en-US" smtClean="0"/>
              <a:pPr/>
              <a:t>2/3/2016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6D6758C6-8CAC-4E0F-BE97-47712E130DEF}" type="datetime1">
              <a:rPr lang="en-US" smtClean="0"/>
              <a:pPr/>
              <a:t>2/3/2016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673EAD4B-3A85-4A61-9AA1-8DAAF9D82075}" type="datetime1">
              <a:rPr lang="en-US" smtClean="0"/>
              <a:pPr/>
              <a:t>2/3/2016</a:t>
            </a:fld>
            <a:endParaRPr lang="en-US"/>
          </a:p>
        </p:txBody>
      </p:sp>
      <p:sp>
        <p:nvSpPr>
          <p:cNvPr id="7" name="Slide Number Placeholder 6"/>
          <p:cNvSpPr>
            <a:spLocks noGrp="1"/>
          </p:cNvSpPr>
          <p:nvPr>
            <p:ph type="sldNum" sz="quarter" idx="11"/>
          </p:nvPr>
        </p:nvSpPr>
        <p:spPr/>
        <p:txBody>
          <a:bodyPr rtlCol="0"/>
          <a:lstStyle/>
          <a:p>
            <a:fld id="{B6F15528-21DE-4FAA-801E-634DDDAF4B2B}"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AE14B0-8425-4DC4-90F7-94C08C62E07F}" type="datetime1">
              <a:rPr lang="en-US" smtClean="0"/>
              <a:pPr/>
              <a:t>2/3/2016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6FA0DB68-D799-4C71-A337-D046555A6547}" type="datetime1">
              <a:rPr lang="en-US" smtClean="0"/>
              <a:pPr/>
              <a:t>2/3/2016</a:t>
            </a:fld>
            <a:endParaRPr lang="en-US"/>
          </a:p>
        </p:txBody>
      </p:sp>
      <p:sp>
        <p:nvSpPr>
          <p:cNvPr id="22" name="Slide Number Placeholder 21"/>
          <p:cNvSpPr>
            <a:spLocks noGrp="1"/>
          </p:cNvSpPr>
          <p:nvPr>
            <p:ph type="sldNum" sz="quarter" idx="15"/>
          </p:nvPr>
        </p:nvSpPr>
        <p:spPr/>
        <p:txBody>
          <a:bodyPr rtlCol="0"/>
          <a:lstStyle/>
          <a:p>
            <a:fld id="{B6F15528-21DE-4FAA-801E-634DDDAF4B2B}"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A2C78A92-5768-4CB3-8F9F-C124EABBB602}" type="datetime1">
              <a:rPr lang="en-US" smtClean="0"/>
              <a:pPr/>
              <a:t>2/3/2016</a:t>
            </a:fld>
            <a:endParaRPr lang="en-US"/>
          </a:p>
        </p:txBody>
      </p:sp>
      <p:sp>
        <p:nvSpPr>
          <p:cNvPr id="18" name="Slide Number Placeholder 17"/>
          <p:cNvSpPr>
            <a:spLocks noGrp="1"/>
          </p:cNvSpPr>
          <p:nvPr>
            <p:ph type="sldNum" sz="quarter" idx="11"/>
          </p:nvPr>
        </p:nvSpPr>
        <p:spPr/>
        <p:txBody>
          <a:bodyPr rtlCol="0"/>
          <a:lstStyle/>
          <a:p>
            <a:fld id="{B6F15528-21DE-4FAA-801E-634DDDAF4B2B}"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9670F16-DE28-4C69-B34C-6A5ECD75084C}" type="datetime1">
              <a:rPr lang="en-US" smtClean="0"/>
              <a:pPr/>
              <a:t>2/3/2016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9A67CDD0-2B25-4D76-A4F7-17549B4AC30B}" type="datetime1">
              <a:rPr lang="en-US" smtClean="0"/>
              <a:pPr/>
              <a:t>2/3/2016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80F972E9-A8E6-41E1-8BF1-521ABC039831}" type="datetime1">
              <a:rPr lang="en-US" smtClean="0"/>
              <a:pPr/>
              <a:t>2/3/2016</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hdr="0" ftr="0" dt="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05000"/>
            <a:ext cx="9144000" cy="1905000"/>
          </a:xfrm>
        </p:spPr>
        <p:style>
          <a:lnRef idx="0">
            <a:schemeClr val="accent4"/>
          </a:lnRef>
          <a:fillRef idx="3">
            <a:schemeClr val="accent4"/>
          </a:fillRef>
          <a:effectRef idx="3">
            <a:schemeClr val="accent4"/>
          </a:effectRef>
          <a:fontRef idx="minor">
            <a:schemeClr val="lt1"/>
          </a:fontRef>
        </p:style>
        <p:txBody>
          <a:bodyPr>
            <a:noAutofit/>
          </a:bodyPr>
          <a:lstStyle/>
          <a:p>
            <a:pPr algn="ct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a:r>
            <a:br>
              <a:rPr lang="en-US" sz="3600" b="1" dirty="0" smtClean="0">
                <a:solidFill>
                  <a:schemeClr val="tx1"/>
                </a:solidFill>
              </a:rPr>
            </a:br>
            <a:r>
              <a:rPr lang="en-US" sz="3600" b="1" dirty="0" smtClean="0">
                <a:solidFill>
                  <a:schemeClr val="tx1"/>
                </a:solidFill>
              </a:rPr>
              <a:t>       EKITI STATE UNIVERSITY,</a:t>
            </a:r>
            <a:br>
              <a:rPr lang="en-US" sz="3600" b="1" dirty="0" smtClean="0">
                <a:solidFill>
                  <a:schemeClr val="tx1"/>
                </a:solidFill>
              </a:rPr>
            </a:br>
            <a:r>
              <a:rPr lang="en-US" sz="3600" b="1" dirty="0" smtClean="0">
                <a:solidFill>
                  <a:schemeClr val="tx1"/>
                </a:solidFill>
              </a:rPr>
              <a:t>ADO-EKITI</a:t>
            </a:r>
            <a:br>
              <a:rPr lang="en-US" sz="3600" b="1" dirty="0" smtClean="0">
                <a:solidFill>
                  <a:schemeClr val="tx1"/>
                </a:solidFill>
              </a:rPr>
            </a:br>
            <a:r>
              <a:rPr lang="en-US" sz="3600" b="1" dirty="0" smtClean="0">
                <a:solidFill>
                  <a:schemeClr val="tx1"/>
                </a:solidFill>
              </a:rPr>
              <a:t>        </a:t>
            </a:r>
            <a:br>
              <a:rPr lang="en-US" sz="3600" b="1" dirty="0" smtClean="0">
                <a:solidFill>
                  <a:schemeClr val="tx1"/>
                </a:solidFill>
              </a:rPr>
            </a:br>
            <a:r>
              <a:rPr lang="en-US" sz="2400" b="1" dirty="0" smtClean="0">
                <a:latin typeface="Times New Roman" pitchFamily="18" charset="0"/>
                <a:cs typeface="Times New Roman" pitchFamily="18" charset="0"/>
              </a:rPr>
              <a:t>FINANCIAL ADMINISTRATION PROCESSES BOTTLENECKS REGARDING PAYMENTS OF VARIOUS FEES SERVICING OF COMMITTEES IN THE UNIVERSITY: CHALLENGES AND WAY FORWARD IN PURCHASING OF OFFICIAL MATERIAL</a:t>
            </a:r>
            <a:r>
              <a:rPr lang="en-US" sz="2400" dirty="0" smtClean="0">
                <a:latin typeface="Times New Roman" pitchFamily="18" charset="0"/>
                <a:cs typeface="Times New Roman" pitchFamily="18" charset="0"/>
              </a:rPr>
              <a:t/>
            </a:r>
            <a:br>
              <a:rPr lang="en-US" sz="2400" dirty="0" smtClean="0">
                <a:latin typeface="Times New Roman" pitchFamily="18" charset="0"/>
                <a:cs typeface="Times New Roman" pitchFamily="18" charset="0"/>
              </a:rPr>
            </a:br>
            <a:endParaRPr lang="en-US" sz="2400" b="1" dirty="0">
              <a:solidFill>
                <a:schemeClr val="tx1"/>
              </a:solidFill>
              <a:latin typeface="Times New Roman" pitchFamily="18" charset="0"/>
              <a:cs typeface="Times New Roman" pitchFamily="18" charset="0"/>
            </a:endParaRPr>
          </a:p>
        </p:txBody>
      </p:sp>
      <p:sp>
        <p:nvSpPr>
          <p:cNvPr id="3" name="Content Placeholder 2"/>
          <p:cNvSpPr>
            <a:spLocks noGrp="1"/>
          </p:cNvSpPr>
          <p:nvPr>
            <p:ph sz="quarter" idx="1"/>
          </p:nvPr>
        </p:nvSpPr>
        <p:spPr>
          <a:xfrm>
            <a:off x="609600" y="3429000"/>
            <a:ext cx="7696200" cy="3429000"/>
          </a:xfrm>
        </p:spPr>
        <p:txBody>
          <a:bodyPr>
            <a:normAutofit/>
          </a:bodyPr>
          <a:lstStyle/>
          <a:p>
            <a:pPr algn="ctr">
              <a:buNone/>
            </a:pPr>
            <a:r>
              <a:rPr lang="en-US" b="1" dirty="0" smtClean="0">
                <a:ln w="18000">
                  <a:solidFill>
                    <a:schemeClr val="accent2">
                      <a:satMod val="140000"/>
                    </a:schemeClr>
                  </a:solidFill>
                  <a:prstDash val="solid"/>
                  <a:miter lim="800000"/>
                </a:ln>
                <a:solidFill>
                  <a:schemeClr val="accent3">
                    <a:lumMod val="75000"/>
                  </a:schemeClr>
                </a:solidFill>
                <a:effectLst>
                  <a:outerShdw blurRad="25500" dist="23000" dir="7020000" algn="tl">
                    <a:srgbClr val="000000">
                      <a:alpha val="50000"/>
                    </a:srgbClr>
                  </a:outerShdw>
                </a:effectLst>
                <a:latin typeface="Times New Roman" pitchFamily="18" charset="0"/>
                <a:cs typeface="Times New Roman" pitchFamily="18" charset="0"/>
              </a:rPr>
              <a:t>      </a:t>
            </a:r>
          </a:p>
          <a:p>
            <a:pPr algn="ctr">
              <a:buNone/>
            </a:pPr>
            <a:endParaRPr lang="en-US" b="1" dirty="0" smtClean="0">
              <a:ln w="18000">
                <a:solidFill>
                  <a:schemeClr val="accent2">
                    <a:satMod val="140000"/>
                  </a:schemeClr>
                </a:solidFill>
                <a:prstDash val="solid"/>
                <a:miter lim="800000"/>
              </a:ln>
              <a:solidFill>
                <a:schemeClr val="accent3">
                  <a:lumMod val="75000"/>
                </a:schemeClr>
              </a:solidFill>
              <a:effectLst>
                <a:outerShdw blurRad="25500" dist="23000" dir="7020000" algn="tl">
                  <a:srgbClr val="000000">
                    <a:alpha val="50000"/>
                  </a:srgbClr>
                </a:outerShdw>
              </a:effectLst>
              <a:latin typeface="Times New Roman" pitchFamily="18" charset="0"/>
              <a:cs typeface="Times New Roman" pitchFamily="18" charset="0"/>
            </a:endParaRPr>
          </a:p>
          <a:p>
            <a:pPr algn="ctr">
              <a:buNone/>
            </a:pPr>
            <a:r>
              <a:rPr lang="en-US" b="1" dirty="0" smtClean="0">
                <a:ln w="18000">
                  <a:solidFill>
                    <a:schemeClr val="accent2">
                      <a:satMod val="140000"/>
                    </a:schemeClr>
                  </a:solidFill>
                  <a:prstDash val="solid"/>
                  <a:miter lim="800000"/>
                </a:ln>
                <a:solidFill>
                  <a:schemeClr val="accent3">
                    <a:lumMod val="75000"/>
                  </a:schemeClr>
                </a:solidFill>
                <a:effectLst>
                  <a:outerShdw blurRad="25500" dist="23000" dir="7020000" algn="tl">
                    <a:srgbClr val="000000">
                      <a:alpha val="50000"/>
                    </a:srgbClr>
                  </a:outerShdw>
                </a:effectLst>
                <a:latin typeface="Times New Roman" pitchFamily="18" charset="0"/>
                <a:cs typeface="Times New Roman" pitchFamily="18" charset="0"/>
              </a:rPr>
              <a:t>PRESENTED  BY </a:t>
            </a:r>
          </a:p>
          <a:p>
            <a:pPr algn="ctr">
              <a:buNone/>
            </a:pPr>
            <a:r>
              <a:rPr lang="en-US" b="1" dirty="0" smtClean="0">
                <a:ln w="18000">
                  <a:solidFill>
                    <a:schemeClr val="accent2">
                      <a:satMod val="140000"/>
                    </a:schemeClr>
                  </a:solidFill>
                  <a:prstDash val="solid"/>
                  <a:miter lim="800000"/>
                </a:ln>
                <a:solidFill>
                  <a:schemeClr val="accent3">
                    <a:lumMod val="75000"/>
                  </a:schemeClr>
                </a:solidFill>
                <a:effectLst>
                  <a:outerShdw blurRad="25500" dist="23000" dir="7020000" algn="tl">
                    <a:srgbClr val="000000">
                      <a:alpha val="50000"/>
                    </a:srgbClr>
                  </a:outerShdw>
                </a:effectLst>
                <a:latin typeface="Times New Roman" pitchFamily="18" charset="0"/>
                <a:cs typeface="Times New Roman" pitchFamily="18" charset="0"/>
              </a:rPr>
              <a:t>MR A. T. TAIWO  (FCA) </a:t>
            </a:r>
          </a:p>
          <a:p>
            <a:pPr algn="ctr">
              <a:buNone/>
            </a:pPr>
            <a:r>
              <a:rPr lang="en-US" b="1" dirty="0" smtClean="0">
                <a:ln w="18000">
                  <a:solidFill>
                    <a:schemeClr val="accent2">
                      <a:satMod val="140000"/>
                    </a:schemeClr>
                  </a:solidFill>
                  <a:prstDash val="solid"/>
                  <a:miter lim="800000"/>
                </a:ln>
                <a:solidFill>
                  <a:schemeClr val="accent3">
                    <a:lumMod val="75000"/>
                  </a:schemeClr>
                </a:solidFill>
                <a:effectLst>
                  <a:outerShdw blurRad="25500" dist="23000" dir="7020000" algn="tl">
                    <a:srgbClr val="000000">
                      <a:alpha val="50000"/>
                    </a:srgbClr>
                  </a:outerShdw>
                </a:effectLst>
                <a:latin typeface="Times New Roman" pitchFamily="18" charset="0"/>
                <a:cs typeface="Times New Roman" pitchFamily="18" charset="0"/>
              </a:rPr>
              <a:t>UNIVERSITY  BURSAR</a:t>
            </a:r>
          </a:p>
          <a:p>
            <a:pPr algn="ctr">
              <a:buNone/>
            </a:pPr>
            <a:endParaRPr lang="en-US" b="1" dirty="0" smtClean="0">
              <a:ln w="18000">
                <a:solidFill>
                  <a:schemeClr val="accent2">
                    <a:satMod val="140000"/>
                  </a:schemeClr>
                </a:solidFill>
                <a:prstDash val="solid"/>
                <a:miter lim="800000"/>
              </a:ln>
              <a:solidFill>
                <a:schemeClr val="accent3">
                  <a:lumMod val="75000"/>
                </a:schemeClr>
              </a:solidFill>
              <a:effectLst>
                <a:outerShdw blurRad="25500" dist="23000" dir="7020000" algn="tl">
                  <a:srgbClr val="000000">
                    <a:alpha val="50000"/>
                  </a:srgbClr>
                </a:outerShdw>
              </a:effectLst>
              <a:latin typeface="Times New Roman" pitchFamily="18" charset="0"/>
              <a:cs typeface="Times New Roman" pitchFamily="18" charset="0"/>
            </a:endParaRPr>
          </a:p>
          <a:p>
            <a:pPr>
              <a:buNone/>
            </a:pPr>
            <a:endParaRPr lang="en-US" dirty="0"/>
          </a:p>
        </p:txBody>
      </p:sp>
      <p:pic>
        <p:nvPicPr>
          <p:cNvPr id="1026" name="Picture 2" descr="C:\Users\AMIRA\Desktop\af.jpg"/>
          <p:cNvPicPr>
            <a:picLocks noChangeAspect="1" noChangeArrowheads="1"/>
          </p:cNvPicPr>
          <p:nvPr/>
        </p:nvPicPr>
        <p:blipFill>
          <a:blip r:embed="rId2"/>
          <a:srcRect/>
          <a:stretch>
            <a:fillRect/>
          </a:stretch>
        </p:blipFill>
        <p:spPr bwMode="auto">
          <a:xfrm>
            <a:off x="152400" y="0"/>
            <a:ext cx="1400175" cy="1447800"/>
          </a:xfrm>
          <a:prstGeom prst="rect">
            <a:avLst/>
          </a:prstGeom>
          <a:noFill/>
        </p:spPr>
      </p:pic>
      <p:sp>
        <p:nvSpPr>
          <p:cNvPr id="6" name="Slide Number Placeholder 5"/>
          <p:cNvSpPr>
            <a:spLocks noGrp="1"/>
          </p:cNvSpPr>
          <p:nvPr>
            <p:ph type="sldNum" sz="quarter" idx="15"/>
          </p:nvPr>
        </p:nvSpPr>
        <p:spPr/>
        <p:txBody>
          <a:bodyPr/>
          <a:lstStyle/>
          <a:p>
            <a:fld id="{B6F15528-21DE-4FAA-801E-634DDDAF4B2B}" type="slidenum">
              <a:rPr lang="en-US" smtClean="0"/>
              <a:pPr/>
              <a:t>1</a:t>
            </a:fld>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0"/>
            <a:ext cx="8153400" cy="1219200"/>
          </a:xfrm>
        </p:spPr>
        <p:style>
          <a:lnRef idx="1">
            <a:schemeClr val="accent2"/>
          </a:lnRef>
          <a:fillRef idx="2">
            <a:schemeClr val="accent2"/>
          </a:fillRef>
          <a:effectRef idx="1">
            <a:schemeClr val="accent2"/>
          </a:effectRef>
          <a:fontRef idx="minor">
            <a:schemeClr val="dk1"/>
          </a:fontRef>
        </p:style>
        <p:txBody>
          <a:bodyPr>
            <a:normAutofit fontScale="90000"/>
          </a:bodyPr>
          <a:lstStyle/>
          <a:p>
            <a:pPr algn="ctr">
              <a:lnSpc>
                <a:spcPct val="150000"/>
              </a:lnSpc>
            </a:pPr>
            <a:r>
              <a:rPr lang="en-US" b="1" dirty="0" smtClean="0"/>
              <a:t>EKITI STATE UNIVERSITY, ADO-EKITI </a:t>
            </a:r>
            <a:br>
              <a:rPr lang="en-US" b="1" dirty="0" smtClean="0"/>
            </a:br>
            <a:r>
              <a:rPr lang="en-US" sz="3400" b="1" dirty="0" smtClean="0"/>
              <a:t>academic summit</a:t>
            </a:r>
            <a:endParaRPr lang="en-US" sz="3400" b="1" dirty="0"/>
          </a:p>
        </p:txBody>
      </p:sp>
      <p:sp>
        <p:nvSpPr>
          <p:cNvPr id="3" name="Content Placeholder 2"/>
          <p:cNvSpPr>
            <a:spLocks noGrp="1"/>
          </p:cNvSpPr>
          <p:nvPr>
            <p:ph sz="quarter" idx="1"/>
          </p:nvPr>
        </p:nvSpPr>
        <p:spPr>
          <a:xfrm>
            <a:off x="457200" y="1143000"/>
            <a:ext cx="8229600" cy="4953000"/>
          </a:xfrm>
        </p:spPr>
        <p:txBody>
          <a:bodyPr>
            <a:normAutofit lnSpcReduction="10000"/>
          </a:bodyPr>
          <a:lstStyle/>
          <a:p>
            <a:pPr>
              <a:buNone/>
            </a:pPr>
            <a:endParaRPr lang="en-US" b="1" dirty="0" smtClean="0"/>
          </a:p>
          <a:p>
            <a:pPr algn="just">
              <a:buNone/>
            </a:pPr>
            <a:r>
              <a:rPr lang="en-US" b="1" dirty="0" smtClean="0"/>
              <a:t>INTRODUCTION</a:t>
            </a:r>
          </a:p>
          <a:p>
            <a:pPr algn="just"/>
            <a:r>
              <a:rPr lang="en-US" dirty="0" smtClean="0"/>
              <a:t>Financial Administration and Management in the University is the process of establishing financial prudence in the allocation and utilization of the monetary resources of the institution. It is in the planning and use of resources that Universities have the greatest opportunity to improve their efficiency and cost effectiveness. And this involves co-ordination, control and periodic evaluation of the whole financial system of the University, including the internal audit extending beyond compliance, probability and systems audit, to a value for money audit.</a:t>
            </a:r>
          </a:p>
          <a:p>
            <a:pPr algn="just"/>
            <a:endParaRPr lang="en-US" dirty="0">
              <a:latin typeface="Times New Roman" pitchFamily="18" charset="0"/>
              <a:cs typeface="Times New Roman" pitchFamily="18" charset="0"/>
            </a:endParaRPr>
          </a:p>
        </p:txBody>
      </p:sp>
      <p:pic>
        <p:nvPicPr>
          <p:cNvPr id="2050" name="Picture 2" descr="C:\Users\AMIRA\Desktop\af.jpg"/>
          <p:cNvPicPr>
            <a:picLocks noChangeAspect="1" noChangeArrowheads="1"/>
          </p:cNvPicPr>
          <p:nvPr/>
        </p:nvPicPr>
        <p:blipFill>
          <a:blip r:embed="rId2"/>
          <a:srcRect/>
          <a:stretch>
            <a:fillRect/>
          </a:stretch>
        </p:blipFill>
        <p:spPr bwMode="auto">
          <a:xfrm>
            <a:off x="1" y="1"/>
            <a:ext cx="990599" cy="1142999"/>
          </a:xfrm>
          <a:prstGeom prst="rect">
            <a:avLst/>
          </a:prstGeom>
          <a:noFill/>
        </p:spPr>
      </p:pic>
      <p:sp>
        <p:nvSpPr>
          <p:cNvPr id="5" name="Slide Number Placeholder 4"/>
          <p:cNvSpPr>
            <a:spLocks noGrp="1"/>
          </p:cNvSpPr>
          <p:nvPr>
            <p:ph type="sldNum" sz="quarter" idx="15"/>
          </p:nvPr>
        </p:nvSpPr>
        <p:spPr/>
        <p:txBody>
          <a:bodyPr/>
          <a:lstStyle/>
          <a:p>
            <a:fld id="{B6F15528-21DE-4FAA-801E-634DDDAF4B2B}" type="slidenum">
              <a:rPr lang="en-US" smtClean="0"/>
              <a:pPr/>
              <a:t>2</a:t>
            </a:fld>
            <a:endParaRPr lang="en-US"/>
          </a:p>
        </p:txBody>
      </p:sp>
    </p:spTree>
  </p:cSld>
  <p:clrMapOvr>
    <a:masterClrMapping/>
  </p:clrMapOvr>
  <p:transition>
    <p:dissolv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1143000"/>
            <a:ext cx="7467600" cy="5029200"/>
          </a:xfrm>
        </p:spPr>
        <p:txBody>
          <a:bodyPr>
            <a:normAutofit fontScale="92500" lnSpcReduction="20000"/>
          </a:bodyPr>
          <a:lstStyle/>
          <a:p>
            <a:pPr>
              <a:buNone/>
            </a:pPr>
            <a:r>
              <a:rPr lang="en-US" b="1" dirty="0" smtClean="0"/>
              <a:t>	</a:t>
            </a:r>
          </a:p>
          <a:p>
            <a:pPr>
              <a:buNone/>
            </a:pPr>
            <a:endParaRPr lang="en-US" b="1" dirty="0" smtClean="0"/>
          </a:p>
          <a:p>
            <a:pPr algn="just">
              <a:buNone/>
            </a:pPr>
            <a:r>
              <a:rPr lang="en-US" dirty="0" smtClean="0"/>
              <a:t>    The Bursar is the chief financial officer of the University. He is responsible to the Vice-Chancellor in all matters relating to finance, in particular disbursement of funds, financial accounting and treasury services, superannuation, pensions, gratuity, loans and insurance as well as certain planning and budgeting activities. He and his senior professional staff are to see to it that financial regulations are made, published in a Manual of Financial Procedures and followed to ensure efficient use of the funds allocated to, or generated by the University. Such regulations should however, be such as not to hold up unduly the performance of the duties of the department.</a:t>
            </a:r>
          </a:p>
          <a:p>
            <a:endParaRPr lang="en-US" dirty="0"/>
          </a:p>
        </p:txBody>
      </p:sp>
      <p:sp>
        <p:nvSpPr>
          <p:cNvPr id="7" name="Title 1"/>
          <p:cNvSpPr>
            <a:spLocks noGrp="1"/>
          </p:cNvSpPr>
          <p:nvPr>
            <p:ph type="title"/>
          </p:nvPr>
        </p:nvSpPr>
        <p:spPr>
          <a:xfrm>
            <a:off x="1066800" y="-76200"/>
            <a:ext cx="8077200" cy="1295400"/>
          </a:xfrm>
        </p:spPr>
        <p:style>
          <a:lnRef idx="1">
            <a:schemeClr val="accent2"/>
          </a:lnRef>
          <a:fillRef idx="2">
            <a:schemeClr val="accent2"/>
          </a:fillRef>
          <a:effectRef idx="1">
            <a:schemeClr val="accent2"/>
          </a:effectRef>
          <a:fontRef idx="minor">
            <a:schemeClr val="dk1"/>
          </a:fontRef>
        </p:style>
        <p:txBody>
          <a:bodyPr>
            <a:normAutofit fontScale="90000"/>
          </a:bodyPr>
          <a:lstStyle/>
          <a:p>
            <a:pPr algn="ctr">
              <a:lnSpc>
                <a:spcPct val="150000"/>
              </a:lnSpc>
            </a:pPr>
            <a:r>
              <a:rPr lang="en-US" b="1" dirty="0" smtClean="0"/>
              <a:t>EKITI STATE UNIVERSITY, ADO-EKITI </a:t>
            </a:r>
            <a:br>
              <a:rPr lang="en-US" b="1" dirty="0" smtClean="0"/>
            </a:br>
            <a:r>
              <a:rPr lang="en-US" sz="3400" b="1" dirty="0" smtClean="0"/>
              <a:t>academic summit</a:t>
            </a:r>
            <a:endParaRPr lang="en-US" sz="3400" dirty="0"/>
          </a:p>
        </p:txBody>
      </p:sp>
      <p:pic>
        <p:nvPicPr>
          <p:cNvPr id="3074" name="Picture 2" descr="C:\Users\AMIRA\Desktop\af.jpg"/>
          <p:cNvPicPr>
            <a:picLocks noChangeAspect="1" noChangeArrowheads="1"/>
          </p:cNvPicPr>
          <p:nvPr/>
        </p:nvPicPr>
        <p:blipFill>
          <a:blip r:embed="rId2"/>
          <a:srcRect/>
          <a:stretch>
            <a:fillRect/>
          </a:stretch>
        </p:blipFill>
        <p:spPr bwMode="auto">
          <a:xfrm>
            <a:off x="2" y="1"/>
            <a:ext cx="990598" cy="1295399"/>
          </a:xfrm>
          <a:prstGeom prst="rect">
            <a:avLst/>
          </a:prstGeom>
          <a:noFill/>
        </p:spPr>
      </p:pic>
      <p:sp>
        <p:nvSpPr>
          <p:cNvPr id="5" name="Slide Number Placeholder 4"/>
          <p:cNvSpPr>
            <a:spLocks noGrp="1"/>
          </p:cNvSpPr>
          <p:nvPr>
            <p:ph type="sldNum" sz="quarter" idx="15"/>
          </p:nvPr>
        </p:nvSpPr>
        <p:spPr/>
        <p:txBody>
          <a:bodyPr/>
          <a:lstStyle/>
          <a:p>
            <a:fld id="{B6F15528-21DE-4FAA-801E-634DDDAF4B2B}" type="slidenum">
              <a:rPr lang="en-US" smtClean="0"/>
              <a:pPr/>
              <a:t>3</a:t>
            </a:fld>
            <a:endParaRPr lang="en-US"/>
          </a:p>
        </p:txBody>
      </p:sp>
    </p:spTree>
  </p:cSld>
  <p:clrMapOvr>
    <a:masterClrMapping/>
  </p:clrMapOvr>
  <p:transition>
    <p:cut thruBlk="1"/>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914400"/>
            <a:ext cx="8229600" cy="1143000"/>
          </a:xfrm>
        </p:spPr>
        <p:txBody>
          <a:bodyPr>
            <a:normAutofit fontScale="90000"/>
          </a:bodyPr>
          <a:lstStyle/>
          <a:p>
            <a:pPr algn="ctr"/>
            <a:r>
              <a:rPr lang="en-US" dirty="0" smtClean="0"/>
              <a:t>       </a:t>
            </a:r>
            <a:r>
              <a:rPr lang="en-US" sz="2200" b="1" dirty="0" smtClean="0">
                <a:latin typeface="Times New Roman" pitchFamily="18" charset="0"/>
                <a:cs typeface="Times New Roman" pitchFamily="18" charset="0"/>
              </a:rPr>
              <a:t>FINANCIAL ADMINISTRATION PROCESSES   BOTTLENECKS REGARDING PAYMENTS OF VARIOUS FEES SERVICING OF COMMITTEES IN THE UNIVERSITY: CHALLENGES AND WAY FORWARD IN PURCHASING OF OFFICIAL MATERIAL</a:t>
            </a:r>
            <a:r>
              <a:rPr lang="en-US" sz="2200" dirty="0" smtClean="0">
                <a:latin typeface="Times New Roman" pitchFamily="18" charset="0"/>
                <a:cs typeface="Times New Roman" pitchFamily="18" charset="0"/>
              </a:rPr>
              <a:t/>
            </a:r>
            <a:br>
              <a:rPr lang="en-US" sz="2200" dirty="0" smtClean="0">
                <a:latin typeface="Times New Roman" pitchFamily="18" charset="0"/>
                <a:cs typeface="Times New Roman" pitchFamily="18" charset="0"/>
              </a:rPr>
            </a:br>
            <a:endParaRPr lang="en-US" sz="2200" dirty="0"/>
          </a:p>
        </p:txBody>
      </p:sp>
      <p:sp>
        <p:nvSpPr>
          <p:cNvPr id="3" name="Content Placeholder 2"/>
          <p:cNvSpPr>
            <a:spLocks noGrp="1"/>
          </p:cNvSpPr>
          <p:nvPr>
            <p:ph sz="quarter" idx="1"/>
          </p:nvPr>
        </p:nvSpPr>
        <p:spPr>
          <a:xfrm>
            <a:off x="457200" y="1981200"/>
            <a:ext cx="8229600" cy="4343400"/>
          </a:xfrm>
        </p:spPr>
        <p:txBody>
          <a:bodyPr>
            <a:normAutofit/>
          </a:bodyPr>
          <a:lstStyle/>
          <a:p>
            <a:pPr algn="ctr">
              <a:buNone/>
            </a:pPr>
            <a:r>
              <a:rPr lang="en-US" b="1" dirty="0" smtClean="0"/>
              <a:t>	The Relationship between the Bursar </a:t>
            </a:r>
          </a:p>
          <a:p>
            <a:pPr algn="ctr">
              <a:buNone/>
            </a:pPr>
            <a:r>
              <a:rPr lang="en-US" b="1" dirty="0" smtClean="0"/>
              <a:t>and the Dean</a:t>
            </a:r>
            <a:endParaRPr lang="en-US" dirty="0" smtClean="0"/>
          </a:p>
          <a:p>
            <a:pPr>
              <a:buNone/>
            </a:pPr>
            <a:r>
              <a:rPr lang="en-US" dirty="0" smtClean="0"/>
              <a:t>	The Bursar has a most interesting relationship with the Dean. The resources of the University, first and foremost, are for the development of academic pursuits of the University. The Dean understands this and he demands it. He does not understand the position of the Bursar when the Bursar maintains that he has obligation to ensure that the infrastructures of the University are kept in a state of good repair. </a:t>
            </a:r>
            <a:endParaRPr lang="en-US" dirty="0"/>
          </a:p>
        </p:txBody>
      </p:sp>
      <p:sp>
        <p:nvSpPr>
          <p:cNvPr id="5" name="Title 1"/>
          <p:cNvSpPr txBox="1">
            <a:spLocks/>
          </p:cNvSpPr>
          <p:nvPr/>
        </p:nvSpPr>
        <p:spPr>
          <a:xfrm>
            <a:off x="990600" y="0"/>
            <a:ext cx="8153400" cy="1676400"/>
          </a:xfrm>
          <a:prstGeom prst="rect">
            <a:avLst/>
          </a:prstGeom>
        </p:spPr>
        <p:style>
          <a:lnRef idx="1">
            <a:schemeClr val="accent2"/>
          </a:lnRef>
          <a:fillRef idx="2">
            <a:schemeClr val="accent2"/>
          </a:fillRef>
          <a:effectRef idx="1">
            <a:schemeClr val="accent2"/>
          </a:effectRef>
          <a:fontRef idx="minor">
            <a:schemeClr val="dk1"/>
          </a:fontRef>
        </p:style>
        <p:txBody>
          <a:bodyPr vert="horz" anchor="b">
            <a:normAutofit fontScale="97500"/>
          </a:bodyPr>
          <a:lstStyle/>
          <a:p>
            <a:pPr lvl="0" algn="ctr">
              <a:lnSpc>
                <a:spcPct val="150000"/>
              </a:lnSpc>
              <a:spcBef>
                <a:spcPct val="0"/>
              </a:spcBef>
            </a:pPr>
            <a:r>
              <a:rPr kumimoji="0" lang="en-US" sz="3000" b="0" i="0" u="none" strike="noStrike" kern="1200" cap="small" spc="0" normalizeH="0" baseline="0" noProof="0" dirty="0" smtClean="0">
                <a:ln>
                  <a:noFill/>
                </a:ln>
                <a:solidFill>
                  <a:schemeClr val="dk1"/>
                </a:solidFill>
                <a:effectLst/>
                <a:uLnTx/>
                <a:uFillTx/>
                <a:latin typeface="+mn-lt"/>
                <a:ea typeface="+mn-ea"/>
                <a:cs typeface="+mn-cs"/>
              </a:rPr>
              <a:t>    </a:t>
            </a:r>
            <a:r>
              <a:rPr lang="en-US" sz="2800" b="1" dirty="0" smtClean="0"/>
              <a:t>EKITI STATE UNIVERSITY, ADO-EKITI</a:t>
            </a:r>
            <a:br>
              <a:rPr lang="en-US" sz="2800" b="1" dirty="0" smtClean="0"/>
            </a:br>
            <a:r>
              <a:rPr lang="en-US" sz="3200" b="1" dirty="0" smtClean="0"/>
              <a:t>ACADEMIC SUMMIT</a:t>
            </a:r>
            <a:endParaRPr kumimoji="0" lang="en-US" sz="3200" b="0" i="0" u="none" strike="noStrike" kern="1200" cap="small" spc="0" normalizeH="0" baseline="0" noProof="0" dirty="0">
              <a:ln>
                <a:noFill/>
              </a:ln>
              <a:solidFill>
                <a:schemeClr val="dk1"/>
              </a:solidFill>
              <a:effectLst/>
              <a:uLnTx/>
              <a:uFillTx/>
              <a:latin typeface="+mn-lt"/>
              <a:ea typeface="+mn-ea"/>
              <a:cs typeface="+mn-cs"/>
            </a:endParaRPr>
          </a:p>
        </p:txBody>
      </p:sp>
      <p:pic>
        <p:nvPicPr>
          <p:cNvPr id="4099" name="Picture 3" descr="C:\Users\AMIRA\Desktop\af.jpg"/>
          <p:cNvPicPr>
            <a:picLocks noChangeAspect="1" noChangeArrowheads="1"/>
          </p:cNvPicPr>
          <p:nvPr/>
        </p:nvPicPr>
        <p:blipFill>
          <a:blip r:embed="rId2"/>
          <a:srcRect/>
          <a:stretch>
            <a:fillRect/>
          </a:stretch>
        </p:blipFill>
        <p:spPr bwMode="auto">
          <a:xfrm>
            <a:off x="0" y="0"/>
            <a:ext cx="838200" cy="1143000"/>
          </a:xfrm>
          <a:prstGeom prst="rect">
            <a:avLst/>
          </a:prstGeom>
          <a:noFill/>
        </p:spPr>
      </p:pic>
      <p:sp>
        <p:nvSpPr>
          <p:cNvPr id="6" name="Slide Number Placeholder 5"/>
          <p:cNvSpPr>
            <a:spLocks noGrp="1"/>
          </p:cNvSpPr>
          <p:nvPr>
            <p:ph type="sldNum" sz="quarter" idx="15"/>
          </p:nvPr>
        </p:nvSpPr>
        <p:spPr/>
        <p:txBody>
          <a:bodyPr/>
          <a:lstStyle/>
          <a:p>
            <a:fld id="{B6F15528-21DE-4FAA-801E-634DDDAF4B2B}" type="slidenum">
              <a:rPr lang="en-US" smtClean="0"/>
              <a:pPr/>
              <a:t>4</a:t>
            </a:fld>
            <a:endParaRPr lang="en-US"/>
          </a:p>
        </p:txBody>
      </p:sp>
    </p:spTree>
  </p:cSld>
  <p:clrMapOvr>
    <a:masterClrMapping/>
  </p:clrMapOvr>
  <p:transition>
    <p:wip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0"/>
            <a:ext cx="8229600" cy="1143000"/>
          </a:xfrm>
        </p:spPr>
        <p:txBody>
          <a:bodyPr>
            <a:normAutofit fontScale="90000"/>
          </a:bodyPr>
          <a:lstStyle/>
          <a:p>
            <a:pPr algn="ctr"/>
            <a:r>
              <a:rPr lang="en-US" dirty="0" smtClean="0"/>
              <a:t>    	</a:t>
            </a:r>
            <a:r>
              <a:rPr lang="en-US" sz="2200" b="1" dirty="0" smtClean="0">
                <a:latin typeface="Times New Roman" pitchFamily="18" charset="0"/>
                <a:cs typeface="Times New Roman" pitchFamily="18" charset="0"/>
              </a:rPr>
              <a:t>FINANCIAL ADMINISTRATION PROCESSES   BOTTLENECKS REGARDING PAYMENTS OF VARIOUS FEES SERVICING OF COMMITTEES IN THE UNIVERSITY: CHALLENGES AND WAY FORWARD IN PURCHASING OF OFFICIAL MATERIAL</a:t>
            </a:r>
            <a:r>
              <a:rPr lang="en-US" sz="2200" dirty="0" smtClean="0">
                <a:latin typeface="Times New Roman" pitchFamily="18" charset="0"/>
                <a:cs typeface="Times New Roman" pitchFamily="18" charset="0"/>
              </a:rPr>
              <a:t/>
            </a:r>
            <a:br>
              <a:rPr lang="en-US" sz="2200" dirty="0" smtClean="0">
                <a:latin typeface="Times New Roman" pitchFamily="18" charset="0"/>
                <a:cs typeface="Times New Roman" pitchFamily="18" charset="0"/>
              </a:rPr>
            </a:br>
            <a:endParaRPr lang="en-US" sz="2200" dirty="0"/>
          </a:p>
        </p:txBody>
      </p:sp>
      <p:sp>
        <p:nvSpPr>
          <p:cNvPr id="3" name="Content Placeholder 2"/>
          <p:cNvSpPr>
            <a:spLocks noGrp="1"/>
          </p:cNvSpPr>
          <p:nvPr>
            <p:ph sz="quarter" idx="1"/>
          </p:nvPr>
        </p:nvSpPr>
        <p:spPr>
          <a:xfrm>
            <a:off x="457200" y="1752600"/>
            <a:ext cx="8229600" cy="4495800"/>
          </a:xfrm>
        </p:spPr>
        <p:txBody>
          <a:bodyPr>
            <a:normAutofit/>
          </a:bodyPr>
          <a:lstStyle/>
          <a:p>
            <a:pPr algn="just">
              <a:buNone/>
            </a:pPr>
            <a:r>
              <a:rPr lang="en-US" sz="3400" b="1" dirty="0" smtClean="0">
                <a:latin typeface="Times New Roman" pitchFamily="18" charset="0"/>
                <a:cs typeface="Times New Roman" pitchFamily="18" charset="0"/>
              </a:rPr>
              <a:t>	</a:t>
            </a:r>
            <a:r>
              <a:rPr lang="en-US" dirty="0" smtClean="0"/>
              <a:t>The Bursar knows that it is his duty to allocate the available resources adequately among the competing demands of the University. He is therefore, in constant conflict with the Dean who understandably argues forcefully for his Faculty and Departments and Unit under him. Again, it is the duty of the Vice-Chancellor to understand the interrelationships between these officers and ensure that they are used effectively.</a:t>
            </a:r>
          </a:p>
          <a:p>
            <a:pPr algn="just">
              <a:buNone/>
            </a:pPr>
            <a:endParaRPr lang="en-US" dirty="0"/>
          </a:p>
        </p:txBody>
      </p:sp>
      <p:sp>
        <p:nvSpPr>
          <p:cNvPr id="5" name="Title 1"/>
          <p:cNvSpPr txBox="1">
            <a:spLocks/>
          </p:cNvSpPr>
          <p:nvPr/>
        </p:nvSpPr>
        <p:spPr>
          <a:xfrm>
            <a:off x="990600" y="0"/>
            <a:ext cx="8153400" cy="1600200"/>
          </a:xfrm>
          <a:prstGeom prst="rect">
            <a:avLst/>
          </a:prstGeom>
        </p:spPr>
        <p:style>
          <a:lnRef idx="1">
            <a:schemeClr val="accent2"/>
          </a:lnRef>
          <a:fillRef idx="2">
            <a:schemeClr val="accent2"/>
          </a:fillRef>
          <a:effectRef idx="1">
            <a:schemeClr val="accent2"/>
          </a:effectRef>
          <a:fontRef idx="minor">
            <a:schemeClr val="dk1"/>
          </a:fontRef>
        </p:style>
        <p:txBody>
          <a:bodyPr vert="horz" anchor="b">
            <a:normAutofit fontScale="97500"/>
          </a:bodyPr>
          <a:lstStyle/>
          <a:p>
            <a:pPr lvl="0" algn="ctr">
              <a:lnSpc>
                <a:spcPct val="150000"/>
              </a:lnSpc>
              <a:spcBef>
                <a:spcPct val="0"/>
              </a:spcBef>
            </a:pPr>
            <a:r>
              <a:rPr kumimoji="0" lang="en-US" sz="3000" b="0" i="0" u="none" strike="noStrike" kern="1200" cap="small" spc="0" normalizeH="0" baseline="0" noProof="0" dirty="0" smtClean="0">
                <a:ln>
                  <a:noFill/>
                </a:ln>
                <a:solidFill>
                  <a:schemeClr val="dk1"/>
                </a:solidFill>
                <a:effectLst/>
                <a:uLnTx/>
                <a:uFillTx/>
                <a:latin typeface="+mn-lt"/>
                <a:ea typeface="+mn-ea"/>
                <a:cs typeface="+mn-cs"/>
              </a:rPr>
              <a:t>   </a:t>
            </a:r>
            <a:r>
              <a:rPr lang="en-US" sz="2800" b="1" dirty="0" smtClean="0"/>
              <a:t>EKITI STATE UNIVERSITY, ADO-EKITI</a:t>
            </a:r>
            <a:br>
              <a:rPr lang="en-US" sz="2800" b="1" dirty="0" smtClean="0"/>
            </a:br>
            <a:r>
              <a:rPr lang="en-US" sz="3200" b="1" dirty="0" smtClean="0"/>
              <a:t>ACADEMIC SUMMIT</a:t>
            </a:r>
            <a:endParaRPr kumimoji="0" lang="en-US" sz="3200" b="0" i="0" u="none" strike="noStrike" kern="1200" cap="small" spc="0" normalizeH="0" baseline="0" noProof="0" dirty="0">
              <a:ln>
                <a:noFill/>
              </a:ln>
              <a:solidFill>
                <a:schemeClr val="dk1"/>
              </a:solidFill>
              <a:effectLst/>
              <a:uLnTx/>
              <a:uFillTx/>
              <a:latin typeface="+mn-lt"/>
              <a:ea typeface="+mn-ea"/>
              <a:cs typeface="+mn-cs"/>
            </a:endParaRPr>
          </a:p>
        </p:txBody>
      </p:sp>
      <p:pic>
        <p:nvPicPr>
          <p:cNvPr id="5122" name="Picture 2" descr="C:\Users\AMIRA\Desktop\af.jpg"/>
          <p:cNvPicPr>
            <a:picLocks noChangeAspect="1" noChangeArrowheads="1"/>
          </p:cNvPicPr>
          <p:nvPr/>
        </p:nvPicPr>
        <p:blipFill>
          <a:blip r:embed="rId2"/>
          <a:srcRect/>
          <a:stretch>
            <a:fillRect/>
          </a:stretch>
        </p:blipFill>
        <p:spPr bwMode="auto">
          <a:xfrm>
            <a:off x="1" y="1"/>
            <a:ext cx="914400" cy="1523999"/>
          </a:xfrm>
          <a:prstGeom prst="rect">
            <a:avLst/>
          </a:prstGeom>
          <a:noFill/>
        </p:spPr>
      </p:pic>
      <p:sp>
        <p:nvSpPr>
          <p:cNvPr id="6" name="Slide Number Placeholder 5"/>
          <p:cNvSpPr>
            <a:spLocks noGrp="1"/>
          </p:cNvSpPr>
          <p:nvPr>
            <p:ph type="sldNum" sz="quarter" idx="15"/>
          </p:nvPr>
        </p:nvSpPr>
        <p:spPr/>
        <p:txBody>
          <a:bodyPr/>
          <a:lstStyle/>
          <a:p>
            <a:fld id="{B6F15528-21DE-4FAA-801E-634DDDAF4B2B}" type="slidenum">
              <a:rPr lang="en-US" smtClean="0"/>
              <a:pPr/>
              <a:t>5</a:t>
            </a:fld>
            <a:endParaRPr lang="en-US"/>
          </a:p>
        </p:txBody>
      </p:sp>
    </p:spTree>
  </p:cSld>
  <p:clrMapOvr>
    <a:masterClrMapping/>
  </p:clrMapOvr>
  <p:transition>
    <p:fade thruBlk="1"/>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838200"/>
            <a:ext cx="8229600" cy="1143000"/>
          </a:xfrm>
        </p:spPr>
        <p:txBody>
          <a:bodyPr>
            <a:normAutofit fontScale="90000"/>
          </a:bodyPr>
          <a:lstStyle/>
          <a:p>
            <a:pPr algn="ctr"/>
            <a:r>
              <a:rPr lang="en-US" dirty="0" smtClean="0"/>
              <a:t>       	</a:t>
            </a:r>
            <a:r>
              <a:rPr lang="en-US" sz="2200" b="1" dirty="0" smtClean="0">
                <a:latin typeface="Times New Roman" pitchFamily="18" charset="0"/>
                <a:cs typeface="Times New Roman" pitchFamily="18" charset="0"/>
              </a:rPr>
              <a:t>FINANCIAL ADMINISTRATION PROCESSES   BOTTLENECKS REGARDING PAYMENTS OF VARIOUS FEES SERVICING OF COMMITTEES IN THE UNIVERSITY: CHALLENGES AND WAY FORWARD IN PURCHASING OF OFFICIAL MATERIAL</a:t>
            </a:r>
            <a:r>
              <a:rPr lang="en-US" sz="2200" dirty="0" smtClean="0">
                <a:latin typeface="Times New Roman" pitchFamily="18" charset="0"/>
                <a:cs typeface="Times New Roman" pitchFamily="18" charset="0"/>
              </a:rPr>
              <a:t/>
            </a:r>
            <a:br>
              <a:rPr lang="en-US" sz="2200" dirty="0" smtClean="0">
                <a:latin typeface="Times New Roman" pitchFamily="18" charset="0"/>
                <a:cs typeface="Times New Roman" pitchFamily="18" charset="0"/>
              </a:rPr>
            </a:br>
            <a:endParaRPr lang="en-US" sz="2200" dirty="0"/>
          </a:p>
        </p:txBody>
      </p:sp>
      <p:sp>
        <p:nvSpPr>
          <p:cNvPr id="3" name="Content Placeholder 2"/>
          <p:cNvSpPr>
            <a:spLocks noGrp="1"/>
          </p:cNvSpPr>
          <p:nvPr>
            <p:ph sz="quarter" idx="1"/>
          </p:nvPr>
        </p:nvSpPr>
        <p:spPr>
          <a:xfrm>
            <a:off x="457200" y="1828800"/>
            <a:ext cx="8229600" cy="4297363"/>
          </a:xfrm>
        </p:spPr>
        <p:txBody>
          <a:bodyPr>
            <a:normAutofit/>
          </a:bodyPr>
          <a:lstStyle/>
          <a:p>
            <a:pPr algn="ctr">
              <a:buNone/>
            </a:pPr>
            <a:endParaRPr lang="en-US" b="1" dirty="0" smtClean="0"/>
          </a:p>
          <a:p>
            <a:pPr algn="ctr">
              <a:buNone/>
            </a:pPr>
            <a:r>
              <a:rPr lang="en-US" b="1" dirty="0" smtClean="0"/>
              <a:t>Financial Management&amp; the Financial Objectives in a University</a:t>
            </a:r>
            <a:endParaRPr lang="en-US" dirty="0" smtClean="0"/>
          </a:p>
          <a:p>
            <a:pPr algn="just">
              <a:buNone/>
            </a:pPr>
            <a:r>
              <a:rPr lang="en-US" dirty="0" smtClean="0"/>
              <a:t>	In order to have a proper perspective of the direct and primary responsibilities of the Bursar as the Chief Finance Officer of the University, it is important to have a general overview of financial administration and management and the financial objectives of a University.</a:t>
            </a:r>
          </a:p>
          <a:p>
            <a:endParaRPr lang="en-US" dirty="0"/>
          </a:p>
        </p:txBody>
      </p:sp>
      <p:sp>
        <p:nvSpPr>
          <p:cNvPr id="5" name="Title 1"/>
          <p:cNvSpPr txBox="1">
            <a:spLocks/>
          </p:cNvSpPr>
          <p:nvPr/>
        </p:nvSpPr>
        <p:spPr>
          <a:xfrm>
            <a:off x="990600" y="0"/>
            <a:ext cx="8153400" cy="1600200"/>
          </a:xfrm>
          <a:prstGeom prst="rect">
            <a:avLst/>
          </a:prstGeom>
        </p:spPr>
        <p:style>
          <a:lnRef idx="1">
            <a:schemeClr val="accent2"/>
          </a:lnRef>
          <a:fillRef idx="2">
            <a:schemeClr val="accent2"/>
          </a:fillRef>
          <a:effectRef idx="1">
            <a:schemeClr val="accent2"/>
          </a:effectRef>
          <a:fontRef idx="minor">
            <a:schemeClr val="dk1"/>
          </a:fontRef>
        </p:style>
        <p:txBody>
          <a:bodyPr vert="horz" anchor="b">
            <a:normAutofit fontScale="97500"/>
          </a:bodyPr>
          <a:lstStyle/>
          <a:p>
            <a:pPr lvl="0" algn="ctr">
              <a:lnSpc>
                <a:spcPct val="150000"/>
              </a:lnSpc>
              <a:spcBef>
                <a:spcPct val="0"/>
              </a:spcBef>
            </a:pPr>
            <a:r>
              <a:rPr kumimoji="0" lang="en-US" sz="3000" b="0" i="0" u="none" strike="noStrike" kern="1200" cap="small" spc="0" normalizeH="0" baseline="0" noProof="0" dirty="0" smtClean="0">
                <a:ln>
                  <a:noFill/>
                </a:ln>
                <a:solidFill>
                  <a:schemeClr val="dk1"/>
                </a:solidFill>
                <a:effectLst/>
                <a:uLnTx/>
                <a:uFillTx/>
                <a:latin typeface="+mn-lt"/>
                <a:ea typeface="+mn-ea"/>
                <a:cs typeface="+mn-cs"/>
              </a:rPr>
              <a:t>    </a:t>
            </a:r>
            <a:r>
              <a:rPr lang="en-US" sz="2800" b="1" dirty="0" smtClean="0"/>
              <a:t>EKITI STATE UNIVERSITY, ADO-EKITI</a:t>
            </a:r>
            <a:br>
              <a:rPr lang="en-US" sz="2800" b="1" dirty="0" smtClean="0"/>
            </a:br>
            <a:r>
              <a:rPr lang="en-US" sz="3200" b="1" dirty="0" smtClean="0"/>
              <a:t>ACADEMIC SUMMIT</a:t>
            </a:r>
            <a:endParaRPr kumimoji="0" lang="en-US" sz="3200" b="0" i="0" u="none" strike="noStrike" kern="1200" cap="small" spc="0" normalizeH="0" baseline="0" noProof="0" dirty="0">
              <a:ln>
                <a:noFill/>
              </a:ln>
              <a:solidFill>
                <a:schemeClr val="dk1"/>
              </a:solidFill>
              <a:effectLst/>
              <a:uLnTx/>
              <a:uFillTx/>
              <a:latin typeface="+mn-lt"/>
              <a:ea typeface="+mn-ea"/>
              <a:cs typeface="+mn-cs"/>
            </a:endParaRPr>
          </a:p>
        </p:txBody>
      </p:sp>
      <p:pic>
        <p:nvPicPr>
          <p:cNvPr id="6146" name="Picture 2" descr="C:\Users\AMIRA\Desktop\af.jpg"/>
          <p:cNvPicPr>
            <a:picLocks noChangeAspect="1" noChangeArrowheads="1"/>
          </p:cNvPicPr>
          <p:nvPr/>
        </p:nvPicPr>
        <p:blipFill>
          <a:blip r:embed="rId2"/>
          <a:srcRect/>
          <a:stretch>
            <a:fillRect/>
          </a:stretch>
        </p:blipFill>
        <p:spPr bwMode="auto">
          <a:xfrm>
            <a:off x="1" y="1"/>
            <a:ext cx="990599" cy="1523999"/>
          </a:xfrm>
          <a:prstGeom prst="rect">
            <a:avLst/>
          </a:prstGeom>
          <a:noFill/>
        </p:spPr>
      </p:pic>
      <p:sp>
        <p:nvSpPr>
          <p:cNvPr id="6" name="Slide Number Placeholder 5"/>
          <p:cNvSpPr>
            <a:spLocks noGrp="1"/>
          </p:cNvSpPr>
          <p:nvPr>
            <p:ph type="sldNum" sz="quarter" idx="15"/>
          </p:nvPr>
        </p:nvSpPr>
        <p:spPr/>
        <p:txBody>
          <a:bodyPr/>
          <a:lstStyle/>
          <a:p>
            <a:fld id="{B6F15528-21DE-4FAA-801E-634DDDAF4B2B}" type="slidenum">
              <a:rPr lang="en-US" smtClean="0"/>
              <a:pPr/>
              <a:t>6</a:t>
            </a:fld>
            <a:endParaRPr lang="en-US"/>
          </a:p>
        </p:txBody>
      </p:sp>
    </p:spTree>
  </p:cSld>
  <p:clrMapOvr>
    <a:masterClrMapping/>
  </p:clrMapOvr>
  <p:transition>
    <p:cut/>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1143000"/>
          </a:xfrm>
        </p:spPr>
        <p:txBody>
          <a:bodyPr>
            <a:noAutofit/>
          </a:bodyPr>
          <a:lstStyle/>
          <a:p>
            <a:pPr algn="ctr"/>
            <a:r>
              <a:rPr lang="en-US" sz="2000" dirty="0" smtClean="0"/>
              <a:t>     	</a:t>
            </a:r>
            <a:r>
              <a:rPr lang="en-US" sz="2000" b="1" dirty="0" smtClean="0">
                <a:latin typeface="Times New Roman" pitchFamily="18" charset="0"/>
                <a:cs typeface="Times New Roman" pitchFamily="18" charset="0"/>
              </a:rPr>
              <a:t>FINANCIAL ADMINISTRATION PROCESSES     BOTTLENECKS REGARDING PAYMENTS OF VARIOUS FEES SERVICING OF COMMITTEES IN THE UNIVERSITY: CHALLENGES AND WAY FORWARD IN PURCHASING OF OFFICIAL MATERIAL</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endParaRPr lang="en-US" sz="2000" dirty="0"/>
          </a:p>
        </p:txBody>
      </p:sp>
      <p:sp>
        <p:nvSpPr>
          <p:cNvPr id="3" name="Content Placeholder 2"/>
          <p:cNvSpPr>
            <a:spLocks noGrp="1"/>
          </p:cNvSpPr>
          <p:nvPr>
            <p:ph sz="quarter" idx="1"/>
          </p:nvPr>
        </p:nvSpPr>
        <p:spPr>
          <a:xfrm>
            <a:off x="457200" y="1905000"/>
            <a:ext cx="8229600" cy="4221163"/>
          </a:xfrm>
        </p:spPr>
        <p:txBody>
          <a:bodyPr>
            <a:normAutofit/>
          </a:bodyPr>
          <a:lstStyle/>
          <a:p>
            <a:pPr>
              <a:buNone/>
            </a:pPr>
            <a:r>
              <a:rPr lang="en-US" sz="8400" dirty="0" smtClean="0">
                <a:latin typeface="Times New Roman" pitchFamily="18" charset="0"/>
                <a:cs typeface="Times New Roman" pitchFamily="18" charset="0"/>
              </a:rPr>
              <a:t> </a:t>
            </a:r>
            <a:r>
              <a:rPr lang="en-US" b="1" dirty="0" smtClean="0"/>
              <a:t>Financial Management</a:t>
            </a:r>
            <a:endParaRPr lang="en-US" dirty="0" smtClean="0"/>
          </a:p>
          <a:p>
            <a:pPr>
              <a:buNone/>
            </a:pPr>
            <a:r>
              <a:rPr lang="en-US" dirty="0" smtClean="0"/>
              <a:t>	Financial Management is concerned with the effective control and management of the financial affairs of an organization in respect of policy formulation, planning and control of current and future events with the benefit of past events. Financial Management is therefore, a tool for effective and efficient management. </a:t>
            </a:r>
          </a:p>
          <a:p>
            <a:pPr>
              <a:buNone/>
            </a:pPr>
            <a:endParaRPr lang="en-US" sz="2400" dirty="0" smtClean="0">
              <a:latin typeface="Times New Roman" pitchFamily="18" charset="0"/>
              <a:cs typeface="Times New Roman" pitchFamily="18" charset="0"/>
            </a:endParaRPr>
          </a:p>
          <a:p>
            <a:pPr lvl="1">
              <a:buNone/>
            </a:pPr>
            <a:endParaRPr lang="en-US" sz="7200" dirty="0" smtClean="0">
              <a:latin typeface="Times New Roman" pitchFamily="18" charset="0"/>
              <a:cs typeface="Times New Roman" pitchFamily="18" charset="0"/>
            </a:endParaRPr>
          </a:p>
          <a:p>
            <a:endParaRPr lang="en-US" dirty="0"/>
          </a:p>
        </p:txBody>
      </p:sp>
      <p:pic>
        <p:nvPicPr>
          <p:cNvPr id="7170" name="Picture 2" descr="C:\Users\AMIRA\Desktop\af.jpg"/>
          <p:cNvPicPr>
            <a:picLocks noChangeAspect="1" noChangeArrowheads="1"/>
          </p:cNvPicPr>
          <p:nvPr/>
        </p:nvPicPr>
        <p:blipFill>
          <a:blip r:embed="rId2"/>
          <a:srcRect/>
          <a:stretch>
            <a:fillRect/>
          </a:stretch>
        </p:blipFill>
        <p:spPr bwMode="auto">
          <a:xfrm>
            <a:off x="1" y="1"/>
            <a:ext cx="990599" cy="1393370"/>
          </a:xfrm>
          <a:prstGeom prst="rect">
            <a:avLst/>
          </a:prstGeom>
          <a:noFill/>
        </p:spPr>
      </p:pic>
      <p:sp>
        <p:nvSpPr>
          <p:cNvPr id="5" name="Title 1"/>
          <p:cNvSpPr txBox="1">
            <a:spLocks/>
          </p:cNvSpPr>
          <p:nvPr/>
        </p:nvSpPr>
        <p:spPr>
          <a:xfrm>
            <a:off x="990600" y="0"/>
            <a:ext cx="7696200" cy="1600200"/>
          </a:xfrm>
          <a:prstGeom prst="rect">
            <a:avLst/>
          </a:prstGeom>
        </p:spPr>
        <p:style>
          <a:lnRef idx="1">
            <a:schemeClr val="accent2"/>
          </a:lnRef>
          <a:fillRef idx="2">
            <a:schemeClr val="accent2"/>
          </a:fillRef>
          <a:effectRef idx="1">
            <a:schemeClr val="accent2"/>
          </a:effectRef>
          <a:fontRef idx="minor">
            <a:schemeClr val="dk1"/>
          </a:fontRef>
        </p:style>
        <p:txBody>
          <a:bodyPr vert="horz" anchor="b">
            <a:normAutofit fontScale="97500"/>
          </a:bodyPr>
          <a:lstStyle/>
          <a:p>
            <a:pPr lvl="0" algn="ctr">
              <a:lnSpc>
                <a:spcPct val="150000"/>
              </a:lnSpc>
              <a:spcBef>
                <a:spcPct val="0"/>
              </a:spcBef>
            </a:pPr>
            <a:r>
              <a:rPr kumimoji="0" lang="en-US" sz="3000" b="0" i="0" u="none" strike="noStrike" kern="1200" cap="small" spc="0" normalizeH="0" baseline="0" noProof="0" dirty="0" smtClean="0">
                <a:ln>
                  <a:noFill/>
                </a:ln>
                <a:solidFill>
                  <a:schemeClr val="dk1"/>
                </a:solidFill>
                <a:effectLst/>
                <a:uLnTx/>
                <a:uFillTx/>
                <a:latin typeface="+mn-lt"/>
                <a:ea typeface="+mn-ea"/>
                <a:cs typeface="+mn-cs"/>
              </a:rPr>
              <a:t>   </a:t>
            </a:r>
            <a:r>
              <a:rPr lang="en-US" sz="2800" b="1" dirty="0" smtClean="0"/>
              <a:t>EKITI STATE UNIVERSITY, ADO-EKITI</a:t>
            </a:r>
            <a:r>
              <a:rPr lang="en-US" sz="2400" b="1" dirty="0" smtClean="0"/>
              <a:t/>
            </a:r>
            <a:br>
              <a:rPr lang="en-US" sz="2400" b="1" dirty="0" smtClean="0"/>
            </a:br>
            <a:r>
              <a:rPr lang="en-US" sz="3400" b="1" dirty="0" smtClean="0"/>
              <a:t>ACADEMIC SUMMIT</a:t>
            </a:r>
            <a:endParaRPr kumimoji="0" lang="en-US" sz="3400" b="0" i="0" u="none" strike="noStrike" kern="1200" cap="small" spc="0" normalizeH="0" baseline="0" noProof="0" dirty="0">
              <a:ln>
                <a:noFill/>
              </a:ln>
              <a:solidFill>
                <a:schemeClr val="dk1"/>
              </a:solidFill>
              <a:effectLst/>
              <a:uLnTx/>
              <a:uFillTx/>
              <a:latin typeface="+mn-lt"/>
              <a:ea typeface="+mn-ea"/>
              <a:cs typeface="+mn-cs"/>
            </a:endParaRPr>
          </a:p>
        </p:txBody>
      </p:sp>
      <p:sp>
        <p:nvSpPr>
          <p:cNvPr id="6" name="Slide Number Placeholder 5"/>
          <p:cNvSpPr>
            <a:spLocks noGrp="1"/>
          </p:cNvSpPr>
          <p:nvPr>
            <p:ph type="sldNum" sz="quarter" idx="15"/>
          </p:nvPr>
        </p:nvSpPr>
        <p:spPr/>
        <p:txBody>
          <a:bodyPr/>
          <a:lstStyle/>
          <a:p>
            <a:fld id="{B6F15528-21DE-4FAA-801E-634DDDAF4B2B}" type="slidenum">
              <a:rPr lang="en-US" smtClean="0"/>
              <a:pPr/>
              <a:t>7</a:t>
            </a:fld>
            <a:endParaRPr lang="en-US"/>
          </a:p>
        </p:txBody>
      </p:sp>
    </p:spTree>
  </p:cSld>
  <p:clrMapOvr>
    <a:masterClrMapping/>
  </p:clrMapOvr>
  <p:transition>
    <p:cut thruBlk="1"/>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0"/>
            <a:ext cx="8229600" cy="1143000"/>
          </a:xfrm>
        </p:spPr>
        <p:txBody>
          <a:bodyPr>
            <a:noAutofit/>
          </a:bodyPr>
          <a:lstStyle/>
          <a:p>
            <a:pPr algn="ctr"/>
            <a:r>
              <a:rPr lang="en-US" sz="2000" dirty="0" smtClean="0"/>
              <a:t>   	</a:t>
            </a:r>
            <a:r>
              <a:rPr lang="en-US" sz="2000" b="1" dirty="0" smtClean="0">
                <a:latin typeface="Times New Roman" pitchFamily="18" charset="0"/>
                <a:cs typeface="Times New Roman" pitchFamily="18" charset="0"/>
              </a:rPr>
              <a:t>FINANCIAL ADMINISTRATION PROCESSES   BOTTLENECKS REGARDING PAYMENTS OF VARIOUS FEES SERVICING OF COMMITTEES IN THE UNIVERSITY: CHALLENGES AND WAY FORWARD IN PURCHASING OF OFFICIAL MATERIAL</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endParaRPr lang="en-US" sz="2000" dirty="0"/>
          </a:p>
        </p:txBody>
      </p:sp>
      <p:sp>
        <p:nvSpPr>
          <p:cNvPr id="3" name="Content Placeholder 2"/>
          <p:cNvSpPr>
            <a:spLocks noGrp="1"/>
          </p:cNvSpPr>
          <p:nvPr>
            <p:ph sz="quarter" idx="1"/>
          </p:nvPr>
        </p:nvSpPr>
        <p:spPr>
          <a:xfrm>
            <a:off x="304800" y="1371600"/>
            <a:ext cx="8229600" cy="4114800"/>
          </a:xfrm>
        </p:spPr>
        <p:txBody>
          <a:bodyPr>
            <a:normAutofit fontScale="40000" lnSpcReduction="20000"/>
          </a:bodyPr>
          <a:lstStyle/>
          <a:p>
            <a:endParaRPr lang="en-US" b="1" dirty="0" smtClean="0"/>
          </a:p>
          <a:p>
            <a:pPr>
              <a:buNone/>
            </a:pPr>
            <a:r>
              <a:rPr lang="en-US" b="1" dirty="0" smtClean="0"/>
              <a:t>	</a:t>
            </a:r>
          </a:p>
          <a:p>
            <a:pPr>
              <a:buNone/>
            </a:pPr>
            <a:r>
              <a:rPr lang="en-US" sz="7600" b="1" dirty="0" smtClean="0"/>
              <a:t>	Financial Administration</a:t>
            </a:r>
            <a:endParaRPr lang="en-US" sz="7600" dirty="0" smtClean="0"/>
          </a:p>
          <a:p>
            <a:pPr>
              <a:buNone/>
            </a:pPr>
            <a:r>
              <a:rPr lang="en-US" sz="7600" dirty="0" smtClean="0"/>
              <a:t>	By financial administration processes, we mean activities that are done in order to plan the smooth running of the University on financial matters in the process of this planning.</a:t>
            </a:r>
          </a:p>
          <a:p>
            <a:pPr>
              <a:buNone/>
            </a:pPr>
            <a:r>
              <a:rPr lang="en-US" sz="1800" dirty="0" smtClean="0"/>
              <a:t>	</a:t>
            </a:r>
          </a:p>
          <a:p>
            <a:pPr lvl="1">
              <a:buNone/>
            </a:pPr>
            <a:endParaRPr lang="en-US" sz="8000" b="1" dirty="0" smtClean="0">
              <a:latin typeface="Times New Roman" pitchFamily="18" charset="0"/>
              <a:cs typeface="Times New Roman" pitchFamily="18" charset="0"/>
            </a:endParaRPr>
          </a:p>
          <a:p>
            <a:pPr>
              <a:buNone/>
            </a:pPr>
            <a:r>
              <a:rPr lang="en-US" sz="9600" dirty="0" smtClean="0">
                <a:latin typeface="Times New Roman" pitchFamily="18" charset="0"/>
                <a:cs typeface="Times New Roman" pitchFamily="18" charset="0"/>
              </a:rPr>
              <a:t> </a:t>
            </a:r>
          </a:p>
          <a:p>
            <a:endParaRPr lang="en-US" dirty="0"/>
          </a:p>
        </p:txBody>
      </p:sp>
      <p:pic>
        <p:nvPicPr>
          <p:cNvPr id="8194" name="Picture 2" descr="C:\Users\AMIRA\Desktop\af.jpg"/>
          <p:cNvPicPr>
            <a:picLocks noChangeAspect="1" noChangeArrowheads="1"/>
          </p:cNvPicPr>
          <p:nvPr/>
        </p:nvPicPr>
        <p:blipFill>
          <a:blip r:embed="rId2"/>
          <a:srcRect/>
          <a:stretch>
            <a:fillRect/>
          </a:stretch>
        </p:blipFill>
        <p:spPr bwMode="auto">
          <a:xfrm>
            <a:off x="1" y="0"/>
            <a:ext cx="1066799" cy="1600200"/>
          </a:xfrm>
          <a:prstGeom prst="rect">
            <a:avLst/>
          </a:prstGeom>
          <a:noFill/>
        </p:spPr>
      </p:pic>
      <p:sp>
        <p:nvSpPr>
          <p:cNvPr id="5" name="Title 1"/>
          <p:cNvSpPr txBox="1">
            <a:spLocks/>
          </p:cNvSpPr>
          <p:nvPr/>
        </p:nvSpPr>
        <p:spPr>
          <a:xfrm>
            <a:off x="1066800" y="0"/>
            <a:ext cx="8077200" cy="1600200"/>
          </a:xfrm>
          <a:prstGeom prst="rect">
            <a:avLst/>
          </a:prstGeom>
        </p:spPr>
        <p:style>
          <a:lnRef idx="1">
            <a:schemeClr val="accent2"/>
          </a:lnRef>
          <a:fillRef idx="2">
            <a:schemeClr val="accent2"/>
          </a:fillRef>
          <a:effectRef idx="1">
            <a:schemeClr val="accent2"/>
          </a:effectRef>
          <a:fontRef idx="minor">
            <a:schemeClr val="dk1"/>
          </a:fontRef>
        </p:style>
        <p:txBody>
          <a:bodyPr vert="horz" anchor="b">
            <a:normAutofit fontScale="97500"/>
          </a:bodyPr>
          <a:lstStyle/>
          <a:p>
            <a:pPr lvl="0" algn="ctr">
              <a:lnSpc>
                <a:spcPct val="150000"/>
              </a:lnSpc>
              <a:spcBef>
                <a:spcPct val="0"/>
              </a:spcBef>
            </a:pPr>
            <a:r>
              <a:rPr kumimoji="0" lang="en-US" sz="3000" b="0" i="0" u="none" strike="noStrike" kern="1200" cap="small" spc="0" normalizeH="0" baseline="0" noProof="0" dirty="0" smtClean="0">
                <a:ln>
                  <a:noFill/>
                </a:ln>
                <a:solidFill>
                  <a:schemeClr val="dk1"/>
                </a:solidFill>
                <a:effectLst/>
                <a:uLnTx/>
                <a:uFillTx/>
                <a:latin typeface="+mn-lt"/>
                <a:ea typeface="+mn-ea"/>
                <a:cs typeface="+mn-cs"/>
              </a:rPr>
              <a:t>  </a:t>
            </a:r>
            <a:r>
              <a:rPr lang="en-US" sz="2800" b="1" dirty="0" smtClean="0"/>
              <a:t>EKITI STATE UNIVERSITY,ADO-EKITI</a:t>
            </a:r>
            <a:br>
              <a:rPr lang="en-US" sz="2800" b="1" dirty="0" smtClean="0"/>
            </a:br>
            <a:r>
              <a:rPr lang="en-US" sz="3200" b="1" dirty="0" smtClean="0"/>
              <a:t>ACADEMIC SUMMIT</a:t>
            </a:r>
            <a:endParaRPr kumimoji="0" lang="en-US" sz="3200" b="0" i="0" u="none" strike="noStrike" kern="1200" cap="small" spc="0" normalizeH="0" baseline="0" noProof="0" dirty="0">
              <a:ln>
                <a:noFill/>
              </a:ln>
              <a:solidFill>
                <a:schemeClr val="dk1"/>
              </a:solidFill>
              <a:effectLst/>
              <a:uLnTx/>
              <a:uFillTx/>
              <a:latin typeface="+mn-lt"/>
              <a:ea typeface="+mn-ea"/>
              <a:cs typeface="+mn-cs"/>
            </a:endParaRPr>
          </a:p>
        </p:txBody>
      </p:sp>
      <p:sp>
        <p:nvSpPr>
          <p:cNvPr id="6" name="Slide Number Placeholder 5"/>
          <p:cNvSpPr>
            <a:spLocks noGrp="1"/>
          </p:cNvSpPr>
          <p:nvPr>
            <p:ph type="sldNum" sz="quarter" idx="15"/>
          </p:nvPr>
        </p:nvSpPr>
        <p:spPr/>
        <p:txBody>
          <a:bodyPr/>
          <a:lstStyle/>
          <a:p>
            <a:fld id="{B6F15528-21DE-4FAA-801E-634DDDAF4B2B}" type="slidenum">
              <a:rPr lang="en-US" smtClean="0"/>
              <a:pPr/>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7467600" cy="1189038"/>
          </a:xfrm>
        </p:spPr>
        <p:txBody>
          <a:bodyPr>
            <a:normAutofit fontScale="90000"/>
          </a:bodyPr>
          <a:lstStyle/>
          <a:p>
            <a:pPr algn="ctr"/>
            <a:r>
              <a:rPr lang="en-US" dirty="0" smtClean="0"/>
              <a:t/>
            </a:r>
            <a:br>
              <a:rPr lang="en-US" dirty="0" smtClean="0"/>
            </a:br>
            <a:r>
              <a:rPr lang="en-US" dirty="0" smtClean="0"/>
              <a:t>	</a:t>
            </a:r>
            <a:r>
              <a:rPr lang="en-US" sz="2200" b="1" dirty="0" smtClean="0">
                <a:latin typeface="Times New Roman" pitchFamily="18" charset="0"/>
                <a:cs typeface="Times New Roman" pitchFamily="18" charset="0"/>
              </a:rPr>
              <a:t>FINANCIAL ADMINISTRATION PROCESSES   BOTTLENECKS REGARDING PAYMENTS OF VARIOUS FEES SERVICING OF COMMITTEES IN THE UNIVERSITY: CHALLENGES AND WAY FORWARD IN PURCHASING OF OFFICIAL MATERIAL</a:t>
            </a:r>
            <a:r>
              <a:rPr lang="en-US" sz="2200" dirty="0" smtClean="0">
                <a:latin typeface="Times New Roman" pitchFamily="18" charset="0"/>
                <a:cs typeface="Times New Roman" pitchFamily="18" charset="0"/>
              </a:rPr>
              <a:t/>
            </a:r>
            <a:br>
              <a:rPr lang="en-US" sz="2200" dirty="0" smtClean="0">
                <a:latin typeface="Times New Roman" pitchFamily="18" charset="0"/>
                <a:cs typeface="Times New Roman" pitchFamily="18" charset="0"/>
              </a:rPr>
            </a:br>
            <a:endParaRPr lang="en-US" sz="2200" dirty="0"/>
          </a:p>
        </p:txBody>
      </p:sp>
      <p:sp>
        <p:nvSpPr>
          <p:cNvPr id="3" name="Content Placeholder 2"/>
          <p:cNvSpPr>
            <a:spLocks noGrp="1"/>
          </p:cNvSpPr>
          <p:nvPr>
            <p:ph sz="quarter" idx="1"/>
          </p:nvPr>
        </p:nvSpPr>
        <p:spPr>
          <a:xfrm>
            <a:off x="685800" y="1676400"/>
            <a:ext cx="7467600" cy="5334000"/>
          </a:xfrm>
        </p:spPr>
        <p:txBody>
          <a:bodyPr>
            <a:normAutofit fontScale="92500"/>
          </a:bodyPr>
          <a:lstStyle/>
          <a:p>
            <a:pPr>
              <a:buNone/>
            </a:pPr>
            <a:r>
              <a:rPr lang="en-US" b="1" dirty="0" smtClean="0"/>
              <a:t>	Financial Objectives of a University</a:t>
            </a:r>
            <a:endParaRPr lang="en-US" sz="1800" dirty="0" smtClean="0"/>
          </a:p>
          <a:p>
            <a:pPr algn="just">
              <a:buNone/>
            </a:pPr>
            <a:r>
              <a:rPr lang="en-US" dirty="0" smtClean="0"/>
              <a:t>	The objective of a University is to provide services that fulfill societal needs without regard for financial gain. However, the financial objectives of a University include the ability to generate/realize Income to cover all operations and be able to have adequate savings for investment purposes. In carrying out the objectives, the Bursary should be able to provide information and put up a system to assist Management on the effective allocation and use of resources. The University system must concern herself with the proper and effective use of scarce resources and employ common, generally accepted accounting principles and practices to assist in the mission of realizing the financial objectives.</a:t>
            </a:r>
            <a:endParaRPr lang="en-US" sz="9600" dirty="0" smtClean="0">
              <a:latin typeface="Times New Roman" pitchFamily="18" charset="0"/>
              <a:cs typeface="Times New Roman" pitchFamily="18" charset="0"/>
            </a:endParaRPr>
          </a:p>
          <a:p>
            <a:pPr>
              <a:buNone/>
            </a:pPr>
            <a:endParaRPr lang="en-US" dirty="0"/>
          </a:p>
        </p:txBody>
      </p:sp>
      <p:sp>
        <p:nvSpPr>
          <p:cNvPr id="5" name="Title 1"/>
          <p:cNvSpPr txBox="1">
            <a:spLocks/>
          </p:cNvSpPr>
          <p:nvPr/>
        </p:nvSpPr>
        <p:spPr>
          <a:xfrm>
            <a:off x="914400" y="0"/>
            <a:ext cx="8229600" cy="1600200"/>
          </a:xfrm>
          <a:prstGeom prst="rect">
            <a:avLst/>
          </a:prstGeom>
        </p:spPr>
        <p:style>
          <a:lnRef idx="1">
            <a:schemeClr val="accent2"/>
          </a:lnRef>
          <a:fillRef idx="2">
            <a:schemeClr val="accent2"/>
          </a:fillRef>
          <a:effectRef idx="1">
            <a:schemeClr val="accent2"/>
          </a:effectRef>
          <a:fontRef idx="minor">
            <a:schemeClr val="dk1"/>
          </a:fontRef>
        </p:style>
        <p:txBody>
          <a:bodyPr vert="horz" anchor="b">
            <a:normAutofit fontScale="97500"/>
          </a:bodyPr>
          <a:lstStyle/>
          <a:p>
            <a:pPr lvl="0" algn="ctr">
              <a:lnSpc>
                <a:spcPct val="150000"/>
              </a:lnSpc>
              <a:spcBef>
                <a:spcPct val="0"/>
              </a:spcBef>
            </a:pPr>
            <a:r>
              <a:rPr kumimoji="0" lang="en-US" sz="3000" b="0" i="0" u="none" strike="noStrike" kern="1200" cap="small" spc="0" normalizeH="0" baseline="0" noProof="0" dirty="0" smtClean="0">
                <a:ln>
                  <a:noFill/>
                </a:ln>
                <a:solidFill>
                  <a:schemeClr val="dk1"/>
                </a:solidFill>
                <a:effectLst/>
                <a:uLnTx/>
                <a:uFillTx/>
                <a:latin typeface="+mn-lt"/>
                <a:ea typeface="+mn-ea"/>
                <a:cs typeface="+mn-cs"/>
              </a:rPr>
              <a:t>    </a:t>
            </a:r>
            <a:r>
              <a:rPr lang="en-US" sz="2800" b="1" dirty="0" smtClean="0"/>
              <a:t>EKITI STATE UNIVERSITY, ADO-EKITI</a:t>
            </a:r>
            <a:br>
              <a:rPr lang="en-US" sz="2800" b="1" dirty="0" smtClean="0"/>
            </a:br>
            <a:r>
              <a:rPr lang="en-US" sz="3400" b="1" dirty="0" smtClean="0"/>
              <a:t>ACADEMIC SUMMIT</a:t>
            </a:r>
            <a:endParaRPr kumimoji="0" lang="en-US" sz="3400" b="0" i="0" u="none" strike="noStrike" kern="1200" cap="small" spc="0" normalizeH="0" baseline="0" noProof="0" dirty="0">
              <a:ln>
                <a:noFill/>
              </a:ln>
              <a:solidFill>
                <a:schemeClr val="dk1"/>
              </a:solidFill>
              <a:effectLst/>
              <a:uLnTx/>
              <a:uFillTx/>
              <a:latin typeface="+mn-lt"/>
              <a:ea typeface="+mn-ea"/>
              <a:cs typeface="+mn-cs"/>
            </a:endParaRPr>
          </a:p>
        </p:txBody>
      </p:sp>
      <p:pic>
        <p:nvPicPr>
          <p:cNvPr id="4" name="Picture 2" descr="C:\Users\AMIRA\Desktop\af.jpg"/>
          <p:cNvPicPr>
            <a:picLocks noChangeAspect="1" noChangeArrowheads="1"/>
          </p:cNvPicPr>
          <p:nvPr/>
        </p:nvPicPr>
        <p:blipFill>
          <a:blip r:embed="rId2"/>
          <a:srcRect/>
          <a:stretch>
            <a:fillRect/>
          </a:stretch>
        </p:blipFill>
        <p:spPr bwMode="auto">
          <a:xfrm>
            <a:off x="1" y="0"/>
            <a:ext cx="914399" cy="1600200"/>
          </a:xfrm>
          <a:prstGeom prst="rect">
            <a:avLst/>
          </a:prstGeom>
          <a:noFill/>
        </p:spPr>
      </p:pic>
      <p:sp>
        <p:nvSpPr>
          <p:cNvPr id="6" name="Slide Number Placeholder 5"/>
          <p:cNvSpPr>
            <a:spLocks noGrp="1"/>
          </p:cNvSpPr>
          <p:nvPr>
            <p:ph type="sldNum" sz="quarter" idx="15"/>
          </p:nvPr>
        </p:nvSpPr>
        <p:spPr/>
        <p:txBody>
          <a:bodyPr/>
          <a:lstStyle/>
          <a:p>
            <a:fld id="{B6F15528-21DE-4FAA-801E-634DDDAF4B2B}" type="slidenum">
              <a:rPr lang="en-US" smtClean="0"/>
              <a:pPr/>
              <a:t>9</a:t>
            </a:fld>
            <a:endParaRPr lang="en-US"/>
          </a:p>
        </p:txBody>
      </p:sp>
    </p:spTree>
  </p:cSld>
  <p:clrMapOvr>
    <a:masterClrMapping/>
  </p:clrMapOvr>
  <p:transition>
    <p:pull dir="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0"/>
            <a:ext cx="8229600" cy="1143000"/>
          </a:xfrm>
        </p:spPr>
        <p:txBody>
          <a:bodyPr>
            <a:normAutofit fontScale="90000"/>
          </a:bodyPr>
          <a:lstStyle/>
          <a:p>
            <a:pPr algn="ctr"/>
            <a:r>
              <a:rPr lang="en-US" dirty="0" smtClean="0"/>
              <a:t>      	</a:t>
            </a:r>
            <a:r>
              <a:rPr lang="en-US" sz="2200" b="1" dirty="0" smtClean="0">
                <a:latin typeface="Times New Roman" pitchFamily="18" charset="0"/>
                <a:cs typeface="Times New Roman" pitchFamily="18" charset="0"/>
              </a:rPr>
              <a:t>FINANCIAL ADMINISTRATION PROCESSES   BOTTLENECKS REGARDING PAYMENTS OF VARIOUS FEES SERVICING OF COMMITTEES IN THE UNIVERSITY: CHALLENGES AND WAY FORWARD IN PURCHASING OF OFFICIAL MATERIAL</a:t>
            </a:r>
            <a:r>
              <a:rPr lang="en-US" sz="2200" dirty="0" smtClean="0">
                <a:latin typeface="Times New Roman" pitchFamily="18" charset="0"/>
                <a:cs typeface="Times New Roman" pitchFamily="18" charset="0"/>
              </a:rPr>
              <a:t/>
            </a:r>
            <a:br>
              <a:rPr lang="en-US" sz="2200" dirty="0" smtClean="0">
                <a:latin typeface="Times New Roman" pitchFamily="18" charset="0"/>
                <a:cs typeface="Times New Roman" pitchFamily="18" charset="0"/>
              </a:rPr>
            </a:br>
            <a:endParaRPr lang="en-US" sz="2200" dirty="0"/>
          </a:p>
        </p:txBody>
      </p:sp>
      <p:sp>
        <p:nvSpPr>
          <p:cNvPr id="3" name="Content Placeholder 2"/>
          <p:cNvSpPr>
            <a:spLocks noGrp="1"/>
          </p:cNvSpPr>
          <p:nvPr>
            <p:ph sz="quarter" idx="1"/>
          </p:nvPr>
        </p:nvSpPr>
        <p:spPr>
          <a:xfrm>
            <a:off x="381000" y="1676400"/>
            <a:ext cx="8229600" cy="5410200"/>
          </a:xfrm>
        </p:spPr>
        <p:txBody>
          <a:bodyPr>
            <a:normAutofit fontScale="32500" lnSpcReduction="20000"/>
          </a:bodyPr>
          <a:lstStyle/>
          <a:p>
            <a:pPr>
              <a:buNone/>
            </a:pPr>
            <a:r>
              <a:rPr lang="en-US" sz="6400" b="1" dirty="0" smtClean="0">
                <a:latin typeface="Times New Roman" pitchFamily="18" charset="0"/>
                <a:cs typeface="Times New Roman" pitchFamily="18" charset="0"/>
              </a:rPr>
              <a:t>	</a:t>
            </a:r>
            <a:r>
              <a:rPr lang="en-US" sz="6600" b="1" dirty="0" smtClean="0"/>
              <a:t>Administrative Vehicles for Smooth Administration</a:t>
            </a:r>
            <a:endParaRPr lang="en-US" sz="6600" dirty="0" smtClean="0"/>
          </a:p>
          <a:p>
            <a:pPr>
              <a:buNone/>
            </a:pPr>
            <a:r>
              <a:rPr lang="en-US" sz="6600" dirty="0" smtClean="0"/>
              <a:t>	The University uses committees to govern itself. While the Council is responsible for financial and property matters, the Senate is responsible for academic matters. Both the Council and the Senate have committees responsible to them. For example, the Council has the Finance and General Purposes Committee, the Tenders Board, Appointments and Promotions Committee and the Development Committee among others as standing Committees while the Senate has its own Committees. The role of the Committee is to examine issues critically and make recommendations for approval. The broad participation of members of the University community in these Committees engenders confidence and enhances accountability. In every case the work of the Committees enriches the decisions of the Council and the Vice-Chancellor in the administration of the University. Central to the work of these Committees is finance for which the Bursar is directly responsible. The Bursar, therefore, interacts regularly with these Committees.</a:t>
            </a:r>
            <a:br>
              <a:rPr lang="en-US" sz="6600" dirty="0" smtClean="0"/>
            </a:br>
            <a:endParaRPr lang="en-US" sz="6600" dirty="0" smtClean="0"/>
          </a:p>
          <a:p>
            <a:pPr lvl="0" algn="just">
              <a:buNone/>
            </a:pPr>
            <a:endParaRPr lang="en-US" sz="6400" b="1" dirty="0" smtClean="0">
              <a:latin typeface="Times New Roman" pitchFamily="18" charset="0"/>
              <a:cs typeface="Times New Roman" pitchFamily="18" charset="0"/>
            </a:endParaRPr>
          </a:p>
          <a:p>
            <a:endParaRPr lang="en-US" dirty="0"/>
          </a:p>
        </p:txBody>
      </p:sp>
      <p:sp>
        <p:nvSpPr>
          <p:cNvPr id="5" name="Title 1"/>
          <p:cNvSpPr txBox="1">
            <a:spLocks/>
          </p:cNvSpPr>
          <p:nvPr/>
        </p:nvSpPr>
        <p:spPr>
          <a:xfrm>
            <a:off x="838200" y="0"/>
            <a:ext cx="8305800" cy="1524000"/>
          </a:xfrm>
          <a:prstGeom prst="rect">
            <a:avLst/>
          </a:prstGeom>
        </p:spPr>
        <p:style>
          <a:lnRef idx="1">
            <a:schemeClr val="accent2"/>
          </a:lnRef>
          <a:fillRef idx="2">
            <a:schemeClr val="accent2"/>
          </a:fillRef>
          <a:effectRef idx="1">
            <a:schemeClr val="accent2"/>
          </a:effectRef>
          <a:fontRef idx="minor">
            <a:schemeClr val="dk1"/>
          </a:fontRef>
        </p:style>
        <p:txBody>
          <a:bodyPr vert="horz" anchor="b">
            <a:normAutofit fontScale="90000"/>
          </a:bodyPr>
          <a:lstStyle/>
          <a:p>
            <a:pPr algn="ctr">
              <a:spcBef>
                <a:spcPct val="0"/>
              </a:spcBef>
            </a:pPr>
            <a:r>
              <a:rPr kumimoji="0" lang="en-US" sz="3000" b="0" i="0" u="none" strike="noStrike" kern="1200" cap="small" spc="0" normalizeH="0" baseline="0" noProof="0" dirty="0" smtClean="0">
                <a:ln>
                  <a:noFill/>
                </a:ln>
                <a:solidFill>
                  <a:schemeClr val="dk1"/>
                </a:solidFill>
                <a:effectLst/>
                <a:uLnTx/>
                <a:uFillTx/>
                <a:latin typeface="+mn-lt"/>
                <a:ea typeface="+mn-ea"/>
                <a:cs typeface="+mn-cs"/>
              </a:rPr>
              <a:t>  </a:t>
            </a:r>
            <a:r>
              <a:rPr lang="en-US" sz="3200" b="1" dirty="0" smtClean="0"/>
              <a:t>EKITI STATE UNIVERSITY, ADO-EKITI</a:t>
            </a:r>
            <a:br>
              <a:rPr lang="en-US" sz="3200" b="1" dirty="0" smtClean="0"/>
            </a:br>
            <a:r>
              <a:rPr lang="en-US" sz="3600" b="1" dirty="0" smtClean="0"/>
              <a:t>ACADEMIC</a:t>
            </a:r>
            <a:r>
              <a:rPr lang="en-US" sz="6000" b="1" dirty="0" smtClean="0"/>
              <a:t> </a:t>
            </a:r>
            <a:r>
              <a:rPr lang="en-US" sz="3600" b="1" dirty="0" smtClean="0"/>
              <a:t>SUMMIT</a:t>
            </a:r>
            <a:endParaRPr lang="en-US" sz="3600" cap="small" dirty="0" smtClean="0"/>
          </a:p>
        </p:txBody>
      </p:sp>
      <p:pic>
        <p:nvPicPr>
          <p:cNvPr id="9218" name="Picture 2" descr="C:\Users\AMIRA\Desktop\af.jpg"/>
          <p:cNvPicPr>
            <a:picLocks noChangeAspect="1" noChangeArrowheads="1"/>
          </p:cNvPicPr>
          <p:nvPr/>
        </p:nvPicPr>
        <p:blipFill>
          <a:blip r:embed="rId2"/>
          <a:srcRect/>
          <a:stretch>
            <a:fillRect/>
          </a:stretch>
        </p:blipFill>
        <p:spPr bwMode="auto">
          <a:xfrm>
            <a:off x="2" y="2"/>
            <a:ext cx="838198" cy="1371598"/>
          </a:xfrm>
          <a:prstGeom prst="rect">
            <a:avLst/>
          </a:prstGeom>
          <a:noFill/>
        </p:spPr>
      </p:pic>
      <p:sp>
        <p:nvSpPr>
          <p:cNvPr id="6" name="Slide Number Placeholder 5"/>
          <p:cNvSpPr>
            <a:spLocks noGrp="1"/>
          </p:cNvSpPr>
          <p:nvPr>
            <p:ph type="sldNum" sz="quarter" idx="15"/>
          </p:nvPr>
        </p:nvSpPr>
        <p:spPr/>
        <p:txBody>
          <a:bodyPr/>
          <a:lstStyle/>
          <a:p>
            <a:fld id="{B6F15528-21DE-4FAA-801E-634DDDAF4B2B}" type="slidenum">
              <a:rPr lang="en-US" smtClean="0"/>
              <a:pPr/>
              <a:t>10</a:t>
            </a:fld>
            <a:endParaRPr lang="en-US"/>
          </a:p>
        </p:txBody>
      </p:sp>
    </p:spTree>
  </p:cSld>
  <p:clrMapOvr>
    <a:masterClrMapping/>
  </p:clrMapOvr>
  <p:transition>
    <p:dissolv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1143000"/>
          </a:xfrm>
        </p:spPr>
        <p:txBody>
          <a:bodyPr>
            <a:normAutofit fontScale="90000"/>
          </a:bodyPr>
          <a:lstStyle/>
          <a:p>
            <a:pPr algn="ctr"/>
            <a:r>
              <a:rPr lang="en-US" dirty="0" smtClean="0"/>
              <a:t>     	</a:t>
            </a:r>
            <a:r>
              <a:rPr lang="en-US" sz="2200" b="1" dirty="0" smtClean="0">
                <a:latin typeface="Times New Roman" pitchFamily="18" charset="0"/>
                <a:cs typeface="Times New Roman" pitchFamily="18" charset="0"/>
              </a:rPr>
              <a:t>FINANCIAL ADMINISTRATION PROCESSES   BOTTLENECKS REGARDING PAYMENTS OF VARIOUS FEES SERVICING OF COMMITTEES IN THE UNIVERSITY: CHALLENGES AND WAY FORWARD IN PURCHASING OF OFFICIAL MATERIAL</a:t>
            </a:r>
            <a:r>
              <a:rPr lang="en-US" sz="2200" dirty="0" smtClean="0">
                <a:latin typeface="Times New Roman" pitchFamily="18" charset="0"/>
                <a:cs typeface="Times New Roman" pitchFamily="18" charset="0"/>
              </a:rPr>
              <a:t/>
            </a:r>
            <a:br>
              <a:rPr lang="en-US" sz="2200" dirty="0" smtClean="0">
                <a:latin typeface="Times New Roman" pitchFamily="18" charset="0"/>
                <a:cs typeface="Times New Roman" pitchFamily="18" charset="0"/>
              </a:rPr>
            </a:br>
            <a:endParaRPr lang="en-US" sz="2200" dirty="0"/>
          </a:p>
        </p:txBody>
      </p:sp>
      <p:sp>
        <p:nvSpPr>
          <p:cNvPr id="3" name="Content Placeholder 2"/>
          <p:cNvSpPr>
            <a:spLocks noGrp="1"/>
          </p:cNvSpPr>
          <p:nvPr>
            <p:ph sz="quarter" idx="1"/>
          </p:nvPr>
        </p:nvSpPr>
        <p:spPr>
          <a:xfrm>
            <a:off x="457200" y="1752600"/>
            <a:ext cx="8229600" cy="4876800"/>
          </a:xfrm>
        </p:spPr>
        <p:txBody>
          <a:bodyPr>
            <a:normAutofit fontScale="85000" lnSpcReduction="20000"/>
          </a:bodyPr>
          <a:lstStyle/>
          <a:p>
            <a:pPr algn="ctr">
              <a:buNone/>
            </a:pPr>
            <a:endParaRPr lang="en-US" b="1" dirty="0" smtClean="0"/>
          </a:p>
          <a:p>
            <a:pPr algn="ctr">
              <a:buNone/>
            </a:pPr>
            <a:r>
              <a:rPr lang="en-US" b="1" dirty="0" smtClean="0"/>
              <a:t>Financing the Operations of a Committee</a:t>
            </a:r>
            <a:endParaRPr lang="en-US" dirty="0" smtClean="0"/>
          </a:p>
          <a:p>
            <a:pPr>
              <a:buNone/>
            </a:pPr>
            <a:r>
              <a:rPr lang="en-US" dirty="0" smtClean="0"/>
              <a:t>	There are several ways of financing a Committee. However the prominent ones include:</a:t>
            </a:r>
          </a:p>
          <a:p>
            <a:pPr>
              <a:buNone/>
            </a:pPr>
            <a:r>
              <a:rPr lang="en-US" dirty="0" smtClean="0"/>
              <a:t>	(a)	</a:t>
            </a:r>
            <a:r>
              <a:rPr lang="en-US" b="1" dirty="0" smtClean="0"/>
              <a:t>Direct Payment</a:t>
            </a:r>
            <a:r>
              <a:rPr lang="en-US" dirty="0" smtClean="0"/>
              <a:t>: This method can be used where an approval for the release of fund has been granted and all suppliers of materials and entertainment have been identified and stated on the memorandum requesting for resources for Committee meeting. </a:t>
            </a:r>
          </a:p>
          <a:p>
            <a:pPr>
              <a:buNone/>
            </a:pPr>
            <a:r>
              <a:rPr lang="en-US" dirty="0" smtClean="0"/>
              <a:t>	(b)	</a:t>
            </a:r>
            <a:r>
              <a:rPr lang="en-US" b="1" dirty="0" smtClean="0"/>
              <a:t>Cash Advance</a:t>
            </a:r>
            <a:r>
              <a:rPr lang="en-US" dirty="0" smtClean="0"/>
              <a:t>: This method can be used whereby suppliers of materials and other resources may have not been identified as at the time of making the request for approval of fund to service a committee meeting. This method is also useful where fund should be at hand before a meeting and where planning for the meeting is within a medium or short-time period. It is the prevalent method of servicing Committee meetings in the University, therefore our focus will be on financing of Committee operations using Cash Advance.</a:t>
            </a:r>
          </a:p>
          <a:p>
            <a:endParaRPr lang="en-US" dirty="0"/>
          </a:p>
        </p:txBody>
      </p:sp>
      <p:pic>
        <p:nvPicPr>
          <p:cNvPr id="10242" name="Picture 2" descr="C:\Users\AMIRA\Desktop\af.jpg"/>
          <p:cNvPicPr>
            <a:picLocks noChangeAspect="1" noChangeArrowheads="1"/>
          </p:cNvPicPr>
          <p:nvPr/>
        </p:nvPicPr>
        <p:blipFill>
          <a:blip r:embed="rId2"/>
          <a:srcRect/>
          <a:stretch>
            <a:fillRect/>
          </a:stretch>
        </p:blipFill>
        <p:spPr bwMode="auto">
          <a:xfrm>
            <a:off x="1" y="1"/>
            <a:ext cx="838199" cy="1752599"/>
          </a:xfrm>
          <a:prstGeom prst="rect">
            <a:avLst/>
          </a:prstGeom>
          <a:noFill/>
        </p:spPr>
      </p:pic>
      <p:sp>
        <p:nvSpPr>
          <p:cNvPr id="5" name="Title 1"/>
          <p:cNvSpPr txBox="1">
            <a:spLocks/>
          </p:cNvSpPr>
          <p:nvPr/>
        </p:nvSpPr>
        <p:spPr>
          <a:xfrm>
            <a:off x="838200" y="0"/>
            <a:ext cx="8305800" cy="1600200"/>
          </a:xfrm>
          <a:prstGeom prst="rect">
            <a:avLst/>
          </a:prstGeom>
        </p:spPr>
        <p:style>
          <a:lnRef idx="1">
            <a:schemeClr val="accent2"/>
          </a:lnRef>
          <a:fillRef idx="2">
            <a:schemeClr val="accent2"/>
          </a:fillRef>
          <a:effectRef idx="1">
            <a:schemeClr val="accent2"/>
          </a:effectRef>
          <a:fontRef idx="minor">
            <a:schemeClr val="dk1"/>
          </a:fontRef>
        </p:style>
        <p:txBody>
          <a:bodyPr vert="horz" anchor="b">
            <a:normAutofit fontScale="97500"/>
          </a:bodyPr>
          <a:lstStyle/>
          <a:p>
            <a:pPr algn="ctr">
              <a:spcBef>
                <a:spcPct val="0"/>
              </a:spcBef>
            </a:pPr>
            <a:r>
              <a:rPr kumimoji="0" lang="en-US" sz="3000" b="0" i="0" u="none" strike="noStrike" kern="1200" cap="small" spc="0" normalizeH="0" baseline="0" noProof="0" dirty="0" smtClean="0">
                <a:ln>
                  <a:noFill/>
                </a:ln>
                <a:solidFill>
                  <a:schemeClr val="dk1"/>
                </a:solidFill>
                <a:effectLst/>
                <a:uLnTx/>
                <a:uFillTx/>
                <a:latin typeface="+mn-lt"/>
                <a:ea typeface="+mn-ea"/>
                <a:cs typeface="+mn-cs"/>
              </a:rPr>
              <a:t>   	</a:t>
            </a:r>
            <a:r>
              <a:rPr lang="en-US" sz="2800" b="1" dirty="0" smtClean="0"/>
              <a:t>EKITI STATE UNIVERSITY, ADO-EKITI</a:t>
            </a:r>
            <a:br>
              <a:rPr lang="en-US" sz="2800" b="1" dirty="0" smtClean="0"/>
            </a:br>
            <a:r>
              <a:rPr lang="en-US" sz="3200" b="1" dirty="0" smtClean="0"/>
              <a:t>ACADEMIC</a:t>
            </a:r>
            <a:r>
              <a:rPr lang="en-US" sz="5400" b="1" dirty="0" smtClean="0"/>
              <a:t> </a:t>
            </a:r>
            <a:r>
              <a:rPr lang="en-US" sz="3200" b="1" dirty="0" smtClean="0"/>
              <a:t>SUMMIT</a:t>
            </a:r>
            <a:endParaRPr lang="en-US" sz="3200" cap="small" dirty="0" smtClean="0"/>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200" b="0" i="0" u="none" strike="noStrike" kern="1200" cap="small" spc="0" normalizeH="0" baseline="0" noProof="0" dirty="0">
              <a:ln>
                <a:noFill/>
              </a:ln>
              <a:solidFill>
                <a:schemeClr val="dk1"/>
              </a:solidFill>
              <a:effectLst/>
              <a:uLnTx/>
              <a:uFillTx/>
              <a:latin typeface="+mn-lt"/>
              <a:ea typeface="+mn-ea"/>
              <a:cs typeface="+mn-cs"/>
            </a:endParaRPr>
          </a:p>
        </p:txBody>
      </p:sp>
      <p:sp>
        <p:nvSpPr>
          <p:cNvPr id="6" name="Slide Number Placeholder 5"/>
          <p:cNvSpPr>
            <a:spLocks noGrp="1"/>
          </p:cNvSpPr>
          <p:nvPr>
            <p:ph type="sldNum" sz="quarter" idx="15"/>
          </p:nvPr>
        </p:nvSpPr>
        <p:spPr/>
        <p:txBody>
          <a:bodyPr/>
          <a:lstStyle/>
          <a:p>
            <a:fld id="{B6F15528-21DE-4FAA-801E-634DDDAF4B2B}" type="slidenum">
              <a:rPr lang="en-US" smtClean="0"/>
              <a:pPr/>
              <a:t>11</a:t>
            </a:fld>
            <a:endParaRPr lang="en-US"/>
          </a:p>
        </p:txBody>
      </p:sp>
    </p:spTree>
  </p:cSld>
  <p:clrMapOvr>
    <a:masterClrMapping/>
  </p:clrMapOvr>
  <p:transition>
    <p:strips dir="rd"/>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1143000"/>
          </a:xfrm>
        </p:spPr>
        <p:txBody>
          <a:bodyPr>
            <a:normAutofit fontScale="90000"/>
          </a:bodyPr>
          <a:lstStyle/>
          <a:p>
            <a:pPr algn="ctr"/>
            <a:r>
              <a:rPr lang="en-US" dirty="0" smtClean="0"/>
              <a:t>      	</a:t>
            </a:r>
            <a:r>
              <a:rPr lang="en-US" sz="2200" b="1" dirty="0" smtClean="0">
                <a:latin typeface="Times New Roman" pitchFamily="18" charset="0"/>
                <a:cs typeface="Times New Roman" pitchFamily="18" charset="0"/>
              </a:rPr>
              <a:t>FINANCIAL ADMINISTRATION PROCESSES   BOTTLENECKS REGARDING PAYMENTS OF VARIOUS FEES SERVICING OF COMMITTEES IN THE UNIVERSITY: CHALLENGES AND WAY FORWARD IN PURCHASING OF OFFICIAL MATERIAL</a:t>
            </a:r>
            <a:r>
              <a:rPr lang="en-US" sz="2200" dirty="0" smtClean="0">
                <a:latin typeface="Times New Roman" pitchFamily="18" charset="0"/>
                <a:cs typeface="Times New Roman" pitchFamily="18" charset="0"/>
              </a:rPr>
              <a:t/>
            </a:r>
            <a:br>
              <a:rPr lang="en-US" sz="2200" dirty="0" smtClean="0">
                <a:latin typeface="Times New Roman" pitchFamily="18" charset="0"/>
                <a:cs typeface="Times New Roman" pitchFamily="18" charset="0"/>
              </a:rPr>
            </a:br>
            <a:endParaRPr lang="en-US" sz="2200" dirty="0"/>
          </a:p>
        </p:txBody>
      </p:sp>
      <p:sp>
        <p:nvSpPr>
          <p:cNvPr id="3" name="Content Placeholder 2"/>
          <p:cNvSpPr>
            <a:spLocks noGrp="1"/>
          </p:cNvSpPr>
          <p:nvPr>
            <p:ph sz="quarter" idx="1"/>
          </p:nvPr>
        </p:nvSpPr>
        <p:spPr>
          <a:xfrm>
            <a:off x="533400" y="1676400"/>
            <a:ext cx="8229600" cy="5562600"/>
          </a:xfrm>
        </p:spPr>
        <p:txBody>
          <a:bodyPr>
            <a:normAutofit fontScale="40000" lnSpcReduction="20000"/>
          </a:bodyPr>
          <a:lstStyle/>
          <a:p>
            <a:pPr algn="ctr">
              <a:buNone/>
            </a:pPr>
            <a:r>
              <a:rPr lang="en-US" sz="7200" b="1" dirty="0" smtClean="0"/>
              <a:t>Funding a Committee using Cash Advance</a:t>
            </a:r>
            <a:endParaRPr lang="en-US" sz="7200" dirty="0" smtClean="0"/>
          </a:p>
          <a:p>
            <a:pPr>
              <a:buNone/>
            </a:pPr>
            <a:r>
              <a:rPr lang="en-US" sz="7200" dirty="0" smtClean="0"/>
              <a:t>	Cash Advance is the money released to meet some urgent tasks or assignments. This may be to procure some materials, payment for transportation, logistics, entertainment, hiring of space, etc.</a:t>
            </a:r>
          </a:p>
          <a:p>
            <a:pPr>
              <a:buNone/>
            </a:pPr>
            <a:r>
              <a:rPr lang="en-US" sz="7200" dirty="0" smtClean="0"/>
              <a:t>	Cash Advance shall be released only for official assignment after it has been duly approved by the Vice-</a:t>
            </a:r>
            <a:r>
              <a:rPr lang="en-US" sz="7200" dirty="0" err="1" smtClean="0"/>
              <a:t>Chancellor;for</a:t>
            </a:r>
            <a:r>
              <a:rPr lang="en-US" sz="7200" dirty="0" smtClean="0"/>
              <a:t> the Dean or Head of Department (it is from the fund disbursed from grants to the Faculties/Departments).</a:t>
            </a:r>
          </a:p>
          <a:p>
            <a:pPr lvl="0">
              <a:buNone/>
            </a:pPr>
            <a:endParaRPr lang="en-US" sz="7200" b="1" dirty="0" smtClean="0"/>
          </a:p>
          <a:p>
            <a:endParaRPr lang="en-US" dirty="0"/>
          </a:p>
        </p:txBody>
      </p:sp>
      <p:pic>
        <p:nvPicPr>
          <p:cNvPr id="11266" name="Picture 2" descr="C:\Users\AMIRA\Desktop\af.jpg"/>
          <p:cNvPicPr>
            <a:picLocks noChangeAspect="1" noChangeArrowheads="1"/>
          </p:cNvPicPr>
          <p:nvPr/>
        </p:nvPicPr>
        <p:blipFill>
          <a:blip r:embed="rId2"/>
          <a:srcRect/>
          <a:stretch>
            <a:fillRect/>
          </a:stretch>
        </p:blipFill>
        <p:spPr bwMode="auto">
          <a:xfrm>
            <a:off x="1" y="2"/>
            <a:ext cx="838199" cy="1523998"/>
          </a:xfrm>
          <a:prstGeom prst="rect">
            <a:avLst/>
          </a:prstGeom>
          <a:noFill/>
        </p:spPr>
      </p:pic>
      <p:sp>
        <p:nvSpPr>
          <p:cNvPr id="5" name="Title 1"/>
          <p:cNvSpPr txBox="1">
            <a:spLocks/>
          </p:cNvSpPr>
          <p:nvPr/>
        </p:nvSpPr>
        <p:spPr>
          <a:xfrm>
            <a:off x="914400" y="0"/>
            <a:ext cx="8229600" cy="1524000"/>
          </a:xfrm>
          <a:prstGeom prst="rect">
            <a:avLst/>
          </a:prstGeom>
        </p:spPr>
        <p:style>
          <a:lnRef idx="1">
            <a:schemeClr val="accent2"/>
          </a:lnRef>
          <a:fillRef idx="2">
            <a:schemeClr val="accent2"/>
          </a:fillRef>
          <a:effectRef idx="1">
            <a:schemeClr val="accent2"/>
          </a:effectRef>
          <a:fontRef idx="minor">
            <a:schemeClr val="dk1"/>
          </a:fontRef>
        </p:style>
        <p:txBody>
          <a:bodyPr vert="horz" anchor="b">
            <a:normAutofit fontScale="97500"/>
          </a:bodyPr>
          <a:lstStyle/>
          <a:p>
            <a:pPr algn="ctr">
              <a:lnSpc>
                <a:spcPct val="150000"/>
              </a:lnSpc>
              <a:spcBef>
                <a:spcPct val="0"/>
              </a:spcBef>
            </a:pPr>
            <a:r>
              <a:rPr lang="en-US" sz="2400" b="1" dirty="0" smtClean="0"/>
              <a:t>EKITI STATE UNIVERSITY, ADO-EKITI</a:t>
            </a:r>
            <a:br>
              <a:rPr lang="en-US" sz="2400" b="1" dirty="0" smtClean="0"/>
            </a:br>
            <a:r>
              <a:rPr lang="en-US" sz="3200" b="1" dirty="0" smtClean="0"/>
              <a:t>ACADEMIC SUMMIT</a:t>
            </a:r>
            <a:endParaRPr lang="en-US" sz="3200" cap="small" dirty="0" smtClean="0"/>
          </a:p>
        </p:txBody>
      </p:sp>
      <p:sp>
        <p:nvSpPr>
          <p:cNvPr id="6" name="Slide Number Placeholder 5"/>
          <p:cNvSpPr>
            <a:spLocks noGrp="1"/>
          </p:cNvSpPr>
          <p:nvPr>
            <p:ph type="sldNum" sz="quarter" idx="15"/>
          </p:nvPr>
        </p:nvSpPr>
        <p:spPr/>
        <p:txBody>
          <a:bodyPr/>
          <a:lstStyle/>
          <a:p>
            <a:fld id="{B6F15528-21DE-4FAA-801E-634DDDAF4B2B}" type="slidenum">
              <a:rPr lang="en-US" smtClean="0"/>
              <a:pPr/>
              <a:t>12</a:t>
            </a:fld>
            <a:endParaRPr lang="en-US"/>
          </a:p>
        </p:txBody>
      </p:sp>
    </p:spTree>
  </p:cSld>
  <p:clrMapOvr>
    <a:masterClrMapping/>
  </p:clrMapOvr>
  <p:transition>
    <p:cut/>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143000"/>
          </a:xfrm>
        </p:spPr>
        <p:txBody>
          <a:bodyPr>
            <a:normAutofit fontScale="90000"/>
          </a:bodyPr>
          <a:lstStyle/>
          <a:p>
            <a:pPr algn="ctr"/>
            <a:r>
              <a:rPr lang="en-US" dirty="0" smtClean="0"/>
              <a:t>      	</a:t>
            </a:r>
            <a:r>
              <a:rPr lang="en-US" sz="2200" b="1" dirty="0" smtClean="0">
                <a:latin typeface="Times New Roman" pitchFamily="18" charset="0"/>
                <a:cs typeface="Times New Roman" pitchFamily="18" charset="0"/>
              </a:rPr>
              <a:t>FINANCIAL ADMINISTRATION PROCESSES   BOTTLENECKS REGARDING PAYMENTS OF VARIOUS FEES SERVICING OF COMMITTEES IN THE UNIVERSITY: CHALLENGES AND WAY FORWARD IN PURCHASING OF OFFICIAL MATERIAL</a:t>
            </a:r>
            <a:r>
              <a:rPr lang="en-US" sz="2200" dirty="0" smtClean="0">
                <a:latin typeface="Times New Roman" pitchFamily="18" charset="0"/>
                <a:cs typeface="Times New Roman" pitchFamily="18" charset="0"/>
              </a:rPr>
              <a:t/>
            </a:r>
            <a:br>
              <a:rPr lang="en-US" sz="2200" dirty="0" smtClean="0">
                <a:latin typeface="Times New Roman" pitchFamily="18" charset="0"/>
                <a:cs typeface="Times New Roman" pitchFamily="18" charset="0"/>
              </a:rPr>
            </a:br>
            <a:endParaRPr lang="en-US" sz="2200" dirty="0"/>
          </a:p>
        </p:txBody>
      </p:sp>
      <p:sp>
        <p:nvSpPr>
          <p:cNvPr id="3" name="Content Placeholder 2"/>
          <p:cNvSpPr>
            <a:spLocks noGrp="1"/>
          </p:cNvSpPr>
          <p:nvPr>
            <p:ph sz="quarter" idx="1"/>
          </p:nvPr>
        </p:nvSpPr>
        <p:spPr>
          <a:xfrm>
            <a:off x="457200" y="1752600"/>
            <a:ext cx="8229600" cy="4648200"/>
          </a:xfrm>
        </p:spPr>
        <p:txBody>
          <a:bodyPr>
            <a:normAutofit fontScale="85000" lnSpcReduction="20000"/>
          </a:bodyPr>
          <a:lstStyle/>
          <a:p>
            <a:pPr algn="ctr">
              <a:buNone/>
            </a:pPr>
            <a:r>
              <a:rPr lang="en-US" sz="2400" b="1" dirty="0" smtClean="0"/>
              <a:t> </a:t>
            </a:r>
            <a:r>
              <a:rPr lang="en-US" b="1" dirty="0" smtClean="0"/>
              <a:t>Advantages of using Cash Advance to Service Committee Meetings</a:t>
            </a:r>
            <a:endParaRPr lang="en-US" dirty="0" smtClean="0"/>
          </a:p>
          <a:p>
            <a:pPr>
              <a:buNone/>
            </a:pPr>
            <a:r>
              <a:rPr lang="en-US" dirty="0" smtClean="0"/>
              <a:t>	1.	It serves as immediate source of financial remedy.</a:t>
            </a:r>
          </a:p>
          <a:p>
            <a:pPr>
              <a:buNone/>
            </a:pPr>
            <a:r>
              <a:rPr lang="en-US" dirty="0" smtClean="0"/>
              <a:t>	2.	Cash Advance loan </a:t>
            </a:r>
            <a:r>
              <a:rPr lang="en-US" dirty="0" err="1" smtClean="0"/>
              <a:t>isissued</a:t>
            </a:r>
            <a:r>
              <a:rPr lang="en-US" dirty="0" smtClean="0"/>
              <a:t> for extreme situations.</a:t>
            </a:r>
          </a:p>
          <a:p>
            <a:pPr>
              <a:buNone/>
            </a:pPr>
            <a:r>
              <a:rPr lang="en-US" dirty="0" smtClean="0"/>
              <a:t>	3.	It provides financial relief.</a:t>
            </a:r>
          </a:p>
          <a:p>
            <a:pPr>
              <a:buNone/>
            </a:pPr>
            <a:r>
              <a:rPr lang="en-US" dirty="0" smtClean="0"/>
              <a:t>	4.	It hastens execution of payment.</a:t>
            </a:r>
          </a:p>
          <a:p>
            <a:pPr>
              <a:buNone/>
            </a:pPr>
            <a:r>
              <a:rPr lang="en-US" dirty="0" smtClean="0"/>
              <a:t>	5.	It saves time.</a:t>
            </a:r>
          </a:p>
          <a:p>
            <a:pPr>
              <a:buNone/>
            </a:pPr>
            <a:r>
              <a:rPr lang="en-US" dirty="0" smtClean="0"/>
              <a:t> </a:t>
            </a:r>
          </a:p>
          <a:p>
            <a:pPr algn="ctr">
              <a:buNone/>
            </a:pPr>
            <a:r>
              <a:rPr lang="en-US" b="1" dirty="0" smtClean="0"/>
              <a:t>Disadvantages of using Cash Advance to Service Committee Meetings</a:t>
            </a:r>
            <a:endParaRPr lang="en-US" dirty="0" smtClean="0"/>
          </a:p>
          <a:p>
            <a:pPr>
              <a:buNone/>
            </a:pPr>
            <a:r>
              <a:rPr lang="en-US" dirty="0" smtClean="0"/>
              <a:t>	1.	It is a very expensive solution at the end.</a:t>
            </a:r>
          </a:p>
          <a:p>
            <a:pPr>
              <a:buNone/>
            </a:pPr>
            <a:r>
              <a:rPr lang="en-US" dirty="0" smtClean="0"/>
              <a:t>	2.	It becomes addictive for some people.</a:t>
            </a:r>
          </a:p>
          <a:p>
            <a:pPr>
              <a:buNone/>
            </a:pPr>
            <a:r>
              <a:rPr lang="en-US" dirty="0" smtClean="0"/>
              <a:t>	3.	It should be used for extreme situation but it is being abused to meet routine tasks.</a:t>
            </a:r>
          </a:p>
          <a:p>
            <a:pPr>
              <a:buNone/>
            </a:pPr>
            <a:r>
              <a:rPr lang="en-US" dirty="0" smtClean="0"/>
              <a:t>	4.	Possibility of refusal of clearance by Internal Auditors.</a:t>
            </a:r>
          </a:p>
          <a:p>
            <a:pPr algn="just">
              <a:buNone/>
            </a:pPr>
            <a:endParaRPr lang="en-US" sz="2400" dirty="0" smtClean="0"/>
          </a:p>
          <a:p>
            <a:pPr algn="just">
              <a:buNone/>
            </a:pPr>
            <a:endParaRPr lang="en-US" sz="2100" dirty="0" smtClean="0">
              <a:latin typeface="Times New Roman" pitchFamily="18" charset="0"/>
              <a:cs typeface="Times New Roman" pitchFamily="18" charset="0"/>
            </a:endParaRPr>
          </a:p>
          <a:p>
            <a:endParaRPr lang="en-US" dirty="0"/>
          </a:p>
        </p:txBody>
      </p:sp>
      <p:pic>
        <p:nvPicPr>
          <p:cNvPr id="12290" name="Picture 2" descr="C:\Users\AMIRA\Desktop\af.jpg"/>
          <p:cNvPicPr>
            <a:picLocks noChangeAspect="1" noChangeArrowheads="1"/>
          </p:cNvPicPr>
          <p:nvPr/>
        </p:nvPicPr>
        <p:blipFill>
          <a:blip r:embed="rId2"/>
          <a:srcRect/>
          <a:stretch>
            <a:fillRect/>
          </a:stretch>
        </p:blipFill>
        <p:spPr bwMode="auto">
          <a:xfrm>
            <a:off x="1" y="1"/>
            <a:ext cx="990599" cy="1600199"/>
          </a:xfrm>
          <a:prstGeom prst="rect">
            <a:avLst/>
          </a:prstGeom>
          <a:noFill/>
        </p:spPr>
      </p:pic>
      <p:sp>
        <p:nvSpPr>
          <p:cNvPr id="5" name="Title 1"/>
          <p:cNvSpPr txBox="1">
            <a:spLocks/>
          </p:cNvSpPr>
          <p:nvPr/>
        </p:nvSpPr>
        <p:spPr>
          <a:xfrm>
            <a:off x="990600" y="0"/>
            <a:ext cx="8153400" cy="1600200"/>
          </a:xfrm>
          <a:prstGeom prst="rect">
            <a:avLst/>
          </a:prstGeom>
        </p:spPr>
        <p:style>
          <a:lnRef idx="1">
            <a:schemeClr val="accent2"/>
          </a:lnRef>
          <a:fillRef idx="2">
            <a:schemeClr val="accent2"/>
          </a:fillRef>
          <a:effectRef idx="1">
            <a:schemeClr val="accent2"/>
          </a:effectRef>
          <a:fontRef idx="minor">
            <a:schemeClr val="dk1"/>
          </a:fontRef>
        </p:style>
        <p:txBody>
          <a:bodyPr vert="horz" anchor="b">
            <a:normAutofit fontScale="97500"/>
          </a:bodyPr>
          <a:lstStyle/>
          <a:p>
            <a:pPr algn="ctr">
              <a:spcBef>
                <a:spcPct val="0"/>
              </a:spcBef>
            </a:pPr>
            <a:r>
              <a:rPr kumimoji="0" lang="en-US" sz="3000" b="0" i="0" u="none" strike="noStrike" kern="1200" cap="small" spc="0" normalizeH="0" baseline="0" noProof="0" dirty="0" smtClean="0">
                <a:ln>
                  <a:noFill/>
                </a:ln>
                <a:solidFill>
                  <a:schemeClr val="dk1"/>
                </a:solidFill>
                <a:effectLst/>
                <a:uLnTx/>
                <a:uFillTx/>
                <a:latin typeface="+mn-lt"/>
                <a:ea typeface="+mn-ea"/>
                <a:cs typeface="+mn-cs"/>
              </a:rPr>
              <a:t>   </a:t>
            </a:r>
            <a:r>
              <a:rPr lang="en-US" sz="2800" b="1" dirty="0" smtClean="0"/>
              <a:t>EKITI STATE UNIVERSITY, ADO-EKITI</a:t>
            </a:r>
            <a:br>
              <a:rPr lang="en-US" sz="2800" b="1" dirty="0" smtClean="0"/>
            </a:br>
            <a:r>
              <a:rPr lang="en-US" sz="3200" b="1" dirty="0" smtClean="0"/>
              <a:t>ACADEMIC</a:t>
            </a:r>
            <a:r>
              <a:rPr lang="en-US" sz="5400" b="1" dirty="0" smtClean="0"/>
              <a:t> </a:t>
            </a:r>
            <a:r>
              <a:rPr lang="en-US" sz="3200" b="1" dirty="0" smtClean="0"/>
              <a:t>SUMMIT</a:t>
            </a:r>
            <a:endParaRPr lang="en-US" sz="3200" cap="small" dirty="0" smtClean="0"/>
          </a:p>
        </p:txBody>
      </p:sp>
      <p:sp>
        <p:nvSpPr>
          <p:cNvPr id="6" name="Slide Number Placeholder 5"/>
          <p:cNvSpPr>
            <a:spLocks noGrp="1"/>
          </p:cNvSpPr>
          <p:nvPr>
            <p:ph type="sldNum" sz="quarter" idx="15"/>
          </p:nvPr>
        </p:nvSpPr>
        <p:spPr/>
        <p:txBody>
          <a:bodyPr/>
          <a:lstStyle/>
          <a:p>
            <a:fld id="{B6F15528-21DE-4FAA-801E-634DDDAF4B2B}" type="slidenum">
              <a:rPr lang="en-US" smtClean="0"/>
              <a:pPr/>
              <a:t>13</a:t>
            </a:fld>
            <a:endParaRPr lang="en-US"/>
          </a:p>
        </p:txBody>
      </p:sp>
    </p:spTree>
  </p:cSld>
  <p:clrMapOvr>
    <a:masterClrMapping/>
  </p:clrMapOvr>
  <p:transition>
    <p:wipe dir="u"/>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7848600" cy="1143000"/>
          </a:xfrm>
        </p:spPr>
        <p:txBody>
          <a:bodyPr>
            <a:normAutofit fontScale="90000"/>
          </a:bodyPr>
          <a:lstStyle/>
          <a:p>
            <a:pPr algn="ctr"/>
            <a:r>
              <a:rPr lang="en-US" dirty="0" smtClean="0"/>
              <a:t>         	</a:t>
            </a:r>
            <a:r>
              <a:rPr lang="en-US" sz="2200" b="1" dirty="0" smtClean="0">
                <a:latin typeface="Times New Roman" pitchFamily="18" charset="0"/>
                <a:cs typeface="Times New Roman" pitchFamily="18" charset="0"/>
              </a:rPr>
              <a:t>FINANCIAL ADMINISTRATION PROCESSES   BOTTLENECKS REGARDING PAYMENTS OF VARIOUS FEES SERVICING OF COMMITTEES IN THE UNIVERSITY: CHALLENGES AND WAY FORWARD IN PURCHASING OF OFFICIAL MATERIAL</a:t>
            </a:r>
            <a:r>
              <a:rPr lang="en-US" sz="2200" dirty="0" smtClean="0">
                <a:latin typeface="Times New Roman" pitchFamily="18" charset="0"/>
                <a:cs typeface="Times New Roman" pitchFamily="18" charset="0"/>
              </a:rPr>
              <a:t/>
            </a:r>
            <a:br>
              <a:rPr lang="en-US" sz="2200" dirty="0" smtClean="0">
                <a:latin typeface="Times New Roman" pitchFamily="18" charset="0"/>
                <a:cs typeface="Times New Roman" pitchFamily="18" charset="0"/>
              </a:rPr>
            </a:br>
            <a:endParaRPr lang="en-US" sz="2200" dirty="0"/>
          </a:p>
        </p:txBody>
      </p:sp>
      <p:sp>
        <p:nvSpPr>
          <p:cNvPr id="3" name="Content Placeholder 2"/>
          <p:cNvSpPr>
            <a:spLocks noGrp="1"/>
          </p:cNvSpPr>
          <p:nvPr>
            <p:ph sz="quarter" idx="1"/>
          </p:nvPr>
        </p:nvSpPr>
        <p:spPr>
          <a:xfrm>
            <a:off x="457200" y="1676400"/>
            <a:ext cx="7467600" cy="4876800"/>
          </a:xfrm>
        </p:spPr>
        <p:txBody>
          <a:bodyPr>
            <a:normAutofit fontScale="85000" lnSpcReduction="10000"/>
          </a:bodyPr>
          <a:lstStyle/>
          <a:p>
            <a:pPr algn="ctr">
              <a:buNone/>
            </a:pPr>
            <a:r>
              <a:rPr lang="en-US" b="1" dirty="0" smtClean="0"/>
              <a:t>Control of Cash Advance </a:t>
            </a:r>
            <a:endParaRPr lang="en-US" dirty="0" smtClean="0"/>
          </a:p>
          <a:p>
            <a:pPr>
              <a:buNone/>
            </a:pPr>
            <a:r>
              <a:rPr lang="en-US" dirty="0" smtClean="0"/>
              <a:t>	</a:t>
            </a:r>
            <a:r>
              <a:rPr lang="en-US" b="1" dirty="0" smtClean="0"/>
              <a:t>Control of Cash Advance </a:t>
            </a:r>
            <a:endParaRPr lang="en-US" dirty="0" smtClean="0"/>
          </a:p>
          <a:p>
            <a:pPr algn="just">
              <a:buNone/>
            </a:pPr>
            <a:r>
              <a:rPr lang="en-US" dirty="0" smtClean="0"/>
              <a:t>The following are the steps that should be followed when in need of Cash Advances for Committee servicing:</a:t>
            </a:r>
          </a:p>
          <a:p>
            <a:pPr lvl="0">
              <a:buNone/>
            </a:pPr>
            <a:r>
              <a:rPr lang="en-US" dirty="0" smtClean="0"/>
              <a:t>1. To request in writing, highlighting expenses needed to service the Committee, including the financial implication for each of the expenses. Reference to files containing memorandum relating to servicing of similar Committees in the immediate past will serve as a guide on estimate for the proposed Committee meeting.</a:t>
            </a:r>
          </a:p>
          <a:p>
            <a:pPr lvl="0">
              <a:buNone/>
            </a:pPr>
            <a:r>
              <a:rPr lang="en-US" dirty="0" smtClean="0"/>
              <a:t>2. To have the request/memorandum approved by the Vice-Chancellor, on the recommendation of the Bursar and the Director of Internal Audit. Part of the Bursar’s duties will be to see whether the amount requested for can be accommodated.</a:t>
            </a:r>
          </a:p>
          <a:p>
            <a:pPr>
              <a:buNone/>
            </a:pPr>
            <a:endParaRPr lang="en-US" dirty="0"/>
          </a:p>
        </p:txBody>
      </p:sp>
      <p:pic>
        <p:nvPicPr>
          <p:cNvPr id="4" name="Picture 2" descr="C:\Users\AMIRA\Desktop\af.jpg"/>
          <p:cNvPicPr>
            <a:picLocks noChangeAspect="1" noChangeArrowheads="1"/>
          </p:cNvPicPr>
          <p:nvPr/>
        </p:nvPicPr>
        <p:blipFill>
          <a:blip r:embed="rId2"/>
          <a:srcRect/>
          <a:stretch>
            <a:fillRect/>
          </a:stretch>
        </p:blipFill>
        <p:spPr bwMode="auto">
          <a:xfrm>
            <a:off x="1" y="0"/>
            <a:ext cx="838199" cy="1600200"/>
          </a:xfrm>
          <a:prstGeom prst="rect">
            <a:avLst/>
          </a:prstGeom>
          <a:noFill/>
        </p:spPr>
      </p:pic>
      <p:sp>
        <p:nvSpPr>
          <p:cNvPr id="5" name="Title 1"/>
          <p:cNvSpPr txBox="1">
            <a:spLocks/>
          </p:cNvSpPr>
          <p:nvPr/>
        </p:nvSpPr>
        <p:spPr>
          <a:xfrm>
            <a:off x="838200" y="0"/>
            <a:ext cx="8305800" cy="1600200"/>
          </a:xfrm>
          <a:prstGeom prst="rect">
            <a:avLst/>
          </a:prstGeom>
        </p:spPr>
        <p:style>
          <a:lnRef idx="1">
            <a:schemeClr val="accent2"/>
          </a:lnRef>
          <a:fillRef idx="2">
            <a:schemeClr val="accent2"/>
          </a:fillRef>
          <a:effectRef idx="1">
            <a:schemeClr val="accent2"/>
          </a:effectRef>
          <a:fontRef idx="minor">
            <a:schemeClr val="dk1"/>
          </a:fontRef>
        </p:style>
        <p:txBody>
          <a:bodyPr vert="horz" anchor="b">
            <a:normAutofit fontScale="97500"/>
          </a:bodyPr>
          <a:lstStyle/>
          <a:p>
            <a:pPr algn="ctr">
              <a:spcBef>
                <a:spcPct val="0"/>
              </a:spcBef>
            </a:pPr>
            <a:r>
              <a:rPr kumimoji="0" lang="en-US" sz="3000" b="0" i="0" u="none" strike="noStrike" kern="1200" cap="small" spc="0" normalizeH="0" baseline="0" noProof="0" dirty="0" smtClean="0">
                <a:ln>
                  <a:noFill/>
                </a:ln>
                <a:solidFill>
                  <a:schemeClr val="dk1"/>
                </a:solidFill>
                <a:effectLst/>
                <a:uLnTx/>
                <a:uFillTx/>
                <a:latin typeface="+mn-lt"/>
                <a:ea typeface="+mn-ea"/>
                <a:cs typeface="+mn-cs"/>
              </a:rPr>
              <a:t>   	</a:t>
            </a:r>
            <a:r>
              <a:rPr lang="en-US" sz="2800" b="1" dirty="0" smtClean="0"/>
              <a:t>EKITI STATE UNIVERSITY, ADO-EKITI</a:t>
            </a:r>
            <a:br>
              <a:rPr lang="en-US" sz="2800" b="1" dirty="0" smtClean="0"/>
            </a:br>
            <a:r>
              <a:rPr lang="en-US" sz="3200" b="1" dirty="0" smtClean="0"/>
              <a:t>ACADEMIC</a:t>
            </a:r>
            <a:r>
              <a:rPr lang="en-US" sz="5400" b="1" dirty="0" smtClean="0"/>
              <a:t> </a:t>
            </a:r>
            <a:r>
              <a:rPr lang="en-US" sz="3200" b="1" dirty="0" smtClean="0"/>
              <a:t>SUMMIT</a:t>
            </a:r>
            <a:endParaRPr lang="en-US" sz="3200" cap="small" dirty="0" smtClean="0"/>
          </a:p>
        </p:txBody>
      </p:sp>
      <p:sp>
        <p:nvSpPr>
          <p:cNvPr id="6" name="Slide Number Placeholder 5"/>
          <p:cNvSpPr>
            <a:spLocks noGrp="1"/>
          </p:cNvSpPr>
          <p:nvPr>
            <p:ph type="sldNum" sz="quarter" idx="15"/>
          </p:nvPr>
        </p:nvSpPr>
        <p:spPr/>
        <p:txBody>
          <a:bodyPr/>
          <a:lstStyle/>
          <a:p>
            <a:fld id="{B6F15528-21DE-4FAA-801E-634DDDAF4B2B}" type="slidenum">
              <a:rPr lang="en-US" smtClean="0"/>
              <a:pPr/>
              <a:t>14</a:t>
            </a:fld>
            <a:endParaRPr lang="en-US"/>
          </a:p>
        </p:txBody>
      </p:sp>
    </p:spTree>
  </p:cSld>
  <p:clrMapOvr>
    <a:masterClrMapping/>
  </p:clrMapOvr>
  <p:transition>
    <p:dissolv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0"/>
            <a:ext cx="8229600" cy="1143000"/>
          </a:xfrm>
        </p:spPr>
        <p:txBody>
          <a:bodyPr>
            <a:noAutofit/>
          </a:bodyPr>
          <a:lstStyle/>
          <a:p>
            <a:pPr algn="ctr"/>
            <a:r>
              <a:rPr lang="en-US" sz="2000" dirty="0" smtClean="0"/>
              <a:t>    	</a:t>
            </a:r>
            <a:r>
              <a:rPr lang="en-US" sz="2000" b="1" dirty="0" smtClean="0">
                <a:latin typeface="Times New Roman" pitchFamily="18" charset="0"/>
                <a:cs typeface="Times New Roman" pitchFamily="18" charset="0"/>
              </a:rPr>
              <a:t>FINANCIAL ADMINISTRATION PROCESSES   BOTTLENECKS REGARDING PAYMENTS OF VARIOUS FEES SERVICING OF COMMITTEES IN THE UNIVERSITY: CHALLENGES AND WAY FORWARD IN PURCHASING OF OFFICIAL MATERIAL</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endParaRPr lang="en-US" sz="2000" dirty="0"/>
          </a:p>
        </p:txBody>
      </p:sp>
      <p:sp>
        <p:nvSpPr>
          <p:cNvPr id="3" name="Content Placeholder 2"/>
          <p:cNvSpPr>
            <a:spLocks noGrp="1"/>
          </p:cNvSpPr>
          <p:nvPr>
            <p:ph sz="quarter" idx="1"/>
          </p:nvPr>
        </p:nvSpPr>
        <p:spPr>
          <a:xfrm>
            <a:off x="457200" y="1828800"/>
            <a:ext cx="8229600" cy="4953000"/>
          </a:xfrm>
        </p:spPr>
        <p:txBody>
          <a:bodyPr>
            <a:normAutofit fontScale="77500" lnSpcReduction="20000"/>
          </a:bodyPr>
          <a:lstStyle/>
          <a:p>
            <a:pPr lvl="0">
              <a:buNone/>
            </a:pPr>
            <a:r>
              <a:rPr lang="en-US" sz="2500" dirty="0" smtClean="0"/>
              <a:t>3.</a:t>
            </a:r>
            <a:r>
              <a:rPr lang="en-US" sz="2500" b="1" dirty="0" smtClean="0"/>
              <a:t> 	</a:t>
            </a:r>
            <a:r>
              <a:rPr lang="en-US" dirty="0" smtClean="0"/>
              <a:t>To fill the cash advance release form you should also complete and attach the fund release form (FRF) .</a:t>
            </a:r>
          </a:p>
          <a:p>
            <a:pPr lvl="0">
              <a:buNone/>
            </a:pPr>
            <a:r>
              <a:rPr lang="en-US" dirty="0" smtClean="0"/>
              <a:t>4. The amount, cost centre code and object code, etc. must be committed and collected on the FRF by the Secretary of the Committee meeting</a:t>
            </a:r>
            <a:r>
              <a:rPr lang="en-US" dirty="0" smtClean="0"/>
              <a:t>, from </a:t>
            </a:r>
            <a:r>
              <a:rPr lang="en-US" dirty="0" smtClean="0"/>
              <a:t>the Expenditure Control Unit of the Management Services Division of Bursary Department.</a:t>
            </a:r>
          </a:p>
          <a:p>
            <a:pPr lvl="0">
              <a:buNone/>
            </a:pPr>
            <a:r>
              <a:rPr lang="en-US" dirty="0" smtClean="0"/>
              <a:t>5. The Cash Advance Release Form, FRF, and approved memorandum will be dispatched through the Bursar to the Cash Advance Unit to raise the Payment Voucher. The Cash Advance unit will check whether the staff applying for cash advance is:</a:t>
            </a:r>
          </a:p>
          <a:p>
            <a:pPr lvl="0">
              <a:buNone/>
            </a:pPr>
            <a:r>
              <a:rPr lang="en-US" dirty="0" smtClean="0"/>
              <a:t>		_Qualified to receive cash advance.</a:t>
            </a:r>
          </a:p>
          <a:p>
            <a:pPr lvl="0">
              <a:buNone/>
            </a:pPr>
            <a:r>
              <a:rPr lang="en-US" dirty="0" smtClean="0"/>
              <a:t>		_Not indebted to the University.</a:t>
            </a:r>
          </a:p>
          <a:p>
            <a:pPr lvl="0">
              <a:buNone/>
            </a:pPr>
            <a:r>
              <a:rPr lang="en-US" dirty="0" smtClean="0"/>
              <a:t>		_A </a:t>
            </a:r>
            <a:r>
              <a:rPr lang="en-US" dirty="0" err="1" smtClean="0"/>
              <a:t>bonafide</a:t>
            </a:r>
            <a:r>
              <a:rPr lang="en-US" dirty="0" smtClean="0"/>
              <a:t> University staff.</a:t>
            </a:r>
          </a:p>
          <a:p>
            <a:pPr lvl="0">
              <a:buNone/>
            </a:pPr>
            <a:r>
              <a:rPr lang="en-US" dirty="0" smtClean="0"/>
              <a:t>		_Within the rank qualified to receive cash advance.</a:t>
            </a:r>
          </a:p>
          <a:p>
            <a:pPr lvl="0">
              <a:buNone/>
            </a:pPr>
            <a:r>
              <a:rPr lang="en-US" dirty="0" smtClean="0"/>
              <a:t>		_Not serving punishment bothering on financial misappropriation.</a:t>
            </a:r>
          </a:p>
          <a:p>
            <a:pPr lvl="0">
              <a:buNone/>
            </a:pPr>
            <a:r>
              <a:rPr lang="en-US" dirty="0" smtClean="0"/>
              <a:t>		_If the vote can cover the request and falls within the spending profile, a Payment Voucher (PV) will be raised.</a:t>
            </a:r>
          </a:p>
          <a:p>
            <a:pPr algn="just">
              <a:buNone/>
            </a:pPr>
            <a:endParaRPr lang="en-US" dirty="0"/>
          </a:p>
        </p:txBody>
      </p:sp>
      <p:pic>
        <p:nvPicPr>
          <p:cNvPr id="13314" name="Picture 2" descr="C:\Users\AMIRA\Desktop\af.jpg"/>
          <p:cNvPicPr>
            <a:picLocks noChangeAspect="1" noChangeArrowheads="1"/>
          </p:cNvPicPr>
          <p:nvPr/>
        </p:nvPicPr>
        <p:blipFill>
          <a:blip r:embed="rId2"/>
          <a:srcRect/>
          <a:stretch>
            <a:fillRect/>
          </a:stretch>
        </p:blipFill>
        <p:spPr bwMode="auto">
          <a:xfrm>
            <a:off x="1" y="0"/>
            <a:ext cx="838199" cy="1676399"/>
          </a:xfrm>
          <a:prstGeom prst="rect">
            <a:avLst/>
          </a:prstGeom>
          <a:noFill/>
        </p:spPr>
      </p:pic>
      <p:sp>
        <p:nvSpPr>
          <p:cNvPr id="5" name="Title 1"/>
          <p:cNvSpPr txBox="1">
            <a:spLocks/>
          </p:cNvSpPr>
          <p:nvPr/>
        </p:nvSpPr>
        <p:spPr>
          <a:xfrm>
            <a:off x="838200" y="0"/>
            <a:ext cx="8305800" cy="1600200"/>
          </a:xfrm>
          <a:prstGeom prst="rect">
            <a:avLst/>
          </a:prstGeom>
        </p:spPr>
        <p:style>
          <a:lnRef idx="1">
            <a:schemeClr val="accent2"/>
          </a:lnRef>
          <a:fillRef idx="2">
            <a:schemeClr val="accent2"/>
          </a:fillRef>
          <a:effectRef idx="1">
            <a:schemeClr val="accent2"/>
          </a:effectRef>
          <a:fontRef idx="minor">
            <a:schemeClr val="dk1"/>
          </a:fontRef>
        </p:style>
        <p:txBody>
          <a:bodyPr vert="horz" anchor="b">
            <a:normAutofit fontScale="97500"/>
          </a:bodyPr>
          <a:lstStyle/>
          <a:p>
            <a:pPr algn="ctr">
              <a:spcBef>
                <a:spcPct val="0"/>
              </a:spcBef>
            </a:pPr>
            <a:r>
              <a:rPr kumimoji="0" lang="en-US" sz="3000" b="0" i="0" u="none" strike="noStrike" kern="1200" cap="small" spc="0" normalizeH="0" baseline="0" noProof="0" dirty="0" smtClean="0">
                <a:ln>
                  <a:noFill/>
                </a:ln>
                <a:solidFill>
                  <a:schemeClr val="dk1"/>
                </a:solidFill>
                <a:effectLst/>
                <a:uLnTx/>
                <a:uFillTx/>
                <a:latin typeface="+mn-lt"/>
                <a:ea typeface="+mn-ea"/>
                <a:cs typeface="+mn-cs"/>
              </a:rPr>
              <a:t>   	</a:t>
            </a:r>
            <a:r>
              <a:rPr lang="en-US" sz="2800" b="1" dirty="0" smtClean="0"/>
              <a:t>EKITI STATE UNIVERSITY, ADO-EKITI</a:t>
            </a:r>
            <a:br>
              <a:rPr lang="en-US" sz="2800" b="1" dirty="0" smtClean="0"/>
            </a:br>
            <a:r>
              <a:rPr lang="en-US" sz="3200" b="1" dirty="0" smtClean="0"/>
              <a:t>ACADEMIC</a:t>
            </a:r>
            <a:r>
              <a:rPr lang="en-US" sz="5400" b="1" dirty="0" smtClean="0"/>
              <a:t> </a:t>
            </a:r>
            <a:r>
              <a:rPr lang="en-US" sz="3200" b="1" dirty="0" smtClean="0"/>
              <a:t>SUMMIT</a:t>
            </a:r>
            <a:endParaRPr lang="en-US" sz="3200" cap="small" dirty="0" smtClean="0"/>
          </a:p>
        </p:txBody>
      </p:sp>
      <p:sp>
        <p:nvSpPr>
          <p:cNvPr id="6" name="Slide Number Placeholder 5"/>
          <p:cNvSpPr>
            <a:spLocks noGrp="1"/>
          </p:cNvSpPr>
          <p:nvPr>
            <p:ph type="sldNum" sz="quarter" idx="15"/>
          </p:nvPr>
        </p:nvSpPr>
        <p:spPr/>
        <p:txBody>
          <a:bodyPr/>
          <a:lstStyle/>
          <a:p>
            <a:fld id="{B6F15528-21DE-4FAA-801E-634DDDAF4B2B}" type="slidenum">
              <a:rPr lang="en-US" smtClean="0"/>
              <a:pPr/>
              <a:t>15</a:t>
            </a:fld>
            <a:endParaRPr lang="en-US"/>
          </a:p>
        </p:txBody>
      </p:sp>
    </p:spTree>
  </p:cSld>
  <p:clrMapOvr>
    <a:masterClrMapping/>
  </p:clrMapOvr>
  <p:transition>
    <p:wipe dir="u"/>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1143000"/>
          </a:xfrm>
        </p:spPr>
        <p:txBody>
          <a:bodyPr>
            <a:normAutofit fontScale="90000"/>
          </a:bodyPr>
          <a:lstStyle/>
          <a:p>
            <a:pPr algn="ctr"/>
            <a:r>
              <a:rPr lang="en-US" sz="2200" b="1" dirty="0" smtClean="0">
                <a:latin typeface="Times New Roman" pitchFamily="18" charset="0"/>
                <a:cs typeface="Times New Roman" pitchFamily="18" charset="0"/>
              </a:rPr>
              <a:t>	FINANCIAL ADMINISTRATION PROCESSES   BOTTLENECKS REGARDING PAYMENTS OF VARIOUS FEES SERVICING OF COMMITTEES IN THE UNIVERSITY: CHALLENGES AND WAY FORWARD IN PURCHASING OF OFFICIAL MATERIAL</a:t>
            </a:r>
            <a:r>
              <a:rPr lang="en-US" sz="2200" dirty="0" smtClean="0">
                <a:latin typeface="Times New Roman" pitchFamily="18" charset="0"/>
                <a:cs typeface="Times New Roman" pitchFamily="18" charset="0"/>
              </a:rPr>
              <a:t/>
            </a:r>
            <a:br>
              <a:rPr lang="en-US" sz="2200" dirty="0" smtClean="0">
                <a:latin typeface="Times New Roman" pitchFamily="18" charset="0"/>
                <a:cs typeface="Times New Roman" pitchFamily="18" charset="0"/>
              </a:rPr>
            </a:br>
            <a:r>
              <a:rPr lang="en-US" dirty="0" smtClean="0"/>
              <a:t>     </a:t>
            </a:r>
            <a:endParaRPr lang="en-US" dirty="0"/>
          </a:p>
        </p:txBody>
      </p:sp>
      <p:sp>
        <p:nvSpPr>
          <p:cNvPr id="3" name="Content Placeholder 2"/>
          <p:cNvSpPr>
            <a:spLocks noGrp="1"/>
          </p:cNvSpPr>
          <p:nvPr>
            <p:ph sz="quarter" idx="1"/>
          </p:nvPr>
        </p:nvSpPr>
        <p:spPr>
          <a:xfrm>
            <a:off x="457200" y="1752600"/>
            <a:ext cx="8229600" cy="4648200"/>
          </a:xfrm>
        </p:spPr>
        <p:txBody>
          <a:bodyPr>
            <a:normAutofit/>
          </a:bodyPr>
          <a:lstStyle/>
          <a:p>
            <a:pPr lvl="0">
              <a:buNone/>
            </a:pPr>
            <a:r>
              <a:rPr lang="en-US" sz="1900" dirty="0" smtClean="0"/>
              <a:t>6</a:t>
            </a:r>
            <a:r>
              <a:rPr lang="en-US" dirty="0" smtClean="0"/>
              <a:t>. The Payment Voucher duly processed will be sent through the Deputy Bursar (MS) office to the Bursar and from the Bursar’s office to the Cash office for </a:t>
            </a:r>
            <a:r>
              <a:rPr lang="en-US" dirty="0" err="1" smtClean="0"/>
              <a:t>cheque</a:t>
            </a:r>
            <a:r>
              <a:rPr lang="en-US" dirty="0" smtClean="0"/>
              <a:t> writing and subsequent collection.</a:t>
            </a:r>
          </a:p>
          <a:p>
            <a:pPr lvl="0">
              <a:buNone/>
            </a:pPr>
            <a:r>
              <a:rPr lang="en-US" sz="1900" dirty="0" smtClean="0"/>
              <a:t>7</a:t>
            </a:r>
            <a:r>
              <a:rPr lang="en-US" dirty="0" smtClean="0"/>
              <a:t>. Immediately the </a:t>
            </a:r>
            <a:r>
              <a:rPr lang="en-US" dirty="0" err="1" smtClean="0"/>
              <a:t>cheque</a:t>
            </a:r>
            <a:r>
              <a:rPr lang="en-US" dirty="0" smtClean="0"/>
              <a:t> is released by the Cash office, the person automatically becomes a cash advance debtor and a ledger will be opened or updated as the case may be.</a:t>
            </a:r>
          </a:p>
          <a:p>
            <a:pPr lvl="0" algn="just">
              <a:buNone/>
            </a:pPr>
            <a:endParaRPr lang="en-US" dirty="0"/>
          </a:p>
        </p:txBody>
      </p:sp>
      <p:pic>
        <p:nvPicPr>
          <p:cNvPr id="14338" name="Picture 2" descr="C:\Users\AMIRA\Desktop\af.jpg"/>
          <p:cNvPicPr>
            <a:picLocks noChangeAspect="1" noChangeArrowheads="1"/>
          </p:cNvPicPr>
          <p:nvPr/>
        </p:nvPicPr>
        <p:blipFill>
          <a:blip r:embed="rId2"/>
          <a:srcRect/>
          <a:stretch>
            <a:fillRect/>
          </a:stretch>
        </p:blipFill>
        <p:spPr bwMode="auto">
          <a:xfrm>
            <a:off x="0" y="1"/>
            <a:ext cx="891019" cy="1523999"/>
          </a:xfrm>
          <a:prstGeom prst="rect">
            <a:avLst/>
          </a:prstGeom>
          <a:noFill/>
        </p:spPr>
      </p:pic>
      <p:sp>
        <p:nvSpPr>
          <p:cNvPr id="5" name="Title 1"/>
          <p:cNvSpPr txBox="1">
            <a:spLocks/>
          </p:cNvSpPr>
          <p:nvPr/>
        </p:nvSpPr>
        <p:spPr>
          <a:xfrm>
            <a:off x="914400" y="0"/>
            <a:ext cx="8229600" cy="1600200"/>
          </a:xfrm>
          <a:prstGeom prst="rect">
            <a:avLst/>
          </a:prstGeom>
        </p:spPr>
        <p:style>
          <a:lnRef idx="1">
            <a:schemeClr val="accent2"/>
          </a:lnRef>
          <a:fillRef idx="2">
            <a:schemeClr val="accent2"/>
          </a:fillRef>
          <a:effectRef idx="1">
            <a:schemeClr val="accent2"/>
          </a:effectRef>
          <a:fontRef idx="minor">
            <a:schemeClr val="dk1"/>
          </a:fontRef>
        </p:style>
        <p:txBody>
          <a:bodyPr vert="horz" anchor="b">
            <a:normAutofit fontScale="97500"/>
          </a:bodyPr>
          <a:lstStyle/>
          <a:p>
            <a:pPr algn="ctr">
              <a:spcBef>
                <a:spcPct val="0"/>
              </a:spcBef>
            </a:pPr>
            <a:r>
              <a:rPr kumimoji="0" lang="en-US" sz="3000" b="0" i="0" u="none" strike="noStrike" kern="1200" cap="small" spc="0" normalizeH="0" baseline="0" noProof="0" dirty="0" smtClean="0">
                <a:ln>
                  <a:noFill/>
                </a:ln>
                <a:solidFill>
                  <a:schemeClr val="dk1"/>
                </a:solidFill>
                <a:effectLst/>
                <a:uLnTx/>
                <a:uFillTx/>
                <a:latin typeface="+mn-lt"/>
                <a:ea typeface="+mn-ea"/>
                <a:cs typeface="+mn-cs"/>
              </a:rPr>
              <a:t>   </a:t>
            </a:r>
            <a:r>
              <a:rPr lang="en-US" sz="2800" b="1" dirty="0" smtClean="0"/>
              <a:t>EKITI STATE UNIVERSITY, ADO-EKITI</a:t>
            </a:r>
            <a:br>
              <a:rPr lang="en-US" sz="2800" b="1" dirty="0" smtClean="0"/>
            </a:br>
            <a:r>
              <a:rPr lang="en-US" sz="3200" b="1" dirty="0" smtClean="0"/>
              <a:t>ACADEMIC</a:t>
            </a:r>
            <a:r>
              <a:rPr lang="en-US" sz="5400" b="1" dirty="0" smtClean="0"/>
              <a:t> </a:t>
            </a:r>
            <a:r>
              <a:rPr lang="en-US" sz="3200" b="1" dirty="0" smtClean="0"/>
              <a:t>SUMMIT</a:t>
            </a:r>
            <a:endParaRPr lang="en-US" sz="3200" cap="small" dirty="0" smtClean="0"/>
          </a:p>
        </p:txBody>
      </p:sp>
      <p:sp>
        <p:nvSpPr>
          <p:cNvPr id="6" name="Slide Number Placeholder 5"/>
          <p:cNvSpPr>
            <a:spLocks noGrp="1"/>
          </p:cNvSpPr>
          <p:nvPr>
            <p:ph type="sldNum" sz="quarter" idx="15"/>
          </p:nvPr>
        </p:nvSpPr>
        <p:spPr/>
        <p:txBody>
          <a:bodyPr/>
          <a:lstStyle/>
          <a:p>
            <a:fld id="{B6F15528-21DE-4FAA-801E-634DDDAF4B2B}" type="slidenum">
              <a:rPr lang="en-US" smtClean="0"/>
              <a:pPr/>
              <a:t>16</a:t>
            </a:fld>
            <a:endParaRPr lang="en-US"/>
          </a:p>
        </p:txBody>
      </p:sp>
    </p:spTree>
  </p:cSld>
  <p:clrMapOvr>
    <a:masterClrMapping/>
  </p:clrMapOvr>
  <p:transition>
    <p:split dir="in"/>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0"/>
            <a:ext cx="8229600" cy="1143000"/>
          </a:xfrm>
        </p:spPr>
        <p:txBody>
          <a:bodyPr>
            <a:normAutofit fontScale="90000"/>
          </a:bodyPr>
          <a:lstStyle/>
          <a:p>
            <a:pPr algn="ctr"/>
            <a:r>
              <a:rPr lang="en-US" dirty="0" smtClean="0"/>
              <a:t>  	 </a:t>
            </a:r>
            <a:r>
              <a:rPr lang="en-US" sz="2200" b="1" dirty="0" smtClean="0">
                <a:latin typeface="Times New Roman" pitchFamily="18" charset="0"/>
                <a:cs typeface="Times New Roman" pitchFamily="18" charset="0"/>
              </a:rPr>
              <a:t>FINANCIAL ADMINISTRATION PROCESSES   BOTTLENECKS REGARDING PAYMENTS OF VARIOUS FEES SERVICING OF COMMITTEES IN THE UNIVERSITY: CHALLENGES AND WAY FORWARD IN PURCHASING OF OFFICIAL MATERIAL</a:t>
            </a:r>
            <a:r>
              <a:rPr lang="en-US" sz="2200" dirty="0" smtClean="0">
                <a:latin typeface="Times New Roman" pitchFamily="18" charset="0"/>
                <a:cs typeface="Times New Roman" pitchFamily="18" charset="0"/>
              </a:rPr>
              <a:t/>
            </a:r>
            <a:br>
              <a:rPr lang="en-US" sz="2200" dirty="0" smtClean="0">
                <a:latin typeface="Times New Roman" pitchFamily="18" charset="0"/>
                <a:cs typeface="Times New Roman" pitchFamily="18" charset="0"/>
              </a:rPr>
            </a:br>
            <a:endParaRPr lang="en-US" sz="2200" dirty="0"/>
          </a:p>
        </p:txBody>
      </p:sp>
      <p:sp>
        <p:nvSpPr>
          <p:cNvPr id="3" name="Content Placeholder 2"/>
          <p:cNvSpPr>
            <a:spLocks noGrp="1"/>
          </p:cNvSpPr>
          <p:nvPr>
            <p:ph sz="quarter" idx="1"/>
          </p:nvPr>
        </p:nvSpPr>
        <p:spPr>
          <a:xfrm>
            <a:off x="457200" y="1752600"/>
            <a:ext cx="8229600" cy="4724400"/>
          </a:xfrm>
        </p:spPr>
        <p:txBody>
          <a:bodyPr>
            <a:normAutofit fontScale="85000" lnSpcReduction="20000"/>
          </a:bodyPr>
          <a:lstStyle/>
          <a:p>
            <a:pPr>
              <a:buNone/>
            </a:pPr>
            <a:r>
              <a:rPr lang="en-US" b="1" dirty="0" smtClean="0"/>
              <a:t>	Please note the following as affecting Cash Advance</a:t>
            </a:r>
            <a:endParaRPr lang="en-US" dirty="0" smtClean="0"/>
          </a:p>
          <a:p>
            <a:pPr lvl="0"/>
            <a:r>
              <a:rPr lang="en-US" dirty="0" smtClean="0"/>
              <a:t>Cash Advance is normally released to meet a particular purpose.</a:t>
            </a:r>
          </a:p>
          <a:p>
            <a:pPr lvl="0"/>
            <a:r>
              <a:rPr lang="en-US" dirty="0" smtClean="0"/>
              <a:t>There must be a request to fill and attach a Cash advance and Fund release forms with the approved document which will be forwarded to the Cash Advance office for further processing.</a:t>
            </a:r>
          </a:p>
          <a:p>
            <a:pPr lvl="0"/>
            <a:r>
              <a:rPr lang="en-US" dirty="0" smtClean="0"/>
              <a:t>There must be an approval usually from the Vice-Chancellor.</a:t>
            </a:r>
          </a:p>
          <a:p>
            <a:pPr lvl="0"/>
            <a:r>
              <a:rPr lang="en-US" dirty="0" smtClean="0"/>
              <a:t>Cash advance release form must be filled usually in triplicate and Fund release form, before any tangible processing could commence in the Cash Advance Unit.</a:t>
            </a:r>
          </a:p>
          <a:p>
            <a:pPr lvl="0"/>
            <a:r>
              <a:rPr lang="en-US" dirty="0" smtClean="0"/>
              <a:t>Cash Advance is usually granted for a period of 30 days. Cash Advance should be accounted for through Internal Audit as follows:</a:t>
            </a:r>
          </a:p>
          <a:p>
            <a:pPr lvl="0">
              <a:buNone/>
            </a:pPr>
            <a:r>
              <a:rPr lang="en-US" dirty="0" smtClean="0"/>
              <a:t>	</a:t>
            </a:r>
            <a:r>
              <a:rPr lang="en-US" dirty="0" err="1" smtClean="0"/>
              <a:t>i</a:t>
            </a:r>
            <a:r>
              <a:rPr lang="en-US" dirty="0" smtClean="0"/>
              <a:t>. Department-15days (however, we have additional 15 days of grace)</a:t>
            </a:r>
          </a:p>
          <a:p>
            <a:pPr lvl="0">
              <a:buNone/>
            </a:pPr>
            <a:r>
              <a:rPr lang="en-US" dirty="0" smtClean="0"/>
              <a:t>	ii. Stores Purchase	-	30 days</a:t>
            </a:r>
          </a:p>
          <a:p>
            <a:pPr lvl="0" algn="just">
              <a:buNone/>
            </a:pPr>
            <a:endParaRPr lang="en-US" dirty="0"/>
          </a:p>
        </p:txBody>
      </p:sp>
      <p:pic>
        <p:nvPicPr>
          <p:cNvPr id="15362" name="Picture 2" descr="C:\Users\AMIRA\Desktop\af.jpg"/>
          <p:cNvPicPr>
            <a:picLocks noChangeAspect="1" noChangeArrowheads="1"/>
          </p:cNvPicPr>
          <p:nvPr/>
        </p:nvPicPr>
        <p:blipFill>
          <a:blip r:embed="rId2"/>
          <a:srcRect/>
          <a:stretch>
            <a:fillRect/>
          </a:stretch>
        </p:blipFill>
        <p:spPr bwMode="auto">
          <a:xfrm>
            <a:off x="1" y="2"/>
            <a:ext cx="914399" cy="1523998"/>
          </a:xfrm>
          <a:prstGeom prst="rect">
            <a:avLst/>
          </a:prstGeom>
          <a:noFill/>
        </p:spPr>
      </p:pic>
      <p:sp>
        <p:nvSpPr>
          <p:cNvPr id="5" name="Title 1"/>
          <p:cNvSpPr txBox="1">
            <a:spLocks/>
          </p:cNvSpPr>
          <p:nvPr/>
        </p:nvSpPr>
        <p:spPr>
          <a:xfrm>
            <a:off x="914400" y="0"/>
            <a:ext cx="8229600" cy="1600200"/>
          </a:xfrm>
          <a:prstGeom prst="rect">
            <a:avLst/>
          </a:prstGeom>
        </p:spPr>
        <p:style>
          <a:lnRef idx="1">
            <a:schemeClr val="accent2"/>
          </a:lnRef>
          <a:fillRef idx="2">
            <a:schemeClr val="accent2"/>
          </a:fillRef>
          <a:effectRef idx="1">
            <a:schemeClr val="accent2"/>
          </a:effectRef>
          <a:fontRef idx="minor">
            <a:schemeClr val="dk1"/>
          </a:fontRef>
        </p:style>
        <p:txBody>
          <a:bodyPr vert="horz" anchor="b">
            <a:normAutofit fontScale="97500"/>
          </a:bodyPr>
          <a:lstStyle/>
          <a:p>
            <a:pPr algn="ctr">
              <a:spcBef>
                <a:spcPct val="0"/>
              </a:spcBef>
            </a:pPr>
            <a:r>
              <a:rPr kumimoji="0" lang="en-US" sz="3000" b="0" i="0" u="none" strike="noStrike" kern="1200" cap="small" spc="0" normalizeH="0" baseline="0" noProof="0" dirty="0" smtClean="0">
                <a:ln>
                  <a:noFill/>
                </a:ln>
                <a:solidFill>
                  <a:schemeClr val="dk1"/>
                </a:solidFill>
                <a:effectLst/>
                <a:uLnTx/>
                <a:uFillTx/>
                <a:latin typeface="+mn-lt"/>
                <a:ea typeface="+mn-ea"/>
                <a:cs typeface="+mn-cs"/>
              </a:rPr>
              <a:t>   </a:t>
            </a:r>
            <a:r>
              <a:rPr lang="en-US" sz="2800" b="1" dirty="0" smtClean="0"/>
              <a:t>EKITI STATE UNIVERSITY, ADO-EKITI</a:t>
            </a:r>
            <a:br>
              <a:rPr lang="en-US" sz="2800" b="1" dirty="0" smtClean="0"/>
            </a:br>
            <a:r>
              <a:rPr lang="en-US" sz="3200" b="1" dirty="0" smtClean="0"/>
              <a:t>ACADEMIC</a:t>
            </a:r>
            <a:r>
              <a:rPr lang="en-US" sz="5400" b="1" dirty="0" smtClean="0"/>
              <a:t> </a:t>
            </a:r>
            <a:r>
              <a:rPr lang="en-US" sz="3200" b="1" dirty="0" smtClean="0"/>
              <a:t>SUMMIT</a:t>
            </a:r>
            <a:endParaRPr lang="en-US" sz="3200" cap="small" dirty="0" smtClean="0"/>
          </a:p>
        </p:txBody>
      </p:sp>
      <p:sp>
        <p:nvSpPr>
          <p:cNvPr id="6" name="Slide Number Placeholder 5"/>
          <p:cNvSpPr>
            <a:spLocks noGrp="1"/>
          </p:cNvSpPr>
          <p:nvPr>
            <p:ph type="sldNum" sz="quarter" idx="15"/>
          </p:nvPr>
        </p:nvSpPr>
        <p:spPr/>
        <p:txBody>
          <a:bodyPr/>
          <a:lstStyle/>
          <a:p>
            <a:fld id="{B6F15528-21DE-4FAA-801E-634DDDAF4B2B}" type="slidenum">
              <a:rPr lang="en-US" smtClean="0"/>
              <a:pPr/>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762000"/>
            <a:ext cx="8229600" cy="1143000"/>
          </a:xfrm>
        </p:spPr>
        <p:txBody>
          <a:bodyPr>
            <a:noAutofit/>
          </a:bodyPr>
          <a:lstStyle/>
          <a:p>
            <a:pPr algn="ctr"/>
            <a:r>
              <a:rPr lang="en-US" sz="2000" dirty="0" smtClean="0"/>
              <a:t>     	</a:t>
            </a:r>
            <a:r>
              <a:rPr lang="en-US" sz="2000" b="1" dirty="0" smtClean="0">
                <a:latin typeface="Times New Roman" pitchFamily="18" charset="0"/>
                <a:cs typeface="Times New Roman" pitchFamily="18" charset="0"/>
              </a:rPr>
              <a:t>FINANCIAL ADMINISTRATION PROCESSES   BOTTLENECKS REGARDING PAYMENTS OF VARIOUS FEES SERVICING OF COMMITTEES IN THE UNIVERSITY: CHALLENGES AND WAY FORWARD IN PURCHASING OF OFFICIAL MATERIAL</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endParaRPr lang="en-US" sz="2000" dirty="0"/>
          </a:p>
        </p:txBody>
      </p:sp>
      <p:sp>
        <p:nvSpPr>
          <p:cNvPr id="3" name="Content Placeholder 2"/>
          <p:cNvSpPr>
            <a:spLocks noGrp="1"/>
          </p:cNvSpPr>
          <p:nvPr>
            <p:ph sz="quarter" idx="1"/>
          </p:nvPr>
        </p:nvSpPr>
        <p:spPr>
          <a:xfrm>
            <a:off x="457200" y="1828800"/>
            <a:ext cx="8229600" cy="4724400"/>
          </a:xfrm>
        </p:spPr>
        <p:txBody>
          <a:bodyPr>
            <a:normAutofit fontScale="77500" lnSpcReduction="20000"/>
          </a:bodyPr>
          <a:lstStyle/>
          <a:p>
            <a:pPr lvl="0"/>
            <a:r>
              <a:rPr lang="en-US" dirty="0" smtClean="0"/>
              <a:t>The officer is expected to retire the Cash advance collected on or before 30 days after collection of </a:t>
            </a:r>
            <a:r>
              <a:rPr lang="en-US" dirty="0" err="1" smtClean="0"/>
              <a:t>cheque</a:t>
            </a:r>
            <a:r>
              <a:rPr lang="en-US" dirty="0" smtClean="0"/>
              <a:t>.</a:t>
            </a:r>
          </a:p>
          <a:p>
            <a:pPr lvl="0"/>
            <a:r>
              <a:rPr lang="en-US" dirty="0" smtClean="0"/>
              <a:t>The Bursar reserves the right to recover any unretired cash advance from the salary of any erring staff either in lump sum or </a:t>
            </a:r>
            <a:r>
              <a:rPr lang="en-US" dirty="0" err="1" smtClean="0"/>
              <a:t>installmentally</a:t>
            </a:r>
            <a:r>
              <a:rPr lang="en-US" dirty="0" smtClean="0"/>
              <a:t> </a:t>
            </a:r>
            <a:r>
              <a:rPr lang="en-US" dirty="0" smtClean="0"/>
              <a:t>after 30 days.</a:t>
            </a:r>
          </a:p>
          <a:p>
            <a:pPr lvl="0"/>
            <a:r>
              <a:rPr lang="en-US" dirty="0" smtClean="0"/>
              <a:t>Two cash advances may not normally be granted concurrently to a staff except the Bursar specifically approves the request.</a:t>
            </a:r>
          </a:p>
          <a:p>
            <a:pPr lvl="0"/>
            <a:r>
              <a:rPr lang="en-US" dirty="0" smtClean="0"/>
              <a:t>Advances may not be released for goods which are normally supplied by Central Stores except a certificate authorizing such purchase is issued by the Bursar or Head of Central Stores, as the case may be.</a:t>
            </a:r>
          </a:p>
          <a:p>
            <a:r>
              <a:rPr lang="en-US" dirty="0" smtClean="0"/>
              <a:t>Official materials are materials being used in different offices of the University to carry out daily assignments, they include: Computer sets, Tables, Chairs, Stationeries, Class room chalk or Marker Boards and even Motor Vehicles.  These materials even though may be needed by a Committee, should be purchased by the office saddled with the responsibilities for that purpose which is the Directorate of Procurement in this era. </a:t>
            </a:r>
            <a:endParaRPr lang="en-US" dirty="0"/>
          </a:p>
        </p:txBody>
      </p:sp>
      <p:pic>
        <p:nvPicPr>
          <p:cNvPr id="16386" name="Picture 2" descr="C:\Users\AMIRA\Desktop\af.jpg"/>
          <p:cNvPicPr>
            <a:picLocks noChangeAspect="1" noChangeArrowheads="1"/>
          </p:cNvPicPr>
          <p:nvPr/>
        </p:nvPicPr>
        <p:blipFill>
          <a:blip r:embed="rId2"/>
          <a:srcRect/>
          <a:stretch>
            <a:fillRect/>
          </a:stretch>
        </p:blipFill>
        <p:spPr bwMode="auto">
          <a:xfrm>
            <a:off x="1" y="2"/>
            <a:ext cx="761999" cy="1523998"/>
          </a:xfrm>
          <a:prstGeom prst="rect">
            <a:avLst/>
          </a:prstGeom>
          <a:noFill/>
        </p:spPr>
      </p:pic>
      <p:sp>
        <p:nvSpPr>
          <p:cNvPr id="5" name="Title 1"/>
          <p:cNvSpPr txBox="1">
            <a:spLocks/>
          </p:cNvSpPr>
          <p:nvPr/>
        </p:nvSpPr>
        <p:spPr>
          <a:xfrm>
            <a:off x="762000" y="0"/>
            <a:ext cx="8382000" cy="1600200"/>
          </a:xfrm>
          <a:prstGeom prst="rect">
            <a:avLst/>
          </a:prstGeom>
        </p:spPr>
        <p:style>
          <a:lnRef idx="1">
            <a:schemeClr val="accent2"/>
          </a:lnRef>
          <a:fillRef idx="2">
            <a:schemeClr val="accent2"/>
          </a:fillRef>
          <a:effectRef idx="1">
            <a:schemeClr val="accent2"/>
          </a:effectRef>
          <a:fontRef idx="minor">
            <a:schemeClr val="dk1"/>
          </a:fontRef>
        </p:style>
        <p:txBody>
          <a:bodyPr vert="horz" anchor="b">
            <a:normAutofit fontScale="97500"/>
          </a:bodyPr>
          <a:lstStyle/>
          <a:p>
            <a:pPr algn="ctr">
              <a:spcBef>
                <a:spcPct val="0"/>
              </a:spcBef>
            </a:pPr>
            <a:r>
              <a:rPr kumimoji="0" lang="en-US" sz="3000" b="0" i="0" u="none" strike="noStrike" kern="1200" cap="small" spc="0" normalizeH="0" baseline="0" noProof="0" dirty="0" smtClean="0">
                <a:ln>
                  <a:noFill/>
                </a:ln>
                <a:solidFill>
                  <a:schemeClr val="dk1"/>
                </a:solidFill>
                <a:effectLst/>
                <a:uLnTx/>
                <a:uFillTx/>
                <a:latin typeface="+mn-lt"/>
                <a:ea typeface="+mn-ea"/>
                <a:cs typeface="+mn-cs"/>
              </a:rPr>
              <a:t>   	 </a:t>
            </a:r>
            <a:r>
              <a:rPr lang="en-US" sz="2400" b="1" dirty="0" smtClean="0"/>
              <a:t>EKITI STATE UNIVERSITY, ADO-EKITI</a:t>
            </a:r>
            <a:br>
              <a:rPr lang="en-US" sz="2400" b="1" dirty="0" smtClean="0"/>
            </a:br>
            <a:r>
              <a:rPr lang="en-US" sz="2800" b="1" dirty="0" smtClean="0"/>
              <a:t>ACADEMIC</a:t>
            </a:r>
            <a:r>
              <a:rPr lang="en-US" sz="4800" b="1" dirty="0" smtClean="0"/>
              <a:t> </a:t>
            </a:r>
            <a:r>
              <a:rPr lang="en-US" sz="2800" b="1" dirty="0" smtClean="0"/>
              <a:t>SUMMIT</a:t>
            </a:r>
            <a:endParaRPr lang="en-US" sz="2800" cap="small" dirty="0" smtClean="0"/>
          </a:p>
        </p:txBody>
      </p:sp>
      <p:sp>
        <p:nvSpPr>
          <p:cNvPr id="6" name="Slide Number Placeholder 5"/>
          <p:cNvSpPr>
            <a:spLocks noGrp="1"/>
          </p:cNvSpPr>
          <p:nvPr>
            <p:ph type="sldNum" sz="quarter" idx="15"/>
          </p:nvPr>
        </p:nvSpPr>
        <p:spPr/>
        <p:txBody>
          <a:bodyPr/>
          <a:lstStyle/>
          <a:p>
            <a:fld id="{B6F15528-21DE-4FAA-801E-634DDDAF4B2B}" type="slidenum">
              <a:rPr lang="en-US" smtClean="0"/>
              <a:pPr/>
              <a:t>18</a:t>
            </a:fld>
            <a:endParaRPr lang="en-US"/>
          </a:p>
        </p:txBody>
      </p:sp>
    </p:spTree>
  </p:cSld>
  <p:clrMapOvr>
    <a:masterClrMapping/>
  </p:clrMapOvr>
  <p:transition>
    <p:cover dir="ld"/>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762000"/>
            <a:ext cx="8229600" cy="1143000"/>
          </a:xfrm>
        </p:spPr>
        <p:txBody>
          <a:bodyPr>
            <a:normAutofit fontScale="90000"/>
          </a:bodyPr>
          <a:lstStyle/>
          <a:p>
            <a:pPr algn="ctr"/>
            <a:r>
              <a:rPr lang="en-US" dirty="0" smtClean="0"/>
              <a:t>    	</a:t>
            </a:r>
            <a:r>
              <a:rPr lang="en-US" sz="2200" b="1" dirty="0" smtClean="0">
                <a:latin typeface="Times New Roman" pitchFamily="18" charset="0"/>
                <a:cs typeface="Times New Roman" pitchFamily="18" charset="0"/>
              </a:rPr>
              <a:t>FINANCIAL ADMINISTRATION PROCESSES   BOTTLENECKS REGARDING PAYMENTS OF VARIOUS FEES SERVICING OF COMMITTEES IN THE UNIVERSITY: CHALLENGES AND WAY FORWARD IN PURCHASING OF OFFICIAL MATERIAL</a:t>
            </a:r>
            <a:r>
              <a:rPr lang="en-US" sz="2200" dirty="0" smtClean="0">
                <a:latin typeface="Times New Roman" pitchFamily="18" charset="0"/>
                <a:cs typeface="Times New Roman" pitchFamily="18" charset="0"/>
              </a:rPr>
              <a:t/>
            </a:r>
            <a:br>
              <a:rPr lang="en-US" sz="2200" dirty="0" smtClean="0">
                <a:latin typeface="Times New Roman" pitchFamily="18" charset="0"/>
                <a:cs typeface="Times New Roman" pitchFamily="18" charset="0"/>
              </a:rPr>
            </a:br>
            <a:endParaRPr lang="en-US" sz="2200" dirty="0"/>
          </a:p>
        </p:txBody>
      </p:sp>
      <p:sp>
        <p:nvSpPr>
          <p:cNvPr id="3" name="Content Placeholder 2"/>
          <p:cNvSpPr>
            <a:spLocks noGrp="1"/>
          </p:cNvSpPr>
          <p:nvPr>
            <p:ph sz="quarter" idx="1"/>
          </p:nvPr>
        </p:nvSpPr>
        <p:spPr>
          <a:xfrm>
            <a:off x="457200" y="1905000"/>
            <a:ext cx="8229600" cy="4495800"/>
          </a:xfrm>
        </p:spPr>
        <p:txBody>
          <a:bodyPr>
            <a:normAutofit/>
          </a:bodyPr>
          <a:lstStyle/>
          <a:p>
            <a:r>
              <a:rPr lang="en-US" dirty="0" smtClean="0"/>
              <a:t>All office materials purchased are expected to have Stores records.  In which case, the user departments are expected to complete the combined Stores Requisition and issue voucher (CRIV) to collect the materials from the Store.  But when materials are not centrally purchased, then the record of the items becomes unknown to the University.</a:t>
            </a:r>
          </a:p>
          <a:p>
            <a:r>
              <a:rPr lang="en-US" dirty="0" smtClean="0"/>
              <a:t>In which case, official materials are not supposed to be procured by every individual of the University without passing through the procurement directorate.</a:t>
            </a:r>
          </a:p>
          <a:p>
            <a:pPr>
              <a:buNone/>
            </a:pPr>
            <a:endParaRPr lang="en-US" dirty="0"/>
          </a:p>
        </p:txBody>
      </p:sp>
      <p:pic>
        <p:nvPicPr>
          <p:cNvPr id="17410" name="Picture 2" descr="C:\Users\AMIRA\Desktop\af.jpg"/>
          <p:cNvPicPr>
            <a:picLocks noChangeAspect="1" noChangeArrowheads="1"/>
          </p:cNvPicPr>
          <p:nvPr/>
        </p:nvPicPr>
        <p:blipFill>
          <a:blip r:embed="rId2"/>
          <a:srcRect/>
          <a:stretch>
            <a:fillRect/>
          </a:stretch>
        </p:blipFill>
        <p:spPr bwMode="auto">
          <a:xfrm>
            <a:off x="1" y="0"/>
            <a:ext cx="914400" cy="1300065"/>
          </a:xfrm>
          <a:prstGeom prst="rect">
            <a:avLst/>
          </a:prstGeom>
          <a:noFill/>
        </p:spPr>
      </p:pic>
      <p:sp>
        <p:nvSpPr>
          <p:cNvPr id="5" name="Title 1"/>
          <p:cNvSpPr txBox="1">
            <a:spLocks/>
          </p:cNvSpPr>
          <p:nvPr/>
        </p:nvSpPr>
        <p:spPr>
          <a:xfrm>
            <a:off x="914400" y="0"/>
            <a:ext cx="8229600" cy="1524000"/>
          </a:xfrm>
          <a:prstGeom prst="rect">
            <a:avLst/>
          </a:prstGeom>
        </p:spPr>
        <p:style>
          <a:lnRef idx="1">
            <a:schemeClr val="accent2"/>
          </a:lnRef>
          <a:fillRef idx="2">
            <a:schemeClr val="accent2"/>
          </a:fillRef>
          <a:effectRef idx="1">
            <a:schemeClr val="accent2"/>
          </a:effectRef>
          <a:fontRef idx="minor">
            <a:schemeClr val="dk1"/>
          </a:fontRef>
        </p:style>
        <p:txBody>
          <a:bodyPr vert="horz" anchor="b">
            <a:normAutofit fontScale="97500"/>
          </a:bodyPr>
          <a:lstStyle/>
          <a:p>
            <a:pPr algn="ctr">
              <a:spcBef>
                <a:spcPct val="0"/>
              </a:spcBef>
            </a:pPr>
            <a:r>
              <a:rPr kumimoji="0" lang="en-US" sz="3000" b="0" i="0" u="none" strike="noStrike" kern="1200" cap="small" spc="0" normalizeH="0" baseline="0" noProof="0" dirty="0" smtClean="0">
                <a:ln>
                  <a:noFill/>
                </a:ln>
                <a:solidFill>
                  <a:schemeClr val="dk1"/>
                </a:solidFill>
                <a:effectLst/>
                <a:uLnTx/>
                <a:uFillTx/>
                <a:latin typeface="+mn-lt"/>
                <a:ea typeface="+mn-ea"/>
                <a:cs typeface="+mn-cs"/>
              </a:rPr>
              <a:t>   	 </a:t>
            </a:r>
            <a:r>
              <a:rPr lang="en-US" sz="2400" b="1" dirty="0" smtClean="0"/>
              <a:t>EKITI STATE UNIVERSITY, ADO-EKITI</a:t>
            </a:r>
            <a:br>
              <a:rPr lang="en-US" sz="2400" b="1" dirty="0" smtClean="0"/>
            </a:br>
            <a:r>
              <a:rPr lang="en-US" sz="2800" b="1" dirty="0" smtClean="0"/>
              <a:t>ACADEMIC</a:t>
            </a:r>
            <a:r>
              <a:rPr lang="en-US" sz="4800" b="1" dirty="0" smtClean="0"/>
              <a:t> </a:t>
            </a:r>
            <a:r>
              <a:rPr lang="en-US" sz="2800" b="1" dirty="0" smtClean="0"/>
              <a:t>SUMMIT</a:t>
            </a:r>
            <a:endParaRPr lang="en-US" sz="2800" cap="small" dirty="0" smtClean="0"/>
          </a:p>
        </p:txBody>
      </p:sp>
      <p:sp>
        <p:nvSpPr>
          <p:cNvPr id="6" name="Slide Number Placeholder 5"/>
          <p:cNvSpPr>
            <a:spLocks noGrp="1"/>
          </p:cNvSpPr>
          <p:nvPr>
            <p:ph type="sldNum" sz="quarter" idx="15"/>
          </p:nvPr>
        </p:nvSpPr>
        <p:spPr/>
        <p:txBody>
          <a:bodyPr/>
          <a:lstStyle/>
          <a:p>
            <a:fld id="{B6F15528-21DE-4FAA-801E-634DDDAF4B2B}" type="slidenum">
              <a:rPr lang="en-US" smtClean="0"/>
              <a:pPr/>
              <a:t>19</a:t>
            </a:fld>
            <a:endParaRPr lang="en-US"/>
          </a:p>
        </p:txBody>
      </p:sp>
    </p:spTree>
  </p:cSld>
  <p:clrMapOvr>
    <a:masterClrMapping/>
  </p:clrMapOvr>
  <p:transition>
    <p:wedg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1143000"/>
          </a:xfrm>
        </p:spPr>
        <p:txBody>
          <a:bodyPr>
            <a:normAutofit fontScale="90000"/>
          </a:bodyPr>
          <a:lstStyle/>
          <a:p>
            <a:pPr algn="ctr"/>
            <a:r>
              <a:rPr lang="en-US" dirty="0" smtClean="0"/>
              <a:t>     	 </a:t>
            </a:r>
            <a:r>
              <a:rPr lang="en-US" sz="2200" b="1" dirty="0" smtClean="0">
                <a:latin typeface="Times New Roman" pitchFamily="18" charset="0"/>
                <a:cs typeface="Times New Roman" pitchFamily="18" charset="0"/>
              </a:rPr>
              <a:t>FINANCIAL ADMINISTRATION PROCESSES   BOTTLENECKS REGARDING PAYMENTS OF VARIOUS FEES SERVICING OF COMMITTEES IN THE UNIVERSITY: CHALLENGES AND WAY FORWARD IN PURCHASING OF OFFICIAL MATERIAL</a:t>
            </a:r>
            <a:r>
              <a:rPr lang="en-US" sz="2200" dirty="0" smtClean="0">
                <a:latin typeface="Times New Roman" pitchFamily="18" charset="0"/>
                <a:cs typeface="Times New Roman" pitchFamily="18" charset="0"/>
              </a:rPr>
              <a:t/>
            </a:r>
            <a:br>
              <a:rPr lang="en-US" sz="2200" dirty="0" smtClean="0">
                <a:latin typeface="Times New Roman" pitchFamily="18" charset="0"/>
                <a:cs typeface="Times New Roman" pitchFamily="18" charset="0"/>
              </a:rPr>
            </a:br>
            <a:endParaRPr lang="en-US" sz="2200" dirty="0"/>
          </a:p>
        </p:txBody>
      </p:sp>
      <p:sp>
        <p:nvSpPr>
          <p:cNvPr id="3" name="Content Placeholder 2"/>
          <p:cNvSpPr>
            <a:spLocks noGrp="1"/>
          </p:cNvSpPr>
          <p:nvPr>
            <p:ph sz="quarter" idx="1"/>
          </p:nvPr>
        </p:nvSpPr>
        <p:spPr>
          <a:xfrm>
            <a:off x="457200" y="1752600"/>
            <a:ext cx="8229600" cy="4572000"/>
          </a:xfrm>
        </p:spPr>
        <p:txBody>
          <a:bodyPr>
            <a:normAutofit fontScale="92500" lnSpcReduction="10000"/>
          </a:bodyPr>
          <a:lstStyle/>
          <a:p>
            <a:pPr>
              <a:buNone/>
            </a:pPr>
            <a:r>
              <a:rPr lang="en-US" b="1" dirty="0" smtClean="0"/>
              <a:t>	</a:t>
            </a:r>
            <a:r>
              <a:rPr lang="en-US" dirty="0" smtClean="0"/>
              <a:t>Academic Faculties, Departments, Directorates and Units shall by the law have their Procurement Units in place through which official materials in their various offices shall be procured, having passed through due process.</a:t>
            </a:r>
          </a:p>
          <a:p>
            <a:pPr>
              <a:buNone/>
            </a:pPr>
            <a:r>
              <a:rPr lang="en-US" dirty="0" smtClean="0"/>
              <a:t> </a:t>
            </a:r>
          </a:p>
          <a:p>
            <a:pPr>
              <a:buNone/>
            </a:pPr>
            <a:r>
              <a:rPr lang="en-US" dirty="0" smtClean="0"/>
              <a:t>The benefits of the strict adherence to the enabling law are many but to mention few:</a:t>
            </a:r>
          </a:p>
          <a:p>
            <a:pPr lvl="0">
              <a:buFont typeface="Wingdings" pitchFamily="2" charset="2"/>
              <a:buChar char="§"/>
            </a:pPr>
            <a:r>
              <a:rPr lang="en-US" dirty="0" smtClean="0"/>
              <a:t>Helps to maintain a database of the particulars and classification and categorization of materials.</a:t>
            </a:r>
          </a:p>
          <a:p>
            <a:pPr lvl="0">
              <a:buFont typeface="Wingdings" pitchFamily="2" charset="2"/>
              <a:buChar char="§"/>
            </a:pPr>
            <a:r>
              <a:rPr lang="en-US" dirty="0" smtClean="0"/>
              <a:t>Assists with collation and maintain of an archival system, all procured materials and information</a:t>
            </a:r>
          </a:p>
          <a:p>
            <a:pPr lvl="0">
              <a:buFont typeface="Wingdings" pitchFamily="2" charset="2"/>
              <a:buChar char="§"/>
            </a:pPr>
            <a:r>
              <a:rPr lang="en-US" dirty="0" smtClean="0"/>
              <a:t>Prevents fraudulent and unfair procurement and where necessary apply administrative sanctions.</a:t>
            </a:r>
          </a:p>
          <a:p>
            <a:pPr>
              <a:buNone/>
            </a:pPr>
            <a:endParaRPr lang="en-US" dirty="0"/>
          </a:p>
        </p:txBody>
      </p:sp>
      <p:pic>
        <p:nvPicPr>
          <p:cNvPr id="18434" name="Picture 2" descr="C:\Users\AMIRA\Desktop\af.jpg"/>
          <p:cNvPicPr>
            <a:picLocks noChangeAspect="1" noChangeArrowheads="1"/>
          </p:cNvPicPr>
          <p:nvPr/>
        </p:nvPicPr>
        <p:blipFill>
          <a:blip r:embed="rId2"/>
          <a:srcRect/>
          <a:stretch>
            <a:fillRect/>
          </a:stretch>
        </p:blipFill>
        <p:spPr bwMode="auto">
          <a:xfrm>
            <a:off x="1" y="1"/>
            <a:ext cx="791402" cy="1523999"/>
          </a:xfrm>
          <a:prstGeom prst="rect">
            <a:avLst/>
          </a:prstGeom>
          <a:noFill/>
        </p:spPr>
      </p:pic>
      <p:sp>
        <p:nvSpPr>
          <p:cNvPr id="5" name="Title 1"/>
          <p:cNvSpPr txBox="1">
            <a:spLocks/>
          </p:cNvSpPr>
          <p:nvPr/>
        </p:nvSpPr>
        <p:spPr>
          <a:xfrm>
            <a:off x="838200" y="0"/>
            <a:ext cx="8305800" cy="1600200"/>
          </a:xfrm>
          <a:prstGeom prst="rect">
            <a:avLst/>
          </a:prstGeom>
        </p:spPr>
        <p:style>
          <a:lnRef idx="1">
            <a:schemeClr val="accent2"/>
          </a:lnRef>
          <a:fillRef idx="2">
            <a:schemeClr val="accent2"/>
          </a:fillRef>
          <a:effectRef idx="1">
            <a:schemeClr val="accent2"/>
          </a:effectRef>
          <a:fontRef idx="minor">
            <a:schemeClr val="dk1"/>
          </a:fontRef>
        </p:style>
        <p:txBody>
          <a:bodyPr vert="horz" anchor="b">
            <a:normAutofit fontScale="97500"/>
          </a:bodyPr>
          <a:lstStyle/>
          <a:p>
            <a:pPr algn="ctr">
              <a:spcBef>
                <a:spcPct val="0"/>
              </a:spcBef>
            </a:pPr>
            <a:r>
              <a:rPr kumimoji="0" lang="en-US" sz="3000" b="0" i="0" u="none" strike="noStrike" kern="1200" cap="small" spc="0" normalizeH="0" baseline="0" noProof="0" dirty="0" smtClean="0">
                <a:ln>
                  <a:noFill/>
                </a:ln>
                <a:solidFill>
                  <a:schemeClr val="dk1"/>
                </a:solidFill>
                <a:effectLst/>
                <a:uLnTx/>
                <a:uFillTx/>
                <a:latin typeface="+mn-lt"/>
                <a:ea typeface="+mn-ea"/>
                <a:cs typeface="+mn-cs"/>
              </a:rPr>
              <a:t>   	</a:t>
            </a:r>
            <a:r>
              <a:rPr lang="en-US" sz="2800" b="1" dirty="0" smtClean="0"/>
              <a:t>EKITI STATE UNIVERSITY, ADO-EKITI</a:t>
            </a:r>
            <a:br>
              <a:rPr lang="en-US" sz="2800" b="1" dirty="0" smtClean="0"/>
            </a:br>
            <a:r>
              <a:rPr lang="en-US" sz="3200" b="1" dirty="0" smtClean="0"/>
              <a:t>ACADEMIC</a:t>
            </a:r>
            <a:r>
              <a:rPr lang="en-US" sz="5400" b="1" dirty="0" smtClean="0"/>
              <a:t> </a:t>
            </a:r>
            <a:r>
              <a:rPr lang="en-US" sz="3200" b="1" dirty="0" smtClean="0"/>
              <a:t>SUMMIT</a:t>
            </a:r>
            <a:endParaRPr lang="en-US" sz="3200" cap="small" dirty="0" smtClean="0"/>
          </a:p>
        </p:txBody>
      </p:sp>
      <p:sp>
        <p:nvSpPr>
          <p:cNvPr id="6" name="Slide Number Placeholder 5"/>
          <p:cNvSpPr>
            <a:spLocks noGrp="1"/>
          </p:cNvSpPr>
          <p:nvPr>
            <p:ph type="sldNum" sz="quarter" idx="15"/>
          </p:nvPr>
        </p:nvSpPr>
        <p:spPr/>
        <p:txBody>
          <a:bodyPr/>
          <a:lstStyle/>
          <a:p>
            <a:fld id="{B6F15528-21DE-4FAA-801E-634DDDAF4B2B}" type="slidenum">
              <a:rPr lang="en-US" smtClean="0"/>
              <a:pPr/>
              <a:t>20</a:t>
            </a:fld>
            <a:endParaRPr lang="en-US"/>
          </a:p>
        </p:txBody>
      </p:sp>
    </p:spTree>
  </p:cSld>
  <p:clrMapOvr>
    <a:masterClrMapping/>
  </p:clrMapOvr>
  <p:transition>
    <p:dissolv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0"/>
            <a:ext cx="8229600" cy="1143000"/>
          </a:xfrm>
        </p:spPr>
        <p:txBody>
          <a:bodyPr>
            <a:normAutofit fontScale="90000"/>
          </a:bodyPr>
          <a:lstStyle/>
          <a:p>
            <a:pPr algn="ctr"/>
            <a:r>
              <a:rPr lang="en-US" dirty="0" smtClean="0"/>
              <a:t>    	</a:t>
            </a:r>
            <a:r>
              <a:rPr lang="en-US" sz="2200" b="1" dirty="0" smtClean="0">
                <a:latin typeface="Times New Roman" pitchFamily="18" charset="0"/>
                <a:cs typeface="Times New Roman" pitchFamily="18" charset="0"/>
              </a:rPr>
              <a:t>FINANCIAL ADMINISTRATION PROCESSES   BOTTLENECKS REGARDING PAYMENTS OF VARIOUS FEES SERVICING OF COMMITTEES IN THE UNIVERSITY: CHALLENGES AND WAY FORWARD IN PURCHASING OF OFFICIAL MATERIAL</a:t>
            </a:r>
            <a:r>
              <a:rPr lang="en-US" sz="2200" dirty="0" smtClean="0">
                <a:latin typeface="Times New Roman" pitchFamily="18" charset="0"/>
                <a:cs typeface="Times New Roman" pitchFamily="18" charset="0"/>
              </a:rPr>
              <a:t/>
            </a:r>
            <a:br>
              <a:rPr lang="en-US" sz="2200" dirty="0" smtClean="0">
                <a:latin typeface="Times New Roman" pitchFamily="18" charset="0"/>
                <a:cs typeface="Times New Roman" pitchFamily="18" charset="0"/>
              </a:rPr>
            </a:br>
            <a:endParaRPr lang="en-US" sz="2200" dirty="0"/>
          </a:p>
        </p:txBody>
      </p:sp>
      <p:sp>
        <p:nvSpPr>
          <p:cNvPr id="3" name="Content Placeholder 2"/>
          <p:cNvSpPr>
            <a:spLocks noGrp="1"/>
          </p:cNvSpPr>
          <p:nvPr>
            <p:ph sz="quarter" idx="1"/>
          </p:nvPr>
        </p:nvSpPr>
        <p:spPr>
          <a:xfrm>
            <a:off x="457200" y="1752600"/>
            <a:ext cx="8229600" cy="4572000"/>
          </a:xfrm>
        </p:spPr>
        <p:txBody>
          <a:bodyPr>
            <a:normAutofit fontScale="92500"/>
          </a:bodyPr>
          <a:lstStyle/>
          <a:p>
            <a:pPr>
              <a:buNone/>
            </a:pPr>
            <a:r>
              <a:rPr lang="en-US" b="1" dirty="0" smtClean="0"/>
              <a:t>Retirement of Cash Advance </a:t>
            </a:r>
            <a:endParaRPr lang="en-US" dirty="0" smtClean="0"/>
          </a:p>
          <a:p>
            <a:pPr lvl="0"/>
            <a:r>
              <a:rPr lang="en-US" dirty="0" smtClean="0"/>
              <a:t>Fill the Cash Advance retirement form and send it though your Head of Department to the Internal Audit attaching receipts for the expenses incurred and/or application for refund, where applicable.</a:t>
            </a:r>
          </a:p>
          <a:p>
            <a:pPr lvl="0"/>
            <a:r>
              <a:rPr lang="en-US" dirty="0" smtClean="0"/>
              <a:t>The Internal Audit will send the certified receipt, memorandum/request etc., if in order, to the Cash advance unit in the Bursary Department for ledger updating.</a:t>
            </a:r>
          </a:p>
          <a:p>
            <a:pPr lvl="0"/>
            <a:r>
              <a:rPr lang="en-US" dirty="0" smtClean="0"/>
              <a:t>Consequently the Cash advance unit of Bursary Department will update the personal ledger of the cash advance retiree to ensure his/her account no longer carries the figure (amount) which was granted as advance.</a:t>
            </a:r>
          </a:p>
          <a:p>
            <a:pPr>
              <a:buNone/>
            </a:pPr>
            <a:endParaRPr lang="en-US" dirty="0"/>
          </a:p>
        </p:txBody>
      </p:sp>
      <p:pic>
        <p:nvPicPr>
          <p:cNvPr id="19458" name="Picture 2" descr="C:\Users\AMIRA\Desktop\af.jpg"/>
          <p:cNvPicPr>
            <a:picLocks noChangeAspect="1" noChangeArrowheads="1"/>
          </p:cNvPicPr>
          <p:nvPr/>
        </p:nvPicPr>
        <p:blipFill>
          <a:blip r:embed="rId2"/>
          <a:srcRect/>
          <a:stretch>
            <a:fillRect/>
          </a:stretch>
        </p:blipFill>
        <p:spPr bwMode="auto">
          <a:xfrm>
            <a:off x="1" y="0"/>
            <a:ext cx="914400" cy="1600199"/>
          </a:xfrm>
          <a:prstGeom prst="rect">
            <a:avLst/>
          </a:prstGeom>
          <a:noFill/>
        </p:spPr>
      </p:pic>
      <p:sp>
        <p:nvSpPr>
          <p:cNvPr id="5" name="Title 1"/>
          <p:cNvSpPr txBox="1">
            <a:spLocks/>
          </p:cNvSpPr>
          <p:nvPr/>
        </p:nvSpPr>
        <p:spPr>
          <a:xfrm>
            <a:off x="990600" y="0"/>
            <a:ext cx="8153400" cy="1600200"/>
          </a:xfrm>
          <a:prstGeom prst="rect">
            <a:avLst/>
          </a:prstGeom>
        </p:spPr>
        <p:style>
          <a:lnRef idx="1">
            <a:schemeClr val="accent2"/>
          </a:lnRef>
          <a:fillRef idx="2">
            <a:schemeClr val="accent2"/>
          </a:fillRef>
          <a:effectRef idx="1">
            <a:schemeClr val="accent2"/>
          </a:effectRef>
          <a:fontRef idx="minor">
            <a:schemeClr val="dk1"/>
          </a:fontRef>
        </p:style>
        <p:txBody>
          <a:bodyPr vert="horz" anchor="b">
            <a:normAutofit fontScale="97500"/>
          </a:bodyPr>
          <a:lstStyle/>
          <a:p>
            <a:pPr algn="ctr">
              <a:spcBef>
                <a:spcPct val="0"/>
              </a:spcBef>
            </a:pPr>
            <a:r>
              <a:rPr kumimoji="0" lang="en-US" sz="3000" b="0" i="0" u="none" strike="noStrike" kern="1200" cap="small" spc="0" normalizeH="0" baseline="0" noProof="0" dirty="0" smtClean="0">
                <a:ln>
                  <a:noFill/>
                </a:ln>
                <a:solidFill>
                  <a:schemeClr val="dk1"/>
                </a:solidFill>
                <a:effectLst/>
                <a:uLnTx/>
                <a:uFillTx/>
                <a:latin typeface="+mn-lt"/>
                <a:ea typeface="+mn-ea"/>
                <a:cs typeface="+mn-cs"/>
              </a:rPr>
              <a:t>   	 </a:t>
            </a:r>
            <a:r>
              <a:rPr lang="en-US" sz="2400" b="1" dirty="0" smtClean="0"/>
              <a:t>EKITI STATE UNIVERSITY, ADO-EKITI</a:t>
            </a:r>
            <a:br>
              <a:rPr lang="en-US" sz="2400" b="1" dirty="0" smtClean="0"/>
            </a:br>
            <a:r>
              <a:rPr lang="en-US" sz="2800" b="1" dirty="0" smtClean="0"/>
              <a:t>ACADEMIC</a:t>
            </a:r>
            <a:r>
              <a:rPr lang="en-US" sz="4800" b="1" dirty="0" smtClean="0"/>
              <a:t> </a:t>
            </a:r>
            <a:r>
              <a:rPr lang="en-US" sz="2800" b="1" dirty="0" smtClean="0"/>
              <a:t>SUMMIT</a:t>
            </a:r>
            <a:endParaRPr lang="en-US" sz="2800" cap="small" dirty="0" smtClean="0"/>
          </a:p>
        </p:txBody>
      </p:sp>
      <p:sp>
        <p:nvSpPr>
          <p:cNvPr id="6" name="Slide Number Placeholder 5"/>
          <p:cNvSpPr>
            <a:spLocks noGrp="1"/>
          </p:cNvSpPr>
          <p:nvPr>
            <p:ph type="sldNum" sz="quarter" idx="15"/>
          </p:nvPr>
        </p:nvSpPr>
        <p:spPr/>
        <p:txBody>
          <a:bodyPr/>
          <a:lstStyle/>
          <a:p>
            <a:fld id="{B6F15528-21DE-4FAA-801E-634DDDAF4B2B}" type="slidenum">
              <a:rPr lang="en-US" smtClean="0"/>
              <a:pPr/>
              <a:t>21</a:t>
            </a:fld>
            <a:endParaRPr lang="en-US"/>
          </a:p>
        </p:txBody>
      </p:sp>
    </p:spTree>
  </p:cSld>
  <p:clrMapOvr>
    <a:masterClrMapping/>
  </p:clrMapOvr>
  <p:transition>
    <p:wip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838200"/>
            <a:ext cx="8229600" cy="1143000"/>
          </a:xfrm>
        </p:spPr>
        <p:txBody>
          <a:bodyPr>
            <a:normAutofit fontScale="90000"/>
          </a:bodyPr>
          <a:lstStyle/>
          <a:p>
            <a:pPr algn="ctr"/>
            <a:r>
              <a:rPr lang="en-US" dirty="0" smtClean="0"/>
              <a:t>     	</a:t>
            </a:r>
            <a:r>
              <a:rPr lang="en-US" sz="2200" b="1" dirty="0" smtClean="0">
                <a:latin typeface="Times New Roman" pitchFamily="18" charset="0"/>
                <a:cs typeface="Times New Roman" pitchFamily="18" charset="0"/>
              </a:rPr>
              <a:t>FINANCIAL ADMINISTRATION PROCESSES   BOTTLENECKS REGARDING PAYMENTS OF VARIOUS FEES SERVICING OF COMMITTEES IN THE UNIVERSITY: CHALLENGES AND WAY FORWARD IN PURCHASING OF OFFICIAL MATERIAL</a:t>
            </a:r>
            <a:r>
              <a:rPr lang="en-US" sz="2200" dirty="0" smtClean="0">
                <a:latin typeface="Times New Roman" pitchFamily="18" charset="0"/>
                <a:cs typeface="Times New Roman" pitchFamily="18" charset="0"/>
              </a:rPr>
              <a:t/>
            </a:r>
            <a:br>
              <a:rPr lang="en-US" sz="2200" dirty="0" smtClean="0">
                <a:latin typeface="Times New Roman" pitchFamily="18" charset="0"/>
                <a:cs typeface="Times New Roman" pitchFamily="18" charset="0"/>
              </a:rPr>
            </a:br>
            <a:endParaRPr lang="en-US" sz="2200" dirty="0"/>
          </a:p>
        </p:txBody>
      </p:sp>
      <p:sp>
        <p:nvSpPr>
          <p:cNvPr id="3" name="Content Placeholder 2"/>
          <p:cNvSpPr>
            <a:spLocks noGrp="1"/>
          </p:cNvSpPr>
          <p:nvPr>
            <p:ph sz="quarter" idx="1"/>
          </p:nvPr>
        </p:nvSpPr>
        <p:spPr>
          <a:xfrm>
            <a:off x="457200" y="1905000"/>
            <a:ext cx="8229600" cy="4221163"/>
          </a:xfrm>
        </p:spPr>
        <p:txBody>
          <a:bodyPr>
            <a:normAutofit lnSpcReduction="10000"/>
          </a:bodyPr>
          <a:lstStyle/>
          <a:p>
            <a:pPr>
              <a:buNone/>
            </a:pPr>
            <a:r>
              <a:rPr lang="en-US" b="1" dirty="0" smtClean="0"/>
              <a:t>Problems associated with Cash Advances</a:t>
            </a:r>
            <a:endParaRPr lang="en-US" dirty="0" smtClean="0"/>
          </a:p>
          <a:p>
            <a:pPr lvl="0"/>
            <a:r>
              <a:rPr lang="en-US" dirty="0" smtClean="0"/>
              <a:t>We often encountered problems of non-filling and submission of cash advance release form on time. In some cases, the FRF is also not attached.</a:t>
            </a:r>
          </a:p>
          <a:p>
            <a:pPr lvl="0"/>
            <a:r>
              <a:rPr lang="en-US" dirty="0" smtClean="0"/>
              <a:t>In some instances, we have cases, where requests and approval would have been granted without enough vote balance or cash backing.</a:t>
            </a:r>
          </a:p>
          <a:p>
            <a:pPr lvl="0"/>
            <a:r>
              <a:rPr lang="en-US" dirty="0" smtClean="0"/>
              <a:t>Processing of cash advances few days to Committee meetings.</a:t>
            </a:r>
          </a:p>
          <a:p>
            <a:pPr lvl="0"/>
            <a:r>
              <a:rPr lang="en-US" dirty="0" smtClean="0"/>
              <a:t>We used to have cases of non-retirement of cash advances on time.</a:t>
            </a:r>
          </a:p>
          <a:p>
            <a:endParaRPr lang="en-US" dirty="0"/>
          </a:p>
        </p:txBody>
      </p:sp>
      <p:pic>
        <p:nvPicPr>
          <p:cNvPr id="20482" name="Picture 2" descr="C:\Users\AMIRA\Desktop\af.jpg"/>
          <p:cNvPicPr>
            <a:picLocks noChangeAspect="1" noChangeArrowheads="1"/>
          </p:cNvPicPr>
          <p:nvPr/>
        </p:nvPicPr>
        <p:blipFill>
          <a:blip r:embed="rId2"/>
          <a:srcRect/>
          <a:stretch>
            <a:fillRect/>
          </a:stretch>
        </p:blipFill>
        <p:spPr bwMode="auto">
          <a:xfrm>
            <a:off x="0" y="0"/>
            <a:ext cx="838200" cy="1828800"/>
          </a:xfrm>
          <a:prstGeom prst="rect">
            <a:avLst/>
          </a:prstGeom>
          <a:noFill/>
        </p:spPr>
      </p:pic>
      <p:sp>
        <p:nvSpPr>
          <p:cNvPr id="5" name="Title 1"/>
          <p:cNvSpPr txBox="1">
            <a:spLocks/>
          </p:cNvSpPr>
          <p:nvPr/>
        </p:nvSpPr>
        <p:spPr>
          <a:xfrm>
            <a:off x="838200" y="0"/>
            <a:ext cx="8305800" cy="1752600"/>
          </a:xfrm>
          <a:prstGeom prst="rect">
            <a:avLst/>
          </a:prstGeom>
        </p:spPr>
        <p:style>
          <a:lnRef idx="1">
            <a:schemeClr val="accent2"/>
          </a:lnRef>
          <a:fillRef idx="2">
            <a:schemeClr val="accent2"/>
          </a:fillRef>
          <a:effectRef idx="1">
            <a:schemeClr val="accent2"/>
          </a:effectRef>
          <a:fontRef idx="minor">
            <a:schemeClr val="dk1"/>
          </a:fontRef>
        </p:style>
        <p:txBody>
          <a:bodyPr vert="horz" anchor="b">
            <a:normAutofit fontScale="97500"/>
          </a:bodyPr>
          <a:lstStyle/>
          <a:p>
            <a:pPr algn="ctr">
              <a:spcBef>
                <a:spcPct val="0"/>
              </a:spcBef>
            </a:pPr>
            <a:r>
              <a:rPr kumimoji="0" lang="en-US" sz="3000" b="0" i="0" u="none" strike="noStrike" kern="1200" cap="small" spc="0" normalizeH="0" baseline="0" noProof="0" dirty="0" smtClean="0">
                <a:ln>
                  <a:noFill/>
                </a:ln>
                <a:solidFill>
                  <a:schemeClr val="dk1"/>
                </a:solidFill>
                <a:effectLst/>
                <a:uLnTx/>
                <a:uFillTx/>
                <a:latin typeface="+mn-lt"/>
                <a:ea typeface="+mn-ea"/>
                <a:cs typeface="+mn-cs"/>
              </a:rPr>
              <a:t>   	</a:t>
            </a:r>
            <a:r>
              <a:rPr lang="en-US" sz="2800" b="1" dirty="0" smtClean="0"/>
              <a:t>EKITI STATE UNIVERSITY, ADO-EKITI</a:t>
            </a:r>
            <a:br>
              <a:rPr lang="en-US" sz="2800" b="1" dirty="0" smtClean="0"/>
            </a:br>
            <a:r>
              <a:rPr lang="en-US" sz="3200" b="1" dirty="0" smtClean="0"/>
              <a:t>ACADEMIC</a:t>
            </a:r>
            <a:r>
              <a:rPr lang="en-US" sz="5400" b="1" dirty="0" smtClean="0"/>
              <a:t> </a:t>
            </a:r>
            <a:r>
              <a:rPr lang="en-US" sz="3200" b="1" dirty="0" smtClean="0"/>
              <a:t>SUMMIT</a:t>
            </a:r>
            <a:endParaRPr lang="en-US" sz="3200" cap="small" dirty="0" smtClean="0"/>
          </a:p>
        </p:txBody>
      </p:sp>
      <p:sp>
        <p:nvSpPr>
          <p:cNvPr id="6" name="Slide Number Placeholder 5"/>
          <p:cNvSpPr>
            <a:spLocks noGrp="1"/>
          </p:cNvSpPr>
          <p:nvPr>
            <p:ph type="sldNum" sz="quarter" idx="15"/>
          </p:nvPr>
        </p:nvSpPr>
        <p:spPr/>
        <p:txBody>
          <a:bodyPr/>
          <a:lstStyle/>
          <a:p>
            <a:fld id="{B6F15528-21DE-4FAA-801E-634DDDAF4B2B}" type="slidenum">
              <a:rPr lang="en-US" smtClean="0"/>
              <a:pPr/>
              <a:t>22</a:t>
            </a:fld>
            <a:endParaRPr lang="en-US"/>
          </a:p>
        </p:txBody>
      </p:sp>
    </p:spTree>
  </p:cSld>
  <p:clrMapOvr>
    <a:masterClrMapping/>
  </p:clrMapOvr>
  <p:transition>
    <p:cut thruBlk="1"/>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1143000"/>
          </a:xfrm>
        </p:spPr>
        <p:txBody>
          <a:bodyPr>
            <a:normAutofit fontScale="90000"/>
          </a:bodyPr>
          <a:lstStyle/>
          <a:p>
            <a:pPr algn="ctr"/>
            <a:r>
              <a:rPr lang="en-US" dirty="0" smtClean="0"/>
              <a:t>     	</a:t>
            </a:r>
            <a:r>
              <a:rPr lang="en-US" sz="2200" b="1" dirty="0" smtClean="0">
                <a:latin typeface="Times New Roman" pitchFamily="18" charset="0"/>
                <a:cs typeface="Times New Roman" pitchFamily="18" charset="0"/>
              </a:rPr>
              <a:t>FINANCIAL ADMINISTRATION PROCESSES   BOTTLENECKS REGARDING PAYMENTS OF VARIOUS FEES SERVICING OF COMMITTEES IN THE UNIVERSITY: CHALLENGES AND WAY FORWARD IN PURCHASING OF OFFICIAL MATERIAL</a:t>
            </a:r>
            <a:r>
              <a:rPr lang="en-US" sz="2200" dirty="0" smtClean="0">
                <a:latin typeface="Times New Roman" pitchFamily="18" charset="0"/>
                <a:cs typeface="Times New Roman" pitchFamily="18" charset="0"/>
              </a:rPr>
              <a:t/>
            </a:r>
            <a:br>
              <a:rPr lang="en-US" sz="2200" dirty="0" smtClean="0">
                <a:latin typeface="Times New Roman" pitchFamily="18" charset="0"/>
                <a:cs typeface="Times New Roman" pitchFamily="18" charset="0"/>
              </a:rPr>
            </a:br>
            <a:endParaRPr lang="en-US" sz="2200" dirty="0"/>
          </a:p>
        </p:txBody>
      </p:sp>
      <p:sp>
        <p:nvSpPr>
          <p:cNvPr id="3" name="Content Placeholder 2"/>
          <p:cNvSpPr>
            <a:spLocks noGrp="1"/>
          </p:cNvSpPr>
          <p:nvPr>
            <p:ph sz="quarter" idx="1"/>
          </p:nvPr>
        </p:nvSpPr>
        <p:spPr>
          <a:xfrm>
            <a:off x="457200" y="1676400"/>
            <a:ext cx="8229600" cy="4953000"/>
          </a:xfrm>
        </p:spPr>
        <p:txBody>
          <a:bodyPr>
            <a:normAutofit fontScale="77500" lnSpcReduction="20000"/>
          </a:bodyPr>
          <a:lstStyle/>
          <a:p>
            <a:pPr>
              <a:buNone/>
            </a:pPr>
            <a:r>
              <a:rPr lang="en-US" b="1" dirty="0" smtClean="0"/>
              <a:t>	Measures taken to correct the Identified problems </a:t>
            </a:r>
            <a:br>
              <a:rPr lang="en-US" b="1" dirty="0" smtClean="0"/>
            </a:br>
            <a:r>
              <a:rPr lang="en-US" b="1" dirty="0" smtClean="0"/>
              <a:t>of Cash Advance</a:t>
            </a:r>
            <a:endParaRPr lang="en-US" dirty="0" smtClean="0"/>
          </a:p>
          <a:p>
            <a:pPr lvl="0"/>
            <a:r>
              <a:rPr lang="en-US" dirty="0" smtClean="0"/>
              <a:t>We often encourage staff to fill their forms properly and adequately.</a:t>
            </a:r>
          </a:p>
          <a:p>
            <a:pPr lvl="0"/>
            <a:r>
              <a:rPr lang="en-US" dirty="0" smtClean="0"/>
              <a:t>At times</a:t>
            </a:r>
            <a:r>
              <a:rPr lang="en-US" dirty="0" smtClean="0"/>
              <a:t>, letters are written and sent to debtors to intimate them about their cash advance indebtedness.</a:t>
            </a:r>
          </a:p>
          <a:p>
            <a:pPr lvl="0"/>
            <a:r>
              <a:rPr lang="en-US" dirty="0" smtClean="0"/>
              <a:t>Stoppage of salary is often carried out and this has been making staff to respond positively to the issue of retirement of cash advance most especially when the advance is already overdue for retirement.</a:t>
            </a:r>
          </a:p>
          <a:p>
            <a:pPr lvl="0"/>
            <a:r>
              <a:rPr lang="en-US" dirty="0" smtClean="0"/>
              <a:t>Where we have lack of cooperation after stoppage of salary, value of advance not accounted for may be recovered from the defaulter’s salary without notice and receipts submitted thereafter shall be regarded stale, while subsequent privileges may be withdrawn on approval of Vice-Chancellor. </a:t>
            </a:r>
          </a:p>
          <a:p>
            <a:r>
              <a:rPr lang="en-US" dirty="0" smtClean="0"/>
              <a:t>We may compile the list of the defaulters for consideration for further sanction by Management, such as requesting that they be recognized as official debtors by the University Registry with their personal files updated as such.</a:t>
            </a:r>
            <a:endParaRPr lang="en-US" dirty="0"/>
          </a:p>
        </p:txBody>
      </p:sp>
      <p:pic>
        <p:nvPicPr>
          <p:cNvPr id="21506" name="Picture 2" descr="C:\Users\AMIRA\Desktop\af.jpg"/>
          <p:cNvPicPr>
            <a:picLocks noChangeAspect="1" noChangeArrowheads="1"/>
          </p:cNvPicPr>
          <p:nvPr/>
        </p:nvPicPr>
        <p:blipFill>
          <a:blip r:embed="rId2"/>
          <a:srcRect/>
          <a:stretch>
            <a:fillRect/>
          </a:stretch>
        </p:blipFill>
        <p:spPr bwMode="auto">
          <a:xfrm>
            <a:off x="1" y="1"/>
            <a:ext cx="914399" cy="1523999"/>
          </a:xfrm>
          <a:prstGeom prst="rect">
            <a:avLst/>
          </a:prstGeom>
          <a:noFill/>
        </p:spPr>
      </p:pic>
      <p:sp>
        <p:nvSpPr>
          <p:cNvPr id="5" name="Title 1"/>
          <p:cNvSpPr txBox="1">
            <a:spLocks/>
          </p:cNvSpPr>
          <p:nvPr/>
        </p:nvSpPr>
        <p:spPr>
          <a:xfrm>
            <a:off x="914400" y="0"/>
            <a:ext cx="8229600" cy="1524000"/>
          </a:xfrm>
          <a:prstGeom prst="rect">
            <a:avLst/>
          </a:prstGeom>
        </p:spPr>
        <p:style>
          <a:lnRef idx="1">
            <a:schemeClr val="accent2"/>
          </a:lnRef>
          <a:fillRef idx="2">
            <a:schemeClr val="accent2"/>
          </a:fillRef>
          <a:effectRef idx="1">
            <a:schemeClr val="accent2"/>
          </a:effectRef>
          <a:fontRef idx="minor">
            <a:schemeClr val="dk1"/>
          </a:fontRef>
        </p:style>
        <p:txBody>
          <a:bodyPr vert="horz" anchor="b">
            <a:normAutofit fontScale="97500"/>
          </a:bodyPr>
          <a:lstStyle/>
          <a:p>
            <a:pPr algn="ctr">
              <a:spcBef>
                <a:spcPct val="0"/>
              </a:spcBef>
            </a:pPr>
            <a:r>
              <a:rPr lang="en-US" sz="2800" b="1" dirty="0" smtClean="0"/>
              <a:t>EKITI STATE UNIVERSITY, ADO-EKITI</a:t>
            </a:r>
            <a:r>
              <a:rPr lang="en-US" sz="2400" b="1" dirty="0" smtClean="0"/>
              <a:t/>
            </a:r>
            <a:br>
              <a:rPr lang="en-US" sz="2400" b="1" dirty="0" smtClean="0"/>
            </a:br>
            <a:r>
              <a:rPr lang="en-US" sz="3200" b="1" dirty="0" smtClean="0"/>
              <a:t>ACADEMIC SUMMIT</a:t>
            </a:r>
            <a:endParaRPr lang="en-US" sz="3200" cap="small" dirty="0" smtClean="0"/>
          </a:p>
        </p:txBody>
      </p:sp>
      <p:sp>
        <p:nvSpPr>
          <p:cNvPr id="6" name="Slide Number Placeholder 5"/>
          <p:cNvSpPr>
            <a:spLocks noGrp="1"/>
          </p:cNvSpPr>
          <p:nvPr>
            <p:ph type="sldNum" sz="quarter" idx="15"/>
          </p:nvPr>
        </p:nvSpPr>
        <p:spPr/>
        <p:txBody>
          <a:bodyPr/>
          <a:lstStyle/>
          <a:p>
            <a:fld id="{B6F15528-21DE-4FAA-801E-634DDDAF4B2B}" type="slidenum">
              <a:rPr lang="en-US" smtClean="0"/>
              <a:pPr/>
              <a:t>23</a:t>
            </a:fld>
            <a:endParaRPr lang="en-US"/>
          </a:p>
        </p:txBody>
      </p:sp>
    </p:spTree>
  </p:cSld>
  <p:clrMapOvr>
    <a:masterClrMapping/>
  </p:clrMapOvr>
  <p:transition>
    <p:fade thruBlk="1"/>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143000"/>
          </a:xfrm>
        </p:spPr>
        <p:txBody>
          <a:bodyPr>
            <a:normAutofit fontScale="90000"/>
          </a:bodyPr>
          <a:lstStyle/>
          <a:p>
            <a:pPr algn="ctr"/>
            <a:r>
              <a:rPr lang="en-US" dirty="0" smtClean="0"/>
              <a:t>    	</a:t>
            </a:r>
            <a:r>
              <a:rPr lang="en-US" sz="2200" b="1" dirty="0" smtClean="0">
                <a:latin typeface="Times New Roman" pitchFamily="18" charset="0"/>
                <a:cs typeface="Times New Roman" pitchFamily="18" charset="0"/>
              </a:rPr>
              <a:t>FINANCIAL ADMINISTRATION PROCESSES   BOTTLENECKS REGARDING PAYMENTS OF VARIOUS FEES SERVICING OF COMMITTEES IN THE UNIVERSITY: CHALLENGES AND WAY FORWARD IN PURCHASING OF OFFICIAL MATERIAL</a:t>
            </a:r>
            <a:r>
              <a:rPr lang="en-US" sz="2200" dirty="0" smtClean="0">
                <a:latin typeface="Times New Roman" pitchFamily="18" charset="0"/>
                <a:cs typeface="Times New Roman" pitchFamily="18" charset="0"/>
              </a:rPr>
              <a:t/>
            </a:r>
            <a:br>
              <a:rPr lang="en-US" sz="2200" dirty="0" smtClean="0">
                <a:latin typeface="Times New Roman" pitchFamily="18" charset="0"/>
                <a:cs typeface="Times New Roman" pitchFamily="18" charset="0"/>
              </a:rPr>
            </a:br>
            <a:endParaRPr lang="en-US" sz="2200" b="1" dirty="0"/>
          </a:p>
        </p:txBody>
      </p:sp>
      <p:sp>
        <p:nvSpPr>
          <p:cNvPr id="3" name="Content Placeholder 2"/>
          <p:cNvSpPr>
            <a:spLocks noGrp="1"/>
          </p:cNvSpPr>
          <p:nvPr>
            <p:ph sz="quarter" idx="1"/>
          </p:nvPr>
        </p:nvSpPr>
        <p:spPr>
          <a:xfrm>
            <a:off x="457200" y="1828800"/>
            <a:ext cx="8229600" cy="4724400"/>
          </a:xfrm>
        </p:spPr>
        <p:txBody>
          <a:bodyPr>
            <a:normAutofit lnSpcReduction="10000"/>
          </a:bodyPr>
          <a:lstStyle/>
          <a:p>
            <a:pPr>
              <a:buNone/>
            </a:pPr>
            <a:r>
              <a:rPr lang="en-US" dirty="0" smtClean="0"/>
              <a:t>	Due process and procedures should be correctly followed to avoid delay in processing of request for fund. Request and approval of fund for servicing a Committee should be planned for, probably about two-three weeks before a meeting to avoid problem of lack of fund to service the meeting. </a:t>
            </a:r>
          </a:p>
          <a:p>
            <a:pPr>
              <a:buNone/>
            </a:pPr>
            <a:r>
              <a:rPr lang="en-US" dirty="0" smtClean="0"/>
              <a:t>	Fund collected should also be utilized according to approved structure in the memorandum of request and as approved by the University authority. The collected fund should be properly accounted for as at when due, with a Certificate of clearance collected from the Internal Audit as evidence of a successful servicing of a committee.</a:t>
            </a:r>
          </a:p>
          <a:p>
            <a:pPr>
              <a:buNone/>
            </a:pPr>
            <a:endParaRPr lang="en-US" dirty="0"/>
          </a:p>
        </p:txBody>
      </p:sp>
      <p:pic>
        <p:nvPicPr>
          <p:cNvPr id="22530" name="Picture 2" descr="C:\Users\AMIRA\Desktop\af.jpg"/>
          <p:cNvPicPr>
            <a:picLocks noChangeAspect="1" noChangeArrowheads="1"/>
          </p:cNvPicPr>
          <p:nvPr/>
        </p:nvPicPr>
        <p:blipFill>
          <a:blip r:embed="rId2"/>
          <a:srcRect/>
          <a:stretch>
            <a:fillRect/>
          </a:stretch>
        </p:blipFill>
        <p:spPr bwMode="auto">
          <a:xfrm>
            <a:off x="0" y="0"/>
            <a:ext cx="914400" cy="1676400"/>
          </a:xfrm>
          <a:prstGeom prst="rect">
            <a:avLst/>
          </a:prstGeom>
          <a:noFill/>
        </p:spPr>
      </p:pic>
      <p:sp>
        <p:nvSpPr>
          <p:cNvPr id="5" name="Title 1"/>
          <p:cNvSpPr txBox="1">
            <a:spLocks/>
          </p:cNvSpPr>
          <p:nvPr/>
        </p:nvSpPr>
        <p:spPr>
          <a:xfrm>
            <a:off x="914400" y="0"/>
            <a:ext cx="8229600" cy="1600200"/>
          </a:xfrm>
          <a:prstGeom prst="rect">
            <a:avLst/>
          </a:prstGeom>
        </p:spPr>
        <p:style>
          <a:lnRef idx="1">
            <a:schemeClr val="accent2"/>
          </a:lnRef>
          <a:fillRef idx="2">
            <a:schemeClr val="accent2"/>
          </a:fillRef>
          <a:effectRef idx="1">
            <a:schemeClr val="accent2"/>
          </a:effectRef>
          <a:fontRef idx="minor">
            <a:schemeClr val="dk1"/>
          </a:fontRef>
        </p:style>
        <p:txBody>
          <a:bodyPr vert="horz" anchor="b">
            <a:normAutofit fontScale="97500"/>
          </a:bodyPr>
          <a:lstStyle/>
          <a:p>
            <a:pPr algn="ctr">
              <a:spcBef>
                <a:spcPct val="0"/>
              </a:spcBef>
            </a:pPr>
            <a:r>
              <a:rPr kumimoji="0" lang="en-US" sz="3000" b="0" i="0" u="none" strike="noStrike" kern="1200" cap="small" spc="0" normalizeH="0" baseline="0" noProof="0" dirty="0" smtClean="0">
                <a:ln>
                  <a:noFill/>
                </a:ln>
                <a:solidFill>
                  <a:schemeClr val="dk1"/>
                </a:solidFill>
                <a:effectLst/>
                <a:uLnTx/>
                <a:uFillTx/>
                <a:latin typeface="+mn-lt"/>
                <a:ea typeface="+mn-ea"/>
                <a:cs typeface="+mn-cs"/>
              </a:rPr>
              <a:t>   </a:t>
            </a:r>
            <a:r>
              <a:rPr lang="en-US" sz="2800" b="1" dirty="0" smtClean="0"/>
              <a:t>EKITI STATE UNIVERSITY, ADO-EKITI</a:t>
            </a:r>
            <a:br>
              <a:rPr lang="en-US" sz="2800" b="1" dirty="0" smtClean="0"/>
            </a:br>
            <a:r>
              <a:rPr lang="en-US" sz="3200" b="1" dirty="0" smtClean="0"/>
              <a:t>ACADEMIC</a:t>
            </a:r>
            <a:r>
              <a:rPr lang="en-US" sz="5400" b="1" dirty="0" smtClean="0"/>
              <a:t> </a:t>
            </a:r>
            <a:r>
              <a:rPr lang="en-US" sz="3200" b="1" dirty="0" smtClean="0"/>
              <a:t>SUMMIT</a:t>
            </a:r>
            <a:endParaRPr lang="en-US" sz="3200" cap="small" dirty="0" smtClean="0"/>
          </a:p>
        </p:txBody>
      </p:sp>
      <p:sp>
        <p:nvSpPr>
          <p:cNvPr id="6" name="Slide Number Placeholder 5"/>
          <p:cNvSpPr>
            <a:spLocks noGrp="1"/>
          </p:cNvSpPr>
          <p:nvPr>
            <p:ph type="sldNum" sz="quarter" idx="15"/>
          </p:nvPr>
        </p:nvSpPr>
        <p:spPr/>
        <p:txBody>
          <a:bodyPr/>
          <a:lstStyle/>
          <a:p>
            <a:fld id="{B6F15528-21DE-4FAA-801E-634DDDAF4B2B}" type="slidenum">
              <a:rPr lang="en-US" smtClean="0"/>
              <a:pPr/>
              <a:t>24</a:t>
            </a:fld>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143000"/>
          </a:xfrm>
        </p:spPr>
        <p:txBody>
          <a:bodyPr>
            <a:normAutofit fontScale="90000"/>
          </a:bodyPr>
          <a:lstStyle/>
          <a:p>
            <a:pPr algn="ctr"/>
            <a:r>
              <a:rPr lang="en-US" dirty="0" smtClean="0"/>
              <a:t>        </a:t>
            </a:r>
            <a:r>
              <a:rPr lang="en-US" sz="2200" b="1" dirty="0" smtClean="0">
                <a:latin typeface="Times New Roman" pitchFamily="18" charset="0"/>
                <a:cs typeface="Times New Roman" pitchFamily="18" charset="0"/>
              </a:rPr>
              <a:t>FINANCIAL ADMINISTRATION PROCESSES   BOTTLENECKS REGARDING PAYMENTS OF VARIOUS FEES SERVICING OF COMMITTEES IN THE UNIVERSITY: CHALLENGES AND WAY FORWARD IN PURCHASING OF OFFICIAL MATERIAL</a:t>
            </a:r>
            <a:r>
              <a:rPr lang="en-US" sz="2200" dirty="0" smtClean="0">
                <a:latin typeface="Times New Roman" pitchFamily="18" charset="0"/>
                <a:cs typeface="Times New Roman" pitchFamily="18" charset="0"/>
              </a:rPr>
              <a:t/>
            </a:r>
            <a:br>
              <a:rPr lang="en-US" sz="2200" dirty="0" smtClean="0">
                <a:latin typeface="Times New Roman" pitchFamily="18" charset="0"/>
                <a:cs typeface="Times New Roman" pitchFamily="18" charset="0"/>
              </a:rPr>
            </a:br>
            <a:endParaRPr lang="en-US" sz="2200" dirty="0"/>
          </a:p>
        </p:txBody>
      </p:sp>
      <p:sp>
        <p:nvSpPr>
          <p:cNvPr id="3" name="Content Placeholder 2"/>
          <p:cNvSpPr>
            <a:spLocks noGrp="1"/>
          </p:cNvSpPr>
          <p:nvPr>
            <p:ph sz="quarter" idx="1"/>
          </p:nvPr>
        </p:nvSpPr>
        <p:spPr>
          <a:xfrm>
            <a:off x="457200" y="1981200"/>
            <a:ext cx="8229600" cy="4343400"/>
          </a:xfrm>
        </p:spPr>
        <p:txBody>
          <a:bodyPr>
            <a:normAutofit fontScale="32500" lnSpcReduction="20000"/>
          </a:bodyPr>
          <a:lstStyle/>
          <a:p>
            <a:pPr algn="ctr">
              <a:buNone/>
            </a:pPr>
            <a:r>
              <a:rPr lang="en-US" sz="8000" b="1" dirty="0" smtClean="0"/>
              <a:t>Financial Control in the University</a:t>
            </a:r>
          </a:p>
          <a:p>
            <a:pPr algn="ctr">
              <a:buNone/>
            </a:pPr>
            <a:endParaRPr lang="en-US" sz="8000" dirty="0" smtClean="0"/>
          </a:p>
          <a:p>
            <a:pPr>
              <a:buNone/>
            </a:pPr>
            <a:r>
              <a:rPr lang="en-US" sz="8000" b="1" dirty="0" smtClean="0"/>
              <a:t>Budget Administration</a:t>
            </a:r>
            <a:endParaRPr lang="en-US" sz="8000" dirty="0" smtClean="0"/>
          </a:p>
          <a:p>
            <a:r>
              <a:rPr lang="en-US" sz="8000" dirty="0" smtClean="0"/>
              <a:t>The preparation of the annual budget is one of the essential duties of the Bursar. The annual budget derives from the three-year rolling plan or strategic plans of the University and subject to the general guidelines issued by the National Universities Commission. Even though the strategic plan forms the basis of formulating the University budget, it is important that the budget fits into the long-range of the University.</a:t>
            </a:r>
          </a:p>
          <a:p>
            <a:pPr lvl="0" algn="just">
              <a:buNone/>
            </a:pPr>
            <a:endParaRPr lang="en-US" sz="8000" dirty="0"/>
          </a:p>
        </p:txBody>
      </p:sp>
      <p:pic>
        <p:nvPicPr>
          <p:cNvPr id="23554" name="Picture 2" descr="C:\Users\AMIRA\Desktop\af.jpg"/>
          <p:cNvPicPr>
            <a:picLocks noChangeAspect="1" noChangeArrowheads="1"/>
          </p:cNvPicPr>
          <p:nvPr/>
        </p:nvPicPr>
        <p:blipFill>
          <a:blip r:embed="rId2"/>
          <a:srcRect/>
          <a:stretch>
            <a:fillRect/>
          </a:stretch>
        </p:blipFill>
        <p:spPr bwMode="auto">
          <a:xfrm>
            <a:off x="183663" y="1"/>
            <a:ext cx="719070" cy="1676399"/>
          </a:xfrm>
          <a:prstGeom prst="rect">
            <a:avLst/>
          </a:prstGeom>
          <a:noFill/>
        </p:spPr>
      </p:pic>
      <p:sp>
        <p:nvSpPr>
          <p:cNvPr id="5" name="Title 1"/>
          <p:cNvSpPr txBox="1">
            <a:spLocks/>
          </p:cNvSpPr>
          <p:nvPr/>
        </p:nvSpPr>
        <p:spPr>
          <a:xfrm>
            <a:off x="914400" y="0"/>
            <a:ext cx="8229600" cy="1600200"/>
          </a:xfrm>
          <a:prstGeom prst="rect">
            <a:avLst/>
          </a:prstGeom>
        </p:spPr>
        <p:style>
          <a:lnRef idx="1">
            <a:schemeClr val="accent2"/>
          </a:lnRef>
          <a:fillRef idx="2">
            <a:schemeClr val="accent2"/>
          </a:fillRef>
          <a:effectRef idx="1">
            <a:schemeClr val="accent2"/>
          </a:effectRef>
          <a:fontRef idx="minor">
            <a:schemeClr val="dk1"/>
          </a:fontRef>
        </p:style>
        <p:txBody>
          <a:bodyPr vert="horz" anchor="b">
            <a:normAutofit fontScale="97500"/>
          </a:bodyPr>
          <a:lstStyle/>
          <a:p>
            <a:pPr algn="ctr">
              <a:spcBef>
                <a:spcPct val="0"/>
              </a:spcBef>
            </a:pPr>
            <a:r>
              <a:rPr kumimoji="0" lang="en-US" sz="3000" b="0" i="0" u="none" strike="noStrike" kern="1200" cap="small" spc="0" normalizeH="0" baseline="0" noProof="0" dirty="0" smtClean="0">
                <a:ln>
                  <a:noFill/>
                </a:ln>
                <a:solidFill>
                  <a:schemeClr val="dk1"/>
                </a:solidFill>
                <a:effectLst/>
                <a:uLnTx/>
                <a:uFillTx/>
                <a:latin typeface="+mn-lt"/>
                <a:ea typeface="+mn-ea"/>
                <a:cs typeface="+mn-cs"/>
              </a:rPr>
              <a:t>   </a:t>
            </a:r>
            <a:r>
              <a:rPr lang="en-US" sz="2800" b="1" dirty="0" smtClean="0"/>
              <a:t>EKITI STATE UNIVERSITY, ADO-EKITI</a:t>
            </a:r>
            <a:br>
              <a:rPr lang="en-US" sz="2800" b="1" dirty="0" smtClean="0"/>
            </a:br>
            <a:r>
              <a:rPr lang="en-US" sz="3200" b="1" dirty="0" smtClean="0"/>
              <a:t>ACADEMIC</a:t>
            </a:r>
            <a:r>
              <a:rPr lang="en-US" sz="5400" b="1" dirty="0" smtClean="0"/>
              <a:t> </a:t>
            </a:r>
            <a:r>
              <a:rPr lang="en-US" sz="3200" b="1" dirty="0" smtClean="0"/>
              <a:t>SUMMIT</a:t>
            </a:r>
            <a:endParaRPr lang="en-US" sz="3200" cap="small" dirty="0" smtClean="0"/>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200" b="0" i="0" u="none" strike="noStrike" kern="1200" cap="small" spc="0" normalizeH="0" baseline="0" noProof="0" dirty="0">
              <a:ln>
                <a:noFill/>
              </a:ln>
              <a:solidFill>
                <a:schemeClr val="dk1"/>
              </a:solidFill>
              <a:effectLst/>
              <a:uLnTx/>
              <a:uFillTx/>
              <a:latin typeface="+mn-lt"/>
              <a:ea typeface="+mn-ea"/>
              <a:cs typeface="+mn-cs"/>
            </a:endParaRPr>
          </a:p>
        </p:txBody>
      </p:sp>
      <p:sp>
        <p:nvSpPr>
          <p:cNvPr id="6" name="Slide Number Placeholder 5"/>
          <p:cNvSpPr>
            <a:spLocks noGrp="1"/>
          </p:cNvSpPr>
          <p:nvPr>
            <p:ph type="sldNum" sz="quarter" idx="15"/>
          </p:nvPr>
        </p:nvSpPr>
        <p:spPr/>
        <p:txBody>
          <a:bodyPr/>
          <a:lstStyle/>
          <a:p>
            <a:fld id="{B6F15528-21DE-4FAA-801E-634DDDAF4B2B}" type="slidenum">
              <a:rPr lang="en-US" smtClean="0"/>
              <a:pPr/>
              <a:t>25</a:t>
            </a:fld>
            <a:endParaRPr lang="en-US"/>
          </a:p>
        </p:txBody>
      </p:sp>
    </p:spTree>
  </p:cSld>
  <p:clrMapOvr>
    <a:masterClrMapping/>
  </p:clrMapOvr>
  <p:transition>
    <p:fade/>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0"/>
            <a:ext cx="8229600" cy="1143000"/>
          </a:xfrm>
        </p:spPr>
        <p:txBody>
          <a:bodyPr>
            <a:normAutofit fontScale="90000"/>
          </a:bodyPr>
          <a:lstStyle/>
          <a:p>
            <a:pPr algn="ctr"/>
            <a:r>
              <a:rPr lang="en-US" dirty="0" smtClean="0"/>
              <a:t>        	</a:t>
            </a:r>
            <a:r>
              <a:rPr lang="en-US" sz="2200" b="1" dirty="0" smtClean="0">
                <a:latin typeface="Times New Roman" pitchFamily="18" charset="0"/>
                <a:cs typeface="Times New Roman" pitchFamily="18" charset="0"/>
              </a:rPr>
              <a:t>FINANCIAL ADMINISTRATION PROCESSES   BOTTLENECKS REGARDING PAYMENTS OF VARIOUS FEES SERVICING OF COMMITTEES IN THE UNIVERSITY: CHALLENGES AND WAY FORWARD IN PURCHASING OF OFFICIAL MATERIAL</a:t>
            </a:r>
            <a:r>
              <a:rPr lang="en-US" sz="2200" dirty="0" smtClean="0">
                <a:latin typeface="Times New Roman" pitchFamily="18" charset="0"/>
                <a:cs typeface="Times New Roman" pitchFamily="18" charset="0"/>
              </a:rPr>
              <a:t/>
            </a:r>
            <a:br>
              <a:rPr lang="en-US" sz="2200" dirty="0" smtClean="0">
                <a:latin typeface="Times New Roman" pitchFamily="18" charset="0"/>
                <a:cs typeface="Times New Roman" pitchFamily="18" charset="0"/>
              </a:rPr>
            </a:br>
            <a:endParaRPr lang="en-US" sz="2200" dirty="0"/>
          </a:p>
        </p:txBody>
      </p:sp>
      <p:sp>
        <p:nvSpPr>
          <p:cNvPr id="3" name="Content Placeholder 2"/>
          <p:cNvSpPr>
            <a:spLocks noGrp="1"/>
          </p:cNvSpPr>
          <p:nvPr>
            <p:ph sz="quarter" idx="1"/>
          </p:nvPr>
        </p:nvSpPr>
        <p:spPr>
          <a:xfrm>
            <a:off x="533400" y="1752600"/>
            <a:ext cx="8229600" cy="4525963"/>
          </a:xfrm>
        </p:spPr>
        <p:txBody>
          <a:bodyPr>
            <a:normAutofit fontScale="92500"/>
          </a:bodyPr>
          <a:lstStyle/>
          <a:p>
            <a:pPr>
              <a:buNone/>
            </a:pPr>
            <a:r>
              <a:rPr lang="en-US" dirty="0" smtClean="0"/>
              <a:t>	By budget we mean future plan of action on revenue and expenditure for an organization or a sector there of.</a:t>
            </a:r>
          </a:p>
          <a:p>
            <a:pPr>
              <a:buNone/>
            </a:pPr>
            <a:r>
              <a:rPr lang="en-US" dirty="0" smtClean="0"/>
              <a:t>	A budget is a tool for planning, controlling and is a change from which benefit is expected to accrue. Compliance is very important here as it enables people to be mindful of their spending </a:t>
            </a:r>
            <a:r>
              <a:rPr lang="en-US" dirty="0" err="1" smtClean="0"/>
              <a:t>viz</a:t>
            </a:r>
            <a:r>
              <a:rPr lang="en-US" dirty="0" smtClean="0"/>
              <a:t>-a-</a:t>
            </a:r>
            <a:r>
              <a:rPr lang="en-US" dirty="0" err="1" smtClean="0"/>
              <a:t>viz</a:t>
            </a:r>
            <a:r>
              <a:rPr lang="en-US" dirty="0" smtClean="0"/>
              <a:t> the budgetary provision. It also provides better yardstick for the measurement of performance and allows optimum allocation of resources.</a:t>
            </a:r>
          </a:p>
          <a:p>
            <a:pPr>
              <a:buNone/>
            </a:pPr>
            <a:r>
              <a:rPr lang="en-US" dirty="0" smtClean="0"/>
              <a:t>	The University budgeting system revolves around the National Universities Commission, which is charged with advising the Federal and State Governments on financial needs of the Universities. </a:t>
            </a:r>
          </a:p>
          <a:p>
            <a:pPr>
              <a:buNone/>
            </a:pPr>
            <a:endParaRPr lang="en-US" dirty="0"/>
          </a:p>
        </p:txBody>
      </p:sp>
      <p:pic>
        <p:nvPicPr>
          <p:cNvPr id="24578" name="Picture 2" descr="C:\Users\AMIRA\Desktop\af.jpg"/>
          <p:cNvPicPr>
            <a:picLocks noChangeAspect="1" noChangeArrowheads="1"/>
          </p:cNvPicPr>
          <p:nvPr/>
        </p:nvPicPr>
        <p:blipFill>
          <a:blip r:embed="rId2"/>
          <a:srcRect/>
          <a:stretch>
            <a:fillRect/>
          </a:stretch>
        </p:blipFill>
        <p:spPr bwMode="auto">
          <a:xfrm>
            <a:off x="152400" y="1"/>
            <a:ext cx="730525" cy="1523999"/>
          </a:xfrm>
          <a:prstGeom prst="rect">
            <a:avLst/>
          </a:prstGeom>
          <a:noFill/>
        </p:spPr>
      </p:pic>
      <p:sp>
        <p:nvSpPr>
          <p:cNvPr id="5" name="Title 1"/>
          <p:cNvSpPr txBox="1">
            <a:spLocks/>
          </p:cNvSpPr>
          <p:nvPr/>
        </p:nvSpPr>
        <p:spPr>
          <a:xfrm>
            <a:off x="914400" y="0"/>
            <a:ext cx="8229600" cy="1600200"/>
          </a:xfrm>
          <a:prstGeom prst="rect">
            <a:avLst/>
          </a:prstGeom>
        </p:spPr>
        <p:style>
          <a:lnRef idx="1">
            <a:schemeClr val="accent2"/>
          </a:lnRef>
          <a:fillRef idx="2">
            <a:schemeClr val="accent2"/>
          </a:fillRef>
          <a:effectRef idx="1">
            <a:schemeClr val="accent2"/>
          </a:effectRef>
          <a:fontRef idx="minor">
            <a:schemeClr val="dk1"/>
          </a:fontRef>
        </p:style>
        <p:txBody>
          <a:bodyPr vert="horz" anchor="b">
            <a:normAutofit fontScale="97500"/>
          </a:bodyPr>
          <a:lstStyle/>
          <a:p>
            <a:pPr algn="ctr">
              <a:spcBef>
                <a:spcPct val="0"/>
              </a:spcBef>
            </a:pPr>
            <a:r>
              <a:rPr kumimoji="0" lang="en-US" sz="3000" b="0" i="0" u="none" strike="noStrike" kern="1200" cap="small" spc="0" normalizeH="0" baseline="0" noProof="0" dirty="0" smtClean="0">
                <a:ln>
                  <a:noFill/>
                </a:ln>
                <a:solidFill>
                  <a:schemeClr val="dk1"/>
                </a:solidFill>
                <a:effectLst/>
                <a:uLnTx/>
                <a:uFillTx/>
                <a:latin typeface="+mn-lt"/>
                <a:ea typeface="+mn-ea"/>
                <a:cs typeface="+mn-cs"/>
              </a:rPr>
              <a:t>   	 </a:t>
            </a:r>
            <a:r>
              <a:rPr lang="en-US" sz="2400" b="1" dirty="0" smtClean="0"/>
              <a:t>EKITI STATE UNIVERSITY, ADO-EKITI</a:t>
            </a:r>
            <a:br>
              <a:rPr lang="en-US" sz="2400" b="1" dirty="0" smtClean="0"/>
            </a:br>
            <a:r>
              <a:rPr lang="en-US" sz="2800" b="1" dirty="0" smtClean="0"/>
              <a:t>ACADEMIC</a:t>
            </a:r>
            <a:r>
              <a:rPr lang="en-US" sz="4800" b="1" dirty="0" smtClean="0"/>
              <a:t> </a:t>
            </a:r>
            <a:r>
              <a:rPr lang="en-US" sz="2800" b="1" dirty="0" smtClean="0"/>
              <a:t>SUMMIT</a:t>
            </a:r>
            <a:endParaRPr lang="en-US" sz="2800" cap="small" dirty="0" smtClean="0"/>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2200" b="0" i="0" u="none" strike="noStrike" kern="1200" cap="small" spc="0" normalizeH="0" baseline="0" noProof="0" dirty="0">
              <a:ln>
                <a:noFill/>
              </a:ln>
              <a:solidFill>
                <a:schemeClr val="dk1"/>
              </a:solidFill>
              <a:effectLst/>
              <a:uLnTx/>
              <a:uFillTx/>
              <a:latin typeface="+mn-lt"/>
              <a:ea typeface="+mn-ea"/>
              <a:cs typeface="+mn-cs"/>
            </a:endParaRPr>
          </a:p>
        </p:txBody>
      </p:sp>
      <p:sp>
        <p:nvSpPr>
          <p:cNvPr id="6" name="Slide Number Placeholder 5"/>
          <p:cNvSpPr>
            <a:spLocks noGrp="1"/>
          </p:cNvSpPr>
          <p:nvPr>
            <p:ph type="sldNum" sz="quarter" idx="15"/>
          </p:nvPr>
        </p:nvSpPr>
        <p:spPr/>
        <p:txBody>
          <a:bodyPr/>
          <a:lstStyle/>
          <a:p>
            <a:fld id="{B6F15528-21DE-4FAA-801E-634DDDAF4B2B}" type="slidenum">
              <a:rPr lang="en-US" smtClean="0"/>
              <a:pPr/>
              <a:t>26</a:t>
            </a:fld>
            <a:endParaRPr lang="en-US"/>
          </a:p>
        </p:txBody>
      </p:sp>
    </p:spTree>
  </p:cSld>
  <p:clrMapOvr>
    <a:masterClrMapping/>
  </p:clrMapOvr>
  <p:transition>
    <p:pull dir="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143000"/>
          </a:xfrm>
        </p:spPr>
        <p:txBody>
          <a:bodyPr>
            <a:normAutofit fontScale="90000"/>
          </a:bodyPr>
          <a:lstStyle/>
          <a:p>
            <a:pPr algn="ctr"/>
            <a:r>
              <a:rPr lang="en-US" dirty="0" smtClean="0"/>
              <a:t>     </a:t>
            </a:r>
            <a:r>
              <a:rPr lang="en-US" sz="2200" b="1" dirty="0" smtClean="0">
                <a:latin typeface="Times New Roman" pitchFamily="18" charset="0"/>
                <a:cs typeface="Times New Roman" pitchFamily="18" charset="0"/>
              </a:rPr>
              <a:t>FINANCIAL ADMINISTRATION PROCESSES   BOTTLENECKS REGARDING PAYMENTS OF VARIOUS FEES SERVICING OF COMMITTEES IN THE UNIVERSITY: CHALLENGES AND WAY FORWARD IN PURCHASING OF OFFICIAL MATERIAL</a:t>
            </a:r>
            <a:r>
              <a:rPr lang="en-US" sz="2200" dirty="0" smtClean="0">
                <a:latin typeface="Times New Roman" pitchFamily="18" charset="0"/>
                <a:cs typeface="Times New Roman" pitchFamily="18" charset="0"/>
              </a:rPr>
              <a:t/>
            </a:r>
            <a:br>
              <a:rPr lang="en-US" sz="2200" dirty="0" smtClean="0">
                <a:latin typeface="Times New Roman" pitchFamily="18" charset="0"/>
                <a:cs typeface="Times New Roman" pitchFamily="18" charset="0"/>
              </a:rPr>
            </a:br>
            <a:endParaRPr lang="en-US" sz="2200" dirty="0"/>
          </a:p>
        </p:txBody>
      </p:sp>
      <p:sp>
        <p:nvSpPr>
          <p:cNvPr id="3" name="Content Placeholder 2"/>
          <p:cNvSpPr>
            <a:spLocks noGrp="1"/>
          </p:cNvSpPr>
          <p:nvPr>
            <p:ph sz="quarter" idx="1"/>
          </p:nvPr>
        </p:nvSpPr>
        <p:spPr>
          <a:xfrm>
            <a:off x="457200" y="1828800"/>
            <a:ext cx="8229600" cy="5029200"/>
          </a:xfrm>
        </p:spPr>
        <p:txBody>
          <a:bodyPr>
            <a:normAutofit/>
          </a:bodyPr>
          <a:lstStyle/>
          <a:p>
            <a:pPr lvl="0" algn="just">
              <a:buNone/>
            </a:pPr>
            <a:r>
              <a:rPr lang="en-US" dirty="0" smtClean="0"/>
              <a:t>	</a:t>
            </a:r>
          </a:p>
          <a:p>
            <a:pPr lvl="0" algn="just">
              <a:buNone/>
            </a:pPr>
            <a:r>
              <a:rPr lang="en-US" dirty="0" smtClean="0"/>
              <a:t>	The budgeting process begins with a call notice in August or September from the Ministry of Finance eliciting requests for the next fiscal year’s budget. The Ministry of Budget and Economic Planning in turn invites each University to submit estimates for recurrent and capital expenditure, and supplies the Universities with a set of forms to complete.</a:t>
            </a:r>
            <a:endParaRPr lang="en-US" dirty="0"/>
          </a:p>
        </p:txBody>
      </p:sp>
      <p:pic>
        <p:nvPicPr>
          <p:cNvPr id="25602" name="Picture 2" descr="C:\Users\AMIRA\Desktop\af.jpg"/>
          <p:cNvPicPr>
            <a:picLocks noChangeAspect="1" noChangeArrowheads="1"/>
          </p:cNvPicPr>
          <p:nvPr/>
        </p:nvPicPr>
        <p:blipFill>
          <a:blip r:embed="rId2"/>
          <a:srcRect/>
          <a:stretch>
            <a:fillRect/>
          </a:stretch>
        </p:blipFill>
        <p:spPr bwMode="auto">
          <a:xfrm>
            <a:off x="1" y="1"/>
            <a:ext cx="990599" cy="1676400"/>
          </a:xfrm>
          <a:prstGeom prst="rect">
            <a:avLst/>
          </a:prstGeom>
          <a:noFill/>
        </p:spPr>
      </p:pic>
      <p:sp>
        <p:nvSpPr>
          <p:cNvPr id="5" name="Title 1"/>
          <p:cNvSpPr txBox="1">
            <a:spLocks/>
          </p:cNvSpPr>
          <p:nvPr/>
        </p:nvSpPr>
        <p:spPr>
          <a:xfrm>
            <a:off x="990600" y="0"/>
            <a:ext cx="8153400" cy="1600200"/>
          </a:xfrm>
          <a:prstGeom prst="rect">
            <a:avLst/>
          </a:prstGeom>
        </p:spPr>
        <p:style>
          <a:lnRef idx="1">
            <a:schemeClr val="accent2"/>
          </a:lnRef>
          <a:fillRef idx="2">
            <a:schemeClr val="accent2"/>
          </a:fillRef>
          <a:effectRef idx="1">
            <a:schemeClr val="accent2"/>
          </a:effectRef>
          <a:fontRef idx="minor">
            <a:schemeClr val="dk1"/>
          </a:fontRef>
        </p:style>
        <p:txBody>
          <a:bodyPr vert="horz" anchor="b">
            <a:normAutofit fontScale="97500"/>
          </a:bodyPr>
          <a:lstStyle/>
          <a:p>
            <a:pPr algn="ctr">
              <a:spcBef>
                <a:spcPct val="0"/>
              </a:spcBef>
            </a:pPr>
            <a:r>
              <a:rPr kumimoji="0" lang="en-US" sz="3000" b="0" i="0" u="none" strike="noStrike" kern="1200" cap="small" spc="0" normalizeH="0" baseline="0" noProof="0" dirty="0" smtClean="0">
                <a:ln>
                  <a:noFill/>
                </a:ln>
                <a:solidFill>
                  <a:schemeClr val="dk1"/>
                </a:solidFill>
                <a:effectLst/>
                <a:uLnTx/>
                <a:uFillTx/>
                <a:latin typeface="+mn-lt"/>
                <a:ea typeface="+mn-ea"/>
                <a:cs typeface="+mn-cs"/>
              </a:rPr>
              <a:t>   	 </a:t>
            </a:r>
            <a:r>
              <a:rPr lang="en-US" sz="2400" b="1" dirty="0" smtClean="0"/>
              <a:t>EKITI STATE UNIVERSITY, ADO-EKITI</a:t>
            </a:r>
            <a:br>
              <a:rPr lang="en-US" sz="2400" b="1" dirty="0" smtClean="0"/>
            </a:br>
            <a:r>
              <a:rPr lang="en-US" sz="2800" b="1" dirty="0" smtClean="0"/>
              <a:t>ACADEMIC</a:t>
            </a:r>
            <a:r>
              <a:rPr lang="en-US" sz="4800" b="1" dirty="0" smtClean="0"/>
              <a:t> </a:t>
            </a:r>
            <a:r>
              <a:rPr lang="en-US" sz="2800" b="1" dirty="0" smtClean="0"/>
              <a:t>SUMMIT</a:t>
            </a:r>
            <a:endParaRPr lang="en-US" sz="2800" cap="small" dirty="0" smtClean="0"/>
          </a:p>
        </p:txBody>
      </p:sp>
      <p:sp>
        <p:nvSpPr>
          <p:cNvPr id="6" name="Slide Number Placeholder 5"/>
          <p:cNvSpPr>
            <a:spLocks noGrp="1"/>
          </p:cNvSpPr>
          <p:nvPr>
            <p:ph type="sldNum" sz="quarter" idx="15"/>
          </p:nvPr>
        </p:nvSpPr>
        <p:spPr/>
        <p:txBody>
          <a:bodyPr/>
          <a:lstStyle/>
          <a:p>
            <a:fld id="{B6F15528-21DE-4FAA-801E-634DDDAF4B2B}" type="slidenum">
              <a:rPr lang="en-US" smtClean="0"/>
              <a:pPr/>
              <a:t>27</a:t>
            </a:fld>
            <a:endParaRPr lang="en-US"/>
          </a:p>
        </p:txBody>
      </p:sp>
    </p:spTree>
  </p:cSld>
  <p:clrMapOvr>
    <a:masterClrMapping/>
  </p:clrMapOvr>
  <p:transition>
    <p:cut thruBlk="1"/>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0"/>
            <a:ext cx="8229600" cy="1143000"/>
          </a:xfrm>
        </p:spPr>
        <p:txBody>
          <a:bodyPr>
            <a:normAutofit fontScale="90000"/>
          </a:bodyPr>
          <a:lstStyle/>
          <a:p>
            <a:pPr algn="ctr"/>
            <a:r>
              <a:rPr lang="en-US" dirty="0" smtClean="0"/>
              <a:t>    	 </a:t>
            </a:r>
            <a:r>
              <a:rPr lang="en-US" sz="2200" b="1" dirty="0" smtClean="0">
                <a:latin typeface="Times New Roman" pitchFamily="18" charset="0"/>
                <a:cs typeface="Times New Roman" pitchFamily="18" charset="0"/>
              </a:rPr>
              <a:t>FINANCIAL ADMINISTRATION PROCESSES   BOTTLENECKS REGARDING PAYMENTS OF VARIOUS FEES SERVICING OF COMMITTEES IN THE UNIVERSITY: CHALLENGES AND WAY FORWARD IN PURCHASING OF OFFICIAL MATERIAL</a:t>
            </a:r>
            <a:r>
              <a:rPr lang="en-US" sz="2200" dirty="0" smtClean="0">
                <a:latin typeface="Times New Roman" pitchFamily="18" charset="0"/>
                <a:cs typeface="Times New Roman" pitchFamily="18" charset="0"/>
              </a:rPr>
              <a:t/>
            </a:r>
            <a:br>
              <a:rPr lang="en-US" sz="2200" dirty="0" smtClean="0">
                <a:latin typeface="Times New Roman" pitchFamily="18" charset="0"/>
                <a:cs typeface="Times New Roman" pitchFamily="18" charset="0"/>
              </a:rPr>
            </a:br>
            <a:endParaRPr lang="en-US" sz="2200" dirty="0"/>
          </a:p>
        </p:txBody>
      </p:sp>
      <p:sp>
        <p:nvSpPr>
          <p:cNvPr id="3" name="Content Placeholder 2"/>
          <p:cNvSpPr>
            <a:spLocks noGrp="1"/>
          </p:cNvSpPr>
          <p:nvPr>
            <p:ph sz="quarter" idx="1"/>
          </p:nvPr>
        </p:nvSpPr>
        <p:spPr>
          <a:xfrm>
            <a:off x="457200" y="1828800"/>
            <a:ext cx="8229600" cy="4495800"/>
          </a:xfrm>
        </p:spPr>
        <p:txBody>
          <a:bodyPr>
            <a:normAutofit fontScale="92500" lnSpcReduction="20000"/>
          </a:bodyPr>
          <a:lstStyle/>
          <a:p>
            <a:pPr>
              <a:buNone/>
            </a:pPr>
            <a:r>
              <a:rPr lang="en-US" dirty="0" smtClean="0"/>
              <a:t>	When the University receives the budget call, the Bursar, issues internal circular to the Department, Faculties and Units to submit their proposals. In all cases, there is close collaboration between the Bursar and the Director of Academic Planning who prepares personnel budget. The University then collates the proposals using guidelines provided by the NUC to ensure that its submission is in conformity with acceptable norms. The estimates are presented to the Development Committee, the Finance and General Purposes Committee and the University Council. The latter finally approves the University’s budget</a:t>
            </a:r>
            <a:r>
              <a:rPr lang="en-US" dirty="0" smtClean="0"/>
              <a:t>. It </a:t>
            </a:r>
            <a:r>
              <a:rPr lang="en-US" dirty="0" smtClean="0"/>
              <a:t>should be noted that is the responsibility of the Bursar to prepare the Operating budget of the University which must in turn be approved by the Council of University. When the budget is subsequently approved, the Bursar informs the University, Faculties and Department of its allocation. </a:t>
            </a:r>
          </a:p>
          <a:p>
            <a:pPr>
              <a:buNone/>
            </a:pPr>
            <a:endParaRPr lang="en-US" dirty="0" smtClean="0"/>
          </a:p>
          <a:p>
            <a:pPr>
              <a:buNone/>
            </a:pPr>
            <a:endParaRPr lang="en-US" dirty="0"/>
          </a:p>
        </p:txBody>
      </p:sp>
      <p:pic>
        <p:nvPicPr>
          <p:cNvPr id="26626" name="Picture 2" descr="C:\Users\AMIRA\Desktop\af.jpg"/>
          <p:cNvPicPr>
            <a:picLocks noChangeAspect="1" noChangeArrowheads="1"/>
          </p:cNvPicPr>
          <p:nvPr/>
        </p:nvPicPr>
        <p:blipFill>
          <a:blip r:embed="rId2"/>
          <a:srcRect/>
          <a:stretch>
            <a:fillRect/>
          </a:stretch>
        </p:blipFill>
        <p:spPr bwMode="auto">
          <a:xfrm>
            <a:off x="0" y="0"/>
            <a:ext cx="990600" cy="1524000"/>
          </a:xfrm>
          <a:prstGeom prst="rect">
            <a:avLst/>
          </a:prstGeom>
          <a:noFill/>
        </p:spPr>
      </p:pic>
      <p:sp>
        <p:nvSpPr>
          <p:cNvPr id="5" name="Title 1"/>
          <p:cNvSpPr txBox="1">
            <a:spLocks/>
          </p:cNvSpPr>
          <p:nvPr/>
        </p:nvSpPr>
        <p:spPr>
          <a:xfrm>
            <a:off x="990600" y="0"/>
            <a:ext cx="8153400" cy="1524000"/>
          </a:xfrm>
          <a:prstGeom prst="rect">
            <a:avLst/>
          </a:prstGeom>
        </p:spPr>
        <p:style>
          <a:lnRef idx="1">
            <a:schemeClr val="accent2"/>
          </a:lnRef>
          <a:fillRef idx="2">
            <a:schemeClr val="accent2"/>
          </a:fillRef>
          <a:effectRef idx="1">
            <a:schemeClr val="accent2"/>
          </a:effectRef>
          <a:fontRef idx="minor">
            <a:schemeClr val="dk1"/>
          </a:fontRef>
        </p:style>
        <p:txBody>
          <a:bodyPr vert="horz" anchor="b">
            <a:normAutofit fontScale="97500"/>
          </a:bodyPr>
          <a:lstStyle/>
          <a:p>
            <a:pPr algn="ctr">
              <a:spcBef>
                <a:spcPct val="0"/>
              </a:spcBef>
            </a:pPr>
            <a:r>
              <a:rPr kumimoji="0" lang="en-US" sz="3000" b="0" i="0" u="none" strike="noStrike" kern="1200" cap="small" spc="0" normalizeH="0" baseline="0" noProof="0" dirty="0" smtClean="0">
                <a:ln>
                  <a:noFill/>
                </a:ln>
                <a:solidFill>
                  <a:schemeClr val="dk1"/>
                </a:solidFill>
                <a:effectLst/>
                <a:uLnTx/>
                <a:uFillTx/>
                <a:latin typeface="+mn-lt"/>
                <a:ea typeface="+mn-ea"/>
                <a:cs typeface="+mn-cs"/>
              </a:rPr>
              <a:t>   </a:t>
            </a:r>
            <a:r>
              <a:rPr lang="en-US" sz="2800" b="1" dirty="0" smtClean="0"/>
              <a:t>EKITI STATE UNIVERSITY, ADO-EKITI</a:t>
            </a:r>
            <a:br>
              <a:rPr lang="en-US" sz="2800" b="1" dirty="0" smtClean="0"/>
            </a:br>
            <a:r>
              <a:rPr lang="en-US" sz="3200" b="1" dirty="0" smtClean="0"/>
              <a:t>ACADEMIC</a:t>
            </a:r>
            <a:r>
              <a:rPr lang="en-US" sz="5400" b="1" dirty="0" smtClean="0"/>
              <a:t> </a:t>
            </a:r>
            <a:r>
              <a:rPr lang="en-US" sz="3200" b="1" dirty="0" smtClean="0"/>
              <a:t>SUMMIT</a:t>
            </a:r>
            <a:endParaRPr lang="en-US" sz="3200" cap="small" dirty="0" smtClean="0"/>
          </a:p>
        </p:txBody>
      </p:sp>
      <p:sp>
        <p:nvSpPr>
          <p:cNvPr id="6" name="Slide Number Placeholder 5"/>
          <p:cNvSpPr>
            <a:spLocks noGrp="1"/>
          </p:cNvSpPr>
          <p:nvPr>
            <p:ph type="sldNum" sz="quarter" idx="15"/>
          </p:nvPr>
        </p:nvSpPr>
        <p:spPr/>
        <p:txBody>
          <a:bodyPr/>
          <a:lstStyle/>
          <a:p>
            <a:fld id="{B6F15528-21DE-4FAA-801E-634DDDAF4B2B}" type="slidenum">
              <a:rPr lang="en-US" smtClean="0"/>
              <a:pPr/>
              <a:t>28</a:t>
            </a:fld>
            <a:endParaRPr lang="en-US"/>
          </a:p>
        </p:txBody>
      </p:sp>
    </p:spTree>
  </p:cSld>
  <p:clrMapOvr>
    <a:masterClrMapping/>
  </p:clrMapOvr>
  <p:transition>
    <p:dissolve/>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143000"/>
          </a:xfrm>
          <a:ln>
            <a:solidFill>
              <a:schemeClr val="bg1"/>
            </a:solidFill>
          </a:ln>
        </p:spPr>
        <p:style>
          <a:lnRef idx="2">
            <a:schemeClr val="dk1"/>
          </a:lnRef>
          <a:fillRef idx="1">
            <a:schemeClr val="lt1"/>
          </a:fillRef>
          <a:effectRef idx="0">
            <a:schemeClr val="dk1"/>
          </a:effectRef>
          <a:fontRef idx="minor">
            <a:schemeClr val="dk1"/>
          </a:fontRef>
        </p:style>
        <p:txBody>
          <a:bodyPr>
            <a:normAutofit fontScale="90000"/>
          </a:bodyPr>
          <a:lstStyle/>
          <a:p>
            <a:pPr algn="ctr"/>
            <a:r>
              <a:rPr lang="en-US" dirty="0" smtClean="0"/>
              <a:t>     	 </a:t>
            </a:r>
            <a:r>
              <a:rPr lang="en-US" sz="2200" b="1" dirty="0" smtClean="0">
                <a:latin typeface="Times New Roman" pitchFamily="18" charset="0"/>
                <a:cs typeface="Times New Roman" pitchFamily="18" charset="0"/>
              </a:rPr>
              <a:t>FINANCIAL ADMINISTRATION PROCESSES   BOTTLENECKS REGARDING PAYMENTS OF VARIOUS FEES SERVICING OF COMMITTEES IN THE UNIVERSITY: CHALLENGES AND WAY FORWARD IN PURCHASING OF OFFICIAL MATERIAL</a:t>
            </a:r>
            <a:r>
              <a:rPr lang="en-US" sz="2200" dirty="0" smtClean="0">
                <a:latin typeface="Times New Roman" pitchFamily="18" charset="0"/>
                <a:cs typeface="Times New Roman" pitchFamily="18" charset="0"/>
              </a:rPr>
              <a:t/>
            </a:r>
            <a:br>
              <a:rPr lang="en-US" sz="2200" dirty="0" smtClean="0">
                <a:latin typeface="Times New Roman" pitchFamily="18" charset="0"/>
                <a:cs typeface="Times New Roman" pitchFamily="18" charset="0"/>
              </a:rPr>
            </a:br>
            <a:endParaRPr lang="en-US" sz="2200" dirty="0"/>
          </a:p>
        </p:txBody>
      </p:sp>
      <p:sp>
        <p:nvSpPr>
          <p:cNvPr id="3" name="Content Placeholder 2"/>
          <p:cNvSpPr>
            <a:spLocks noGrp="1"/>
          </p:cNvSpPr>
          <p:nvPr>
            <p:ph sz="quarter" idx="1"/>
          </p:nvPr>
        </p:nvSpPr>
        <p:spPr>
          <a:xfrm>
            <a:off x="381000" y="1600200"/>
            <a:ext cx="8229600" cy="4953000"/>
          </a:xfrm>
        </p:spPr>
        <p:txBody>
          <a:bodyPr>
            <a:normAutofit fontScale="92500" lnSpcReduction="10000"/>
          </a:bodyPr>
          <a:lstStyle/>
          <a:p>
            <a:pPr>
              <a:buNone/>
            </a:pPr>
            <a:r>
              <a:rPr lang="en-US" b="1" dirty="0" smtClean="0"/>
              <a:t>Budgetary Control</a:t>
            </a:r>
            <a:endParaRPr lang="en-US" dirty="0" smtClean="0"/>
          </a:p>
          <a:p>
            <a:pPr>
              <a:buNone/>
            </a:pPr>
            <a:r>
              <a:rPr lang="en-US" dirty="0" smtClean="0"/>
              <a:t>	One features of financial administration of a University which relates to the budget is Budgetary Control. This enables the Bursar to monitor expenditures and render monthly statements to responsible officers. Generally, for control purposes, the budget and the corresponding expenditures are grouped into Personal Emoluments. Other charges and capital from recurrent. For accountability, it is the responsibility of the Head of Department to:</a:t>
            </a:r>
          </a:p>
          <a:p>
            <a:pPr lvl="0">
              <a:buNone/>
            </a:pPr>
            <a:r>
              <a:rPr lang="en-US" dirty="0" smtClean="0"/>
              <a:t>	a. Control the expenditures of his particular unit.</a:t>
            </a:r>
          </a:p>
          <a:p>
            <a:pPr lvl="0">
              <a:buNone/>
            </a:pPr>
            <a:r>
              <a:rPr lang="en-US" dirty="0" smtClean="0"/>
              <a:t>	b. See that the particular budget account assigned to this expenditure is the correct account and that the funds are available.</a:t>
            </a:r>
          </a:p>
          <a:p>
            <a:pPr lvl="0">
              <a:buNone/>
            </a:pPr>
            <a:r>
              <a:rPr lang="en-US" dirty="0" smtClean="0"/>
              <a:t>	c. That no purchase order can be placed if the amount of the order exceeds the Departmental budget.</a:t>
            </a:r>
          </a:p>
          <a:p>
            <a:pPr lvl="0">
              <a:buNone/>
            </a:pPr>
            <a:endParaRPr lang="en-US" b="1" dirty="0" smtClean="0"/>
          </a:p>
        </p:txBody>
      </p:sp>
      <p:pic>
        <p:nvPicPr>
          <p:cNvPr id="27650" name="Picture 2" descr="C:\Users\AMIRA\Desktop\af.jpg"/>
          <p:cNvPicPr>
            <a:picLocks noChangeAspect="1" noChangeArrowheads="1"/>
          </p:cNvPicPr>
          <p:nvPr/>
        </p:nvPicPr>
        <p:blipFill>
          <a:blip r:embed="rId2"/>
          <a:srcRect/>
          <a:stretch>
            <a:fillRect/>
          </a:stretch>
        </p:blipFill>
        <p:spPr bwMode="auto">
          <a:xfrm>
            <a:off x="0" y="1"/>
            <a:ext cx="884320" cy="1676399"/>
          </a:xfrm>
          <a:prstGeom prst="rect">
            <a:avLst/>
          </a:prstGeom>
          <a:noFill/>
        </p:spPr>
      </p:pic>
      <p:sp>
        <p:nvSpPr>
          <p:cNvPr id="5" name="Title 1"/>
          <p:cNvSpPr txBox="1">
            <a:spLocks/>
          </p:cNvSpPr>
          <p:nvPr/>
        </p:nvSpPr>
        <p:spPr>
          <a:xfrm>
            <a:off x="914400" y="0"/>
            <a:ext cx="8229600" cy="1600200"/>
          </a:xfrm>
          <a:prstGeom prst="rect">
            <a:avLst/>
          </a:prstGeom>
        </p:spPr>
        <p:style>
          <a:lnRef idx="1">
            <a:schemeClr val="accent2"/>
          </a:lnRef>
          <a:fillRef idx="2">
            <a:schemeClr val="accent2"/>
          </a:fillRef>
          <a:effectRef idx="1">
            <a:schemeClr val="accent2"/>
          </a:effectRef>
          <a:fontRef idx="minor">
            <a:schemeClr val="dk1"/>
          </a:fontRef>
        </p:style>
        <p:txBody>
          <a:bodyPr vert="horz" anchor="b">
            <a:normAutofit fontScale="97500"/>
          </a:bodyPr>
          <a:lstStyle/>
          <a:p>
            <a:pPr algn="ctr">
              <a:spcBef>
                <a:spcPct val="0"/>
              </a:spcBef>
            </a:pPr>
            <a:r>
              <a:rPr kumimoji="0" lang="en-US" sz="3000" b="0" i="0" u="none" strike="noStrike" kern="1200" cap="small" spc="0" normalizeH="0" baseline="0" noProof="0" dirty="0" smtClean="0">
                <a:ln>
                  <a:noFill/>
                </a:ln>
                <a:solidFill>
                  <a:schemeClr val="dk1"/>
                </a:solidFill>
                <a:effectLst/>
                <a:uLnTx/>
                <a:uFillTx/>
                <a:latin typeface="+mn-lt"/>
                <a:ea typeface="+mn-ea"/>
                <a:cs typeface="+mn-cs"/>
              </a:rPr>
              <a:t>   </a:t>
            </a:r>
            <a:r>
              <a:rPr lang="en-US" sz="2800" b="1" dirty="0" smtClean="0"/>
              <a:t>EKITI STATE UNIVERSITY, ADO-EKITI</a:t>
            </a:r>
            <a:br>
              <a:rPr lang="en-US" sz="2800" b="1" dirty="0" smtClean="0"/>
            </a:br>
            <a:r>
              <a:rPr lang="en-US" sz="3200" b="1" dirty="0" smtClean="0"/>
              <a:t>ACADEMIC</a:t>
            </a:r>
            <a:r>
              <a:rPr lang="en-US" sz="5400" b="1" dirty="0" smtClean="0"/>
              <a:t> </a:t>
            </a:r>
            <a:r>
              <a:rPr lang="en-US" sz="3200" b="1" dirty="0" smtClean="0"/>
              <a:t>SUMMIT</a:t>
            </a:r>
            <a:endParaRPr lang="en-US" sz="3200" cap="small" dirty="0" smtClean="0"/>
          </a:p>
        </p:txBody>
      </p:sp>
      <p:sp>
        <p:nvSpPr>
          <p:cNvPr id="6" name="Slide Number Placeholder 5"/>
          <p:cNvSpPr>
            <a:spLocks noGrp="1"/>
          </p:cNvSpPr>
          <p:nvPr>
            <p:ph type="sldNum" sz="quarter" idx="15"/>
          </p:nvPr>
        </p:nvSpPr>
        <p:spPr/>
        <p:txBody>
          <a:bodyPr/>
          <a:lstStyle/>
          <a:p>
            <a:fld id="{B6F15528-21DE-4FAA-801E-634DDDAF4B2B}" type="slidenum">
              <a:rPr lang="en-US" smtClean="0"/>
              <a:pPr/>
              <a:t>29</a:t>
            </a:fld>
            <a:endParaRPr lang="en-US"/>
          </a:p>
        </p:txBody>
      </p:sp>
    </p:spTree>
  </p:cSld>
  <p:clrMapOvr>
    <a:masterClrMapping/>
  </p:clrMapOvr>
  <p:transition>
    <p:newsflash/>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295400"/>
            <a:ext cx="8229600" cy="1143000"/>
          </a:xfrm>
        </p:spPr>
        <p:txBody>
          <a:bodyPr>
            <a:normAutofit fontScale="90000"/>
          </a:bodyPr>
          <a:lstStyle/>
          <a:p>
            <a:pPr algn="ctr"/>
            <a:r>
              <a:rPr lang="en-US" sz="2200" b="1" dirty="0" smtClean="0">
                <a:latin typeface="Times New Roman" pitchFamily="18" charset="0"/>
                <a:cs typeface="Times New Roman" pitchFamily="18" charset="0"/>
              </a:rPr>
              <a:t>	FINANCIAL ADMINISTRATION PROCESSES   BOTTLENECKS REGARDING PAYMENTS OF VARIOUS FEES SERVICING OF COMMITTEES IN THE UNIVERSITY: CHALLENGES AND WAY FORWARD IN PURCHASING OF OFFICIAL MATERIAL</a:t>
            </a:r>
            <a:r>
              <a:rPr lang="en-US" sz="2200" dirty="0" smtClean="0">
                <a:latin typeface="Times New Roman" pitchFamily="18" charset="0"/>
                <a:cs typeface="Times New Roman" pitchFamily="18" charset="0"/>
              </a:rPr>
              <a:t/>
            </a:r>
            <a:br>
              <a:rPr lang="en-US" sz="2200" dirty="0" smtClean="0">
                <a:latin typeface="Times New Roman" pitchFamily="18" charset="0"/>
                <a:cs typeface="Times New Roman" pitchFamily="18" charset="0"/>
              </a:rPr>
            </a:br>
            <a:r>
              <a:rPr lang="en-US" dirty="0" smtClean="0"/>
              <a:t/>
            </a:r>
            <a:br>
              <a:rPr lang="en-US" dirty="0" smtClean="0"/>
            </a:br>
            <a:endParaRPr lang="en-US" dirty="0"/>
          </a:p>
        </p:txBody>
      </p:sp>
      <p:sp>
        <p:nvSpPr>
          <p:cNvPr id="3" name="Content Placeholder 2"/>
          <p:cNvSpPr>
            <a:spLocks noGrp="1"/>
          </p:cNvSpPr>
          <p:nvPr>
            <p:ph sz="quarter" idx="1"/>
          </p:nvPr>
        </p:nvSpPr>
        <p:spPr>
          <a:xfrm>
            <a:off x="457200" y="1752600"/>
            <a:ext cx="8229600" cy="4648200"/>
          </a:xfrm>
        </p:spPr>
        <p:txBody>
          <a:bodyPr>
            <a:normAutofit fontScale="92500" lnSpcReduction="20000"/>
          </a:bodyPr>
          <a:lstStyle/>
          <a:p>
            <a:pPr>
              <a:buNone/>
            </a:pPr>
            <a:r>
              <a:rPr lang="en-US" dirty="0" smtClean="0"/>
              <a:t>	At this junction, it is necessary to emphasize on Cash and Expenditure Control in the University. Cash control relates to the strings of coordinated actions that must be undertaken in other to ensure that all monies due to the University are collected on a timely basis, so that fraud and financial misappropriations are prevented. Its objective is to ensure that funds are not </a:t>
            </a:r>
            <a:r>
              <a:rPr lang="en-US" dirty="0" err="1" smtClean="0"/>
              <a:t>mis</a:t>
            </a:r>
            <a:r>
              <a:rPr lang="en-US" dirty="0" smtClean="0"/>
              <a:t>-managed.</a:t>
            </a:r>
          </a:p>
          <a:p>
            <a:pPr>
              <a:buNone/>
            </a:pPr>
            <a:r>
              <a:rPr lang="en-US" dirty="0" smtClean="0"/>
              <a:t>	By expenditure control we mean strings of coordinated actions that must be embarked upon to ensure that all expenditure are wholly, necessarily reasonably and exclusively incurred for the purpose for which they are meant for and in line with the budget and also to ensure that there are no over-budgetary spending. That is why we have to chip in the issue of attachment of Fund Request Form on every fund request memos in the University.</a:t>
            </a:r>
          </a:p>
          <a:p>
            <a:pPr lvl="0">
              <a:buNone/>
            </a:pPr>
            <a:endParaRPr lang="en-US" dirty="0"/>
          </a:p>
        </p:txBody>
      </p:sp>
      <p:pic>
        <p:nvPicPr>
          <p:cNvPr id="28674" name="Picture 2" descr="C:\Users\AMIRA\Desktop\af.jpg"/>
          <p:cNvPicPr>
            <a:picLocks noChangeAspect="1" noChangeArrowheads="1"/>
          </p:cNvPicPr>
          <p:nvPr/>
        </p:nvPicPr>
        <p:blipFill>
          <a:blip r:embed="rId2"/>
          <a:srcRect/>
          <a:stretch>
            <a:fillRect/>
          </a:stretch>
        </p:blipFill>
        <p:spPr bwMode="auto">
          <a:xfrm>
            <a:off x="1" y="1"/>
            <a:ext cx="914400" cy="1600199"/>
          </a:xfrm>
          <a:prstGeom prst="rect">
            <a:avLst/>
          </a:prstGeom>
          <a:noFill/>
        </p:spPr>
      </p:pic>
      <p:sp>
        <p:nvSpPr>
          <p:cNvPr id="5" name="Title 1"/>
          <p:cNvSpPr txBox="1">
            <a:spLocks/>
          </p:cNvSpPr>
          <p:nvPr/>
        </p:nvSpPr>
        <p:spPr>
          <a:xfrm>
            <a:off x="914400" y="0"/>
            <a:ext cx="8229600" cy="1600200"/>
          </a:xfrm>
          <a:prstGeom prst="rect">
            <a:avLst/>
          </a:prstGeom>
        </p:spPr>
        <p:style>
          <a:lnRef idx="1">
            <a:schemeClr val="accent2"/>
          </a:lnRef>
          <a:fillRef idx="2">
            <a:schemeClr val="accent2"/>
          </a:fillRef>
          <a:effectRef idx="1">
            <a:schemeClr val="accent2"/>
          </a:effectRef>
          <a:fontRef idx="minor">
            <a:schemeClr val="dk1"/>
          </a:fontRef>
        </p:style>
        <p:txBody>
          <a:bodyPr vert="horz" anchor="b">
            <a:normAutofit fontScale="97500"/>
          </a:bodyPr>
          <a:lstStyle/>
          <a:p>
            <a:pPr algn="ctr">
              <a:spcBef>
                <a:spcPct val="0"/>
              </a:spcBef>
            </a:pPr>
            <a:r>
              <a:rPr kumimoji="0" lang="en-US" sz="3000" b="0" i="0" u="none" strike="noStrike" kern="1200" cap="small" spc="0" normalizeH="0" baseline="0" noProof="0" dirty="0" smtClean="0">
                <a:ln>
                  <a:noFill/>
                </a:ln>
                <a:solidFill>
                  <a:schemeClr val="dk1"/>
                </a:solidFill>
                <a:effectLst/>
                <a:uLnTx/>
                <a:uFillTx/>
                <a:latin typeface="+mn-lt"/>
                <a:ea typeface="+mn-ea"/>
                <a:cs typeface="+mn-cs"/>
              </a:rPr>
              <a:t>   	 </a:t>
            </a:r>
            <a:r>
              <a:rPr lang="en-US" sz="2400" b="1" dirty="0" smtClean="0"/>
              <a:t>EKITI STATE UNIVERSITY, ADO-EKITI</a:t>
            </a:r>
            <a:br>
              <a:rPr lang="en-US" sz="2400" b="1" dirty="0" smtClean="0"/>
            </a:br>
            <a:r>
              <a:rPr lang="en-US" sz="2800" b="1" dirty="0" smtClean="0"/>
              <a:t>ACADEMIC</a:t>
            </a:r>
            <a:r>
              <a:rPr lang="en-US" sz="4800" b="1" dirty="0" smtClean="0"/>
              <a:t> </a:t>
            </a:r>
            <a:r>
              <a:rPr lang="en-US" sz="2800" b="1" dirty="0" smtClean="0"/>
              <a:t>SUMMIT</a:t>
            </a:r>
            <a:endParaRPr lang="en-US" sz="2800" cap="small" dirty="0" smtClean="0"/>
          </a:p>
        </p:txBody>
      </p:sp>
      <p:sp>
        <p:nvSpPr>
          <p:cNvPr id="6" name="Slide Number Placeholder 5"/>
          <p:cNvSpPr>
            <a:spLocks noGrp="1"/>
          </p:cNvSpPr>
          <p:nvPr>
            <p:ph type="sldNum" sz="quarter" idx="15"/>
          </p:nvPr>
        </p:nvSpPr>
        <p:spPr/>
        <p:txBody>
          <a:bodyPr/>
          <a:lstStyle/>
          <a:p>
            <a:fld id="{B6F15528-21DE-4FAA-801E-634DDDAF4B2B}" type="slidenum">
              <a:rPr lang="en-US" smtClean="0"/>
              <a:pPr/>
              <a:t>30</a:t>
            </a:fld>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1143000"/>
          </a:xfrm>
        </p:spPr>
        <p:txBody>
          <a:bodyPr>
            <a:normAutofit fontScale="90000"/>
          </a:bodyPr>
          <a:lstStyle/>
          <a:p>
            <a:pPr algn="ctr"/>
            <a:r>
              <a:rPr lang="en-US" dirty="0" smtClean="0"/>
              <a:t>        </a:t>
            </a:r>
            <a:r>
              <a:rPr lang="en-US" sz="2200" b="1" dirty="0" smtClean="0">
                <a:latin typeface="Times New Roman" pitchFamily="18" charset="0"/>
                <a:cs typeface="Times New Roman" pitchFamily="18" charset="0"/>
              </a:rPr>
              <a:t>FINANCIAL ADMINISTRATION PROCESSES   BOTTLENECKS REGARDING PAYMENTS OF VARIOUS FEES SERVICING OF COMMITTEES IN THE UNIVERSITY: CHALLENGES AND WAY FORWARD IN PURCHASING OF OFFICIAL MATERIAL</a:t>
            </a:r>
            <a:r>
              <a:rPr lang="en-US" sz="2200" dirty="0" smtClean="0">
                <a:latin typeface="Times New Roman" pitchFamily="18" charset="0"/>
                <a:cs typeface="Times New Roman" pitchFamily="18" charset="0"/>
              </a:rPr>
              <a:t/>
            </a:r>
            <a:br>
              <a:rPr lang="en-US" sz="2200" dirty="0" smtClean="0">
                <a:latin typeface="Times New Roman" pitchFamily="18" charset="0"/>
                <a:cs typeface="Times New Roman" pitchFamily="18" charset="0"/>
              </a:rPr>
            </a:br>
            <a:endParaRPr lang="en-US" sz="2200" dirty="0"/>
          </a:p>
        </p:txBody>
      </p:sp>
      <p:sp>
        <p:nvSpPr>
          <p:cNvPr id="3" name="Content Placeholder 2"/>
          <p:cNvSpPr>
            <a:spLocks noGrp="1"/>
          </p:cNvSpPr>
          <p:nvPr>
            <p:ph sz="quarter" idx="1"/>
          </p:nvPr>
        </p:nvSpPr>
        <p:spPr>
          <a:xfrm>
            <a:off x="457200" y="1828800"/>
            <a:ext cx="8229600" cy="4495800"/>
          </a:xfrm>
        </p:spPr>
        <p:txBody>
          <a:bodyPr>
            <a:normAutofit/>
          </a:bodyPr>
          <a:lstStyle/>
          <a:p>
            <a:pPr>
              <a:buNone/>
            </a:pPr>
            <a:r>
              <a:rPr lang="en-US" dirty="0" smtClean="0"/>
              <a:t>	The Fund Request Form (FRF) becomes very important as the University Community should realize the important of this form, while requesting for fund, because the form is an eye opener to the University showing us where you intend to spend money as an individual/Faculty/Department and Unit, affirming that there is budgetary provision for your expenditure head and if there are money left in that vote.</a:t>
            </a:r>
          </a:p>
          <a:p>
            <a:pPr>
              <a:buNone/>
            </a:pPr>
            <a:endParaRPr lang="en-US" dirty="0"/>
          </a:p>
        </p:txBody>
      </p:sp>
      <p:pic>
        <p:nvPicPr>
          <p:cNvPr id="29698" name="Picture 2" descr="C:\Users\AMIRA\Desktop\af.jpg"/>
          <p:cNvPicPr>
            <a:picLocks noChangeAspect="1" noChangeArrowheads="1"/>
          </p:cNvPicPr>
          <p:nvPr/>
        </p:nvPicPr>
        <p:blipFill>
          <a:blip r:embed="rId2"/>
          <a:srcRect/>
          <a:stretch>
            <a:fillRect/>
          </a:stretch>
        </p:blipFill>
        <p:spPr bwMode="auto">
          <a:xfrm>
            <a:off x="152400" y="76201"/>
            <a:ext cx="754498" cy="1523999"/>
          </a:xfrm>
          <a:prstGeom prst="rect">
            <a:avLst/>
          </a:prstGeom>
          <a:noFill/>
        </p:spPr>
      </p:pic>
      <p:sp>
        <p:nvSpPr>
          <p:cNvPr id="5" name="Title 1"/>
          <p:cNvSpPr txBox="1">
            <a:spLocks/>
          </p:cNvSpPr>
          <p:nvPr/>
        </p:nvSpPr>
        <p:spPr>
          <a:xfrm>
            <a:off x="914400" y="0"/>
            <a:ext cx="8229600" cy="1600200"/>
          </a:xfrm>
          <a:prstGeom prst="rect">
            <a:avLst/>
          </a:prstGeom>
        </p:spPr>
        <p:style>
          <a:lnRef idx="1">
            <a:schemeClr val="accent2"/>
          </a:lnRef>
          <a:fillRef idx="2">
            <a:schemeClr val="accent2"/>
          </a:fillRef>
          <a:effectRef idx="1">
            <a:schemeClr val="accent2"/>
          </a:effectRef>
          <a:fontRef idx="minor">
            <a:schemeClr val="dk1"/>
          </a:fontRef>
        </p:style>
        <p:txBody>
          <a:bodyPr vert="horz" anchor="b">
            <a:normAutofit fontScale="97500"/>
          </a:bodyPr>
          <a:lstStyle/>
          <a:p>
            <a:pPr algn="ctr">
              <a:spcBef>
                <a:spcPct val="0"/>
              </a:spcBef>
            </a:pPr>
            <a:r>
              <a:rPr kumimoji="0" lang="en-US" sz="3000" b="0" i="0" u="none" strike="noStrike" kern="1200" cap="small" spc="0" normalizeH="0" baseline="0" noProof="0" dirty="0" smtClean="0">
                <a:ln>
                  <a:noFill/>
                </a:ln>
                <a:solidFill>
                  <a:schemeClr val="dk1"/>
                </a:solidFill>
                <a:effectLst/>
                <a:uLnTx/>
                <a:uFillTx/>
                <a:latin typeface="+mn-lt"/>
                <a:ea typeface="+mn-ea"/>
                <a:cs typeface="+mn-cs"/>
              </a:rPr>
              <a:t>   </a:t>
            </a:r>
            <a:r>
              <a:rPr lang="en-US" sz="2800" b="1" dirty="0" smtClean="0"/>
              <a:t>EKITI STATE UNIVERSITY, ADO-EKITI</a:t>
            </a:r>
            <a:br>
              <a:rPr lang="en-US" sz="2800" b="1" dirty="0" smtClean="0"/>
            </a:br>
            <a:r>
              <a:rPr lang="en-US" sz="3200" b="1" dirty="0" smtClean="0"/>
              <a:t>ACADEMIC</a:t>
            </a:r>
            <a:r>
              <a:rPr lang="en-US" sz="5400" b="1" dirty="0" smtClean="0"/>
              <a:t> </a:t>
            </a:r>
            <a:r>
              <a:rPr lang="en-US" sz="3200" b="1" dirty="0" smtClean="0"/>
              <a:t>SUMMIT</a:t>
            </a:r>
            <a:endParaRPr lang="en-US" sz="3200" cap="small" dirty="0" smtClean="0"/>
          </a:p>
        </p:txBody>
      </p:sp>
      <p:sp>
        <p:nvSpPr>
          <p:cNvPr id="6" name="Slide Number Placeholder 5"/>
          <p:cNvSpPr>
            <a:spLocks noGrp="1"/>
          </p:cNvSpPr>
          <p:nvPr>
            <p:ph type="sldNum" sz="quarter" idx="15"/>
          </p:nvPr>
        </p:nvSpPr>
        <p:spPr/>
        <p:txBody>
          <a:bodyPr/>
          <a:lstStyle/>
          <a:p>
            <a:fld id="{B6F15528-21DE-4FAA-801E-634DDDAF4B2B}" type="slidenum">
              <a:rPr lang="en-US" smtClean="0"/>
              <a:pPr/>
              <a:t>31</a:t>
            </a:fld>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1143000"/>
          </a:xfrm>
        </p:spPr>
        <p:txBody>
          <a:bodyPr>
            <a:noAutofit/>
          </a:bodyPr>
          <a:lstStyle/>
          <a:p>
            <a:pPr algn="ctr"/>
            <a:r>
              <a:rPr lang="en-US" sz="2000" dirty="0" smtClean="0"/>
              <a:t>     	</a:t>
            </a:r>
            <a:r>
              <a:rPr lang="en-US" sz="2000" b="1" dirty="0" smtClean="0">
                <a:latin typeface="Times New Roman" pitchFamily="18" charset="0"/>
                <a:cs typeface="Times New Roman" pitchFamily="18" charset="0"/>
              </a:rPr>
              <a:t>FINANCIAL ADMINISTRATION PROCESSES   BOTTLENECKS REGARDING PAYMENTS OF VARIOUS FEES SERVICING OF COMMITTEES IN THE UNIVERSITY: CHALLENGES AND WAY FORWARD IN PURCHASING OF OFFICIAL MATERIAL</a:t>
            </a:r>
            <a:r>
              <a:rPr lang="en-US" sz="2000" dirty="0" smtClean="0">
                <a:latin typeface="Times New Roman" pitchFamily="18" charset="0"/>
                <a:cs typeface="Times New Roman" pitchFamily="18" charset="0"/>
              </a:rPr>
              <a:t/>
            </a:r>
            <a:br>
              <a:rPr lang="en-US" sz="2000" dirty="0" smtClean="0">
                <a:latin typeface="Times New Roman" pitchFamily="18" charset="0"/>
                <a:cs typeface="Times New Roman" pitchFamily="18" charset="0"/>
              </a:rPr>
            </a:br>
            <a:endParaRPr lang="en-US" sz="2000" dirty="0"/>
          </a:p>
        </p:txBody>
      </p:sp>
      <p:sp>
        <p:nvSpPr>
          <p:cNvPr id="3" name="Content Placeholder 2"/>
          <p:cNvSpPr>
            <a:spLocks noGrp="1"/>
          </p:cNvSpPr>
          <p:nvPr>
            <p:ph sz="quarter" idx="1"/>
          </p:nvPr>
        </p:nvSpPr>
        <p:spPr>
          <a:xfrm>
            <a:off x="457200" y="1905000"/>
            <a:ext cx="8229600" cy="4800600"/>
          </a:xfrm>
        </p:spPr>
        <p:txBody>
          <a:bodyPr>
            <a:normAutofit fontScale="25000" lnSpcReduction="20000"/>
          </a:bodyPr>
          <a:lstStyle/>
          <a:p>
            <a:pPr lvl="1">
              <a:buNone/>
            </a:pPr>
            <a:r>
              <a:rPr lang="en-US" sz="9600" b="1" dirty="0" smtClean="0"/>
              <a:t>Control over Pay-Slip Register for all Staff </a:t>
            </a:r>
          </a:p>
          <a:p>
            <a:pPr lvl="1">
              <a:buNone/>
            </a:pPr>
            <a:r>
              <a:rPr lang="en-US" sz="9600" b="1" dirty="0" smtClean="0"/>
              <a:t>including Cash Advance Debtors </a:t>
            </a:r>
            <a:endParaRPr lang="en-US" sz="9600" dirty="0" smtClean="0"/>
          </a:p>
          <a:p>
            <a:r>
              <a:rPr lang="en-US" sz="9200" dirty="0" smtClean="0">
                <a:latin typeface="Times New Roman" pitchFamily="18" charset="0"/>
                <a:cs typeface="Times New Roman" pitchFamily="18" charset="0"/>
              </a:rPr>
              <a:t>As part of control measures, it is considered necessary to intimate every staff of the following information, including those that have taken Cash Advances to service Committee meetings:</a:t>
            </a:r>
          </a:p>
          <a:p>
            <a:pPr lvl="0"/>
            <a:r>
              <a:rPr lang="en-US" sz="9200" dirty="0" smtClean="0">
                <a:latin typeface="Times New Roman" pitchFamily="18" charset="0"/>
                <a:cs typeface="Times New Roman" pitchFamily="18" charset="0"/>
              </a:rPr>
              <a:t>The pay slip registers are always ready in the Payroll Unit for collection immediately alert is received of the payment of such salary. The respective Faculties/Units are therefore expected to come and collect theirs.</a:t>
            </a:r>
          </a:p>
          <a:p>
            <a:pPr lvl="0"/>
            <a:r>
              <a:rPr lang="en-US" sz="9200" dirty="0" smtClean="0">
                <a:latin typeface="Times New Roman" pitchFamily="18" charset="0"/>
                <a:cs typeface="Times New Roman" pitchFamily="18" charset="0"/>
              </a:rPr>
              <a:t>The registers are to be signed and returned, one week (5 days) after salary is paid. This is to facilitate further necessary work on them toward preparation of the following month’s salary. A report of those who did not sign should accompany the signed register when returning them.</a:t>
            </a:r>
          </a:p>
          <a:p>
            <a:pPr marL="0" lvl="0" indent="0">
              <a:buNone/>
            </a:pPr>
            <a:endParaRPr lang="en-US" sz="8000" dirty="0">
              <a:latin typeface="Times New Roman" pitchFamily="18" charset="0"/>
              <a:cs typeface="Times New Roman" pitchFamily="18" charset="0"/>
            </a:endParaRPr>
          </a:p>
        </p:txBody>
      </p:sp>
      <p:pic>
        <p:nvPicPr>
          <p:cNvPr id="30722" name="Picture 2" descr="C:\Users\AMIRA\Desktop\af.jpg"/>
          <p:cNvPicPr>
            <a:picLocks noChangeAspect="1" noChangeArrowheads="1"/>
          </p:cNvPicPr>
          <p:nvPr/>
        </p:nvPicPr>
        <p:blipFill>
          <a:blip r:embed="rId2"/>
          <a:srcRect/>
          <a:stretch>
            <a:fillRect/>
          </a:stretch>
        </p:blipFill>
        <p:spPr bwMode="auto">
          <a:xfrm>
            <a:off x="1" y="1"/>
            <a:ext cx="990599" cy="1676399"/>
          </a:xfrm>
          <a:prstGeom prst="rect">
            <a:avLst/>
          </a:prstGeom>
          <a:noFill/>
        </p:spPr>
      </p:pic>
      <p:sp>
        <p:nvSpPr>
          <p:cNvPr id="5" name="Title 1"/>
          <p:cNvSpPr txBox="1">
            <a:spLocks/>
          </p:cNvSpPr>
          <p:nvPr/>
        </p:nvSpPr>
        <p:spPr>
          <a:xfrm>
            <a:off x="990600" y="0"/>
            <a:ext cx="8153400" cy="1600200"/>
          </a:xfrm>
          <a:prstGeom prst="rect">
            <a:avLst/>
          </a:prstGeom>
        </p:spPr>
        <p:style>
          <a:lnRef idx="1">
            <a:schemeClr val="accent2"/>
          </a:lnRef>
          <a:fillRef idx="2">
            <a:schemeClr val="accent2"/>
          </a:fillRef>
          <a:effectRef idx="1">
            <a:schemeClr val="accent2"/>
          </a:effectRef>
          <a:fontRef idx="minor">
            <a:schemeClr val="dk1"/>
          </a:fontRef>
        </p:style>
        <p:txBody>
          <a:bodyPr vert="horz" anchor="b">
            <a:normAutofit fontScale="97500"/>
          </a:bodyPr>
          <a:lstStyle/>
          <a:p>
            <a:pPr algn="ctr">
              <a:spcBef>
                <a:spcPct val="0"/>
              </a:spcBef>
            </a:pPr>
            <a:r>
              <a:rPr kumimoji="0" lang="en-US" sz="3000" b="0" i="0" u="none" strike="noStrike" kern="1200" cap="small" spc="0" normalizeH="0" baseline="0" noProof="0" dirty="0" smtClean="0">
                <a:ln>
                  <a:noFill/>
                </a:ln>
                <a:solidFill>
                  <a:schemeClr val="dk1"/>
                </a:solidFill>
                <a:effectLst/>
                <a:uLnTx/>
                <a:uFillTx/>
                <a:latin typeface="+mn-lt"/>
                <a:ea typeface="+mn-ea"/>
                <a:cs typeface="+mn-cs"/>
              </a:rPr>
              <a:t>   	 </a:t>
            </a:r>
            <a:r>
              <a:rPr lang="en-US" sz="2400" b="1" dirty="0" smtClean="0"/>
              <a:t>EKITI STATE UNIVERSITY, ADO-EKITI</a:t>
            </a:r>
            <a:br>
              <a:rPr lang="en-US" sz="2400" b="1" dirty="0" smtClean="0"/>
            </a:br>
            <a:r>
              <a:rPr lang="en-US" sz="2800" b="1" dirty="0" smtClean="0"/>
              <a:t>ACADEMIC</a:t>
            </a:r>
            <a:r>
              <a:rPr lang="en-US" sz="4800" b="1" dirty="0" smtClean="0"/>
              <a:t> </a:t>
            </a:r>
            <a:r>
              <a:rPr lang="en-US" sz="2800" b="1" dirty="0" smtClean="0"/>
              <a:t>SUMMIT</a:t>
            </a:r>
            <a:endParaRPr lang="en-US" sz="2800" cap="small" dirty="0" smtClean="0"/>
          </a:p>
        </p:txBody>
      </p:sp>
      <p:sp>
        <p:nvSpPr>
          <p:cNvPr id="6" name="Slide Number Placeholder 5"/>
          <p:cNvSpPr>
            <a:spLocks noGrp="1"/>
          </p:cNvSpPr>
          <p:nvPr>
            <p:ph type="sldNum" sz="quarter" idx="15"/>
          </p:nvPr>
        </p:nvSpPr>
        <p:spPr/>
        <p:txBody>
          <a:bodyPr/>
          <a:lstStyle/>
          <a:p>
            <a:fld id="{B6F15528-21DE-4FAA-801E-634DDDAF4B2B}" type="slidenum">
              <a:rPr lang="en-US" smtClean="0"/>
              <a:pPr/>
              <a:t>32</a:t>
            </a:fld>
            <a:endParaRPr lang="en-US"/>
          </a:p>
        </p:txBody>
      </p:sp>
    </p:spTree>
  </p:cSld>
  <p:clrMapOvr>
    <a:masterClrMapping/>
  </p:clrMapOvr>
  <p:transition>
    <p:wipe dir="d"/>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0"/>
            <a:ext cx="8229600" cy="1143000"/>
          </a:xfrm>
        </p:spPr>
        <p:txBody>
          <a:bodyPr>
            <a:normAutofit fontScale="90000"/>
          </a:bodyPr>
          <a:lstStyle/>
          <a:p>
            <a:pPr algn="ctr"/>
            <a:r>
              <a:rPr lang="en-US" dirty="0" smtClean="0"/>
              <a:t>    	 </a:t>
            </a:r>
            <a:r>
              <a:rPr lang="en-US" sz="2200" b="1" dirty="0" smtClean="0">
                <a:latin typeface="Times New Roman" pitchFamily="18" charset="0"/>
                <a:cs typeface="Times New Roman" pitchFamily="18" charset="0"/>
              </a:rPr>
              <a:t>FINANCIAL ADMINISTRATION PROCESSES   BOTTLENECKS REGARDING PAYMENTS OF VARIOUS FEES SERVICING OF COMMITTEES IN THE UNIVERSITY: CHALLENGES AND WAY FORWARD IN PURCHASING OF OFFICIAL MATERIAL</a:t>
            </a:r>
            <a:r>
              <a:rPr lang="en-US" sz="2200" dirty="0" smtClean="0">
                <a:latin typeface="Times New Roman" pitchFamily="18" charset="0"/>
                <a:cs typeface="Times New Roman" pitchFamily="18" charset="0"/>
              </a:rPr>
              <a:t/>
            </a:r>
            <a:br>
              <a:rPr lang="en-US" sz="2200" dirty="0" smtClean="0">
                <a:latin typeface="Times New Roman" pitchFamily="18" charset="0"/>
                <a:cs typeface="Times New Roman" pitchFamily="18" charset="0"/>
              </a:rPr>
            </a:br>
            <a:endParaRPr lang="en-US" sz="2200" dirty="0"/>
          </a:p>
        </p:txBody>
      </p:sp>
      <p:sp>
        <p:nvSpPr>
          <p:cNvPr id="3" name="Content Placeholder 2"/>
          <p:cNvSpPr>
            <a:spLocks noGrp="1"/>
          </p:cNvSpPr>
          <p:nvPr>
            <p:ph sz="quarter" idx="1"/>
          </p:nvPr>
        </p:nvSpPr>
        <p:spPr>
          <a:xfrm>
            <a:off x="457200" y="1752600"/>
            <a:ext cx="8229600" cy="4724400"/>
          </a:xfrm>
        </p:spPr>
        <p:txBody>
          <a:bodyPr>
            <a:normAutofit lnSpcReduction="10000"/>
          </a:bodyPr>
          <a:lstStyle/>
          <a:p>
            <a:pPr lvl="0">
              <a:buNone/>
            </a:pPr>
            <a:r>
              <a:rPr lang="en-US" dirty="0" smtClean="0"/>
              <a:t>	</a:t>
            </a:r>
          </a:p>
          <a:p>
            <a:pPr lvl="0"/>
            <a:r>
              <a:rPr lang="en-US" dirty="0">
                <a:latin typeface="Times New Roman" pitchFamily="18" charset="0"/>
                <a:cs typeface="Times New Roman" pitchFamily="18" charset="0"/>
              </a:rPr>
              <a:t>Signing by </a:t>
            </a:r>
            <a:r>
              <a:rPr lang="en-US" b="1" dirty="0">
                <a:latin typeface="Times New Roman" pitchFamily="18" charset="0"/>
                <a:cs typeface="Times New Roman" pitchFamily="18" charset="0"/>
              </a:rPr>
              <a:t>proxy</a:t>
            </a:r>
            <a:r>
              <a:rPr lang="en-US" dirty="0">
                <a:latin typeface="Times New Roman" pitchFamily="18" charset="0"/>
                <a:cs typeface="Times New Roman" pitchFamily="18" charset="0"/>
              </a:rPr>
              <a:t> is </a:t>
            </a:r>
            <a:r>
              <a:rPr lang="en-US" b="1" dirty="0">
                <a:latin typeface="Times New Roman" pitchFamily="18" charset="0"/>
                <a:cs typeface="Times New Roman" pitchFamily="18" charset="0"/>
              </a:rPr>
              <a:t>not</a:t>
            </a:r>
            <a:r>
              <a:rPr lang="en-US" dirty="0">
                <a:latin typeface="Times New Roman" pitchFamily="18" charset="0"/>
                <a:cs typeface="Times New Roman" pitchFamily="18" charset="0"/>
              </a:rPr>
              <a:t> allowed, but for cases of staff who are on approved leave (e.g. sabbatical leave, study leave, maternity leave etc.), it should be so indicated against the names of affected staff on the register.</a:t>
            </a:r>
          </a:p>
          <a:p>
            <a:r>
              <a:rPr lang="en-US" dirty="0">
                <a:latin typeface="Times New Roman" pitchFamily="18" charset="0"/>
                <a:cs typeface="Times New Roman" pitchFamily="18" charset="0"/>
              </a:rPr>
              <a:t>Any staff that fails to sign the register, his/her salary will be stopped at bank. If such continues for three months, preparation of the staff’s salary will stop</a:t>
            </a:r>
            <a:endParaRPr lang="en-US" dirty="0"/>
          </a:p>
          <a:p>
            <a:pPr lvl="0"/>
            <a:r>
              <a:rPr lang="en-US" dirty="0" smtClean="0">
                <a:latin typeface="Times New Roman" panose="02020603050405020304" pitchFamily="18" charset="0"/>
                <a:cs typeface="Times New Roman" panose="02020603050405020304" pitchFamily="18" charset="0"/>
              </a:rPr>
              <a:t>The Accounting Officer of each Faculty or Unit (e.g. Provost, Dean etc.) is expected to endorse the signed registers before they are returned</a:t>
            </a:r>
            <a:r>
              <a:rPr lang="en-US" dirty="0" smtClean="0"/>
              <a:t>.</a:t>
            </a:r>
          </a:p>
          <a:p>
            <a:pPr>
              <a:buNone/>
            </a:pPr>
            <a:r>
              <a:rPr lang="en-US" dirty="0" smtClean="0"/>
              <a:t>	</a:t>
            </a:r>
            <a:endParaRPr lang="en-US" dirty="0"/>
          </a:p>
        </p:txBody>
      </p:sp>
      <p:pic>
        <p:nvPicPr>
          <p:cNvPr id="31746" name="Picture 2" descr="C:\Users\AMIRA\Desktop\af.jpg"/>
          <p:cNvPicPr>
            <a:picLocks noChangeAspect="1" noChangeArrowheads="1"/>
          </p:cNvPicPr>
          <p:nvPr/>
        </p:nvPicPr>
        <p:blipFill>
          <a:blip r:embed="rId2"/>
          <a:srcRect/>
          <a:stretch>
            <a:fillRect/>
          </a:stretch>
        </p:blipFill>
        <p:spPr bwMode="auto">
          <a:xfrm>
            <a:off x="0" y="0"/>
            <a:ext cx="913157" cy="1524000"/>
          </a:xfrm>
          <a:prstGeom prst="rect">
            <a:avLst/>
          </a:prstGeom>
          <a:noFill/>
        </p:spPr>
      </p:pic>
      <p:sp>
        <p:nvSpPr>
          <p:cNvPr id="5" name="Title 1"/>
          <p:cNvSpPr txBox="1">
            <a:spLocks/>
          </p:cNvSpPr>
          <p:nvPr/>
        </p:nvSpPr>
        <p:spPr>
          <a:xfrm>
            <a:off x="914400" y="0"/>
            <a:ext cx="8229600" cy="1524000"/>
          </a:xfrm>
          <a:prstGeom prst="rect">
            <a:avLst/>
          </a:prstGeom>
        </p:spPr>
        <p:style>
          <a:lnRef idx="1">
            <a:schemeClr val="accent2"/>
          </a:lnRef>
          <a:fillRef idx="2">
            <a:schemeClr val="accent2"/>
          </a:fillRef>
          <a:effectRef idx="1">
            <a:schemeClr val="accent2"/>
          </a:effectRef>
          <a:fontRef idx="minor">
            <a:schemeClr val="dk1"/>
          </a:fontRef>
        </p:style>
        <p:txBody>
          <a:bodyPr vert="horz" anchor="b">
            <a:normAutofit fontScale="97500"/>
          </a:bodyPr>
          <a:lstStyle/>
          <a:p>
            <a:pPr algn="ctr">
              <a:spcBef>
                <a:spcPct val="0"/>
              </a:spcBef>
            </a:pPr>
            <a:r>
              <a:rPr kumimoji="0" lang="en-US" sz="3000" b="0" i="0" u="none" strike="noStrike" kern="1200" cap="small" spc="0" normalizeH="0" baseline="0" noProof="0" dirty="0" smtClean="0">
                <a:ln>
                  <a:noFill/>
                </a:ln>
                <a:solidFill>
                  <a:schemeClr val="dk1"/>
                </a:solidFill>
                <a:effectLst/>
                <a:uLnTx/>
                <a:uFillTx/>
                <a:latin typeface="+mn-lt"/>
                <a:ea typeface="+mn-ea"/>
                <a:cs typeface="+mn-cs"/>
              </a:rPr>
              <a:t>   	 </a:t>
            </a:r>
            <a:r>
              <a:rPr lang="en-US" sz="2400" b="1" dirty="0" smtClean="0"/>
              <a:t>EKITI STATE UNIVERSITY, ADO-EKITI</a:t>
            </a:r>
            <a:br>
              <a:rPr lang="en-US" sz="2400" b="1" dirty="0" smtClean="0"/>
            </a:br>
            <a:r>
              <a:rPr lang="en-US" sz="2800" b="1" dirty="0" smtClean="0"/>
              <a:t>ACADEMIC</a:t>
            </a:r>
            <a:r>
              <a:rPr lang="en-US" sz="4800" b="1" dirty="0" smtClean="0"/>
              <a:t> </a:t>
            </a:r>
            <a:r>
              <a:rPr lang="en-US" sz="2800" b="1" dirty="0" smtClean="0"/>
              <a:t>SUMMIT</a:t>
            </a:r>
            <a:endParaRPr lang="en-US" sz="2800" cap="small" dirty="0" smtClean="0"/>
          </a:p>
        </p:txBody>
      </p:sp>
      <p:sp>
        <p:nvSpPr>
          <p:cNvPr id="6" name="Slide Number Placeholder 5"/>
          <p:cNvSpPr>
            <a:spLocks noGrp="1"/>
          </p:cNvSpPr>
          <p:nvPr>
            <p:ph type="sldNum" sz="quarter" idx="15"/>
          </p:nvPr>
        </p:nvSpPr>
        <p:spPr/>
        <p:txBody>
          <a:bodyPr/>
          <a:lstStyle/>
          <a:p>
            <a:fld id="{B6F15528-21DE-4FAA-801E-634DDDAF4B2B}" type="slidenum">
              <a:rPr lang="en-US" smtClean="0"/>
              <a:pPr/>
              <a:t>33</a:t>
            </a:fld>
            <a:endParaRPr lang="en-US"/>
          </a:p>
        </p:txBody>
      </p:sp>
    </p:spTree>
  </p:cSld>
  <p:clrMapOvr>
    <a:masterClrMapping/>
  </p:clrMapOvr>
  <p:transition>
    <p:comb dir="vert"/>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8229600" cy="1143000"/>
          </a:xfrm>
        </p:spPr>
        <p:txBody>
          <a:bodyPr>
            <a:normAutofit fontScale="90000"/>
          </a:bodyPr>
          <a:lstStyle/>
          <a:p>
            <a:pPr algn="ctr"/>
            <a:r>
              <a:rPr lang="en-US" dirty="0" smtClean="0"/>
              <a:t>  </a:t>
            </a:r>
            <a:r>
              <a:rPr lang="en-US" sz="2200" b="1" dirty="0" smtClean="0">
                <a:latin typeface="Times New Roman" pitchFamily="18" charset="0"/>
                <a:cs typeface="Times New Roman" pitchFamily="18" charset="0"/>
              </a:rPr>
              <a:t>FINANCIAL ADMINISTRATION PROCESSES   BOTTLENECKS REGARDING PAYMENTS OF VARIOUS FEES SERVICING OF COMMITTEES IN THE UNIVERSITY: CHALLENGES AND WAY FORWARD IN PURCHASING OF OFFICIAL MATERIAL</a:t>
            </a:r>
            <a:r>
              <a:rPr lang="en-US" sz="2200" dirty="0" smtClean="0">
                <a:latin typeface="Times New Roman" pitchFamily="18" charset="0"/>
                <a:cs typeface="Times New Roman" pitchFamily="18" charset="0"/>
              </a:rPr>
              <a:t/>
            </a:r>
            <a:br>
              <a:rPr lang="en-US" sz="2200" dirty="0" smtClean="0">
                <a:latin typeface="Times New Roman" pitchFamily="18" charset="0"/>
                <a:cs typeface="Times New Roman" pitchFamily="18" charset="0"/>
              </a:rPr>
            </a:br>
            <a:endParaRPr lang="en-US" sz="2200" dirty="0"/>
          </a:p>
        </p:txBody>
      </p:sp>
      <p:sp>
        <p:nvSpPr>
          <p:cNvPr id="3" name="Content Placeholder 2"/>
          <p:cNvSpPr>
            <a:spLocks noGrp="1"/>
          </p:cNvSpPr>
          <p:nvPr>
            <p:ph sz="quarter" idx="1"/>
          </p:nvPr>
        </p:nvSpPr>
        <p:spPr>
          <a:xfrm>
            <a:off x="457200" y="1752600"/>
            <a:ext cx="8229600" cy="4572000"/>
          </a:xfrm>
        </p:spPr>
        <p:txBody>
          <a:bodyPr>
            <a:normAutofit fontScale="47500" lnSpcReduction="20000"/>
          </a:bodyPr>
          <a:lstStyle/>
          <a:p>
            <a:pPr lvl="0">
              <a:buNone/>
            </a:pPr>
            <a:r>
              <a:rPr lang="en-US" b="1" dirty="0" smtClean="0"/>
              <a:t>	</a:t>
            </a:r>
          </a:p>
          <a:p>
            <a:pPr lvl="0">
              <a:buNone/>
            </a:pPr>
            <a:r>
              <a:rPr lang="en-US" b="1" dirty="0"/>
              <a:t>	</a:t>
            </a:r>
            <a:r>
              <a:rPr lang="en-US" sz="3800" b="1" dirty="0" smtClean="0"/>
              <a:t>Conclusion</a:t>
            </a:r>
            <a:r>
              <a:rPr lang="en-US" b="1" dirty="0" smtClean="0"/>
              <a:t>	</a:t>
            </a:r>
          </a:p>
          <a:p>
            <a:pPr>
              <a:buNone/>
            </a:pPr>
            <a:r>
              <a:rPr lang="en-US" dirty="0" smtClean="0"/>
              <a:t>	</a:t>
            </a:r>
          </a:p>
          <a:p>
            <a:pPr>
              <a:buNone/>
            </a:pPr>
            <a:r>
              <a:rPr lang="en-US" sz="3200" dirty="0"/>
              <a:t>	</a:t>
            </a:r>
            <a:r>
              <a:rPr lang="en-US" sz="4200" dirty="0" smtClean="0"/>
              <a:t>In </a:t>
            </a:r>
            <a:r>
              <a:rPr lang="en-US" sz="4200" dirty="0"/>
              <a:t>conclusion, the Bursary Department has the duty to enforce financial regulations. We expect all stakeholders and shareholders to familiarize themselves with such documents as Financial regulations, Accounting manuals, relevant laws such as </a:t>
            </a:r>
            <a:r>
              <a:rPr lang="en-US" sz="4200" dirty="0" smtClean="0"/>
              <a:t>procurement Acts </a:t>
            </a:r>
            <a:r>
              <a:rPr lang="en-US" sz="4200" dirty="0"/>
              <a:t>2007, etc. </a:t>
            </a:r>
            <a:endParaRPr lang="en-US" sz="4200" dirty="0" smtClean="0"/>
          </a:p>
          <a:p>
            <a:pPr>
              <a:buNone/>
            </a:pPr>
            <a:endParaRPr lang="en-US" sz="1100" dirty="0"/>
          </a:p>
          <a:p>
            <a:pPr>
              <a:buNone/>
            </a:pPr>
            <a:r>
              <a:rPr lang="en-US" sz="4000" dirty="0" smtClean="0"/>
              <a:t>	We </a:t>
            </a:r>
            <a:r>
              <a:rPr lang="en-US" sz="4000" dirty="0"/>
              <a:t>also expect all members of staff with issue bothering on delayed processing, if any, to feel free to inquire from the Bursar and/or his supporting officers on outstanding claim and the possible way out.</a:t>
            </a:r>
          </a:p>
          <a:p>
            <a:pPr>
              <a:buNone/>
            </a:pPr>
            <a:r>
              <a:rPr lang="en-US" sz="4000" dirty="0"/>
              <a:t>	</a:t>
            </a:r>
            <a:endParaRPr lang="en-US" sz="4000" dirty="0" smtClean="0"/>
          </a:p>
          <a:p>
            <a:pPr>
              <a:buNone/>
            </a:pPr>
            <a:r>
              <a:rPr lang="en-US" sz="4000" dirty="0"/>
              <a:t>	</a:t>
            </a:r>
            <a:r>
              <a:rPr lang="en-US" sz="4000" dirty="0" smtClean="0"/>
              <a:t>Wishing </a:t>
            </a:r>
            <a:r>
              <a:rPr lang="en-US" sz="4000" dirty="0"/>
              <a:t>you the best in our new endeavor and remain blessed.</a:t>
            </a:r>
          </a:p>
          <a:p>
            <a:pPr lvl="0">
              <a:buNone/>
            </a:pPr>
            <a:endParaRPr lang="en-US" sz="1500" b="1" dirty="0"/>
          </a:p>
          <a:p>
            <a:pPr lvl="0">
              <a:buNone/>
            </a:pPr>
            <a:r>
              <a:rPr lang="en-US" sz="6000" dirty="0" smtClean="0"/>
              <a:t>	Thank you.</a:t>
            </a:r>
            <a:endParaRPr lang="en-US" sz="6000" dirty="0"/>
          </a:p>
        </p:txBody>
      </p:sp>
      <p:pic>
        <p:nvPicPr>
          <p:cNvPr id="32770" name="Picture 2" descr="C:\Users\AMIRA\Desktop\af.jpg"/>
          <p:cNvPicPr>
            <a:picLocks noChangeAspect="1" noChangeArrowheads="1"/>
          </p:cNvPicPr>
          <p:nvPr/>
        </p:nvPicPr>
        <p:blipFill>
          <a:blip r:embed="rId2"/>
          <a:srcRect/>
          <a:stretch>
            <a:fillRect/>
          </a:stretch>
        </p:blipFill>
        <p:spPr bwMode="auto">
          <a:xfrm>
            <a:off x="1" y="1"/>
            <a:ext cx="914400" cy="1676399"/>
          </a:xfrm>
          <a:prstGeom prst="rect">
            <a:avLst/>
          </a:prstGeom>
          <a:noFill/>
        </p:spPr>
      </p:pic>
      <p:sp>
        <p:nvSpPr>
          <p:cNvPr id="5" name="Title 1"/>
          <p:cNvSpPr txBox="1">
            <a:spLocks/>
          </p:cNvSpPr>
          <p:nvPr/>
        </p:nvSpPr>
        <p:spPr>
          <a:xfrm>
            <a:off x="914400" y="0"/>
            <a:ext cx="8229600" cy="1600200"/>
          </a:xfrm>
          <a:prstGeom prst="rect">
            <a:avLst/>
          </a:prstGeom>
        </p:spPr>
        <p:style>
          <a:lnRef idx="1">
            <a:schemeClr val="accent2"/>
          </a:lnRef>
          <a:fillRef idx="2">
            <a:schemeClr val="accent2"/>
          </a:fillRef>
          <a:effectRef idx="1">
            <a:schemeClr val="accent2"/>
          </a:effectRef>
          <a:fontRef idx="minor">
            <a:schemeClr val="dk1"/>
          </a:fontRef>
        </p:style>
        <p:txBody>
          <a:bodyPr vert="horz" anchor="b">
            <a:normAutofit fontScale="97500"/>
          </a:bodyPr>
          <a:lstStyle/>
          <a:p>
            <a:pPr algn="ctr">
              <a:spcBef>
                <a:spcPct val="0"/>
              </a:spcBef>
            </a:pPr>
            <a:r>
              <a:rPr kumimoji="0" lang="en-US" sz="3000" b="0" i="0" u="none" strike="noStrike" kern="1200" cap="small" spc="0" normalizeH="0" baseline="0" noProof="0" dirty="0" smtClean="0">
                <a:ln>
                  <a:noFill/>
                </a:ln>
                <a:solidFill>
                  <a:schemeClr val="dk1"/>
                </a:solidFill>
                <a:effectLst/>
                <a:uLnTx/>
                <a:uFillTx/>
                <a:latin typeface="+mn-lt"/>
                <a:ea typeface="+mn-ea"/>
                <a:cs typeface="+mn-cs"/>
              </a:rPr>
              <a:t>   	 </a:t>
            </a:r>
            <a:r>
              <a:rPr lang="en-US" sz="2400" b="1" dirty="0" smtClean="0"/>
              <a:t>EKITI STATE UNIVERSITY, ADO-EKITI</a:t>
            </a:r>
            <a:br>
              <a:rPr lang="en-US" sz="2400" b="1" dirty="0" smtClean="0"/>
            </a:br>
            <a:r>
              <a:rPr lang="en-US" sz="2800" b="1" dirty="0" smtClean="0"/>
              <a:t>ACADEMIC</a:t>
            </a:r>
            <a:r>
              <a:rPr lang="en-US" sz="4800" b="1" dirty="0" smtClean="0"/>
              <a:t> </a:t>
            </a:r>
            <a:r>
              <a:rPr lang="en-US" sz="2800" b="1" dirty="0" smtClean="0"/>
              <a:t>SUMMIT</a:t>
            </a:r>
            <a:endParaRPr lang="en-US" sz="2800" cap="small" dirty="0" smtClean="0"/>
          </a:p>
        </p:txBody>
      </p:sp>
      <p:sp>
        <p:nvSpPr>
          <p:cNvPr id="6" name="Slide Number Placeholder 5"/>
          <p:cNvSpPr>
            <a:spLocks noGrp="1"/>
          </p:cNvSpPr>
          <p:nvPr>
            <p:ph type="sldNum" sz="quarter" idx="15"/>
          </p:nvPr>
        </p:nvSpPr>
        <p:spPr/>
        <p:txBody>
          <a:bodyPr/>
          <a:lstStyle/>
          <a:p>
            <a:fld id="{B6F15528-21DE-4FAA-801E-634DDDAF4B2B}" type="slidenum">
              <a:rPr lang="en-US" smtClean="0"/>
              <a:pPr/>
              <a:t>34</a:t>
            </a:fld>
            <a:endParaRPr lang="en-US"/>
          </a:p>
        </p:txBody>
      </p:sp>
    </p:spTree>
  </p:cSld>
  <p:clrMapOvr>
    <a:masterClrMapping/>
  </p:clrMapOvr>
  <p:transition>
    <p:random/>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574</TotalTime>
  <Words>1168</Words>
  <Application>Microsoft Office PowerPoint</Application>
  <PresentationFormat>On-screen Show (4:3)</PresentationFormat>
  <Paragraphs>244</Paragraphs>
  <Slides>34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Calibri</vt:lpstr>
      <vt:lpstr>Century Schoolbook</vt:lpstr>
      <vt:lpstr>Times New Roman</vt:lpstr>
      <vt:lpstr>Wingdings</vt:lpstr>
      <vt:lpstr>Wingdings 2</vt:lpstr>
      <vt:lpstr>Oriel</vt:lpstr>
      <vt:lpstr>                       EKITI STATE UNIVERSITY, ADO-EKITI          FINANCIAL ADMINISTRATION PROCESSES BOTTLENECKS REGARDING PAYMENTS OF VARIOUS FEES SERVICING OF COMMITTEES IN THE UNIVERSITY: CHALLENGES AND WAY FORWARD IN PURCHASING OF OFFICIAL MATERIAL </vt:lpstr>
      <vt:lpstr>EKITI STATE UNIVERSITY, ADO-EKITI  academic summit</vt:lpstr>
      <vt:lpstr>EKITI STATE UNIVERSITY, ADO-EKITI  academic summit</vt:lpstr>
      <vt:lpstr>       FINANCIAL ADMINISTRATION PROCESSES   BOTTLENECKS REGARDING PAYMENTS OF VARIOUS FEES SERVICING OF COMMITTEES IN THE UNIVERSITY: CHALLENGES AND WAY FORWARD IN PURCHASING OF OFFICIAL MATERIAL </vt:lpstr>
      <vt:lpstr>     FINANCIAL ADMINISTRATION PROCESSES   BOTTLENECKS REGARDING PAYMENTS OF VARIOUS FEES SERVICING OF COMMITTEES IN THE UNIVERSITY: CHALLENGES AND WAY FORWARD IN PURCHASING OF OFFICIAL MATERIAL </vt:lpstr>
      <vt:lpstr>        FINANCIAL ADMINISTRATION PROCESSES   BOTTLENECKS REGARDING PAYMENTS OF VARIOUS FEES SERVICING OF COMMITTEES IN THE UNIVERSITY: CHALLENGES AND WAY FORWARD IN PURCHASING OF OFFICIAL MATERIAL </vt:lpstr>
      <vt:lpstr>      FINANCIAL ADMINISTRATION PROCESSES     BOTTLENECKS REGARDING PAYMENTS OF VARIOUS FEES SERVICING OF COMMITTEES IN THE UNIVERSITY: CHALLENGES AND WAY FORWARD IN PURCHASING OF OFFICIAL MATERIAL </vt:lpstr>
      <vt:lpstr>    FINANCIAL ADMINISTRATION PROCESSES   BOTTLENECKS REGARDING PAYMENTS OF VARIOUS FEES SERVICING OF COMMITTEES IN THE UNIVERSITY: CHALLENGES AND WAY FORWARD IN PURCHASING OF OFFICIAL MATERIAL </vt:lpstr>
      <vt:lpstr>  FINANCIAL ADMINISTRATION PROCESSES   BOTTLENECKS REGARDING PAYMENTS OF VARIOUS FEES SERVICING OF COMMITTEES IN THE UNIVERSITY: CHALLENGES AND WAY FORWARD IN PURCHASING OF OFFICIAL MATERIAL </vt:lpstr>
      <vt:lpstr>       FINANCIAL ADMINISTRATION PROCESSES   BOTTLENECKS REGARDING PAYMENTS OF VARIOUS FEES SERVICING OF COMMITTEES IN THE UNIVERSITY: CHALLENGES AND WAY FORWARD IN PURCHASING OF OFFICIAL MATERIAL </vt:lpstr>
      <vt:lpstr>      FINANCIAL ADMINISTRATION PROCESSES   BOTTLENECKS REGARDING PAYMENTS OF VARIOUS FEES SERVICING OF COMMITTEES IN THE UNIVERSITY: CHALLENGES AND WAY FORWARD IN PURCHASING OF OFFICIAL MATERIAL </vt:lpstr>
      <vt:lpstr>       FINANCIAL ADMINISTRATION PROCESSES   BOTTLENECKS REGARDING PAYMENTS OF VARIOUS FEES SERVICING OF COMMITTEES IN THE UNIVERSITY: CHALLENGES AND WAY FORWARD IN PURCHASING OF OFFICIAL MATERIAL </vt:lpstr>
      <vt:lpstr>       FINANCIAL ADMINISTRATION PROCESSES   BOTTLENECKS REGARDING PAYMENTS OF VARIOUS FEES SERVICING OF COMMITTEES IN THE UNIVERSITY: CHALLENGES AND WAY FORWARD IN PURCHASING OF OFFICIAL MATERIAL </vt:lpstr>
      <vt:lpstr>          FINANCIAL ADMINISTRATION PROCESSES   BOTTLENECKS REGARDING PAYMENTS OF VARIOUS FEES SERVICING OF COMMITTEES IN THE UNIVERSITY: CHALLENGES AND WAY FORWARD IN PURCHASING OF OFFICIAL MATERIAL </vt:lpstr>
      <vt:lpstr>     FINANCIAL ADMINISTRATION PROCESSES   BOTTLENECKS REGARDING PAYMENTS OF VARIOUS FEES SERVICING OF COMMITTEES IN THE UNIVERSITY: CHALLENGES AND WAY FORWARD IN PURCHASING OF OFFICIAL MATERIAL </vt:lpstr>
      <vt:lpstr> FINANCIAL ADMINISTRATION PROCESSES   BOTTLENECKS REGARDING PAYMENTS OF VARIOUS FEES SERVICING OF COMMITTEES IN THE UNIVERSITY: CHALLENGES AND WAY FORWARD IN PURCHASING OF OFFICIAL MATERIAL      </vt:lpstr>
      <vt:lpstr>    FINANCIAL ADMINISTRATION PROCESSES   BOTTLENECKS REGARDING PAYMENTS OF VARIOUS FEES SERVICING OF COMMITTEES IN THE UNIVERSITY: CHALLENGES AND WAY FORWARD IN PURCHASING OF OFFICIAL MATERIAL </vt:lpstr>
      <vt:lpstr>      FINANCIAL ADMINISTRATION PROCESSES   BOTTLENECKS REGARDING PAYMENTS OF VARIOUS FEES SERVICING OF COMMITTEES IN THE UNIVERSITY: CHALLENGES AND WAY FORWARD IN PURCHASING OF OFFICIAL MATERIAL </vt:lpstr>
      <vt:lpstr>     FINANCIAL ADMINISTRATION PROCESSES   BOTTLENECKS REGARDING PAYMENTS OF VARIOUS FEES SERVICING OF COMMITTEES IN THE UNIVERSITY: CHALLENGES AND WAY FORWARD IN PURCHASING OF OFFICIAL MATERIAL </vt:lpstr>
      <vt:lpstr>       FINANCIAL ADMINISTRATION PROCESSES   BOTTLENECKS REGARDING PAYMENTS OF VARIOUS FEES SERVICING OF COMMITTEES IN THE UNIVERSITY: CHALLENGES AND WAY FORWARD IN PURCHASING OF OFFICIAL MATERIAL </vt:lpstr>
      <vt:lpstr>     FINANCIAL ADMINISTRATION PROCESSES   BOTTLENECKS REGARDING PAYMENTS OF VARIOUS FEES SERVICING OF COMMITTEES IN THE UNIVERSITY: CHALLENGES AND WAY FORWARD IN PURCHASING OF OFFICIAL MATERIAL </vt:lpstr>
      <vt:lpstr>      FINANCIAL ADMINISTRATION PROCESSES   BOTTLENECKS REGARDING PAYMENTS OF VARIOUS FEES SERVICING OF COMMITTEES IN THE UNIVERSITY: CHALLENGES AND WAY FORWARD IN PURCHASING OF OFFICIAL MATERIAL </vt:lpstr>
      <vt:lpstr>      FINANCIAL ADMINISTRATION PROCESSES   BOTTLENECKS REGARDING PAYMENTS OF VARIOUS FEES SERVICING OF COMMITTEES IN THE UNIVERSITY: CHALLENGES AND WAY FORWARD IN PURCHASING OF OFFICIAL MATERIAL </vt:lpstr>
      <vt:lpstr>     FINANCIAL ADMINISTRATION PROCESSES   BOTTLENECKS REGARDING PAYMENTS OF VARIOUS FEES SERVICING OF COMMITTEES IN THE UNIVERSITY: CHALLENGES AND WAY FORWARD IN PURCHASING OF OFFICIAL MATERIAL </vt:lpstr>
      <vt:lpstr>        FINANCIAL ADMINISTRATION PROCESSES   BOTTLENECKS REGARDING PAYMENTS OF VARIOUS FEES SERVICING OF COMMITTEES IN THE UNIVERSITY: CHALLENGES AND WAY FORWARD IN PURCHASING OF OFFICIAL MATERIAL </vt:lpstr>
      <vt:lpstr>         FINANCIAL ADMINISTRATION PROCESSES   BOTTLENECKS REGARDING PAYMENTS OF VARIOUS FEES SERVICING OF COMMITTEES IN THE UNIVERSITY: CHALLENGES AND WAY FORWARD IN PURCHASING OF OFFICIAL MATERIAL </vt:lpstr>
      <vt:lpstr>     FINANCIAL ADMINISTRATION PROCESSES   BOTTLENECKS REGARDING PAYMENTS OF VARIOUS FEES SERVICING OF COMMITTEES IN THE UNIVERSITY: CHALLENGES AND WAY FORWARD IN PURCHASING OF OFFICIAL MATERIAL </vt:lpstr>
      <vt:lpstr>      FINANCIAL ADMINISTRATION PROCESSES   BOTTLENECKS REGARDING PAYMENTS OF VARIOUS FEES SERVICING OF COMMITTEES IN THE UNIVERSITY: CHALLENGES AND WAY FORWARD IN PURCHASING OF OFFICIAL MATERIAL </vt:lpstr>
      <vt:lpstr>       FINANCIAL ADMINISTRATION PROCESSES   BOTTLENECKS REGARDING PAYMENTS OF VARIOUS FEES SERVICING OF COMMITTEES IN THE UNIVERSITY: CHALLENGES AND WAY FORWARD IN PURCHASING OF OFFICIAL MATERIAL </vt:lpstr>
      <vt:lpstr> FINANCIAL ADMINISTRATION PROCESSES   BOTTLENECKS REGARDING PAYMENTS OF VARIOUS FEES SERVICING OF COMMITTEES IN THE UNIVERSITY: CHALLENGES AND WAY FORWARD IN PURCHASING OF OFFICIAL MATERIAL  </vt:lpstr>
      <vt:lpstr>        FINANCIAL ADMINISTRATION PROCESSES   BOTTLENECKS REGARDING PAYMENTS OF VARIOUS FEES SERVICING OF COMMITTEES IN THE UNIVERSITY: CHALLENGES AND WAY FORWARD IN PURCHASING OF OFFICIAL MATERIAL </vt:lpstr>
      <vt:lpstr>      FINANCIAL ADMINISTRATION PROCESSES   BOTTLENECKS REGARDING PAYMENTS OF VARIOUS FEES SERVICING OF COMMITTEES IN THE UNIVERSITY: CHALLENGES AND WAY FORWARD IN PURCHASING OF OFFICIAL MATERIAL </vt:lpstr>
      <vt:lpstr>      FINANCIAL ADMINISTRATION PROCESSES   BOTTLENECKS REGARDING PAYMENTS OF VARIOUS FEES SERVICING OF COMMITTEES IN THE UNIVERSITY: CHALLENGES AND WAY FORWARD IN PURCHASING OF OFFICIAL MATERIAL </vt:lpstr>
      <vt:lpstr>  FINANCIAL ADMINISTRATION PROCESSES   BOTTLENECKS REGARDING PAYMENTS OF VARIOUS FEES SERVICING OF COMMITTEES IN THE UNIVERSITY: CHALLENGES AND WAY FORWARD IN PURCHASING OF OFFICIAL MATERIAL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AMIRA</dc:creator>
  <cp:lastModifiedBy>Isaac Ogunmokun</cp:lastModifiedBy>
  <cp:revision>120</cp:revision>
  <cp:lastPrinted>2016-02-03T09:00:21Z</cp:lastPrinted>
  <dcterms:created xsi:type="dcterms:W3CDTF">2006-08-16T00:00:00Z</dcterms:created>
  <dcterms:modified xsi:type="dcterms:W3CDTF">2016-02-03T09:50:22Z</dcterms:modified>
</cp:coreProperties>
</file>