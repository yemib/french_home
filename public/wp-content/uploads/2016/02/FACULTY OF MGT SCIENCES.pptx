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7"/>
  </p:notesMasterIdLst>
  <p:sldIdLst>
    <p:sldId id="256" r:id="rId2"/>
    <p:sldId id="270" r:id="rId3"/>
    <p:sldId id="269" r:id="rId4"/>
    <p:sldId id="276" r:id="rId5"/>
    <p:sldId id="281" r:id="rId6"/>
    <p:sldId id="257" r:id="rId7"/>
    <p:sldId id="258" r:id="rId8"/>
    <p:sldId id="259" r:id="rId9"/>
    <p:sldId id="277" r:id="rId10"/>
    <p:sldId id="278" r:id="rId11"/>
    <p:sldId id="279" r:id="rId12"/>
    <p:sldId id="280" r:id="rId13"/>
    <p:sldId id="282" r:id="rId14"/>
    <p:sldId id="275" r:id="rId15"/>
    <p:sldId id="268" r:id="rId16"/>
  </p:sldIdLst>
  <p:sldSz cx="9144000" cy="6858000" type="screen4x3"/>
  <p:notesSz cx="9947275"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10486" cy="3429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634487" y="0"/>
            <a:ext cx="4310486" cy="342900"/>
          </a:xfrm>
          <a:prstGeom prst="rect">
            <a:avLst/>
          </a:prstGeom>
        </p:spPr>
        <p:txBody>
          <a:bodyPr vert="horz" lIns="91440" tIns="45720" rIns="91440" bIns="45720" rtlCol="0"/>
          <a:lstStyle>
            <a:lvl1pPr algn="r">
              <a:defRPr sz="1200"/>
            </a:lvl1pPr>
          </a:lstStyle>
          <a:p>
            <a:fld id="{D6707FF9-D77C-448E-99AB-E34C56FA444B}" type="datetimeFigureOut">
              <a:rPr lang="en-GB" smtClean="0"/>
              <a:pPr/>
              <a:t>02/02/2016</a:t>
            </a:fld>
            <a:endParaRPr lang="en-GB"/>
          </a:p>
        </p:txBody>
      </p:sp>
      <p:sp>
        <p:nvSpPr>
          <p:cNvPr id="4" name="Slide Image Placeholder 3"/>
          <p:cNvSpPr>
            <a:spLocks noGrp="1" noRot="1" noChangeAspect="1"/>
          </p:cNvSpPr>
          <p:nvPr>
            <p:ph type="sldImg" idx="2"/>
          </p:nvPr>
        </p:nvSpPr>
        <p:spPr>
          <a:xfrm>
            <a:off x="3259138" y="514350"/>
            <a:ext cx="3429000" cy="25717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4728" y="3257550"/>
            <a:ext cx="795782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6513910"/>
            <a:ext cx="4310486" cy="3429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634487" y="6513910"/>
            <a:ext cx="4310486" cy="342900"/>
          </a:xfrm>
          <a:prstGeom prst="rect">
            <a:avLst/>
          </a:prstGeom>
        </p:spPr>
        <p:txBody>
          <a:bodyPr vert="horz" lIns="91440" tIns="45720" rIns="91440" bIns="45720" rtlCol="0" anchor="b"/>
          <a:lstStyle>
            <a:lvl1pPr algn="r">
              <a:defRPr sz="1200"/>
            </a:lvl1pPr>
          </a:lstStyle>
          <a:p>
            <a:fld id="{3364D02C-2BE1-4841-A489-2C431D85328B}"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3364D02C-2BE1-4841-A489-2C431D85328B}" type="slidenum">
              <a:rPr lang="en-GB" smtClean="0"/>
              <a:pPr/>
              <a:t>2</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78FF3687-E4D0-4DCC-BB2A-256BF32DAE87}" type="datetime1">
              <a:rPr lang="en-GB" smtClean="0"/>
              <a:pPr/>
              <a:t>02/02/2016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3D6E3D5-541C-4244-81F0-7E359C5B10AC}" type="datetime1">
              <a:rPr lang="en-GB" smtClean="0"/>
              <a:pPr/>
              <a:t>02/02/2016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8806671-77CC-45DB-A17F-88ED5FB7AADC}" type="datetime1">
              <a:rPr lang="en-GB" smtClean="0"/>
              <a:pPr/>
              <a:t>02/02/2016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BE06080C-01D6-4159-B265-F4CF11477898}" type="datetime1">
              <a:rPr lang="en-GB" smtClean="0"/>
              <a:pPr/>
              <a:t>02/02/2016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AF0ABF4D-94F2-4C37-89D8-3D4FA78ED0E2}" type="datetime1">
              <a:rPr lang="en-GB" smtClean="0"/>
              <a:pPr/>
              <a:t>02/02/2016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50F67495-AB21-47B9-99EC-90BB6252FC00}" type="datetime1">
              <a:rPr lang="en-GB" smtClean="0"/>
              <a:pPr/>
              <a:t>02/02/2016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9ED774-CFA8-4276-B5AA-C6A08E8E9D06}" type="datetime1">
              <a:rPr lang="en-GB" smtClean="0"/>
              <a:pPr/>
              <a:t>02/02/2016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D7EAF6B-0082-44B1-B78C-3261812925F8}" type="datetime1">
              <a:rPr lang="en-GB" smtClean="0"/>
              <a:pPr/>
              <a:t>02/02/2016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FDFD2A-2F6A-49CD-B51E-EA2961FBE6E1}" type="datetime1">
              <a:rPr lang="en-GB" smtClean="0"/>
              <a:pPr/>
              <a:t>02/02/2016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0B2100C-9B19-4477-979E-FC56AC495738}" type="datetime1">
              <a:rPr lang="en-GB" smtClean="0"/>
              <a:pPr/>
              <a:t>02/02/2016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840385F-2A29-4EC2-9E54-ADF981CFBD9A}" type="datetime1">
              <a:rPr lang="en-GB" smtClean="0"/>
              <a:pPr/>
              <a:t>02/02/2016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018272-1631-45EF-8C86-F034EA4C3E9F}" type="slidenum">
              <a:rPr lang="en-GB" smtClean="0"/>
              <a:pPr/>
              <a:t>‹#›</a:t>
            </a:fld>
            <a:endParaRPr lang="en-GB"/>
          </a:p>
        </p:txBody>
      </p:sp>
    </p:spTree>
  </p:cSld>
  <p:clrMapOvr>
    <a:masterClrMapping/>
  </p:clrMapOvr>
  <p:transition>
    <p:wedg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BCB631-C159-4C2D-845D-5AFD5EDD366F}" type="datetime1">
              <a:rPr lang="en-GB" smtClean="0"/>
              <a:pPr/>
              <a:t>02/02/2016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018272-1631-45EF-8C86-F034EA4C3E9F}"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wedge/>
  </p:transition>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9512" y="404664"/>
            <a:ext cx="8568952" cy="6120680"/>
          </a:xfrm>
        </p:spPr>
        <p:txBody>
          <a:bodyPr>
            <a:normAutofit lnSpcReduction="10000"/>
          </a:bodyPr>
          <a:lstStyle/>
          <a:p>
            <a:endParaRPr lang="en-GB" sz="4000" b="1" dirty="0" smtClean="0">
              <a:solidFill>
                <a:srgbClr val="FF0000"/>
              </a:solidFill>
            </a:endParaRPr>
          </a:p>
          <a:p>
            <a:r>
              <a:rPr lang="en-GB" sz="4000" b="1" dirty="0" smtClean="0">
                <a:solidFill>
                  <a:schemeClr val="tx1"/>
                </a:solidFill>
              </a:rPr>
              <a:t>POSITION PAPER PRESENTED </a:t>
            </a:r>
            <a:r>
              <a:rPr lang="en-GB" sz="4000" b="1" dirty="0" smtClean="0">
                <a:solidFill>
                  <a:schemeClr val="tx1"/>
                </a:solidFill>
              </a:rPr>
              <a:t> BY THE FACULTY </a:t>
            </a:r>
            <a:r>
              <a:rPr lang="en-GB" sz="4000" b="1" dirty="0" smtClean="0">
                <a:solidFill>
                  <a:schemeClr val="tx1"/>
                </a:solidFill>
              </a:rPr>
              <a:t>OF MANAGEMET </a:t>
            </a:r>
            <a:r>
              <a:rPr lang="en-GB" sz="4000" b="1" dirty="0" smtClean="0">
                <a:solidFill>
                  <a:schemeClr val="tx1"/>
                </a:solidFill>
              </a:rPr>
              <a:t>SCIENCES</a:t>
            </a:r>
          </a:p>
          <a:p>
            <a:endParaRPr lang="en-GB" sz="4000" b="1" dirty="0" smtClean="0">
              <a:solidFill>
                <a:schemeClr val="tx1"/>
              </a:solidFill>
            </a:endParaRPr>
          </a:p>
          <a:p>
            <a:r>
              <a:rPr lang="en-GB" sz="4000" b="1" dirty="0" smtClean="0">
                <a:solidFill>
                  <a:schemeClr val="tx1"/>
                </a:solidFill>
              </a:rPr>
              <a:t>AT </a:t>
            </a:r>
            <a:r>
              <a:rPr lang="en-GB" sz="4000" b="1" dirty="0" smtClean="0">
                <a:solidFill>
                  <a:schemeClr val="tx1"/>
                </a:solidFill>
              </a:rPr>
              <a:t>THE </a:t>
            </a:r>
            <a:r>
              <a:rPr lang="en-GB" sz="4000" b="1" dirty="0" smtClean="0">
                <a:solidFill>
                  <a:schemeClr val="tx1"/>
                </a:solidFill>
              </a:rPr>
              <a:t>ACADEMIC </a:t>
            </a:r>
            <a:r>
              <a:rPr lang="en-GB" sz="4000" b="1" dirty="0" smtClean="0">
                <a:solidFill>
                  <a:schemeClr val="tx1"/>
                </a:solidFill>
              </a:rPr>
              <a:t>SUMMIT OF EKITI STATE UNIVERSITY, ADO EKITI</a:t>
            </a:r>
          </a:p>
          <a:p>
            <a:endParaRPr lang="en-GB" sz="4000" b="1" dirty="0" smtClean="0">
              <a:solidFill>
                <a:schemeClr val="tx1"/>
              </a:solidFill>
            </a:endParaRPr>
          </a:p>
          <a:p>
            <a:endParaRPr lang="en-GB" sz="4000" b="1" dirty="0" smtClean="0">
              <a:solidFill>
                <a:schemeClr val="tx1"/>
              </a:solidFill>
            </a:endParaRPr>
          </a:p>
          <a:p>
            <a:r>
              <a:rPr lang="en-GB" sz="4000" b="1" dirty="0" smtClean="0">
                <a:solidFill>
                  <a:schemeClr val="tx1"/>
                </a:solidFill>
              </a:rPr>
              <a:t>ON TUESDAY 2</a:t>
            </a:r>
            <a:r>
              <a:rPr lang="en-GB" sz="4000" b="1" baseline="30000" dirty="0" smtClean="0">
                <a:solidFill>
                  <a:schemeClr val="tx1"/>
                </a:solidFill>
              </a:rPr>
              <a:t>ND</a:t>
            </a:r>
            <a:r>
              <a:rPr lang="en-GB" sz="4000" b="1" dirty="0" smtClean="0">
                <a:solidFill>
                  <a:schemeClr val="tx1"/>
                </a:solidFill>
              </a:rPr>
              <a:t> FEBRUARY</a:t>
            </a:r>
            <a:r>
              <a:rPr lang="en-GB" sz="4000" b="1" dirty="0" smtClean="0">
                <a:solidFill>
                  <a:schemeClr val="tx1"/>
                </a:solidFill>
              </a:rPr>
              <a:t>, 2016</a:t>
            </a:r>
          </a:p>
          <a:p>
            <a:pPr algn="l"/>
            <a:endParaRPr lang="en-GB" dirty="0" smtClean="0">
              <a:solidFill>
                <a:schemeClr val="tx1"/>
              </a:solidFill>
            </a:endParaRPr>
          </a:p>
          <a:p>
            <a:pPr algn="just"/>
            <a:endParaRPr lang="en-GB" dirty="0">
              <a:solidFill>
                <a:schemeClr val="tx1"/>
              </a:solidFill>
            </a:endParaRPr>
          </a:p>
        </p:txBody>
      </p:sp>
    </p:spTree>
  </p:cSld>
  <p:clrMapOvr>
    <a:masterClrMapping/>
  </p:clrMapOvr>
  <p:transition>
    <p:wedg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9512" y="404664"/>
            <a:ext cx="8568952" cy="6120680"/>
          </a:xfrm>
        </p:spPr>
        <p:txBody>
          <a:bodyPr/>
          <a:lstStyle/>
          <a:p>
            <a:r>
              <a:rPr lang="en-GB" sz="4400" b="1" dirty="0" smtClean="0">
                <a:solidFill>
                  <a:srgbClr val="FF0000"/>
                </a:solidFill>
              </a:rPr>
              <a:t>DELIVERED BY</a:t>
            </a:r>
          </a:p>
          <a:p>
            <a:endParaRPr lang="en-GB" sz="4000" b="1" dirty="0">
              <a:solidFill>
                <a:schemeClr val="tx1"/>
              </a:solidFill>
            </a:endParaRPr>
          </a:p>
          <a:p>
            <a:endParaRPr lang="en-GB" sz="4000" b="1" dirty="0">
              <a:solidFill>
                <a:schemeClr val="tx1"/>
              </a:solidFill>
            </a:endParaRPr>
          </a:p>
          <a:p>
            <a:r>
              <a:rPr lang="en-GB" sz="4800" b="1" dirty="0" smtClean="0">
                <a:solidFill>
                  <a:schemeClr val="tx1"/>
                </a:solidFill>
              </a:rPr>
              <a:t>PROF. PATRICK OLAJIDE OLADELE</a:t>
            </a:r>
          </a:p>
          <a:p>
            <a:r>
              <a:rPr lang="en-GB" b="1" dirty="0" smtClean="0">
                <a:solidFill>
                  <a:schemeClr val="tx1"/>
                </a:solidFill>
              </a:rPr>
              <a:t>DEAN, FACULTY OF MANAGEMENT SCIENCES</a:t>
            </a:r>
          </a:p>
          <a:p>
            <a:r>
              <a:rPr lang="en-GB" b="1" dirty="0" smtClean="0">
                <a:solidFill>
                  <a:schemeClr val="tx1"/>
                </a:solidFill>
              </a:rPr>
              <a:t>EKITI STATE UNIVERSITY, ADO EKITI</a:t>
            </a:r>
          </a:p>
          <a:p>
            <a:pPr algn="just"/>
            <a:endParaRPr lang="en-GB" dirty="0" smtClean="0">
              <a:solidFill>
                <a:schemeClr val="tx1"/>
              </a:solidFill>
            </a:endParaRPr>
          </a:p>
          <a:p>
            <a:pPr algn="just"/>
            <a:endParaRPr lang="en-GB" dirty="0">
              <a:solidFill>
                <a:schemeClr val="tx1"/>
              </a:solidFill>
            </a:endParaRPr>
          </a:p>
        </p:txBody>
      </p:sp>
    </p:spTree>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9512" y="404664"/>
            <a:ext cx="8568952" cy="6120680"/>
          </a:xfrm>
        </p:spPr>
        <p:txBody>
          <a:bodyPr/>
          <a:lstStyle/>
          <a:p>
            <a:r>
              <a:rPr lang="en-GB" sz="4000" b="1" dirty="0" smtClean="0">
                <a:solidFill>
                  <a:srgbClr val="FF0000"/>
                </a:solidFill>
              </a:rPr>
              <a:t>EXISTING PROGRAMMES IN THE FACULTY</a:t>
            </a:r>
            <a:endParaRPr lang="en-GB" sz="4000" b="1" dirty="0" smtClean="0">
              <a:solidFill>
                <a:srgbClr val="FF0000"/>
              </a:solidFill>
            </a:endParaRPr>
          </a:p>
          <a:p>
            <a:pPr algn="just"/>
            <a:endParaRPr lang="en-GB" dirty="0">
              <a:solidFill>
                <a:schemeClr val="tx1"/>
              </a:solidFill>
            </a:endParaRPr>
          </a:p>
        </p:txBody>
      </p:sp>
      <p:graphicFrame>
        <p:nvGraphicFramePr>
          <p:cNvPr id="4" name="Table 3"/>
          <p:cNvGraphicFramePr>
            <a:graphicFrameLocks noGrp="1"/>
          </p:cNvGraphicFramePr>
          <p:nvPr/>
        </p:nvGraphicFramePr>
        <p:xfrm>
          <a:off x="251520" y="1700810"/>
          <a:ext cx="8640960" cy="4968552"/>
        </p:xfrm>
        <a:graphic>
          <a:graphicData uri="http://schemas.openxmlformats.org/drawingml/2006/table">
            <a:tbl>
              <a:tblPr firstRow="1" lastRow="1" bandRow="1">
                <a:tableStyleId>{22838BEF-8BB2-4498-84A7-C5851F593DF1}</a:tableStyleId>
              </a:tblPr>
              <a:tblGrid>
                <a:gridCol w="2304256"/>
                <a:gridCol w="2376264"/>
                <a:gridCol w="1656184"/>
                <a:gridCol w="2304256"/>
              </a:tblGrid>
              <a:tr h="1242138">
                <a:tc>
                  <a:txBody>
                    <a:bodyPr/>
                    <a:lstStyle/>
                    <a:p>
                      <a:r>
                        <a:rPr lang="en-GB" sz="1600" dirty="0" smtClean="0">
                          <a:latin typeface="Arial Black" pitchFamily="34" charset="0"/>
                        </a:rPr>
                        <a:t>UNDERGRADUATE PROGRAMMES</a:t>
                      </a:r>
                      <a:endParaRPr lang="en-GB" sz="1600" dirty="0">
                        <a:latin typeface="Arial Black" pitchFamily="34" charset="0"/>
                      </a:endParaRPr>
                    </a:p>
                  </a:txBody>
                  <a:tcPr/>
                </a:tc>
                <a:tc>
                  <a:txBody>
                    <a:bodyPr/>
                    <a:lstStyle/>
                    <a:p>
                      <a:r>
                        <a:rPr lang="en-GB" sz="1600" dirty="0" smtClean="0">
                          <a:latin typeface="Arial Black" pitchFamily="34" charset="0"/>
                        </a:rPr>
                        <a:t>ACCREDITATION</a:t>
                      </a:r>
                      <a:r>
                        <a:rPr lang="en-GB" sz="1600" baseline="0" dirty="0" smtClean="0">
                          <a:latin typeface="Arial Black" pitchFamily="34" charset="0"/>
                        </a:rPr>
                        <a:t> STATUS</a:t>
                      </a:r>
                      <a:endParaRPr lang="en-GB" sz="1600" dirty="0">
                        <a:latin typeface="Arial Black" pitchFamily="34" charset="0"/>
                      </a:endParaRPr>
                    </a:p>
                  </a:txBody>
                  <a:tcPr/>
                </a:tc>
                <a:tc>
                  <a:txBody>
                    <a:bodyPr/>
                    <a:lstStyle/>
                    <a:p>
                      <a:r>
                        <a:rPr lang="en-GB" sz="1600" dirty="0" smtClean="0">
                          <a:latin typeface="Arial Black" pitchFamily="34" charset="0"/>
                        </a:rPr>
                        <a:t>MODE OF STUDY</a:t>
                      </a:r>
                      <a:endParaRPr lang="en-GB" sz="1600" dirty="0">
                        <a:latin typeface="Arial Black" pitchFamily="34" charset="0"/>
                      </a:endParaRPr>
                    </a:p>
                  </a:txBody>
                  <a:tcPr/>
                </a:tc>
                <a:tc>
                  <a:txBody>
                    <a:bodyPr/>
                    <a:lstStyle/>
                    <a:p>
                      <a:r>
                        <a:rPr lang="en-GB" sz="1600" dirty="0" smtClean="0">
                          <a:latin typeface="Arial Black" pitchFamily="34" charset="0"/>
                        </a:rPr>
                        <a:t>NUMBER OF STUDENTS ON THE PROGRAMME</a:t>
                      </a:r>
                      <a:endParaRPr lang="en-GB" sz="1600" dirty="0">
                        <a:latin typeface="Arial Black" pitchFamily="34" charset="0"/>
                      </a:endParaRPr>
                    </a:p>
                  </a:txBody>
                  <a:tcPr/>
                </a:tc>
              </a:tr>
              <a:tr h="1242138">
                <a:tc>
                  <a:txBody>
                    <a:bodyPr/>
                    <a:lstStyle/>
                    <a:p>
                      <a:r>
                        <a:rPr lang="en-GB" sz="1700" dirty="0" smtClean="0">
                          <a:latin typeface="Arial Black" pitchFamily="34" charset="0"/>
                        </a:rPr>
                        <a:t>ACCOUNTING</a:t>
                      </a:r>
                      <a:endParaRPr lang="en-GB" sz="1700" dirty="0">
                        <a:latin typeface="Arial Black" pitchFamily="34" charset="0"/>
                      </a:endParaRPr>
                    </a:p>
                  </a:txBody>
                  <a:tcPr/>
                </a:tc>
                <a:tc>
                  <a:txBody>
                    <a:bodyPr/>
                    <a:lstStyle/>
                    <a:p>
                      <a:r>
                        <a:rPr lang="en-GB" sz="1700" dirty="0" smtClean="0">
                          <a:latin typeface="Arial Black" pitchFamily="34" charset="0"/>
                        </a:rPr>
                        <a:t>FULL ACCREDITATION</a:t>
                      </a:r>
                      <a:endParaRPr lang="en-GB" sz="1700" dirty="0">
                        <a:latin typeface="Arial Black" pitchFamily="34" charset="0"/>
                      </a:endParaRPr>
                    </a:p>
                  </a:txBody>
                  <a:tcPr/>
                </a:tc>
                <a:tc>
                  <a:txBody>
                    <a:bodyPr/>
                    <a:lstStyle/>
                    <a:p>
                      <a:r>
                        <a:rPr lang="en-GB" sz="1700" dirty="0" smtClean="0">
                          <a:latin typeface="Arial Black" pitchFamily="34" charset="0"/>
                        </a:rPr>
                        <a:t>FULL TIME</a:t>
                      </a:r>
                      <a:r>
                        <a:rPr lang="en-GB" sz="1700" baseline="0" dirty="0" smtClean="0">
                          <a:latin typeface="Arial Black" pitchFamily="34" charset="0"/>
                        </a:rPr>
                        <a:t> &amp; PART TIME</a:t>
                      </a:r>
                      <a:endParaRPr lang="en-GB" sz="1700" dirty="0">
                        <a:latin typeface="Arial Black" pitchFamily="34" charset="0"/>
                      </a:endParaRPr>
                    </a:p>
                  </a:txBody>
                  <a:tcPr/>
                </a:tc>
                <a:tc>
                  <a:txBody>
                    <a:bodyPr/>
                    <a:lstStyle/>
                    <a:p>
                      <a:r>
                        <a:rPr lang="en-GB" sz="1700" dirty="0" smtClean="0">
                          <a:latin typeface="Arial Black" pitchFamily="34" charset="0"/>
                        </a:rPr>
                        <a:t>1,472 FULL TIME</a:t>
                      </a:r>
                    </a:p>
                    <a:p>
                      <a:endParaRPr lang="en-GB" sz="1700" dirty="0" smtClean="0">
                        <a:latin typeface="Arial Black" pitchFamily="34" charset="0"/>
                      </a:endParaRPr>
                    </a:p>
                    <a:p>
                      <a:r>
                        <a:rPr lang="en-GB" sz="1700" dirty="0" smtClean="0">
                          <a:latin typeface="Arial Black" pitchFamily="34" charset="0"/>
                        </a:rPr>
                        <a:t>1,008 PART TIME</a:t>
                      </a:r>
                      <a:endParaRPr lang="en-GB" sz="1700" dirty="0">
                        <a:latin typeface="Arial Black" pitchFamily="34" charset="0"/>
                      </a:endParaRPr>
                    </a:p>
                  </a:txBody>
                  <a:tcPr/>
                </a:tc>
              </a:tr>
              <a:tr h="1242138">
                <a:tc>
                  <a:txBody>
                    <a:bodyPr/>
                    <a:lstStyle/>
                    <a:p>
                      <a:r>
                        <a:rPr lang="en-GB" sz="1700" dirty="0" smtClean="0">
                          <a:latin typeface="Arial Black" pitchFamily="34" charset="0"/>
                        </a:rPr>
                        <a:t>BANKING AND FINANCE</a:t>
                      </a:r>
                      <a:endParaRPr lang="en-GB" sz="1700" dirty="0">
                        <a:latin typeface="Arial Black" pitchFamily="34" charset="0"/>
                      </a:endParaRPr>
                    </a:p>
                  </a:txBody>
                  <a:tcPr/>
                </a:tc>
                <a:tc>
                  <a:txBody>
                    <a:bodyPr/>
                    <a:lstStyle/>
                    <a:p>
                      <a:r>
                        <a:rPr lang="en-GB" sz="1700" dirty="0" smtClean="0">
                          <a:latin typeface="Arial Black" pitchFamily="34" charset="0"/>
                        </a:rPr>
                        <a:t>FULL ACCREDITATION</a:t>
                      </a:r>
                      <a:endParaRPr lang="en-GB" sz="1700" dirty="0">
                        <a:latin typeface="Arial Black" pitchFamily="34" charset="0"/>
                      </a:endParaRPr>
                    </a:p>
                  </a:txBody>
                  <a:tcPr/>
                </a:tc>
                <a:tc>
                  <a:txBody>
                    <a:bodyPr/>
                    <a:lstStyle/>
                    <a:p>
                      <a:r>
                        <a:rPr lang="en-GB" sz="1700" dirty="0" smtClean="0">
                          <a:latin typeface="Arial Black" pitchFamily="34" charset="0"/>
                        </a:rPr>
                        <a:t>FULL TIME</a:t>
                      </a:r>
                      <a:r>
                        <a:rPr lang="en-GB" sz="1700" baseline="0" dirty="0" smtClean="0">
                          <a:latin typeface="Arial Black" pitchFamily="34" charset="0"/>
                        </a:rPr>
                        <a:t> &amp; PART TIME</a:t>
                      </a:r>
                      <a:endParaRPr lang="en-GB" sz="1700" dirty="0">
                        <a:latin typeface="Arial Black" pitchFamily="34" charset="0"/>
                      </a:endParaRPr>
                    </a:p>
                  </a:txBody>
                  <a:tcPr/>
                </a:tc>
                <a:tc>
                  <a:txBody>
                    <a:bodyPr/>
                    <a:lstStyle/>
                    <a:p>
                      <a:r>
                        <a:rPr lang="en-GB" sz="1700" dirty="0" smtClean="0">
                          <a:latin typeface="Arial Black" pitchFamily="34" charset="0"/>
                        </a:rPr>
                        <a:t>777 FULL TIME</a:t>
                      </a:r>
                    </a:p>
                    <a:p>
                      <a:endParaRPr lang="en-GB" sz="1700" dirty="0" smtClean="0">
                        <a:latin typeface="Arial Black" pitchFamily="34" charset="0"/>
                      </a:endParaRPr>
                    </a:p>
                    <a:p>
                      <a:r>
                        <a:rPr lang="en-GB" sz="1700" dirty="0" smtClean="0">
                          <a:latin typeface="Arial Black" pitchFamily="34" charset="0"/>
                        </a:rPr>
                        <a:t>450</a:t>
                      </a:r>
                      <a:r>
                        <a:rPr lang="en-GB" sz="1700" baseline="0" dirty="0" smtClean="0">
                          <a:latin typeface="Arial Black" pitchFamily="34" charset="0"/>
                        </a:rPr>
                        <a:t> PART TIME</a:t>
                      </a:r>
                      <a:endParaRPr lang="en-GB" sz="1700" dirty="0" smtClean="0">
                        <a:latin typeface="Arial Black" pitchFamily="34" charset="0"/>
                      </a:endParaRPr>
                    </a:p>
                  </a:txBody>
                  <a:tcPr/>
                </a:tc>
              </a:tr>
              <a:tr h="1242138">
                <a:tc>
                  <a:txBody>
                    <a:bodyPr/>
                    <a:lstStyle/>
                    <a:p>
                      <a:r>
                        <a:rPr lang="en-GB" sz="1700" dirty="0" smtClean="0">
                          <a:latin typeface="Arial Black" pitchFamily="34" charset="0"/>
                        </a:rPr>
                        <a:t>BUSINESS ADMINISTRATION</a:t>
                      </a:r>
                      <a:endParaRPr lang="en-GB" sz="1700" dirty="0">
                        <a:latin typeface="Arial Black" pitchFamily="34" charset="0"/>
                      </a:endParaRPr>
                    </a:p>
                  </a:txBody>
                  <a:tcPr/>
                </a:tc>
                <a:tc>
                  <a:txBody>
                    <a:bodyPr/>
                    <a:lstStyle/>
                    <a:p>
                      <a:r>
                        <a:rPr lang="en-GB" sz="1700" dirty="0" smtClean="0">
                          <a:latin typeface="Arial Black" pitchFamily="34" charset="0"/>
                        </a:rPr>
                        <a:t>FULL ACCREDITATION</a:t>
                      </a:r>
                      <a:endParaRPr lang="en-GB" sz="1700" dirty="0">
                        <a:latin typeface="Arial Black" pitchFamily="34" charset="0"/>
                      </a:endParaRPr>
                    </a:p>
                  </a:txBody>
                  <a:tcPr/>
                </a:tc>
                <a:tc>
                  <a:txBody>
                    <a:bodyPr/>
                    <a:lstStyle/>
                    <a:p>
                      <a:r>
                        <a:rPr lang="en-GB" sz="1700" dirty="0" smtClean="0">
                          <a:latin typeface="Arial Black" pitchFamily="34" charset="0"/>
                        </a:rPr>
                        <a:t>FULL TIME</a:t>
                      </a:r>
                      <a:r>
                        <a:rPr lang="en-GB" sz="1700" baseline="0" dirty="0" smtClean="0">
                          <a:latin typeface="Arial Black" pitchFamily="34" charset="0"/>
                        </a:rPr>
                        <a:t> &amp; PART TIME</a:t>
                      </a:r>
                      <a:endParaRPr lang="en-GB" sz="1700" dirty="0">
                        <a:latin typeface="Arial Black" pitchFamily="34" charset="0"/>
                      </a:endParaRPr>
                    </a:p>
                  </a:txBody>
                  <a:tcPr/>
                </a:tc>
                <a:tc>
                  <a:txBody>
                    <a:bodyPr/>
                    <a:lstStyle/>
                    <a:p>
                      <a:r>
                        <a:rPr lang="en-GB" sz="1700" dirty="0" smtClean="0">
                          <a:latin typeface="Arial Black" pitchFamily="34" charset="0"/>
                        </a:rPr>
                        <a:t>1,150 FULL TIME</a:t>
                      </a:r>
                    </a:p>
                    <a:p>
                      <a:endParaRPr lang="en-GB" sz="1700" dirty="0" smtClean="0">
                        <a:latin typeface="Arial Black" pitchFamily="34" charset="0"/>
                      </a:endParaRPr>
                    </a:p>
                    <a:p>
                      <a:r>
                        <a:rPr lang="en-GB" sz="1700" dirty="0" smtClean="0">
                          <a:latin typeface="Arial Black" pitchFamily="34" charset="0"/>
                        </a:rPr>
                        <a:t>865</a:t>
                      </a:r>
                      <a:r>
                        <a:rPr lang="en-GB" sz="1700" baseline="0" dirty="0" smtClean="0">
                          <a:latin typeface="Arial Black" pitchFamily="34" charset="0"/>
                        </a:rPr>
                        <a:t> PART TIME</a:t>
                      </a:r>
                      <a:endParaRPr lang="en-GB" sz="1700" dirty="0">
                        <a:latin typeface="Arial Black" pitchFamily="34" charset="0"/>
                      </a:endParaRPr>
                    </a:p>
                  </a:txBody>
                  <a:tcPr/>
                </a:tc>
              </a:tr>
            </a:tbl>
          </a:graphicData>
        </a:graphic>
      </p:graphicFrame>
    </p:spTree>
  </p:cSld>
  <p:clrMapOvr>
    <a:masterClrMapping/>
  </p:clrMapOvr>
  <p:transition>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9512" y="404664"/>
            <a:ext cx="8568952" cy="6120680"/>
          </a:xfrm>
        </p:spPr>
        <p:txBody>
          <a:bodyPr/>
          <a:lstStyle/>
          <a:p>
            <a:r>
              <a:rPr lang="en-GB" sz="4000" b="1" dirty="0" smtClean="0">
                <a:solidFill>
                  <a:srgbClr val="FF0000"/>
                </a:solidFill>
              </a:rPr>
              <a:t>EXISTING PROGRAMMES IN THE FACULTY CONTD.</a:t>
            </a:r>
            <a:endParaRPr lang="en-GB" sz="4000" b="1" dirty="0" smtClean="0">
              <a:solidFill>
                <a:srgbClr val="FF0000"/>
              </a:solidFill>
            </a:endParaRPr>
          </a:p>
          <a:p>
            <a:pPr algn="just"/>
            <a:endParaRPr lang="en-GB" dirty="0">
              <a:solidFill>
                <a:schemeClr val="tx1"/>
              </a:solidFill>
            </a:endParaRPr>
          </a:p>
        </p:txBody>
      </p:sp>
      <p:graphicFrame>
        <p:nvGraphicFramePr>
          <p:cNvPr id="4" name="Table 3"/>
          <p:cNvGraphicFramePr>
            <a:graphicFrameLocks noGrp="1"/>
          </p:cNvGraphicFramePr>
          <p:nvPr/>
        </p:nvGraphicFramePr>
        <p:xfrm>
          <a:off x="251520" y="1700810"/>
          <a:ext cx="8640960" cy="4815502"/>
        </p:xfrm>
        <a:graphic>
          <a:graphicData uri="http://schemas.openxmlformats.org/drawingml/2006/table">
            <a:tbl>
              <a:tblPr firstRow="1" lastRow="1" bandRow="1">
                <a:tableStyleId>{22838BEF-8BB2-4498-84A7-C5851F593DF1}</a:tableStyleId>
              </a:tblPr>
              <a:tblGrid>
                <a:gridCol w="2304256"/>
                <a:gridCol w="2376264"/>
                <a:gridCol w="1656184"/>
                <a:gridCol w="2304256"/>
              </a:tblGrid>
              <a:tr h="936102">
                <a:tc>
                  <a:txBody>
                    <a:bodyPr/>
                    <a:lstStyle/>
                    <a:p>
                      <a:r>
                        <a:rPr lang="en-GB" sz="1600" dirty="0" smtClean="0">
                          <a:latin typeface="Arial Black" pitchFamily="34" charset="0"/>
                        </a:rPr>
                        <a:t>POSTGRADUATE PROGRAMMES</a:t>
                      </a:r>
                      <a:endParaRPr lang="en-GB" sz="1600" dirty="0">
                        <a:latin typeface="Arial Black" pitchFamily="34" charset="0"/>
                      </a:endParaRPr>
                    </a:p>
                  </a:txBody>
                  <a:tcPr/>
                </a:tc>
                <a:tc>
                  <a:txBody>
                    <a:bodyPr/>
                    <a:lstStyle/>
                    <a:p>
                      <a:r>
                        <a:rPr lang="en-GB" sz="1600" dirty="0" smtClean="0">
                          <a:latin typeface="Arial Black" pitchFamily="34" charset="0"/>
                        </a:rPr>
                        <a:t>ACCREDITATION</a:t>
                      </a:r>
                      <a:r>
                        <a:rPr lang="en-GB" sz="1600" baseline="0" dirty="0" smtClean="0">
                          <a:latin typeface="Arial Black" pitchFamily="34" charset="0"/>
                        </a:rPr>
                        <a:t> STATUS</a:t>
                      </a:r>
                      <a:endParaRPr lang="en-GB" sz="1600" dirty="0">
                        <a:latin typeface="Arial Black" pitchFamily="34" charset="0"/>
                      </a:endParaRPr>
                    </a:p>
                  </a:txBody>
                  <a:tcPr/>
                </a:tc>
                <a:tc>
                  <a:txBody>
                    <a:bodyPr/>
                    <a:lstStyle/>
                    <a:p>
                      <a:r>
                        <a:rPr lang="en-GB" sz="1600" dirty="0" smtClean="0">
                          <a:latin typeface="Arial Black" pitchFamily="34" charset="0"/>
                        </a:rPr>
                        <a:t>MODE OF STUDY</a:t>
                      </a:r>
                      <a:endParaRPr lang="en-GB" sz="1600" dirty="0">
                        <a:latin typeface="Arial Black" pitchFamily="34" charset="0"/>
                      </a:endParaRPr>
                    </a:p>
                  </a:txBody>
                  <a:tcPr/>
                </a:tc>
                <a:tc>
                  <a:txBody>
                    <a:bodyPr/>
                    <a:lstStyle/>
                    <a:p>
                      <a:r>
                        <a:rPr lang="en-GB" sz="1600" dirty="0" smtClean="0">
                          <a:latin typeface="Arial Black" pitchFamily="34" charset="0"/>
                        </a:rPr>
                        <a:t>NUMBER OF STUDENTS ON THE PROGRAMME</a:t>
                      </a:r>
                      <a:endParaRPr lang="en-GB" sz="1600" dirty="0">
                        <a:latin typeface="Arial Black" pitchFamily="34" charset="0"/>
                      </a:endParaRPr>
                    </a:p>
                  </a:txBody>
                  <a:tcPr/>
                </a:tc>
              </a:tr>
              <a:tr h="846170">
                <a:tc>
                  <a:txBody>
                    <a:bodyPr/>
                    <a:lstStyle/>
                    <a:p>
                      <a:r>
                        <a:rPr lang="en-GB" sz="1700" dirty="0" smtClean="0">
                          <a:latin typeface="Arial Black" pitchFamily="34" charset="0"/>
                        </a:rPr>
                        <a:t>M.Sc. ACCOUNTING</a:t>
                      </a:r>
                      <a:endParaRPr lang="en-GB" sz="1700" dirty="0">
                        <a:latin typeface="Arial Black" pitchFamily="34" charset="0"/>
                      </a:endParaRPr>
                    </a:p>
                  </a:txBody>
                  <a:tcPr/>
                </a:tc>
                <a:tc>
                  <a:txBody>
                    <a:bodyPr/>
                    <a:lstStyle/>
                    <a:p>
                      <a:endParaRPr lang="en-GB" sz="1700" dirty="0" smtClean="0">
                        <a:latin typeface="Arial Black" pitchFamily="34" charset="0"/>
                      </a:endParaRPr>
                    </a:p>
                    <a:p>
                      <a:r>
                        <a:rPr lang="en-GB" sz="1700" dirty="0" smtClean="0">
                          <a:latin typeface="Arial Black" pitchFamily="34" charset="0"/>
                        </a:rPr>
                        <a:t>NOT YET VISITED</a:t>
                      </a:r>
                      <a:endParaRPr lang="en-GB" sz="1700" dirty="0">
                        <a:latin typeface="Arial Black" pitchFamily="34" charset="0"/>
                      </a:endParaRPr>
                    </a:p>
                  </a:txBody>
                  <a:tcPr/>
                </a:tc>
                <a:tc>
                  <a:txBody>
                    <a:bodyPr/>
                    <a:lstStyle/>
                    <a:p>
                      <a:endParaRPr lang="en-GB" sz="1700" dirty="0" smtClean="0">
                        <a:latin typeface="Arial Black" pitchFamily="34" charset="0"/>
                      </a:endParaRPr>
                    </a:p>
                    <a:p>
                      <a:r>
                        <a:rPr lang="en-GB" sz="1700" dirty="0" smtClean="0">
                          <a:latin typeface="Arial Black" pitchFamily="34" charset="0"/>
                        </a:rPr>
                        <a:t>FULL TIME</a:t>
                      </a:r>
                      <a:r>
                        <a:rPr lang="en-GB" sz="1700" baseline="0" dirty="0" smtClean="0">
                          <a:latin typeface="Arial Black" pitchFamily="34" charset="0"/>
                        </a:rPr>
                        <a:t> </a:t>
                      </a:r>
                      <a:endParaRPr lang="en-GB" sz="1700" dirty="0">
                        <a:latin typeface="Arial Black" pitchFamily="34" charset="0"/>
                      </a:endParaRPr>
                    </a:p>
                  </a:txBody>
                  <a:tcPr/>
                </a:tc>
                <a:tc>
                  <a:txBody>
                    <a:bodyPr/>
                    <a:lstStyle/>
                    <a:p>
                      <a:r>
                        <a:rPr lang="en-GB" sz="1700" dirty="0" smtClean="0">
                          <a:latin typeface="Arial Black" pitchFamily="34" charset="0"/>
                        </a:rPr>
                        <a:t> </a:t>
                      </a:r>
                    </a:p>
                    <a:p>
                      <a:r>
                        <a:rPr lang="en-GB" sz="1700" dirty="0" smtClean="0">
                          <a:latin typeface="Arial Black" pitchFamily="34" charset="0"/>
                        </a:rPr>
                        <a:t>21 </a:t>
                      </a:r>
                      <a:endParaRPr lang="en-GB" sz="1700" dirty="0">
                        <a:solidFill>
                          <a:srgbClr val="C00000"/>
                        </a:solidFill>
                        <a:latin typeface="Arial Black" pitchFamily="34" charset="0"/>
                      </a:endParaRPr>
                    </a:p>
                  </a:txBody>
                  <a:tcPr/>
                </a:tc>
              </a:tr>
              <a:tr h="1128230">
                <a:tc>
                  <a:txBody>
                    <a:bodyPr/>
                    <a:lstStyle/>
                    <a:p>
                      <a:r>
                        <a:rPr lang="en-GB" sz="1700" dirty="0" smtClean="0">
                          <a:latin typeface="Arial Black" pitchFamily="34" charset="0"/>
                        </a:rPr>
                        <a:t>M.Sc.</a:t>
                      </a:r>
                      <a:r>
                        <a:rPr lang="en-GB" sz="1700" baseline="0" dirty="0" smtClean="0">
                          <a:latin typeface="Arial Black" pitchFamily="34" charset="0"/>
                        </a:rPr>
                        <a:t> BFN</a:t>
                      </a:r>
                    </a:p>
                    <a:p>
                      <a:endParaRPr lang="en-GB" sz="1700" baseline="0" dirty="0" smtClean="0">
                        <a:latin typeface="Arial Black" pitchFamily="34" charset="0"/>
                      </a:endParaRPr>
                    </a:p>
                    <a:p>
                      <a:r>
                        <a:rPr lang="en-GB" sz="1700" baseline="0" dirty="0" err="1" smtClean="0">
                          <a:latin typeface="Arial Black" pitchFamily="34" charset="0"/>
                        </a:rPr>
                        <a:t>Ph.D</a:t>
                      </a:r>
                      <a:r>
                        <a:rPr lang="en-GB" sz="1700" baseline="0" dirty="0" smtClean="0">
                          <a:latin typeface="Arial Black" pitchFamily="34" charset="0"/>
                        </a:rPr>
                        <a:t> BFN</a:t>
                      </a:r>
                      <a:endParaRPr lang="en-GB" sz="1700" dirty="0">
                        <a:latin typeface="Arial Black" pitchFamily="34" charset="0"/>
                      </a:endParaRPr>
                    </a:p>
                  </a:txBody>
                  <a:tcPr/>
                </a:tc>
                <a:tc>
                  <a:txBody>
                    <a:bodyPr/>
                    <a:lstStyle/>
                    <a:p>
                      <a:endParaRPr lang="en-GB" sz="1700" dirty="0" smtClean="0">
                        <a:latin typeface="Arial Black" pitchFamily="34" charset="0"/>
                      </a:endParaRPr>
                    </a:p>
                    <a:p>
                      <a:r>
                        <a:rPr lang="en-GB" sz="1700" dirty="0" smtClean="0">
                          <a:latin typeface="Arial Black" pitchFamily="34" charset="0"/>
                        </a:rPr>
                        <a:t>FULL ACCREDITATION</a:t>
                      </a:r>
                      <a:endParaRPr lang="en-GB" sz="1700" dirty="0">
                        <a:latin typeface="Arial Black"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700" dirty="0" smtClean="0">
                        <a:latin typeface="Arial Black"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700" dirty="0" smtClean="0">
                          <a:latin typeface="Arial Black" pitchFamily="34" charset="0"/>
                        </a:rPr>
                        <a:t>FULL TIME</a:t>
                      </a:r>
                      <a:r>
                        <a:rPr lang="en-GB" sz="1700" baseline="0" dirty="0" smtClean="0">
                          <a:latin typeface="Arial Black" pitchFamily="34" charset="0"/>
                        </a:rPr>
                        <a:t> </a:t>
                      </a:r>
                      <a:endParaRPr lang="en-GB" sz="1700" dirty="0" smtClean="0">
                        <a:latin typeface="Arial Black" pitchFamily="34" charset="0"/>
                      </a:endParaRPr>
                    </a:p>
                    <a:p>
                      <a:endParaRPr lang="en-GB" sz="1700" dirty="0">
                        <a:latin typeface="Arial Black" pitchFamily="34" charset="0"/>
                      </a:endParaRPr>
                    </a:p>
                  </a:txBody>
                  <a:tcPr/>
                </a:tc>
                <a:tc>
                  <a:txBody>
                    <a:bodyPr/>
                    <a:lstStyle/>
                    <a:p>
                      <a:r>
                        <a:rPr lang="en-GB" sz="1700" dirty="0" smtClean="0">
                          <a:latin typeface="Arial Black" pitchFamily="34" charset="0"/>
                        </a:rPr>
                        <a:t>50</a:t>
                      </a:r>
                    </a:p>
                    <a:p>
                      <a:endParaRPr lang="en-GB" sz="1700" dirty="0" smtClean="0">
                        <a:latin typeface="Arial Black" pitchFamily="34" charset="0"/>
                      </a:endParaRPr>
                    </a:p>
                    <a:p>
                      <a:r>
                        <a:rPr lang="en-GB" sz="1700" dirty="0" smtClean="0">
                          <a:latin typeface="Arial Black" pitchFamily="34" charset="0"/>
                        </a:rPr>
                        <a:t>21</a:t>
                      </a:r>
                      <a:endParaRPr lang="en-GB" sz="1700" dirty="0" smtClean="0">
                        <a:solidFill>
                          <a:srgbClr val="C00000"/>
                        </a:solidFill>
                        <a:latin typeface="Arial Black" pitchFamily="34" charset="0"/>
                      </a:endParaRPr>
                    </a:p>
                  </a:txBody>
                  <a:tcPr/>
                </a:tc>
              </a:tr>
              <a:tr h="1497075">
                <a:tc>
                  <a:txBody>
                    <a:bodyPr/>
                    <a:lstStyle/>
                    <a:p>
                      <a:r>
                        <a:rPr lang="en-GB" sz="1700" dirty="0" smtClean="0">
                          <a:latin typeface="Arial Black" pitchFamily="34" charset="0"/>
                        </a:rPr>
                        <a:t>M.Sc.</a:t>
                      </a:r>
                      <a:r>
                        <a:rPr lang="en-GB" sz="1700" baseline="0" dirty="0" smtClean="0">
                          <a:latin typeface="Arial Black" pitchFamily="34" charset="0"/>
                        </a:rPr>
                        <a:t> BUS ADMIN</a:t>
                      </a:r>
                    </a:p>
                    <a:p>
                      <a:endParaRPr lang="en-GB" sz="1700" baseline="0" dirty="0" smtClean="0">
                        <a:latin typeface="Arial Black" pitchFamily="34" charset="0"/>
                      </a:endParaRPr>
                    </a:p>
                    <a:p>
                      <a:r>
                        <a:rPr lang="en-GB" sz="1700" baseline="0" dirty="0" err="1" smtClean="0">
                          <a:latin typeface="Arial Black" pitchFamily="34" charset="0"/>
                        </a:rPr>
                        <a:t>M.Phill/Ph.D</a:t>
                      </a:r>
                      <a:r>
                        <a:rPr lang="en-GB" sz="1700" baseline="0" dirty="0" smtClean="0">
                          <a:latin typeface="Arial Black" pitchFamily="34" charset="0"/>
                        </a:rPr>
                        <a:t> BAM</a:t>
                      </a:r>
                    </a:p>
                    <a:p>
                      <a:endParaRPr lang="en-GB" sz="1700" baseline="0" dirty="0" smtClean="0">
                        <a:latin typeface="Arial Black" pitchFamily="34" charset="0"/>
                      </a:endParaRPr>
                    </a:p>
                    <a:p>
                      <a:r>
                        <a:rPr lang="en-GB" sz="1700" baseline="0" dirty="0" err="1" smtClean="0">
                          <a:latin typeface="Arial Black" pitchFamily="34" charset="0"/>
                        </a:rPr>
                        <a:t>Ph.D</a:t>
                      </a:r>
                      <a:r>
                        <a:rPr lang="en-GB" sz="1700" baseline="0" dirty="0" smtClean="0">
                          <a:latin typeface="Arial Black" pitchFamily="34" charset="0"/>
                        </a:rPr>
                        <a:t> BUS ADMIN</a:t>
                      </a:r>
                    </a:p>
                    <a:p>
                      <a:endParaRPr lang="en-GB" sz="1700" baseline="0" dirty="0" smtClean="0">
                        <a:latin typeface="Arial Black" pitchFamily="34" charset="0"/>
                      </a:endParaRPr>
                    </a:p>
                    <a:p>
                      <a:r>
                        <a:rPr lang="en-GB" sz="1700" baseline="0" dirty="0" smtClean="0">
                          <a:latin typeface="Arial Black" pitchFamily="34" charset="0"/>
                        </a:rPr>
                        <a:t>MBA EXECUTIVE</a:t>
                      </a:r>
                      <a:endParaRPr lang="en-GB" sz="1700" dirty="0">
                        <a:latin typeface="Arial Black" pitchFamily="34" charset="0"/>
                      </a:endParaRPr>
                    </a:p>
                  </a:txBody>
                  <a:tcPr/>
                </a:tc>
                <a:tc>
                  <a:txBody>
                    <a:bodyPr/>
                    <a:lstStyle/>
                    <a:p>
                      <a:endParaRPr lang="en-GB" sz="1700" dirty="0" smtClean="0">
                        <a:latin typeface="Arial Black" pitchFamily="34" charset="0"/>
                      </a:endParaRPr>
                    </a:p>
                    <a:p>
                      <a:endParaRPr lang="en-GB" sz="1700" dirty="0" smtClean="0">
                        <a:latin typeface="Arial Black" pitchFamily="34" charset="0"/>
                      </a:endParaRPr>
                    </a:p>
                    <a:p>
                      <a:r>
                        <a:rPr lang="en-GB" sz="1700" dirty="0" smtClean="0">
                          <a:latin typeface="Arial Black" pitchFamily="34" charset="0"/>
                        </a:rPr>
                        <a:t>FULL ACCREDITATION</a:t>
                      </a:r>
                      <a:endParaRPr lang="en-GB" sz="1700" dirty="0">
                        <a:latin typeface="Arial Black" pitchFamily="34" charset="0"/>
                      </a:endParaRPr>
                    </a:p>
                  </a:txBody>
                  <a:tcPr/>
                </a:tc>
                <a:tc>
                  <a:txBody>
                    <a:bodyPr/>
                    <a:lstStyle/>
                    <a:p>
                      <a:endParaRPr lang="en-GB" sz="1700" dirty="0" smtClean="0">
                        <a:latin typeface="Arial Black" pitchFamily="34" charset="0"/>
                      </a:endParaRPr>
                    </a:p>
                    <a:p>
                      <a:endParaRPr lang="en-GB" sz="1700" dirty="0" smtClean="0">
                        <a:latin typeface="Arial Black" pitchFamily="34" charset="0"/>
                      </a:endParaRPr>
                    </a:p>
                    <a:p>
                      <a:r>
                        <a:rPr lang="en-GB" sz="1700" dirty="0" smtClean="0">
                          <a:latin typeface="Arial Black" pitchFamily="34" charset="0"/>
                        </a:rPr>
                        <a:t>FULL TIME</a:t>
                      </a:r>
                      <a:r>
                        <a:rPr lang="en-GB" sz="1700" baseline="0" dirty="0" smtClean="0">
                          <a:latin typeface="Arial Black" pitchFamily="34" charset="0"/>
                        </a:rPr>
                        <a:t> </a:t>
                      </a:r>
                      <a:endParaRPr lang="en-GB" sz="1700" dirty="0">
                        <a:latin typeface="Arial Black" pitchFamily="34" charset="0"/>
                      </a:endParaRPr>
                    </a:p>
                  </a:txBody>
                  <a:tcPr/>
                </a:tc>
                <a:tc>
                  <a:txBody>
                    <a:bodyPr/>
                    <a:lstStyle/>
                    <a:p>
                      <a:r>
                        <a:rPr lang="en-GB" sz="1700" dirty="0" smtClean="0">
                          <a:latin typeface="Arial Black" pitchFamily="34" charset="0"/>
                        </a:rPr>
                        <a:t>62</a:t>
                      </a:r>
                    </a:p>
                    <a:p>
                      <a:endParaRPr lang="en-GB" sz="1700" dirty="0" smtClean="0">
                        <a:latin typeface="Arial Black" pitchFamily="34" charset="0"/>
                      </a:endParaRPr>
                    </a:p>
                    <a:p>
                      <a:r>
                        <a:rPr lang="en-GB" sz="1700" dirty="0" smtClean="0">
                          <a:latin typeface="Arial Black" pitchFamily="34" charset="0"/>
                        </a:rPr>
                        <a:t>18</a:t>
                      </a:r>
                    </a:p>
                    <a:p>
                      <a:endParaRPr lang="en-GB" sz="1700" dirty="0" smtClean="0">
                        <a:latin typeface="Arial Black" pitchFamily="34" charset="0"/>
                      </a:endParaRPr>
                    </a:p>
                    <a:p>
                      <a:r>
                        <a:rPr lang="en-GB" sz="1700" dirty="0" smtClean="0">
                          <a:latin typeface="Arial Black" pitchFamily="34" charset="0"/>
                        </a:rPr>
                        <a:t>34</a:t>
                      </a:r>
                    </a:p>
                    <a:p>
                      <a:endParaRPr lang="en-GB" sz="1700" dirty="0" smtClean="0">
                        <a:latin typeface="Arial Black" pitchFamily="34" charset="0"/>
                      </a:endParaRPr>
                    </a:p>
                    <a:p>
                      <a:r>
                        <a:rPr lang="en-GB" sz="1700" dirty="0" smtClean="0">
                          <a:latin typeface="Arial Black" pitchFamily="34" charset="0"/>
                        </a:rPr>
                        <a:t>51</a:t>
                      </a:r>
                      <a:endParaRPr lang="en-GB" sz="1700" dirty="0">
                        <a:solidFill>
                          <a:srgbClr val="C00000"/>
                        </a:solidFill>
                        <a:latin typeface="Arial Black" pitchFamily="34" charset="0"/>
                      </a:endParaRPr>
                    </a:p>
                  </a:txBody>
                  <a:tcPr/>
                </a:tc>
              </a:tr>
            </a:tbl>
          </a:graphicData>
        </a:graphic>
      </p:graphicFrame>
    </p:spTree>
  </p:cSld>
  <p:clrMapOvr>
    <a:masterClrMapping/>
  </p:clrMapOvr>
  <p:transition>
    <p:wedg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9512" y="404664"/>
            <a:ext cx="8568952" cy="6120680"/>
          </a:xfrm>
        </p:spPr>
        <p:txBody>
          <a:bodyPr/>
          <a:lstStyle/>
          <a:p>
            <a:r>
              <a:rPr lang="en-GB" sz="4000" b="1" dirty="0" smtClean="0">
                <a:solidFill>
                  <a:srgbClr val="FF0000"/>
                </a:solidFill>
              </a:rPr>
              <a:t>ACADEMIC STAFF PROFILE</a:t>
            </a:r>
            <a:endParaRPr lang="en-GB" sz="4000" b="1" dirty="0" smtClean="0">
              <a:solidFill>
                <a:srgbClr val="FF0000"/>
              </a:solidFill>
            </a:endParaRPr>
          </a:p>
          <a:p>
            <a:pPr algn="just"/>
            <a:endParaRPr lang="en-GB" dirty="0">
              <a:solidFill>
                <a:schemeClr val="tx1"/>
              </a:solidFill>
            </a:endParaRPr>
          </a:p>
        </p:txBody>
      </p:sp>
      <p:graphicFrame>
        <p:nvGraphicFramePr>
          <p:cNvPr id="4" name="Table 3"/>
          <p:cNvGraphicFramePr>
            <a:graphicFrameLocks noGrp="1"/>
          </p:cNvGraphicFramePr>
          <p:nvPr/>
        </p:nvGraphicFramePr>
        <p:xfrm>
          <a:off x="395535" y="1052736"/>
          <a:ext cx="8424936" cy="5472607"/>
        </p:xfrm>
        <a:graphic>
          <a:graphicData uri="http://schemas.openxmlformats.org/drawingml/2006/table">
            <a:tbl>
              <a:tblPr firstRow="1" lastRow="1" bandRow="1">
                <a:tableStyleId>{22838BEF-8BB2-4498-84A7-C5851F593DF1}</a:tableStyleId>
              </a:tblPr>
              <a:tblGrid>
                <a:gridCol w="1825403"/>
                <a:gridCol w="4984754"/>
                <a:gridCol w="1614779"/>
              </a:tblGrid>
              <a:tr h="531864">
                <a:tc>
                  <a:txBody>
                    <a:bodyPr/>
                    <a:lstStyle/>
                    <a:p>
                      <a:r>
                        <a:rPr lang="en-GB" sz="1400" dirty="0" smtClean="0">
                          <a:latin typeface="Arial Black" pitchFamily="34" charset="0"/>
                        </a:rPr>
                        <a:t>RANK</a:t>
                      </a:r>
                      <a:endParaRPr lang="en-GB" sz="1400" dirty="0">
                        <a:latin typeface="Arial Black" pitchFamily="34" charset="0"/>
                      </a:endParaRPr>
                    </a:p>
                  </a:txBody>
                  <a:tcPr/>
                </a:tc>
                <a:tc>
                  <a:txBody>
                    <a:bodyPr/>
                    <a:lstStyle/>
                    <a:p>
                      <a:r>
                        <a:rPr lang="en-GB" sz="1400" dirty="0" smtClean="0">
                          <a:latin typeface="Arial Black" pitchFamily="34" charset="0"/>
                        </a:rPr>
                        <a:t>NUMBER BY DEPARTMENT</a:t>
                      </a:r>
                      <a:endParaRPr lang="en-GB" sz="1400" dirty="0">
                        <a:latin typeface="Arial Black" pitchFamily="34" charset="0"/>
                      </a:endParaRPr>
                    </a:p>
                  </a:txBody>
                  <a:tcPr/>
                </a:tc>
                <a:tc>
                  <a:txBody>
                    <a:bodyPr/>
                    <a:lstStyle/>
                    <a:p>
                      <a:r>
                        <a:rPr lang="en-GB" sz="1400" dirty="0" smtClean="0">
                          <a:latin typeface="Arial Black" pitchFamily="34" charset="0"/>
                        </a:rPr>
                        <a:t>TOTAL AVAILABLE</a:t>
                      </a:r>
                      <a:endParaRPr lang="en-GB" sz="1400" dirty="0">
                        <a:latin typeface="Arial Black" pitchFamily="34" charset="0"/>
                      </a:endParaRPr>
                    </a:p>
                  </a:txBody>
                  <a:tcPr/>
                </a:tc>
              </a:tr>
              <a:tr h="797797">
                <a:tc>
                  <a:txBody>
                    <a:bodyPr/>
                    <a:lstStyle/>
                    <a:p>
                      <a:r>
                        <a:rPr lang="en-GB" sz="1400" dirty="0" smtClean="0">
                          <a:latin typeface="Arial Black" pitchFamily="34" charset="0"/>
                        </a:rPr>
                        <a:t>PROFESSORS</a:t>
                      </a:r>
                      <a:endParaRPr lang="en-GB" sz="1400" dirty="0">
                        <a:latin typeface="Arial Black" pitchFamily="34" charset="0"/>
                      </a:endParaRPr>
                    </a:p>
                  </a:txBody>
                  <a:tcPr/>
                </a:tc>
                <a:tc>
                  <a:txBody>
                    <a:bodyPr/>
                    <a:lstStyle/>
                    <a:p>
                      <a:r>
                        <a:rPr lang="en-GB" sz="1400" baseline="0" dirty="0" smtClean="0">
                          <a:latin typeface="Arial Black" pitchFamily="34" charset="0"/>
                        </a:rPr>
                        <a:t>BANKING &amp; FINANCE:                       1</a:t>
                      </a:r>
                    </a:p>
                    <a:p>
                      <a:r>
                        <a:rPr lang="en-GB" sz="1400" baseline="0" dirty="0" smtClean="0">
                          <a:latin typeface="Arial Black" pitchFamily="34" charset="0"/>
                        </a:rPr>
                        <a:t>BUSINESS ADMINISTRATION:           1</a:t>
                      </a:r>
                      <a:endParaRPr lang="en-GB" sz="1400" dirty="0" smtClean="0">
                        <a:latin typeface="Arial Black" pitchFamily="34" charset="0"/>
                      </a:endParaRPr>
                    </a:p>
                    <a:p>
                      <a:endParaRPr lang="en-GB" sz="1400" dirty="0">
                        <a:latin typeface="Arial Black" pitchFamily="34" charset="0"/>
                      </a:endParaRPr>
                    </a:p>
                  </a:txBody>
                  <a:tcPr/>
                </a:tc>
                <a:tc>
                  <a:txBody>
                    <a:bodyPr/>
                    <a:lstStyle/>
                    <a:p>
                      <a:endParaRPr lang="en-GB" sz="1400" dirty="0" smtClean="0">
                        <a:latin typeface="Arial Black" pitchFamily="34" charset="0"/>
                      </a:endParaRPr>
                    </a:p>
                    <a:p>
                      <a:r>
                        <a:rPr lang="en-GB" sz="1400" dirty="0" smtClean="0">
                          <a:latin typeface="Arial Black" pitchFamily="34" charset="0"/>
                        </a:rPr>
                        <a:t>           2</a:t>
                      </a:r>
                      <a:endParaRPr lang="en-GB" sz="1400" dirty="0">
                        <a:latin typeface="Arial Black" pitchFamily="34" charset="0"/>
                      </a:endParaRPr>
                    </a:p>
                  </a:txBody>
                  <a:tcPr/>
                </a:tc>
              </a:tr>
              <a:tr h="559858">
                <a:tc>
                  <a:txBody>
                    <a:bodyPr/>
                    <a:lstStyle/>
                    <a:p>
                      <a:r>
                        <a:rPr lang="en-GB" sz="1400" dirty="0" smtClean="0">
                          <a:latin typeface="Arial Black" pitchFamily="34" charset="0"/>
                        </a:rPr>
                        <a:t>READERS</a:t>
                      </a:r>
                      <a:endParaRPr lang="en-GB" sz="1400" dirty="0">
                        <a:latin typeface="Arial Black" pitchFamily="34" charset="0"/>
                      </a:endParaRPr>
                    </a:p>
                  </a:txBody>
                  <a:tcPr/>
                </a:tc>
                <a:tc>
                  <a:txBody>
                    <a:bodyPr/>
                    <a:lstStyle/>
                    <a:p>
                      <a:r>
                        <a:rPr lang="en-GB" sz="1400" dirty="0" smtClean="0">
                          <a:latin typeface="Arial Black" pitchFamily="34" charset="0"/>
                        </a:rPr>
                        <a:t>                </a:t>
                      </a:r>
                    </a:p>
                    <a:p>
                      <a:r>
                        <a:rPr lang="en-GB" sz="1400" dirty="0" smtClean="0">
                          <a:latin typeface="Arial Black" pitchFamily="34" charset="0"/>
                        </a:rPr>
                        <a:t>                 NIL</a:t>
                      </a:r>
                      <a:endParaRPr lang="en-GB" sz="1400" dirty="0">
                        <a:latin typeface="Arial Black"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400" dirty="0" smtClean="0">
                        <a:latin typeface="Arial Black"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400" baseline="0" dirty="0" smtClean="0">
                          <a:latin typeface="Arial Black" pitchFamily="34" charset="0"/>
                        </a:rPr>
                        <a:t>          </a:t>
                      </a:r>
                      <a:r>
                        <a:rPr lang="en-GB" sz="1400" dirty="0" smtClean="0">
                          <a:latin typeface="Arial Black" pitchFamily="34" charset="0"/>
                        </a:rPr>
                        <a:t>NIL</a:t>
                      </a:r>
                      <a:endParaRPr lang="en-GB" sz="1400" dirty="0">
                        <a:latin typeface="Arial Black" pitchFamily="34" charset="0"/>
                      </a:endParaRPr>
                    </a:p>
                  </a:txBody>
                  <a:tcPr/>
                </a:tc>
              </a:tr>
              <a:tr h="797797">
                <a:tc>
                  <a:txBody>
                    <a:bodyPr/>
                    <a:lstStyle/>
                    <a:p>
                      <a:r>
                        <a:rPr lang="en-GB" sz="1400" dirty="0" smtClean="0">
                          <a:latin typeface="Arial Black" pitchFamily="34" charset="0"/>
                        </a:rPr>
                        <a:t>SENIOR LECTURERS</a:t>
                      </a:r>
                      <a:endParaRPr lang="en-GB" sz="1400" dirty="0">
                        <a:latin typeface="Arial Black" pitchFamily="34" charset="0"/>
                      </a:endParaRPr>
                    </a:p>
                  </a:txBody>
                  <a:tcPr/>
                </a:tc>
                <a:tc>
                  <a:txBody>
                    <a:bodyPr/>
                    <a:lstStyle/>
                    <a:p>
                      <a:r>
                        <a:rPr lang="en-GB" sz="1400" baseline="0" dirty="0" smtClean="0">
                          <a:latin typeface="Arial Black" pitchFamily="34" charset="0"/>
                        </a:rPr>
                        <a:t>ACCOUNTING:                                    1</a:t>
                      </a:r>
                    </a:p>
                    <a:p>
                      <a:r>
                        <a:rPr lang="en-GB" sz="1400" baseline="0" dirty="0" smtClean="0">
                          <a:latin typeface="Arial Black" pitchFamily="34" charset="0"/>
                        </a:rPr>
                        <a:t>BANKING &amp; FINANCE:                        2</a:t>
                      </a:r>
                    </a:p>
                    <a:p>
                      <a:endParaRPr lang="en-GB" sz="1400" dirty="0">
                        <a:latin typeface="Arial Black" pitchFamily="34" charset="0"/>
                      </a:endParaRPr>
                    </a:p>
                  </a:txBody>
                  <a:tcPr/>
                </a:tc>
                <a:tc>
                  <a:txBody>
                    <a:bodyPr/>
                    <a:lstStyle/>
                    <a:p>
                      <a:endParaRPr lang="en-GB" sz="1400" dirty="0" smtClean="0">
                        <a:latin typeface="Arial Black" pitchFamily="34" charset="0"/>
                      </a:endParaRPr>
                    </a:p>
                    <a:p>
                      <a:endParaRPr lang="en-GB" sz="1400" dirty="0" smtClean="0">
                        <a:latin typeface="Arial Black" pitchFamily="34" charset="0"/>
                      </a:endParaRPr>
                    </a:p>
                    <a:p>
                      <a:r>
                        <a:rPr lang="en-GB" sz="1400" dirty="0" smtClean="0">
                          <a:latin typeface="Arial Black" pitchFamily="34" charset="0"/>
                        </a:rPr>
                        <a:t>           3</a:t>
                      </a:r>
                      <a:endParaRPr lang="en-GB" sz="1400" dirty="0">
                        <a:latin typeface="Arial Black" pitchFamily="34" charset="0"/>
                      </a:endParaRPr>
                    </a:p>
                  </a:txBody>
                  <a:tcPr/>
                </a:tc>
              </a:tr>
              <a:tr h="1273676">
                <a:tc>
                  <a:txBody>
                    <a:bodyPr/>
                    <a:lstStyle/>
                    <a:p>
                      <a:r>
                        <a:rPr lang="en-GB" sz="1400" dirty="0" smtClean="0">
                          <a:latin typeface="Arial Black" pitchFamily="34" charset="0"/>
                        </a:rPr>
                        <a:t>LECTURER I</a:t>
                      </a:r>
                      <a:endParaRPr lang="en-GB" sz="1400" dirty="0">
                        <a:latin typeface="Arial Black"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400" baseline="0" dirty="0" smtClean="0">
                          <a:latin typeface="Arial Black" pitchFamily="34" charset="0"/>
                        </a:rPr>
                        <a:t>ACCOUNTING:                                    3</a:t>
                      </a:r>
                    </a:p>
                    <a:p>
                      <a:r>
                        <a:rPr lang="en-GB" sz="1400" baseline="0" dirty="0" smtClean="0">
                          <a:latin typeface="Arial Black" pitchFamily="34" charset="0"/>
                        </a:rPr>
                        <a:t>BANKING &amp; FINANCE:                       6</a:t>
                      </a:r>
                    </a:p>
                    <a:p>
                      <a:r>
                        <a:rPr lang="en-GB" sz="1400" baseline="0" dirty="0" smtClean="0">
                          <a:latin typeface="Arial Black" pitchFamily="34" charset="0"/>
                        </a:rPr>
                        <a:t>BUSINESS ADMINISTRATION:           3</a:t>
                      </a:r>
                      <a:endParaRPr lang="en-GB" sz="1400" dirty="0" smtClean="0">
                        <a:latin typeface="Arial Black" pitchFamily="34" charset="0"/>
                      </a:endParaRPr>
                    </a:p>
                    <a:p>
                      <a:endParaRPr lang="en-GB" sz="1400" dirty="0" smtClean="0">
                        <a:latin typeface="Arial Black" pitchFamily="34" charset="0"/>
                      </a:endParaRPr>
                    </a:p>
                    <a:p>
                      <a:endParaRPr lang="en-GB" sz="1400" dirty="0">
                        <a:latin typeface="Arial Black" pitchFamily="34" charset="0"/>
                      </a:endParaRPr>
                    </a:p>
                  </a:txBody>
                  <a:tcPr/>
                </a:tc>
                <a:tc>
                  <a:txBody>
                    <a:bodyPr/>
                    <a:lstStyle/>
                    <a:p>
                      <a:endParaRPr lang="en-GB" sz="1400" dirty="0" smtClean="0">
                        <a:latin typeface="Arial Black" pitchFamily="34" charset="0"/>
                      </a:endParaRPr>
                    </a:p>
                    <a:p>
                      <a:endParaRPr lang="en-GB" sz="1400" dirty="0" smtClean="0">
                        <a:latin typeface="Arial Black" pitchFamily="34" charset="0"/>
                      </a:endParaRPr>
                    </a:p>
                    <a:p>
                      <a:r>
                        <a:rPr lang="en-GB" sz="1400" dirty="0" smtClean="0">
                          <a:latin typeface="Arial Black" pitchFamily="34" charset="0"/>
                        </a:rPr>
                        <a:t>           11</a:t>
                      </a:r>
                      <a:endParaRPr lang="en-GB" sz="1400" dirty="0">
                        <a:latin typeface="Arial Black" pitchFamily="34" charset="0"/>
                      </a:endParaRPr>
                    </a:p>
                  </a:txBody>
                  <a:tcPr/>
                </a:tc>
              </a:tr>
              <a:tr h="1511615">
                <a:tc>
                  <a:txBody>
                    <a:bodyPr/>
                    <a:lstStyle/>
                    <a:p>
                      <a:r>
                        <a:rPr lang="en-GB" sz="1400" dirty="0" smtClean="0">
                          <a:latin typeface="Arial Black" pitchFamily="34" charset="0"/>
                        </a:rPr>
                        <a:t>OTHERS</a:t>
                      </a:r>
                      <a:endParaRPr lang="en-GB" sz="1400" dirty="0">
                        <a:latin typeface="Arial Black"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400" baseline="0" dirty="0" smtClean="0">
                          <a:latin typeface="Arial Black" pitchFamily="34" charset="0"/>
                        </a:rPr>
                        <a:t>ACCOUNTING:                                    6</a:t>
                      </a:r>
                    </a:p>
                    <a:p>
                      <a:r>
                        <a:rPr lang="en-GB" sz="1400" baseline="0" dirty="0" smtClean="0">
                          <a:latin typeface="Arial Black" pitchFamily="34" charset="0"/>
                        </a:rPr>
                        <a:t>BANKING &amp; FINANCE:                       4</a:t>
                      </a:r>
                    </a:p>
                    <a:p>
                      <a:r>
                        <a:rPr lang="en-GB" sz="1400" baseline="0" dirty="0" smtClean="0">
                          <a:latin typeface="Arial Black" pitchFamily="34" charset="0"/>
                        </a:rPr>
                        <a:t>BUSINESS ADMINISTRATION:           6</a:t>
                      </a:r>
                      <a:endParaRPr lang="en-GB" sz="1400" dirty="0" smtClean="0">
                        <a:latin typeface="Arial Black" pitchFamily="34" charset="0"/>
                      </a:endParaRPr>
                    </a:p>
                    <a:p>
                      <a:endParaRPr lang="en-GB" sz="1400" dirty="0" smtClean="0">
                        <a:latin typeface="Arial Black" pitchFamily="34" charset="0"/>
                      </a:endParaRPr>
                    </a:p>
                    <a:p>
                      <a:endParaRPr lang="en-GB" sz="1400" dirty="0" smtClean="0">
                        <a:latin typeface="Arial Black" pitchFamily="34" charset="0"/>
                      </a:endParaRPr>
                    </a:p>
                    <a:p>
                      <a:endParaRPr lang="en-GB" sz="1400" dirty="0">
                        <a:latin typeface="Arial Black" pitchFamily="34" charset="0"/>
                      </a:endParaRPr>
                    </a:p>
                  </a:txBody>
                  <a:tcPr/>
                </a:tc>
                <a:tc>
                  <a:txBody>
                    <a:bodyPr/>
                    <a:lstStyle/>
                    <a:p>
                      <a:r>
                        <a:rPr lang="en-GB" sz="1400" dirty="0" smtClean="0">
                          <a:latin typeface="Arial Black" pitchFamily="34" charset="0"/>
                        </a:rPr>
                        <a:t>           16</a:t>
                      </a:r>
                      <a:endParaRPr lang="en-GB" sz="1400" dirty="0">
                        <a:latin typeface="Arial Black" pitchFamily="34" charset="0"/>
                      </a:endParaRPr>
                    </a:p>
                  </a:txBody>
                  <a:tcPr/>
                </a:tc>
              </a:tr>
            </a:tbl>
          </a:graphicData>
        </a:graphic>
      </p:graphicFrame>
    </p:spTree>
  </p:cSld>
  <p:clrMapOvr>
    <a:masterClrMapping/>
  </p:clrMapOvr>
  <p:transition>
    <p:wedg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9512" y="404664"/>
            <a:ext cx="8568952" cy="6120680"/>
          </a:xfrm>
        </p:spPr>
        <p:txBody>
          <a:bodyPr>
            <a:normAutofit fontScale="92500" lnSpcReduction="20000"/>
          </a:bodyPr>
          <a:lstStyle/>
          <a:p>
            <a:r>
              <a:rPr lang="en-GB" sz="4000" b="1" dirty="0" smtClean="0">
                <a:solidFill>
                  <a:srgbClr val="FF0000"/>
                </a:solidFill>
              </a:rPr>
              <a:t>VIABILITY OF THE PROGRAMMES</a:t>
            </a:r>
            <a:endParaRPr lang="en-GB" sz="4000" b="1" dirty="0" smtClean="0">
              <a:solidFill>
                <a:srgbClr val="FF0000"/>
              </a:solidFill>
            </a:endParaRPr>
          </a:p>
          <a:p>
            <a:pPr algn="just"/>
            <a:endParaRPr lang="en-GB" dirty="0">
              <a:solidFill>
                <a:schemeClr val="tx1"/>
              </a:solidFill>
            </a:endParaRPr>
          </a:p>
          <a:p>
            <a:pPr marL="571500" indent="-571500" algn="just">
              <a:buAutoNum type="romanLcPeriod"/>
            </a:pPr>
            <a:r>
              <a:rPr lang="en-GB" b="1" dirty="0" smtClean="0">
                <a:solidFill>
                  <a:schemeClr val="tx1"/>
                </a:solidFill>
              </a:rPr>
              <a:t>The existing Undergraduate Programmes (Full Time) are currently viable and well subscribed to by UTME and Direct Entry students every session. However, The Part Time Programme is in comatose and requires urgent attention.</a:t>
            </a:r>
          </a:p>
          <a:p>
            <a:pPr marL="571500" indent="-571500" algn="just">
              <a:buAutoNum type="romanLcPeriod"/>
            </a:pPr>
            <a:endParaRPr lang="en-GB" sz="3200" b="1" dirty="0" smtClean="0">
              <a:solidFill>
                <a:schemeClr val="tx1"/>
              </a:solidFill>
            </a:endParaRPr>
          </a:p>
          <a:p>
            <a:pPr marL="571500" indent="-571500" algn="just">
              <a:buAutoNum type="romanLcPeriod"/>
            </a:pPr>
            <a:r>
              <a:rPr lang="en-GB" b="1" dirty="0" smtClean="0">
                <a:solidFill>
                  <a:schemeClr val="tx1"/>
                </a:solidFill>
              </a:rPr>
              <a:t>The existing Postgraduate Programmes are  currently not as robust as expected in terms of number of applicants vis-à-vis admitted candidates. This is due largely to non availability of qualified senior personnel and the image of the University on PG programmes.</a:t>
            </a:r>
            <a:endParaRPr lang="en-GB" sz="3200" b="1" dirty="0" smtClean="0">
              <a:solidFill>
                <a:schemeClr val="tx1"/>
              </a:solidFill>
            </a:endParaRPr>
          </a:p>
          <a:p>
            <a:pPr marL="571500" indent="-571500" algn="just"/>
            <a:endParaRPr lang="en-GB" dirty="0">
              <a:solidFill>
                <a:schemeClr val="tx1"/>
              </a:solidFill>
            </a:endParaRPr>
          </a:p>
        </p:txBody>
      </p:sp>
    </p:spTree>
  </p:cSld>
  <p:clrMapOvr>
    <a:masterClrMapping/>
  </p:clrMapOvr>
  <p:transition>
    <p:wedg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9512" y="404664"/>
            <a:ext cx="8568952" cy="6120680"/>
          </a:xfrm>
        </p:spPr>
        <p:txBody>
          <a:bodyPr>
            <a:normAutofit fontScale="92500"/>
          </a:bodyPr>
          <a:lstStyle/>
          <a:p>
            <a:r>
              <a:rPr lang="en-GB" sz="3600" b="1" dirty="0" smtClean="0">
                <a:solidFill>
                  <a:srgbClr val="FF0000"/>
                </a:solidFill>
              </a:rPr>
              <a:t>NEW PROGRAMMES ALREADY APPROVED BY NUC AWAITING JAMB LISTING IN UTME BROCHURE</a:t>
            </a:r>
          </a:p>
          <a:p>
            <a:pPr marL="571500" indent="-571500" algn="just"/>
            <a:r>
              <a:rPr lang="en-GB" sz="2600" b="1" dirty="0" err="1" smtClean="0">
                <a:solidFill>
                  <a:schemeClr val="tx1"/>
                </a:solidFill>
                <a:latin typeface="Arial Black" pitchFamily="34" charset="0"/>
              </a:rPr>
              <a:t>i</a:t>
            </a:r>
            <a:r>
              <a:rPr lang="en-GB" sz="2600" b="1" dirty="0" smtClean="0">
                <a:solidFill>
                  <a:schemeClr val="tx1"/>
                </a:solidFill>
                <a:latin typeface="Arial Black" pitchFamily="34" charset="0"/>
              </a:rPr>
              <a:t>. B.Sc. Marketing</a:t>
            </a:r>
          </a:p>
          <a:p>
            <a:pPr marL="571500" indent="-571500" algn="just"/>
            <a:endParaRPr lang="en-GB" sz="2600" b="1" dirty="0" smtClean="0">
              <a:solidFill>
                <a:schemeClr val="tx1"/>
              </a:solidFill>
              <a:latin typeface="Arial Black" pitchFamily="34" charset="0"/>
            </a:endParaRPr>
          </a:p>
          <a:p>
            <a:pPr marL="571500" indent="-571500" algn="just"/>
            <a:r>
              <a:rPr lang="en-GB" sz="2600" b="1" dirty="0" smtClean="0">
                <a:solidFill>
                  <a:schemeClr val="tx1"/>
                </a:solidFill>
                <a:latin typeface="Arial Black" pitchFamily="34" charset="0"/>
              </a:rPr>
              <a:t>ii. B.Sc. Insurance</a:t>
            </a:r>
          </a:p>
          <a:p>
            <a:pPr marL="571500" indent="-571500" algn="just"/>
            <a:endParaRPr lang="en-GB" sz="2600" b="1" dirty="0" smtClean="0">
              <a:solidFill>
                <a:schemeClr val="tx1"/>
              </a:solidFill>
              <a:latin typeface="Arial Black" pitchFamily="34" charset="0"/>
            </a:endParaRPr>
          </a:p>
          <a:p>
            <a:pPr marL="571500" indent="-571500" algn="just"/>
            <a:r>
              <a:rPr lang="en-GB" sz="2600" b="1" dirty="0" smtClean="0">
                <a:solidFill>
                  <a:schemeClr val="tx1"/>
                </a:solidFill>
                <a:latin typeface="Arial Black" pitchFamily="34" charset="0"/>
              </a:rPr>
              <a:t>iii. B.Sc. Cooperative and Rural Development Management</a:t>
            </a:r>
          </a:p>
          <a:p>
            <a:pPr marL="571500" indent="-571500" algn="just"/>
            <a:endParaRPr lang="en-GB" sz="2600" b="1" dirty="0" smtClean="0">
              <a:solidFill>
                <a:schemeClr val="tx1"/>
              </a:solidFill>
              <a:latin typeface="Arial Black" pitchFamily="34" charset="0"/>
            </a:endParaRPr>
          </a:p>
          <a:p>
            <a:pPr marL="571500" indent="-571500" algn="just"/>
            <a:r>
              <a:rPr lang="en-GB" sz="2600" b="1" dirty="0" smtClean="0">
                <a:solidFill>
                  <a:schemeClr val="tx1"/>
                </a:solidFill>
                <a:latin typeface="Arial Black" pitchFamily="34" charset="0"/>
              </a:rPr>
              <a:t>iv. B.Sc. Industrial Relations and Personnel Mgt.</a:t>
            </a:r>
          </a:p>
          <a:p>
            <a:pPr marL="571500" indent="-571500" algn="just"/>
            <a:endParaRPr lang="en-GB" sz="2600" b="1" dirty="0" smtClean="0">
              <a:solidFill>
                <a:schemeClr val="tx1"/>
              </a:solidFill>
              <a:latin typeface="Arial Black" pitchFamily="34" charset="0"/>
            </a:endParaRPr>
          </a:p>
          <a:p>
            <a:pPr marL="571500" indent="-571500" algn="just"/>
            <a:r>
              <a:rPr lang="en-GB" sz="2600" b="1" dirty="0" smtClean="0">
                <a:solidFill>
                  <a:schemeClr val="tx1"/>
                </a:solidFill>
                <a:latin typeface="Arial Black" pitchFamily="34" charset="0"/>
              </a:rPr>
              <a:t>v. B.Sc. Entrepreneurship</a:t>
            </a:r>
          </a:p>
          <a:p>
            <a:pPr marL="571500" indent="-571500" algn="just"/>
            <a:endParaRPr lang="en-GB" dirty="0">
              <a:solidFill>
                <a:schemeClr val="tx1"/>
              </a:solidFill>
            </a:endParaRPr>
          </a:p>
        </p:txBody>
      </p:sp>
    </p:spTree>
  </p:cSld>
  <p:clrMapOvr>
    <a:masterClrMapping/>
  </p:clrMapOvr>
  <p:transition>
    <p:wedg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04664"/>
            <a:ext cx="9144000" cy="6120680"/>
          </a:xfrm>
        </p:spPr>
        <p:txBody>
          <a:bodyPr>
            <a:normAutofit fontScale="85000" lnSpcReduction="20000"/>
          </a:bodyPr>
          <a:lstStyle/>
          <a:p>
            <a:pPr marL="571500" indent="-571500"/>
            <a:r>
              <a:rPr lang="en-GB" sz="4300" b="1" dirty="0" smtClean="0">
                <a:solidFill>
                  <a:srgbClr val="FF0000"/>
                </a:solidFill>
              </a:rPr>
              <a:t>ACCOMMODATION and CLASSROOM</a:t>
            </a:r>
            <a:endParaRPr lang="en-GB" sz="4300" b="1" dirty="0" smtClean="0">
              <a:solidFill>
                <a:srgbClr val="FF0000"/>
              </a:solidFill>
            </a:endParaRPr>
          </a:p>
          <a:p>
            <a:pPr marL="571500" indent="-571500" algn="just"/>
            <a:r>
              <a:rPr lang="en-GB" b="1" dirty="0" err="1" smtClean="0">
                <a:solidFill>
                  <a:schemeClr val="tx1"/>
                </a:solidFill>
                <a:latin typeface="Arial Black" pitchFamily="34" charset="0"/>
              </a:rPr>
              <a:t>i</a:t>
            </a:r>
            <a:r>
              <a:rPr lang="en-GB" b="1" dirty="0" smtClean="0">
                <a:solidFill>
                  <a:schemeClr val="tx1"/>
                </a:solidFill>
                <a:latin typeface="Arial Black" pitchFamily="34" charset="0"/>
              </a:rPr>
              <a:t>. The Faculty is hopeful that by the time the newly constructed 4-in-1 lecture hall and the Faculty Building are handed over, there will be enough lecture rooms to accommodate students and lecturers in the Faculty.</a:t>
            </a:r>
          </a:p>
          <a:p>
            <a:pPr marL="571500" indent="-571500" algn="just"/>
            <a:endParaRPr lang="en-GB" b="1" dirty="0" smtClean="0">
              <a:solidFill>
                <a:schemeClr val="tx1"/>
              </a:solidFill>
              <a:latin typeface="Arial Black" pitchFamily="34" charset="0"/>
            </a:endParaRPr>
          </a:p>
          <a:p>
            <a:pPr marL="571500" indent="-571500" algn="just"/>
            <a:r>
              <a:rPr lang="en-GB" b="1" dirty="0" smtClean="0">
                <a:solidFill>
                  <a:schemeClr val="tx1"/>
                </a:solidFill>
                <a:latin typeface="Arial Black" pitchFamily="34" charset="0"/>
              </a:rPr>
              <a:t>ii. Presently the accommodation situation is not good enough. Unfortunately, the available lecture rooms being used in conjunction with other Faculties are never swept and furniture therein are in a state of disrepair.  Also, there are no functional conveniences attached to any of these lecture rooms.</a:t>
            </a:r>
            <a:endParaRPr lang="en-GB" b="1" dirty="0" smtClean="0">
              <a:solidFill>
                <a:schemeClr val="tx1"/>
              </a:solidFill>
              <a:latin typeface="Arial Black" pitchFamily="34" charset="0"/>
            </a:endParaRPr>
          </a:p>
          <a:p>
            <a:pPr marL="571500" indent="-571500" algn="just">
              <a:buAutoNum type="romanLcPeriod"/>
            </a:pPr>
            <a:endParaRPr lang="en-GB" dirty="0">
              <a:solidFill>
                <a:schemeClr val="tx1"/>
              </a:solidFill>
            </a:endParaRPr>
          </a:p>
          <a:p>
            <a:pPr marL="571500" indent="-571500" algn="just"/>
            <a:endParaRPr lang="en-GB" dirty="0">
              <a:solidFill>
                <a:schemeClr val="tx1"/>
              </a:solidFill>
            </a:endParaRPr>
          </a:p>
        </p:txBody>
      </p:sp>
    </p:spTree>
  </p:cSld>
  <p:clrMapOvr>
    <a:masterClrMapping/>
  </p:clrMapOvr>
  <p:transition>
    <p:wedg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04664"/>
            <a:ext cx="9144000" cy="6120680"/>
          </a:xfrm>
        </p:spPr>
        <p:txBody>
          <a:bodyPr>
            <a:normAutofit fontScale="62500" lnSpcReduction="20000"/>
          </a:bodyPr>
          <a:lstStyle/>
          <a:p>
            <a:pPr marL="571500" indent="-571500"/>
            <a:r>
              <a:rPr lang="en-GB" sz="4300" b="1" dirty="0" smtClean="0">
                <a:solidFill>
                  <a:srgbClr val="FF0000"/>
                </a:solidFill>
              </a:rPr>
              <a:t>EXAMINATION RESULTS PROCESSING</a:t>
            </a:r>
            <a:endParaRPr lang="en-GB" sz="4300" b="1" dirty="0" smtClean="0">
              <a:solidFill>
                <a:srgbClr val="FF0000"/>
              </a:solidFill>
            </a:endParaRPr>
          </a:p>
          <a:p>
            <a:pPr marL="571500" indent="-571500" algn="just">
              <a:buAutoNum type="romanLcPeriod"/>
            </a:pPr>
            <a:r>
              <a:rPr lang="en-GB" b="1" dirty="0" smtClean="0">
                <a:solidFill>
                  <a:schemeClr val="tx1"/>
                </a:solidFill>
                <a:latin typeface="Arial Black" pitchFamily="34" charset="0"/>
              </a:rPr>
              <a:t>The Faculty is one of the few Faculties in the University that always comply with deadlines on results computation and processing (using a micro program developed by each of the Departments in the Faculty). This is always done without prejudice to the prevailing number of academic staff in the Faculty. The existing staff are no doubt overworked and working under pressure.</a:t>
            </a:r>
          </a:p>
          <a:p>
            <a:pPr marL="571500" indent="-571500" algn="just">
              <a:buAutoNum type="romanLcPeriod"/>
            </a:pPr>
            <a:endParaRPr lang="en-GB" b="1" dirty="0" smtClean="0">
              <a:solidFill>
                <a:schemeClr val="tx1"/>
              </a:solidFill>
              <a:latin typeface="Arial Black" pitchFamily="34" charset="0"/>
            </a:endParaRPr>
          </a:p>
          <a:p>
            <a:pPr marL="571500" indent="-571500" algn="just">
              <a:buAutoNum type="romanLcPeriod"/>
            </a:pPr>
            <a:r>
              <a:rPr lang="en-GB" b="1" dirty="0" smtClean="0">
                <a:solidFill>
                  <a:schemeClr val="tx1"/>
                </a:solidFill>
                <a:latin typeface="Arial Black" pitchFamily="34" charset="0"/>
              </a:rPr>
              <a:t>The Faculty is aware that the University once claimed to have a result processing platform on its Portal. Unfortunately, Few Faculties can access the University Portal without visiting the ICT unit of the University. Why Faculty of Management Sciences was denied radio installation despite repeated reminder of this omission.</a:t>
            </a:r>
          </a:p>
          <a:p>
            <a:pPr marL="571500" indent="-571500" algn="just">
              <a:buAutoNum type="romanLcPeriod"/>
            </a:pPr>
            <a:endParaRPr lang="en-GB" b="1" dirty="0" smtClean="0">
              <a:solidFill>
                <a:schemeClr val="tx1"/>
              </a:solidFill>
              <a:latin typeface="Arial Black" pitchFamily="34" charset="0"/>
            </a:endParaRPr>
          </a:p>
          <a:p>
            <a:pPr marL="571500" indent="-571500" algn="just">
              <a:buAutoNum type="romanLcPeriod"/>
            </a:pPr>
            <a:r>
              <a:rPr lang="en-GB" b="1" dirty="0" smtClean="0">
                <a:solidFill>
                  <a:schemeClr val="tx1"/>
                </a:solidFill>
                <a:latin typeface="Arial Black" pitchFamily="34" charset="0"/>
              </a:rPr>
              <a:t>The Faculty is however ready to embrace the University Portal for results’ computation as soon as the current efforts of our Vice Chancellor at reviving ICT starts yielding positive results.</a:t>
            </a:r>
          </a:p>
          <a:p>
            <a:pPr marL="571500" indent="-571500" algn="just"/>
            <a:endParaRPr lang="en-GB" b="1" dirty="0" smtClean="0">
              <a:solidFill>
                <a:schemeClr val="tx1"/>
              </a:solidFill>
              <a:latin typeface="Arial Black" pitchFamily="34" charset="0"/>
            </a:endParaRPr>
          </a:p>
          <a:p>
            <a:pPr marL="571500" indent="-571500" algn="just">
              <a:buAutoNum type="romanLcPeriod"/>
            </a:pPr>
            <a:endParaRPr lang="en-GB" dirty="0">
              <a:solidFill>
                <a:schemeClr val="tx1"/>
              </a:solidFill>
            </a:endParaRPr>
          </a:p>
          <a:p>
            <a:pPr marL="571500" indent="-571500" algn="just"/>
            <a:endParaRPr lang="en-GB" dirty="0">
              <a:solidFill>
                <a:schemeClr val="tx1"/>
              </a:solidFill>
            </a:endParaRPr>
          </a:p>
        </p:txBody>
      </p:sp>
    </p:spTree>
  </p:cSld>
  <p:clrMapOvr>
    <a:masterClrMapping/>
  </p:clrMapOvr>
  <p:transition>
    <p:wedg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04664"/>
            <a:ext cx="9144000" cy="6120680"/>
          </a:xfrm>
        </p:spPr>
        <p:txBody>
          <a:bodyPr>
            <a:normAutofit fontScale="62500" lnSpcReduction="20000"/>
          </a:bodyPr>
          <a:lstStyle/>
          <a:p>
            <a:pPr marL="571500" indent="-571500"/>
            <a:r>
              <a:rPr lang="en-GB" sz="4300" b="1" dirty="0" smtClean="0">
                <a:solidFill>
                  <a:srgbClr val="FF0000"/>
                </a:solidFill>
              </a:rPr>
              <a:t>CHALLENGES/WAYS FORWARD</a:t>
            </a:r>
            <a:endParaRPr lang="en-GB" sz="4300" b="1" dirty="0" smtClean="0">
              <a:solidFill>
                <a:srgbClr val="FF0000"/>
              </a:solidFill>
            </a:endParaRPr>
          </a:p>
          <a:p>
            <a:pPr marL="571500" indent="-571500" algn="just">
              <a:buAutoNum type="romanLcPeriod"/>
            </a:pPr>
            <a:r>
              <a:rPr lang="en-GB" b="1" dirty="0" smtClean="0">
                <a:solidFill>
                  <a:schemeClr val="tx1"/>
                </a:solidFill>
                <a:latin typeface="Arial Black" pitchFamily="34" charset="0"/>
              </a:rPr>
              <a:t>Admission processing in EKSU is relatively slow. Up till now we are still processing undergraduate admissions. Why not reduce admission batches to two (Merit and Supplementary/attrition) and base our quota on first come first serve (tuition payment)?. </a:t>
            </a:r>
          </a:p>
          <a:p>
            <a:pPr marL="571500" indent="-571500" algn="just">
              <a:buAutoNum type="romanLcPeriod"/>
            </a:pPr>
            <a:endParaRPr lang="en-GB" b="1" dirty="0" smtClean="0">
              <a:solidFill>
                <a:schemeClr val="tx1"/>
              </a:solidFill>
              <a:latin typeface="Arial Black" pitchFamily="34" charset="0"/>
            </a:endParaRPr>
          </a:p>
          <a:p>
            <a:pPr marL="571500" indent="-571500" algn="just">
              <a:buAutoNum type="romanLcPeriod"/>
            </a:pPr>
            <a:r>
              <a:rPr lang="en-GB" b="1" dirty="0" smtClean="0">
                <a:solidFill>
                  <a:schemeClr val="tx1"/>
                </a:solidFill>
                <a:latin typeface="Arial Black" pitchFamily="34" charset="0"/>
              </a:rPr>
              <a:t>There is need to expedite action of disciplinary cases for both staff and students to serve as deterrent for others.</a:t>
            </a:r>
          </a:p>
          <a:p>
            <a:pPr marL="571500" indent="-571500" algn="just"/>
            <a:endParaRPr lang="en-GB" b="1" dirty="0" smtClean="0">
              <a:solidFill>
                <a:schemeClr val="tx1"/>
              </a:solidFill>
              <a:latin typeface="Arial Black" pitchFamily="34" charset="0"/>
            </a:endParaRPr>
          </a:p>
          <a:p>
            <a:pPr marL="571500" indent="-571500" algn="just"/>
            <a:r>
              <a:rPr lang="en-GB" b="1" dirty="0" smtClean="0">
                <a:solidFill>
                  <a:schemeClr val="tx1"/>
                </a:solidFill>
                <a:latin typeface="Arial Black" pitchFamily="34" charset="0"/>
              </a:rPr>
              <a:t>iii. The works Department should step up its response rate to requisitions about repairs and maintenance.</a:t>
            </a:r>
          </a:p>
          <a:p>
            <a:pPr marL="571500" indent="-571500" algn="just"/>
            <a:endParaRPr lang="en-GB" b="1" dirty="0" smtClean="0">
              <a:solidFill>
                <a:schemeClr val="tx1"/>
              </a:solidFill>
              <a:latin typeface="Arial Black" pitchFamily="34" charset="0"/>
            </a:endParaRPr>
          </a:p>
          <a:p>
            <a:pPr marL="571500" indent="-571500" algn="just">
              <a:buAutoNum type="romanLcPeriod" startAt="4"/>
            </a:pPr>
            <a:r>
              <a:rPr lang="en-GB" b="1" dirty="0" smtClean="0">
                <a:solidFill>
                  <a:schemeClr val="tx1"/>
                </a:solidFill>
                <a:latin typeface="Arial Black" pitchFamily="34" charset="0"/>
              </a:rPr>
              <a:t>The University do not have functional cleaners; more reasons why lecture rooms are always dirty. I stand to be corrected, Lecturer offices are never swept by these cleaners.</a:t>
            </a:r>
          </a:p>
          <a:p>
            <a:pPr marL="571500" indent="-571500" algn="just">
              <a:buAutoNum type="romanLcPeriod" startAt="4"/>
            </a:pPr>
            <a:endParaRPr lang="en-GB" b="1" dirty="0" smtClean="0">
              <a:solidFill>
                <a:schemeClr val="tx1"/>
              </a:solidFill>
              <a:latin typeface="Arial Black" pitchFamily="34" charset="0"/>
            </a:endParaRPr>
          </a:p>
          <a:p>
            <a:pPr marL="571500" indent="-571500" algn="just">
              <a:buAutoNum type="romanLcPeriod" startAt="4"/>
            </a:pPr>
            <a:r>
              <a:rPr lang="en-GB" b="1" dirty="0" smtClean="0">
                <a:solidFill>
                  <a:schemeClr val="tx1"/>
                </a:solidFill>
                <a:latin typeface="Arial Black" pitchFamily="34" charset="0"/>
              </a:rPr>
              <a:t>The University should embark on massive construction of conveniences for students on campus.</a:t>
            </a:r>
          </a:p>
          <a:p>
            <a:pPr marL="571500" indent="-571500" algn="just"/>
            <a:endParaRPr lang="en-GB" b="1" dirty="0" smtClean="0">
              <a:solidFill>
                <a:schemeClr val="tx1"/>
              </a:solidFill>
              <a:latin typeface="Arial Black" pitchFamily="34" charset="0"/>
            </a:endParaRPr>
          </a:p>
          <a:p>
            <a:pPr marL="571500" indent="-571500" algn="just"/>
            <a:endParaRPr lang="en-GB" b="1" dirty="0" smtClean="0">
              <a:solidFill>
                <a:schemeClr val="tx1"/>
              </a:solidFill>
              <a:latin typeface="Arial Black" pitchFamily="34" charset="0"/>
            </a:endParaRPr>
          </a:p>
          <a:p>
            <a:pPr marL="571500" indent="-571500" algn="just">
              <a:buAutoNum type="romanLcPeriod"/>
            </a:pPr>
            <a:endParaRPr lang="en-GB" b="1" dirty="0" smtClean="0">
              <a:solidFill>
                <a:schemeClr val="tx1"/>
              </a:solidFill>
              <a:latin typeface="Arial Black" pitchFamily="34" charset="0"/>
            </a:endParaRPr>
          </a:p>
          <a:p>
            <a:pPr marL="571500" indent="-571500" algn="just"/>
            <a:endParaRPr lang="en-GB" b="1" dirty="0" smtClean="0">
              <a:solidFill>
                <a:schemeClr val="tx1"/>
              </a:solidFill>
              <a:latin typeface="Arial Black" pitchFamily="34" charset="0"/>
            </a:endParaRPr>
          </a:p>
          <a:p>
            <a:pPr marL="571500" indent="-571500" algn="just">
              <a:buAutoNum type="romanLcPeriod"/>
            </a:pPr>
            <a:endParaRPr lang="en-GB" dirty="0">
              <a:solidFill>
                <a:schemeClr val="tx1"/>
              </a:solidFill>
            </a:endParaRPr>
          </a:p>
          <a:p>
            <a:pPr marL="571500" indent="-571500" algn="just"/>
            <a:endParaRPr lang="en-GB" dirty="0">
              <a:solidFill>
                <a:schemeClr val="tx1"/>
              </a:solidFill>
            </a:endParaRPr>
          </a:p>
        </p:txBody>
      </p:sp>
    </p:spTree>
  </p:cSld>
  <p:clrMapOvr>
    <a:masterClrMapping/>
  </p:clrMapOvr>
  <p:transition>
    <p:wedg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04664"/>
            <a:ext cx="9144000" cy="6120680"/>
          </a:xfrm>
        </p:spPr>
        <p:txBody>
          <a:bodyPr>
            <a:normAutofit fontScale="62500" lnSpcReduction="20000"/>
          </a:bodyPr>
          <a:lstStyle/>
          <a:p>
            <a:pPr marL="571500" indent="-571500"/>
            <a:r>
              <a:rPr lang="en-GB" sz="4300" b="1" dirty="0" smtClean="0">
                <a:solidFill>
                  <a:srgbClr val="FF0000"/>
                </a:solidFill>
              </a:rPr>
              <a:t>CHALLENGES/WAYS FORWARD CONTD.</a:t>
            </a:r>
            <a:endParaRPr lang="en-GB" sz="4300" b="1" dirty="0" smtClean="0">
              <a:solidFill>
                <a:srgbClr val="FF0000"/>
              </a:solidFill>
            </a:endParaRPr>
          </a:p>
          <a:p>
            <a:pPr marL="571500" indent="-571500" algn="just"/>
            <a:r>
              <a:rPr lang="en-GB" b="1" dirty="0" smtClean="0">
                <a:solidFill>
                  <a:schemeClr val="tx1"/>
                </a:solidFill>
                <a:latin typeface="Arial Black" pitchFamily="34" charset="0"/>
              </a:rPr>
              <a:t>vi. Transcript Processing unit should be overhauled. The University should immediately start digitisation of academic records across Departments. This should later be collated </a:t>
            </a:r>
            <a:r>
              <a:rPr lang="en-GB" b="1" dirty="0" smtClean="0">
                <a:solidFill>
                  <a:schemeClr val="tx1"/>
                </a:solidFill>
                <a:latin typeface="Arial Black" pitchFamily="34" charset="0"/>
              </a:rPr>
              <a:t>centrally.</a:t>
            </a:r>
          </a:p>
          <a:p>
            <a:pPr marL="571500" indent="-571500" algn="just">
              <a:buAutoNum type="romanLcPeriod"/>
            </a:pPr>
            <a:endParaRPr lang="en-GB" b="1" dirty="0" smtClean="0">
              <a:solidFill>
                <a:schemeClr val="tx1"/>
              </a:solidFill>
              <a:latin typeface="Arial Black" pitchFamily="34" charset="0"/>
            </a:endParaRPr>
          </a:p>
          <a:p>
            <a:pPr marL="571500" indent="-571500" algn="just"/>
            <a:r>
              <a:rPr lang="en-GB" b="1" dirty="0" smtClean="0">
                <a:solidFill>
                  <a:schemeClr val="tx1"/>
                </a:solidFill>
                <a:latin typeface="Arial Black" pitchFamily="34" charset="0"/>
              </a:rPr>
              <a:t>vii. The University should set up special task force to monitor adherence to rules and ethics in the University. This will reduce indiscipline to a very large extent. Such areas may include but not limited to:</a:t>
            </a:r>
          </a:p>
          <a:p>
            <a:pPr marL="571500" indent="-571500" algn="just"/>
            <a:endParaRPr lang="en-GB" b="1" dirty="0" smtClean="0">
              <a:solidFill>
                <a:schemeClr val="tx1"/>
              </a:solidFill>
              <a:latin typeface="Arial Black" pitchFamily="34" charset="0"/>
            </a:endParaRPr>
          </a:p>
          <a:p>
            <a:pPr marL="571500" indent="-571500" algn="just">
              <a:buFont typeface="Arial" pitchFamily="34" charset="0"/>
              <a:buChar char="•"/>
            </a:pPr>
            <a:r>
              <a:rPr lang="en-GB" b="1" dirty="0" smtClean="0">
                <a:solidFill>
                  <a:schemeClr val="tx1"/>
                </a:solidFill>
                <a:latin typeface="Arial Black" pitchFamily="34" charset="0"/>
              </a:rPr>
              <a:t>Transcript and certificate Processing</a:t>
            </a:r>
          </a:p>
          <a:p>
            <a:pPr marL="571500" indent="-571500" algn="just">
              <a:buFont typeface="Arial" pitchFamily="34" charset="0"/>
              <a:buChar char="•"/>
            </a:pPr>
            <a:r>
              <a:rPr lang="en-GB" b="1" dirty="0" smtClean="0">
                <a:solidFill>
                  <a:schemeClr val="tx1"/>
                </a:solidFill>
                <a:latin typeface="Arial Black" pitchFamily="34" charset="0"/>
              </a:rPr>
              <a:t>Defacing University structures with posters</a:t>
            </a:r>
          </a:p>
          <a:p>
            <a:pPr marL="571500" indent="-571500" algn="just">
              <a:buFont typeface="Arial" pitchFamily="34" charset="0"/>
              <a:buChar char="•"/>
            </a:pPr>
            <a:r>
              <a:rPr lang="en-GB" b="1" dirty="0" smtClean="0">
                <a:solidFill>
                  <a:schemeClr val="tx1"/>
                </a:solidFill>
                <a:latin typeface="Arial Black" pitchFamily="34" charset="0"/>
              </a:rPr>
              <a:t>Dilapidated infrastructures that require maintenance</a:t>
            </a:r>
          </a:p>
          <a:p>
            <a:pPr marL="571500" indent="-571500" algn="just">
              <a:buFont typeface="Arial" pitchFamily="34" charset="0"/>
              <a:buChar char="•"/>
            </a:pPr>
            <a:r>
              <a:rPr lang="en-GB" b="1" dirty="0" smtClean="0">
                <a:solidFill>
                  <a:schemeClr val="tx1"/>
                </a:solidFill>
                <a:latin typeface="Arial Black" pitchFamily="34" charset="0"/>
              </a:rPr>
              <a:t>Cleanliness of offices and lecture rooms</a:t>
            </a:r>
          </a:p>
          <a:p>
            <a:pPr marL="571500" indent="-571500" algn="just">
              <a:buFont typeface="Arial" pitchFamily="34" charset="0"/>
              <a:buChar char="•"/>
            </a:pPr>
            <a:r>
              <a:rPr lang="en-GB" b="1" dirty="0" smtClean="0">
                <a:solidFill>
                  <a:schemeClr val="tx1"/>
                </a:solidFill>
                <a:latin typeface="Arial Black" pitchFamily="34" charset="0"/>
              </a:rPr>
              <a:t>Students’ ordeal during tuition payments (Postgraduate and Undergraduate)</a:t>
            </a:r>
          </a:p>
          <a:p>
            <a:pPr marL="571500" indent="-571500" algn="just">
              <a:buFont typeface="Arial" pitchFamily="34" charset="0"/>
              <a:buChar char="•"/>
            </a:pPr>
            <a:r>
              <a:rPr lang="en-GB" b="1" dirty="0" smtClean="0">
                <a:solidFill>
                  <a:schemeClr val="tx1"/>
                </a:solidFill>
                <a:latin typeface="Arial Black" pitchFamily="34" charset="0"/>
              </a:rPr>
              <a:t>Conformity to the transformation agenda of the current VC </a:t>
            </a:r>
          </a:p>
          <a:p>
            <a:pPr marL="571500" indent="-571500" algn="just">
              <a:buFont typeface="Arial" pitchFamily="34" charset="0"/>
              <a:buChar char="•"/>
            </a:pPr>
            <a:r>
              <a:rPr lang="en-GB" b="1" dirty="0" smtClean="0">
                <a:solidFill>
                  <a:schemeClr val="tx1"/>
                </a:solidFill>
                <a:latin typeface="Arial Black" pitchFamily="34" charset="0"/>
              </a:rPr>
              <a:t>Contractors adherence to specifications etc.</a:t>
            </a:r>
            <a:endParaRPr lang="en-GB" b="1" dirty="0" smtClean="0">
              <a:solidFill>
                <a:schemeClr val="tx1"/>
              </a:solidFill>
              <a:latin typeface="Arial Black" pitchFamily="34" charset="0"/>
            </a:endParaRPr>
          </a:p>
          <a:p>
            <a:pPr marL="571500" indent="-571500" algn="just">
              <a:buFont typeface="Arial" pitchFamily="34" charset="0"/>
              <a:buChar char="•"/>
            </a:pPr>
            <a:endParaRPr lang="en-GB" b="1" dirty="0" smtClean="0">
              <a:solidFill>
                <a:schemeClr val="tx1"/>
              </a:solidFill>
              <a:latin typeface="Arial Black" pitchFamily="34" charset="0"/>
            </a:endParaRPr>
          </a:p>
          <a:p>
            <a:pPr marL="571500" indent="-571500" algn="just"/>
            <a:endParaRPr lang="en-GB" b="1" dirty="0" smtClean="0">
              <a:solidFill>
                <a:schemeClr val="tx1"/>
              </a:solidFill>
              <a:latin typeface="Arial Black" pitchFamily="34" charset="0"/>
            </a:endParaRPr>
          </a:p>
          <a:p>
            <a:pPr marL="571500" indent="-571500" algn="just">
              <a:buAutoNum type="romanLcPeriod"/>
            </a:pPr>
            <a:endParaRPr lang="en-GB" b="1" dirty="0" smtClean="0">
              <a:solidFill>
                <a:schemeClr val="tx1"/>
              </a:solidFill>
              <a:latin typeface="Arial Black" pitchFamily="34" charset="0"/>
            </a:endParaRPr>
          </a:p>
          <a:p>
            <a:pPr marL="571500" indent="-571500" algn="just"/>
            <a:endParaRPr lang="en-GB" b="1" dirty="0" smtClean="0">
              <a:solidFill>
                <a:schemeClr val="tx1"/>
              </a:solidFill>
              <a:latin typeface="Arial Black" pitchFamily="34" charset="0"/>
            </a:endParaRPr>
          </a:p>
          <a:p>
            <a:pPr marL="571500" indent="-571500" algn="just">
              <a:buAutoNum type="romanLcPeriod"/>
            </a:pPr>
            <a:endParaRPr lang="en-GB" dirty="0">
              <a:solidFill>
                <a:schemeClr val="tx1"/>
              </a:solidFill>
            </a:endParaRPr>
          </a:p>
          <a:p>
            <a:pPr marL="571500" indent="-571500" algn="just"/>
            <a:endParaRPr lang="en-GB" dirty="0">
              <a:solidFill>
                <a:schemeClr val="tx1"/>
              </a:solidFill>
            </a:endParaRPr>
          </a:p>
        </p:txBody>
      </p:sp>
    </p:spTree>
  </p:cSld>
  <p:clrMapOvr>
    <a:masterClrMapping/>
  </p:clrMapOvr>
  <p:transition>
    <p:wedg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04664"/>
            <a:ext cx="9144000" cy="6120680"/>
          </a:xfrm>
        </p:spPr>
        <p:txBody>
          <a:bodyPr>
            <a:normAutofit fontScale="70000" lnSpcReduction="20000"/>
          </a:bodyPr>
          <a:lstStyle/>
          <a:p>
            <a:pPr marL="571500" indent="-571500"/>
            <a:r>
              <a:rPr lang="en-GB" sz="4300" b="1" dirty="0" smtClean="0">
                <a:solidFill>
                  <a:srgbClr val="FF0000"/>
                </a:solidFill>
              </a:rPr>
              <a:t>CHALLENGES/WAYS FORWARD CONTD.</a:t>
            </a:r>
            <a:endParaRPr lang="en-GB" sz="4300" b="1" dirty="0" smtClean="0">
              <a:solidFill>
                <a:srgbClr val="FF0000"/>
              </a:solidFill>
            </a:endParaRPr>
          </a:p>
          <a:p>
            <a:pPr marL="571500" indent="-571500" algn="just"/>
            <a:endParaRPr lang="en-GB" b="1" dirty="0" smtClean="0">
              <a:solidFill>
                <a:schemeClr val="tx1"/>
              </a:solidFill>
              <a:latin typeface="Arial Black" pitchFamily="34" charset="0"/>
            </a:endParaRPr>
          </a:p>
          <a:p>
            <a:pPr marL="571500" indent="-571500" algn="just"/>
            <a:r>
              <a:rPr lang="en-GB" b="1" dirty="0" smtClean="0">
                <a:solidFill>
                  <a:schemeClr val="tx1"/>
                </a:solidFill>
                <a:latin typeface="Arial Black" pitchFamily="34" charset="0"/>
              </a:rPr>
              <a:t>viii. There is the need to make the Part Time Programmes more competitive by allowing Faculties to Manage the academic content of their programmes and pay them royalties as may be contained in their MOU with the University. With this, all hands will be on deck to ensure that these programmes are aggressively marketed, sustained and resuscitated from its current state.</a:t>
            </a:r>
          </a:p>
          <a:p>
            <a:pPr marL="571500" indent="-571500" algn="just"/>
            <a:endParaRPr lang="en-GB" b="1" dirty="0" smtClean="0">
              <a:solidFill>
                <a:schemeClr val="tx1"/>
              </a:solidFill>
              <a:latin typeface="Arial Black" pitchFamily="34" charset="0"/>
            </a:endParaRPr>
          </a:p>
          <a:p>
            <a:pPr marL="571500" indent="-571500" algn="just"/>
            <a:endParaRPr lang="en-GB" b="1" dirty="0" smtClean="0">
              <a:solidFill>
                <a:schemeClr val="tx1"/>
              </a:solidFill>
              <a:latin typeface="Arial Black" pitchFamily="34" charset="0"/>
            </a:endParaRPr>
          </a:p>
          <a:p>
            <a:pPr marL="571500" indent="-571500" algn="just"/>
            <a:r>
              <a:rPr lang="en-GB" b="1" dirty="0" smtClean="0">
                <a:solidFill>
                  <a:schemeClr val="tx1"/>
                </a:solidFill>
                <a:latin typeface="Arial Black" pitchFamily="34" charset="0"/>
              </a:rPr>
              <a:t>ix.  There is the need for a total attitudinal change towards our students (reaction to students complaints, release of results, reaction to alleged cases of sexual harassment and victimisation). This will encourage more subscription into our programmes.</a:t>
            </a:r>
          </a:p>
          <a:p>
            <a:pPr marL="571500" indent="-571500" algn="just"/>
            <a:endParaRPr lang="en-GB" b="1" dirty="0" smtClean="0">
              <a:solidFill>
                <a:schemeClr val="tx1"/>
              </a:solidFill>
              <a:latin typeface="Arial Black" pitchFamily="34" charset="0"/>
            </a:endParaRPr>
          </a:p>
          <a:p>
            <a:pPr marL="571500" indent="-571500" algn="just">
              <a:buAutoNum type="romanLcPeriod"/>
            </a:pPr>
            <a:endParaRPr lang="en-GB" b="1" dirty="0" smtClean="0">
              <a:solidFill>
                <a:schemeClr val="tx1"/>
              </a:solidFill>
              <a:latin typeface="Arial Black" pitchFamily="34" charset="0"/>
            </a:endParaRPr>
          </a:p>
          <a:p>
            <a:pPr marL="571500" indent="-571500" algn="just"/>
            <a:endParaRPr lang="en-GB" b="1" dirty="0" smtClean="0">
              <a:solidFill>
                <a:schemeClr val="tx1"/>
              </a:solidFill>
              <a:latin typeface="Arial Black" pitchFamily="34" charset="0"/>
            </a:endParaRPr>
          </a:p>
          <a:p>
            <a:pPr marL="571500" indent="-571500" algn="just">
              <a:buAutoNum type="romanLcPeriod"/>
            </a:pPr>
            <a:endParaRPr lang="en-GB" dirty="0">
              <a:solidFill>
                <a:schemeClr val="tx1"/>
              </a:solidFill>
            </a:endParaRPr>
          </a:p>
          <a:p>
            <a:pPr marL="571500" indent="-571500" algn="just"/>
            <a:endParaRPr lang="en-GB" dirty="0">
              <a:solidFill>
                <a:schemeClr val="tx1"/>
              </a:solidFill>
            </a:endParaRPr>
          </a:p>
        </p:txBody>
      </p:sp>
    </p:spTree>
  </p:cSld>
  <p:clrMapOvr>
    <a:masterClrMapping/>
  </p:clrMapOvr>
  <p:transition>
    <p:wedg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04664"/>
            <a:ext cx="9144000" cy="6120680"/>
          </a:xfrm>
        </p:spPr>
        <p:txBody>
          <a:bodyPr>
            <a:normAutofit fontScale="70000" lnSpcReduction="20000"/>
          </a:bodyPr>
          <a:lstStyle/>
          <a:p>
            <a:pPr marL="571500" indent="-571500"/>
            <a:r>
              <a:rPr lang="en-GB" sz="4300" b="1" dirty="0" smtClean="0">
                <a:solidFill>
                  <a:srgbClr val="FF0000"/>
                </a:solidFill>
              </a:rPr>
              <a:t>CHALLENGES/WAYS FORWARD CONTD.</a:t>
            </a:r>
          </a:p>
          <a:p>
            <a:pPr marL="571500" indent="-571500" algn="just"/>
            <a:r>
              <a:rPr lang="en-GB" b="1" dirty="0" smtClean="0">
                <a:solidFill>
                  <a:schemeClr val="tx1"/>
                </a:solidFill>
                <a:latin typeface="Arial Black" pitchFamily="34" charset="0"/>
              </a:rPr>
              <a:t>x. The </a:t>
            </a:r>
            <a:r>
              <a:rPr lang="en-GB" b="1" dirty="0" smtClean="0">
                <a:solidFill>
                  <a:schemeClr val="tx1"/>
                </a:solidFill>
                <a:latin typeface="Arial Black" pitchFamily="34" charset="0"/>
              </a:rPr>
              <a:t>University should assist the Faculty in the areas of recruiting qualified academic staff or placing internal advertisement to enable us have capacity to increase our PG intakes into a minimum of 50 students per programme. </a:t>
            </a:r>
          </a:p>
          <a:p>
            <a:pPr marL="571500" indent="-571500" algn="just"/>
            <a:r>
              <a:rPr lang="en-GB" b="1" dirty="0" smtClean="0">
                <a:solidFill>
                  <a:schemeClr val="tx1"/>
                </a:solidFill>
                <a:latin typeface="Arial Black" pitchFamily="34" charset="0"/>
              </a:rPr>
              <a:t>	</a:t>
            </a:r>
          </a:p>
          <a:p>
            <a:pPr marL="571500" indent="-571500" algn="just"/>
            <a:r>
              <a:rPr lang="en-GB" b="1" dirty="0" smtClean="0">
                <a:solidFill>
                  <a:schemeClr val="tx1"/>
                </a:solidFill>
                <a:latin typeface="Arial Black" pitchFamily="34" charset="0"/>
              </a:rPr>
              <a:t>	</a:t>
            </a:r>
            <a:r>
              <a:rPr lang="en-GB" b="1" dirty="0" smtClean="0">
                <a:solidFill>
                  <a:schemeClr val="tx1"/>
                </a:solidFill>
                <a:latin typeface="Arial Black" pitchFamily="34" charset="0"/>
              </a:rPr>
              <a:t>The precarious staffing situation of the faculty is demonstrated as follows:</a:t>
            </a:r>
          </a:p>
          <a:p>
            <a:pPr marL="571500" indent="-571500" algn="just"/>
            <a:endParaRPr lang="en-GB" b="1" dirty="0" smtClean="0">
              <a:solidFill>
                <a:schemeClr val="tx1"/>
              </a:solidFill>
              <a:latin typeface="Arial Black" pitchFamily="34" charset="0"/>
            </a:endParaRPr>
          </a:p>
          <a:p>
            <a:pPr marL="571500" indent="-571500" algn="just"/>
            <a:r>
              <a:rPr lang="en-GB" b="1" dirty="0" smtClean="0">
                <a:solidFill>
                  <a:schemeClr val="tx1"/>
                </a:solidFill>
                <a:latin typeface="Arial Black" pitchFamily="34" charset="0"/>
              </a:rPr>
              <a:t>a. The Faculty currently has 3,399 students (Full Time undergraduate only)</a:t>
            </a:r>
          </a:p>
          <a:p>
            <a:pPr marL="571500" indent="-571500" algn="just">
              <a:buAutoNum type="romanLcPeriod"/>
            </a:pPr>
            <a:endParaRPr lang="en-GB" b="1" dirty="0" smtClean="0">
              <a:solidFill>
                <a:schemeClr val="tx1"/>
              </a:solidFill>
              <a:latin typeface="Arial Black" pitchFamily="34" charset="0"/>
            </a:endParaRPr>
          </a:p>
          <a:p>
            <a:pPr marL="571500" indent="-571500" algn="just"/>
            <a:r>
              <a:rPr lang="en-GB" b="1" dirty="0" smtClean="0">
                <a:solidFill>
                  <a:schemeClr val="tx1"/>
                </a:solidFill>
                <a:latin typeface="Arial Black" pitchFamily="34" charset="0"/>
              </a:rPr>
              <a:t>b. The total number of academic staff in the Faculty is 32</a:t>
            </a:r>
          </a:p>
          <a:p>
            <a:pPr marL="571500" indent="-571500" algn="just"/>
            <a:endParaRPr lang="en-GB" b="1" dirty="0" smtClean="0">
              <a:solidFill>
                <a:schemeClr val="tx1"/>
              </a:solidFill>
              <a:latin typeface="Arial Black" pitchFamily="34" charset="0"/>
            </a:endParaRPr>
          </a:p>
          <a:p>
            <a:pPr marL="571500" indent="-571500" algn="just"/>
            <a:r>
              <a:rPr lang="en-GB" b="1" dirty="0" smtClean="0">
                <a:solidFill>
                  <a:schemeClr val="tx1"/>
                </a:solidFill>
                <a:latin typeface="Arial Black" pitchFamily="34" charset="0"/>
              </a:rPr>
              <a:t>c. The academic staff/student ratio in the Faculty is </a:t>
            </a:r>
            <a:r>
              <a:rPr lang="en-GB" b="1" dirty="0" smtClean="0">
                <a:solidFill>
                  <a:srgbClr val="C00000"/>
                </a:solidFill>
                <a:latin typeface="Arial Black" pitchFamily="34" charset="0"/>
              </a:rPr>
              <a:t>1:106</a:t>
            </a:r>
          </a:p>
          <a:p>
            <a:pPr marL="571500" indent="-571500" algn="just">
              <a:buAutoNum type="romanLcPeriod"/>
            </a:pPr>
            <a:endParaRPr lang="en-GB" b="1" dirty="0" smtClean="0">
              <a:solidFill>
                <a:srgbClr val="C00000"/>
              </a:solidFill>
              <a:latin typeface="Arial Black" pitchFamily="34" charset="0"/>
            </a:endParaRPr>
          </a:p>
          <a:p>
            <a:pPr marL="571500" indent="-571500" algn="just"/>
            <a:endParaRPr lang="en-GB" b="1" dirty="0" smtClean="0">
              <a:solidFill>
                <a:srgbClr val="C00000"/>
              </a:solidFill>
              <a:latin typeface="Arial Black" pitchFamily="34" charset="0"/>
            </a:endParaRPr>
          </a:p>
          <a:p>
            <a:pPr marL="571500" indent="-571500" algn="just"/>
            <a:endParaRPr lang="en-GB" b="1" dirty="0" smtClean="0">
              <a:solidFill>
                <a:schemeClr val="tx1"/>
              </a:solidFill>
              <a:latin typeface="Arial Black" pitchFamily="34" charset="0"/>
            </a:endParaRPr>
          </a:p>
          <a:p>
            <a:pPr marL="571500" indent="-571500" algn="just">
              <a:buAutoNum type="romanLcPeriod"/>
            </a:pPr>
            <a:endParaRPr lang="en-GB" b="1" dirty="0" smtClean="0">
              <a:solidFill>
                <a:schemeClr val="tx1"/>
              </a:solidFill>
              <a:latin typeface="Arial Black" pitchFamily="34" charset="0"/>
            </a:endParaRPr>
          </a:p>
          <a:p>
            <a:pPr marL="571500" indent="-571500" algn="just"/>
            <a:endParaRPr lang="en-GB" b="1" dirty="0" smtClean="0">
              <a:solidFill>
                <a:schemeClr val="tx1"/>
              </a:solidFill>
              <a:latin typeface="Arial Black" pitchFamily="34" charset="0"/>
            </a:endParaRPr>
          </a:p>
          <a:p>
            <a:pPr marL="571500" indent="-571500" algn="just">
              <a:buAutoNum type="romanLcPeriod"/>
            </a:pPr>
            <a:endParaRPr lang="en-GB" dirty="0">
              <a:solidFill>
                <a:schemeClr val="tx1"/>
              </a:solidFill>
            </a:endParaRPr>
          </a:p>
          <a:p>
            <a:pPr marL="571500" indent="-571500" algn="just"/>
            <a:endParaRPr lang="en-GB" dirty="0">
              <a:solidFill>
                <a:schemeClr val="tx1"/>
              </a:solidFill>
            </a:endParaRPr>
          </a:p>
        </p:txBody>
      </p:sp>
    </p:spTree>
  </p:cSld>
  <p:clrMapOvr>
    <a:masterClrMapping/>
  </p:clrMapOvr>
  <p:transition>
    <p:wedg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lstStyle/>
          <a:p>
            <a:r>
              <a:rPr lang="en-GB" b="1" dirty="0" smtClean="0">
                <a:solidFill>
                  <a:srgbClr val="FF0000"/>
                </a:solidFill>
              </a:rPr>
              <a:t>CONCLUSION</a:t>
            </a:r>
            <a:endParaRPr lang="en-GB" b="1" dirty="0">
              <a:solidFill>
                <a:srgbClr val="FF0000"/>
              </a:solidFill>
            </a:endParaRPr>
          </a:p>
        </p:txBody>
      </p:sp>
      <p:sp>
        <p:nvSpPr>
          <p:cNvPr id="3" name="Content Placeholder 2"/>
          <p:cNvSpPr>
            <a:spLocks noGrp="1"/>
          </p:cNvSpPr>
          <p:nvPr>
            <p:ph idx="1"/>
          </p:nvPr>
        </p:nvSpPr>
        <p:spPr>
          <a:xfrm>
            <a:off x="0" y="980728"/>
            <a:ext cx="9144000" cy="5877272"/>
          </a:xfrm>
        </p:spPr>
        <p:txBody>
          <a:bodyPr>
            <a:normAutofit fontScale="55000" lnSpcReduction="20000"/>
          </a:bodyPr>
          <a:lstStyle/>
          <a:p>
            <a:pPr algn="just">
              <a:buNone/>
            </a:pPr>
            <a:r>
              <a:rPr lang="en-GB" dirty="0" smtClean="0"/>
              <a:t>	</a:t>
            </a:r>
            <a:r>
              <a:rPr lang="en-GB" b="1" dirty="0" smtClean="0">
                <a:latin typeface="Arial Black" pitchFamily="34" charset="0"/>
              </a:rPr>
              <a:t>It is necessary to inform this audience that once upon a time, our MBA programme was transferred to the DPTP and it was not only mismanaged, but the programme could not secure a single student enrolment in 2012/2013 academic session. Fortunately, the PG college was kind enough to return the dead programme to the Faculty during the 2013/2014 session. We are happy to announce today that the Faculty has not only been able to clear the backlog of results (for 3 sessions), but has also revived the programme.</a:t>
            </a:r>
          </a:p>
          <a:p>
            <a:pPr algn="just">
              <a:buNone/>
            </a:pPr>
            <a:endParaRPr lang="en-GB" b="1" dirty="0" smtClean="0">
              <a:solidFill>
                <a:srgbClr val="FF0000"/>
              </a:solidFill>
              <a:latin typeface="Arial Black" pitchFamily="34" charset="0"/>
            </a:endParaRPr>
          </a:p>
          <a:p>
            <a:pPr algn="just">
              <a:buNone/>
            </a:pPr>
            <a:r>
              <a:rPr lang="en-GB" b="1" dirty="0" smtClean="0">
                <a:solidFill>
                  <a:srgbClr val="FF0000"/>
                </a:solidFill>
                <a:latin typeface="Arial Black" pitchFamily="34" charset="0"/>
              </a:rPr>
              <a:t>	We currently have over 50 students at MBA I and II. This was done by selling hard copies of forms, when no one was ready to subscribe to the programme any longer (no thanks to delay in results processing). </a:t>
            </a:r>
          </a:p>
          <a:p>
            <a:pPr algn="just">
              <a:buNone/>
            </a:pPr>
            <a:endParaRPr lang="en-GB" b="1" dirty="0" smtClean="0">
              <a:solidFill>
                <a:srgbClr val="FF0000"/>
              </a:solidFill>
              <a:latin typeface="Arial Black" pitchFamily="34" charset="0"/>
            </a:endParaRPr>
          </a:p>
          <a:p>
            <a:pPr algn="just">
              <a:buNone/>
            </a:pPr>
            <a:r>
              <a:rPr lang="en-GB" b="1" dirty="0" smtClean="0">
                <a:solidFill>
                  <a:srgbClr val="FF0000"/>
                </a:solidFill>
                <a:latin typeface="Arial Black" pitchFamily="34" charset="0"/>
              </a:rPr>
              <a:t>	Departments should be encouraged to expedite action on admitting PG students on part time basis to increase programmes sustainability</a:t>
            </a:r>
          </a:p>
          <a:p>
            <a:pPr algn="just">
              <a:buNone/>
            </a:pPr>
            <a:endParaRPr lang="en-GB" b="1" dirty="0" smtClean="0">
              <a:solidFill>
                <a:srgbClr val="FF0000"/>
              </a:solidFill>
              <a:latin typeface="Arial Black" pitchFamily="34" charset="0"/>
            </a:endParaRPr>
          </a:p>
          <a:p>
            <a:pPr algn="just">
              <a:buNone/>
            </a:pPr>
            <a:r>
              <a:rPr lang="en-GB" b="1" dirty="0" smtClean="0">
                <a:latin typeface="Arial Black" pitchFamily="34" charset="0"/>
              </a:rPr>
              <a:t>	We therefore appeal that the University should approve the immediate take off of the Modular system of MBA Executive (as presented at the IGR Summit) for its immediate take off. Currently, LAUTECH and Pan African University operate similar programme. With this, the University will soon be on its path to self sufficiency.</a:t>
            </a:r>
            <a:endParaRPr lang="en-GB" b="1" dirty="0" smtClean="0">
              <a:latin typeface="Arial Black" pitchFamily="34" charset="0"/>
            </a:endParaRPr>
          </a:p>
        </p:txBody>
      </p:sp>
      <p:sp>
        <p:nvSpPr>
          <p:cNvPr id="4" name="Slide Number Placeholder 3"/>
          <p:cNvSpPr>
            <a:spLocks noGrp="1"/>
          </p:cNvSpPr>
          <p:nvPr>
            <p:ph type="sldNum" sz="quarter" idx="12"/>
          </p:nvPr>
        </p:nvSpPr>
        <p:spPr/>
        <p:txBody>
          <a:bodyPr/>
          <a:lstStyle/>
          <a:p>
            <a:fld id="{7F018272-1631-45EF-8C86-F034EA4C3E9F}" type="slidenum">
              <a:rPr lang="en-GB" smtClean="0"/>
              <a:pPr/>
              <a:t>14</a:t>
            </a:fld>
            <a:endParaRPr lang="en-GB"/>
          </a:p>
        </p:txBody>
      </p:sp>
    </p:spTree>
  </p:cSld>
  <p:clrMapOvr>
    <a:masterClrMapping/>
  </p:clrMapOvr>
  <p:transition>
    <p:wedg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lstStyle/>
          <a:p>
            <a:pPr>
              <a:buNone/>
            </a:pPr>
            <a:endParaRPr lang="en-GB" dirty="0" smtClean="0"/>
          </a:p>
          <a:p>
            <a:pPr>
              <a:buNone/>
            </a:pPr>
            <a:endParaRPr lang="en-GB" dirty="0"/>
          </a:p>
          <a:p>
            <a:pPr>
              <a:buNone/>
            </a:pPr>
            <a:endParaRPr lang="en-GB" dirty="0" smtClean="0"/>
          </a:p>
          <a:p>
            <a:pPr>
              <a:buNone/>
            </a:pPr>
            <a:endParaRPr lang="en-GB" dirty="0" smtClean="0"/>
          </a:p>
          <a:p>
            <a:pPr algn="ctr">
              <a:buNone/>
            </a:pPr>
            <a:r>
              <a:rPr lang="en-GB" sz="4800" b="1" dirty="0" smtClean="0"/>
              <a:t>THANK YOU FOR LISTENING</a:t>
            </a:r>
          </a:p>
          <a:p>
            <a:pPr algn="ctr">
              <a:buNone/>
            </a:pPr>
            <a:endParaRPr lang="en-GB" b="1" dirty="0"/>
          </a:p>
        </p:txBody>
      </p:sp>
      <p:sp>
        <p:nvSpPr>
          <p:cNvPr id="4" name="Slide Number Placeholder 3"/>
          <p:cNvSpPr>
            <a:spLocks noGrp="1"/>
          </p:cNvSpPr>
          <p:nvPr>
            <p:ph type="sldNum" sz="quarter" idx="12"/>
          </p:nvPr>
        </p:nvSpPr>
        <p:spPr/>
        <p:txBody>
          <a:bodyPr/>
          <a:lstStyle/>
          <a:p>
            <a:fld id="{7F018272-1631-45EF-8C86-F034EA4C3E9F}" type="slidenum">
              <a:rPr lang="en-GB" smtClean="0"/>
              <a:pPr/>
              <a:t>15</a:t>
            </a:fld>
            <a:endParaRPr lang="en-GB"/>
          </a:p>
        </p:txBody>
      </p:sp>
    </p:spTree>
  </p:cSld>
  <p:clrMapOvr>
    <a:masterClrMapping/>
  </p:clrMapOvr>
  <p:transition>
    <p:wedg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685</TotalTime>
  <Words>1027</Words>
  <Application>Microsoft Office PowerPoint</Application>
  <PresentationFormat>On-screen Show (4:3)</PresentationFormat>
  <Paragraphs>207</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CONCLUSION</vt:lpstr>
      <vt:lpstr>Slide 15</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USER</cp:lastModifiedBy>
  <cp:revision>67</cp:revision>
  <dcterms:created xsi:type="dcterms:W3CDTF">2016-01-25T17:49:32Z</dcterms:created>
  <dcterms:modified xsi:type="dcterms:W3CDTF">2016-02-02T12:15:25Z</dcterms:modified>
</cp:coreProperties>
</file>