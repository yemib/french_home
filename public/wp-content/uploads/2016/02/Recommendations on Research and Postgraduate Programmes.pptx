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4" r:id="rId4"/>
    <p:sldId id="257" r:id="rId5"/>
    <p:sldId id="258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38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EEA6-4731-4874-9A59-06366A319D98}" type="datetimeFigureOut">
              <a:rPr lang="en-US" smtClean="0"/>
              <a:t>04-Feb-16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8813-84E9-4B15-A5D6-CE729E20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26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EEA6-4731-4874-9A59-06366A319D98}" type="datetimeFigureOut">
              <a:rPr lang="en-US" smtClean="0"/>
              <a:t>04-Feb-16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8813-84E9-4B15-A5D6-CE729E20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24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EEA6-4731-4874-9A59-06366A319D98}" type="datetimeFigureOut">
              <a:rPr lang="en-US" smtClean="0"/>
              <a:t>04-Feb-16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8813-84E9-4B15-A5D6-CE729E20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9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EEA6-4731-4874-9A59-06366A319D98}" type="datetimeFigureOut">
              <a:rPr lang="en-US" smtClean="0"/>
              <a:t>04-Feb-16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8813-84E9-4B15-A5D6-CE729E20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54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EEA6-4731-4874-9A59-06366A319D98}" type="datetimeFigureOut">
              <a:rPr lang="en-US" smtClean="0"/>
              <a:t>04-Feb-16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8813-84E9-4B15-A5D6-CE729E20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32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EEA6-4731-4874-9A59-06366A319D98}" type="datetimeFigureOut">
              <a:rPr lang="en-US" smtClean="0"/>
              <a:t>04-Feb-16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8813-84E9-4B15-A5D6-CE729E20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02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EEA6-4731-4874-9A59-06366A319D98}" type="datetimeFigureOut">
              <a:rPr lang="en-US" smtClean="0"/>
              <a:t>04-Feb-16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8813-84E9-4B15-A5D6-CE729E20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90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EEA6-4731-4874-9A59-06366A319D98}" type="datetimeFigureOut">
              <a:rPr lang="en-US" smtClean="0"/>
              <a:t>04-Feb-16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8813-84E9-4B15-A5D6-CE729E20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79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EEA6-4731-4874-9A59-06366A319D98}" type="datetimeFigureOut">
              <a:rPr lang="en-US" smtClean="0"/>
              <a:t>04-Feb-16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8813-84E9-4B15-A5D6-CE729E20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4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EEA6-4731-4874-9A59-06366A319D98}" type="datetimeFigureOut">
              <a:rPr lang="en-US" smtClean="0"/>
              <a:t>04-Feb-16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8813-84E9-4B15-A5D6-CE729E20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83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EEA6-4731-4874-9A59-06366A319D98}" type="datetimeFigureOut">
              <a:rPr lang="en-US" smtClean="0"/>
              <a:t>04-Feb-16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8813-84E9-4B15-A5D6-CE729E20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5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9EEA6-4731-4874-9A59-06366A319D98}" type="datetimeFigureOut">
              <a:rPr lang="en-US" smtClean="0"/>
              <a:t>04-Feb-16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E8813-84E9-4B15-A5D6-CE729E20E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7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Recommendations on Research and Postgraduate </a:t>
            </a:r>
            <a:r>
              <a:rPr lang="en-US" dirty="0" err="1" smtClean="0"/>
              <a:t>Programmes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88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RESEARCH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67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Recommendations on Research.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x-none"/>
              <a:t>Building and equipping a modern central laboratory with state of the arts equipment;</a:t>
            </a:r>
            <a:endParaRPr lang="en-US" dirty="0"/>
          </a:p>
          <a:p>
            <a:pPr>
              <a:defRPr/>
            </a:pPr>
            <a:r>
              <a:rPr lang="x-none"/>
              <a:t>Building and equipping of departmental laboratories;</a:t>
            </a:r>
            <a:endParaRPr lang="en-US" dirty="0"/>
          </a:p>
          <a:p>
            <a:pPr>
              <a:defRPr/>
            </a:pPr>
            <a:r>
              <a:rPr lang="x-none"/>
              <a:t>Ensuring that capacity to maintain the state of the art equipment is developed e.g. through enhanced training of technical staff and users;</a:t>
            </a:r>
            <a:endParaRPr lang="en-US" dirty="0"/>
          </a:p>
          <a:p>
            <a:pPr algn="just">
              <a:defRPr/>
            </a:pPr>
            <a:r>
              <a:rPr lang="en-US" dirty="0"/>
              <a:t>University should levy all students (undergraduates &amp; Postgraduates) the sum of Five Thousand naira (N5000) per session as</a:t>
            </a:r>
            <a:r>
              <a:rPr lang="en-US" b="1" dirty="0"/>
              <a:t> </a:t>
            </a:r>
            <a:r>
              <a:rPr lang="en-US" dirty="0"/>
              <a:t>Research Development Fund (RDF</a:t>
            </a:r>
            <a:r>
              <a:rPr lang="en-US" dirty="0" smtClean="0"/>
              <a:t>) to fund Senate Research Grant, EKSU research grants, EKSUORD  Development Grants and Journal Article Award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695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Recommendations on </a:t>
            </a:r>
            <a:r>
              <a:rPr lang="en-US" dirty="0" smtClean="0">
                <a:solidFill>
                  <a:srgbClr val="FF0000"/>
                </a:solidFill>
              </a:rPr>
              <a:t>Research Contd.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x-none" smtClean="0"/>
              <a:t>Subscribing to relevant databases (e.g. Research Africa</a:t>
            </a:r>
            <a:r>
              <a:rPr lang="x-none" smtClean="0"/>
              <a:t>);</a:t>
            </a: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University Promotion Criteria should now emphasize publishing of articles in Journals with impact factor and avoid  publishing in Predatory Journals</a:t>
            </a: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GB" dirty="0" smtClean="0"/>
              <a:t>Supporting </a:t>
            </a:r>
            <a:r>
              <a:rPr lang="en-GB" dirty="0" smtClean="0"/>
              <a:t>platforms for staff and students to disseminate research outputs e.g. annual Research </a:t>
            </a:r>
            <a:r>
              <a:rPr lang="en-GB" dirty="0" smtClean="0"/>
              <a:t>Fair;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GB" dirty="0" smtClean="0"/>
              <a:t>University should encourage Alumni to endow chairs in various departments.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5276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FF0000"/>
                </a:solidFill>
              </a:rPr>
              <a:t>Recommendations on Research Contd.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mtClean="0"/>
              <a:t>Supporting</a:t>
            </a:r>
            <a:r>
              <a:rPr lang="x-none" smtClean="0"/>
              <a:t> “Journal Article Award” to reward articles published in highly reputable international journals with high impact factor;</a:t>
            </a: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x-none" smtClean="0"/>
              <a:t>University working with researchers to commercialize research output where appropriate;</a:t>
            </a: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x-none" smtClean="0"/>
              <a:t>Supporting academic and technical staff to attend skills enhancement courses locally and internationally; </a:t>
            </a: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GB" dirty="0" smtClean="0"/>
              <a:t>Providing training in the management and practice of research to enable staff continue the development of their research capabilities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1228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Recommendations on Research Contd.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91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x-none" smtClean="0"/>
              <a:t>Provide a functional </a:t>
            </a:r>
            <a:r>
              <a:rPr lang="en-US" dirty="0" smtClean="0"/>
              <a:t>campus wide </a:t>
            </a:r>
            <a:r>
              <a:rPr lang="en-US" dirty="0"/>
              <a:t>I</a:t>
            </a:r>
            <a:r>
              <a:rPr lang="x-none" smtClean="0"/>
              <a:t>nternet facility;</a:t>
            </a: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x-none" smtClean="0"/>
              <a:t>Establishing a robust University website to improve information flow</a:t>
            </a: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GB" dirty="0" smtClean="0"/>
              <a:t>Establishment of functional E-library </a:t>
            </a:r>
            <a:r>
              <a:rPr lang="x-none" smtClean="0"/>
              <a:t>.</a:t>
            </a: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GB" dirty="0" smtClean="0"/>
              <a:t>Establishing new mechanisms for partnering with industry and the public and third sectors for the University to become a preferred source of advice, information and consultancy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2872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>
                <a:solidFill>
                  <a:srgbClr val="FF0000"/>
                </a:solidFill>
              </a:rPr>
              <a:t>Recommendations on Improving output of Present ORD Contd.</a:t>
            </a:r>
            <a:endParaRPr lang="en-US" smtClean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468313" y="1600200"/>
            <a:ext cx="8218487" cy="6221413"/>
          </a:xfrm>
        </p:spPr>
        <p:txBody>
          <a:bodyPr/>
          <a:lstStyle/>
          <a:p>
            <a:pPr algn="just"/>
            <a:r>
              <a:rPr lang="en-US" sz="2800" smtClean="0"/>
              <a:t>The five units at ORD need to be coordinated by one academic member of staff each for better productivity</a:t>
            </a:r>
          </a:p>
          <a:p>
            <a:pPr algn="just"/>
            <a:r>
              <a:rPr lang="en-US" sz="2800" smtClean="0"/>
              <a:t>ORD needs two competent Computer Analysts as supporting staff to service the five units.</a:t>
            </a:r>
          </a:p>
          <a:p>
            <a:pPr algn="just"/>
            <a:r>
              <a:rPr lang="en-US" sz="2800" smtClean="0"/>
              <a:t>ORD needs ICT Technician, Electrical/Mechanical Technician and Office Assistant. </a:t>
            </a:r>
          </a:p>
          <a:p>
            <a:pPr algn="just"/>
            <a:r>
              <a:rPr lang="en-US" sz="2800" smtClean="0"/>
              <a:t>ORD deserves a befitting research complex comprising of training rooms, offices, exhibition rooms, workshops and a Conference hall.</a:t>
            </a:r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9274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College of postgraduate studies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7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81000"/>
            <a:ext cx="8229600" cy="62484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RECOMMENDATIONS FROM PG COLLEGE </a:t>
            </a:r>
          </a:p>
          <a:p>
            <a:endParaRPr lang="en-US" sz="2800" b="1" dirty="0" smtClean="0"/>
          </a:p>
          <a:p>
            <a:pPr marL="457200" indent="-457200">
              <a:buAutoNum type="alphaLcParenBoth"/>
            </a:pPr>
            <a:r>
              <a:rPr lang="en-US" b="1" dirty="0" smtClean="0">
                <a:solidFill>
                  <a:srgbClr val="FF0000"/>
                </a:solidFill>
              </a:rPr>
              <a:t>Funding</a:t>
            </a:r>
          </a:p>
          <a:p>
            <a:pPr marL="457200" indent="-457200">
              <a:buNone/>
            </a:pPr>
            <a:endParaRPr lang="en-US" b="1" dirty="0" smtClean="0"/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 </a:t>
            </a:r>
            <a:r>
              <a:rPr lang="en-US" sz="3600" b="1" dirty="0" smtClean="0"/>
              <a:t>Implementation of the recommendations by committee on restructuring of  the College that 5% of fees paid by PG students should be ploughed back to the college.</a:t>
            </a:r>
          </a:p>
          <a:p>
            <a:pPr marL="571500" indent="-571500">
              <a:buFont typeface="+mj-lt"/>
              <a:buAutoNum type="romanUcPeriod"/>
            </a:pPr>
            <a:endParaRPr lang="en-US" sz="3600" b="1" dirty="0" smtClean="0"/>
          </a:p>
          <a:p>
            <a:pPr marL="571500" indent="-571500">
              <a:buFont typeface="+mj-lt"/>
              <a:buAutoNum type="romanUcPeriod"/>
            </a:pPr>
            <a:endParaRPr lang="en-US" sz="3600" dirty="0" smtClean="0"/>
          </a:p>
          <a:p>
            <a:pPr marL="571500" indent="-571500">
              <a:buNone/>
            </a:pPr>
            <a:endParaRPr lang="en-US" sz="2400" dirty="0" smtClean="0"/>
          </a:p>
          <a:p>
            <a:pPr marL="571500" indent="-571500">
              <a:buNone/>
            </a:pPr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135436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RECOMMENDATIONS FROM PG COLLEGE  Cont…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187355"/>
            <a:ext cx="8229600" cy="5638800"/>
          </a:xfrm>
        </p:spPr>
        <p:txBody>
          <a:bodyPr>
            <a:normAutofit lnSpcReduction="10000"/>
          </a:bodyPr>
          <a:lstStyle/>
          <a:p>
            <a:pPr marL="571500" indent="-571500">
              <a:buAutoNum type="alphaLcParenBoth" startAt="2"/>
            </a:pPr>
            <a:r>
              <a:rPr lang="en-US" sz="3900" b="1" dirty="0" smtClean="0">
                <a:solidFill>
                  <a:srgbClr val="FF0000"/>
                </a:solidFill>
              </a:rPr>
              <a:t>Admission and Registration</a:t>
            </a:r>
          </a:p>
          <a:p>
            <a:pPr marL="571500" indent="-571500">
              <a:buNone/>
            </a:pPr>
            <a:endParaRPr lang="en-US" sz="2400" b="1" dirty="0" smtClean="0"/>
          </a:p>
          <a:p>
            <a:pPr marL="571500" indent="-571500">
              <a:buAutoNum type="romanUcPeriod"/>
            </a:pPr>
            <a:r>
              <a:rPr lang="en-US" b="1" dirty="0" smtClean="0"/>
              <a:t>The college should have an independent portal for online application and registration.</a:t>
            </a:r>
          </a:p>
          <a:p>
            <a:pPr marL="571500" indent="-571500">
              <a:buAutoNum type="romanUcPeriod"/>
            </a:pPr>
            <a:r>
              <a:rPr lang="en-US" b="1" dirty="0" smtClean="0"/>
              <a:t>Students screening (after payment of acceptance fees) must commence from the Department. </a:t>
            </a:r>
          </a:p>
          <a:p>
            <a:pPr marL="571500" indent="-571500">
              <a:buAutoNum type="romanUcPeriod"/>
            </a:pPr>
            <a:r>
              <a:rPr lang="en-US" b="1" dirty="0" smtClean="0"/>
              <a:t>Admissions </a:t>
            </a:r>
            <a:r>
              <a:rPr lang="en-US" b="1" dirty="0" smtClean="0"/>
              <a:t>into </a:t>
            </a:r>
            <a:r>
              <a:rPr lang="en-US" b="1" dirty="0" err="1" smtClean="0"/>
              <a:t>M.Sc</a:t>
            </a:r>
            <a:r>
              <a:rPr lang="en-US" b="1" dirty="0" smtClean="0"/>
              <a:t> </a:t>
            </a:r>
            <a:r>
              <a:rPr lang="en-US" b="1" dirty="0" err="1" smtClean="0"/>
              <a:t>Programmes</a:t>
            </a:r>
            <a:r>
              <a:rPr lang="en-US" b="1" dirty="0" smtClean="0"/>
              <a:t> should </a:t>
            </a:r>
            <a:r>
              <a:rPr lang="en-US" b="1" dirty="0" smtClean="0"/>
              <a:t>be on semester </a:t>
            </a:r>
            <a:r>
              <a:rPr lang="en-US" b="1" dirty="0" smtClean="0"/>
              <a:t>basis while that of</a:t>
            </a:r>
            <a:r>
              <a:rPr lang="en-US" b="1" dirty="0" smtClean="0"/>
              <a:t> PhD should be all year round.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8813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RECOMMENDATIONS FROM PG COLLEGE  </a:t>
            </a:r>
            <a:r>
              <a:rPr lang="en-US" sz="2800" b="1" dirty="0" err="1" smtClean="0"/>
              <a:t>Cont</a:t>
            </a:r>
            <a:r>
              <a:rPr lang="en-US" sz="2800" b="1" dirty="0" smtClean="0"/>
              <a:t>…</a:t>
            </a:r>
            <a:endParaRPr lang="en-US" sz="28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8200"/>
            <a:ext cx="8229600" cy="5562600"/>
          </a:xfrm>
        </p:spPr>
        <p:txBody>
          <a:bodyPr>
            <a:normAutofit/>
          </a:bodyPr>
          <a:lstStyle/>
          <a:p>
            <a:pPr marL="457200" indent="-457200">
              <a:buAutoNum type="alphaLcParenBoth" startAt="3"/>
            </a:pPr>
            <a:r>
              <a:rPr lang="en-US" sz="3600" b="1" dirty="0" smtClean="0">
                <a:solidFill>
                  <a:srgbClr val="FF0000"/>
                </a:solidFill>
              </a:rPr>
              <a:t>Processing of Results and Examiners’ Reports</a:t>
            </a:r>
          </a:p>
          <a:p>
            <a:pPr marL="457200" indent="-457200">
              <a:buAutoNum type="alphaLcParenBoth" startAt="3"/>
            </a:pPr>
            <a:endParaRPr lang="en-US" sz="2400" b="1" dirty="0" smtClean="0"/>
          </a:p>
          <a:p>
            <a:pPr marL="514350" indent="-514350">
              <a:buAutoNum type="romanUcPeriod"/>
            </a:pPr>
            <a:r>
              <a:rPr lang="en-US" b="1" dirty="0" smtClean="0"/>
              <a:t>Faculties and Departments should process results </a:t>
            </a:r>
            <a:r>
              <a:rPr lang="en-US" b="1" dirty="0" smtClean="0"/>
              <a:t>promptly to the College Postgraduate Board</a:t>
            </a:r>
            <a:endParaRPr lang="en-US" b="1" dirty="0" smtClean="0"/>
          </a:p>
          <a:p>
            <a:pPr marL="514350" indent="-514350">
              <a:buAutoNum type="romanUcPeriod"/>
            </a:pPr>
            <a:endParaRPr lang="en-US" b="1" dirty="0" smtClean="0"/>
          </a:p>
          <a:p>
            <a:pPr marL="457200" indent="-45720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172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RECOMMENDATIONS FROM PG COLLEGE  </a:t>
            </a:r>
            <a:r>
              <a:rPr lang="en-US" sz="2800" b="1" dirty="0" err="1" smtClean="0"/>
              <a:t>Cont</a:t>
            </a:r>
            <a:r>
              <a:rPr lang="en-US" sz="2800" b="1" dirty="0" smtClean="0"/>
              <a:t>…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715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(d)</a:t>
            </a:r>
            <a:r>
              <a:rPr lang="en-US" sz="2800" b="1" dirty="0" smtClean="0"/>
              <a:t>	</a:t>
            </a:r>
            <a:r>
              <a:rPr lang="en-US" sz="2800" b="1" dirty="0" smtClean="0">
                <a:solidFill>
                  <a:srgbClr val="FF0000"/>
                </a:solidFill>
              </a:rPr>
              <a:t>Registration of Thesis Titles</a:t>
            </a:r>
          </a:p>
          <a:p>
            <a:pPr>
              <a:buNone/>
            </a:pPr>
            <a:endParaRPr lang="en-US" sz="2800" b="1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800" b="1" dirty="0" smtClean="0"/>
              <a:t>Minimum of 2 weeks for examination of thesis after receipt of such by the External Examiners</a:t>
            </a:r>
            <a:r>
              <a:rPr lang="en-US" sz="2800" b="1" dirty="0" smtClean="0"/>
              <a:t>.</a:t>
            </a:r>
          </a:p>
          <a:p>
            <a:pPr marL="514350" indent="-514350">
              <a:buFont typeface="+mj-lt"/>
              <a:buAutoNum type="romanUcPeriod"/>
            </a:pPr>
            <a:endParaRPr lang="en-US" sz="2800" b="1" dirty="0" smtClean="0"/>
          </a:p>
          <a:p>
            <a:pPr marL="514350" indent="-514350">
              <a:buFont typeface="+mj-lt"/>
              <a:buAutoNum type="romanUcPeriod"/>
            </a:pPr>
            <a:r>
              <a:rPr lang="en-US" sz="2800" b="1" dirty="0"/>
              <a:t>I</a:t>
            </a:r>
            <a:r>
              <a:rPr lang="en-US" sz="2800" b="1" dirty="0" smtClean="0"/>
              <a:t>nsulate the PG </a:t>
            </a:r>
            <a:r>
              <a:rPr lang="en-US" sz="2800" b="1" dirty="0" err="1" smtClean="0"/>
              <a:t>Programmes</a:t>
            </a:r>
            <a:r>
              <a:rPr lang="en-US" sz="2800" b="1" dirty="0" smtClean="0"/>
              <a:t> from industrial actions</a:t>
            </a:r>
          </a:p>
          <a:p>
            <a:pPr marL="514350" indent="-514350">
              <a:buNone/>
            </a:pPr>
            <a:endParaRPr lang="en-US" sz="2800" b="1" dirty="0" smtClean="0"/>
          </a:p>
          <a:p>
            <a:pPr marL="514350" indent="-514350">
              <a:buNone/>
            </a:pPr>
            <a:endParaRPr lang="en-US" sz="2800" b="1" dirty="0" smtClean="0"/>
          </a:p>
          <a:p>
            <a:pPr marL="514350" indent="-514350">
              <a:buFont typeface="+mj-lt"/>
              <a:buAutoNum type="romanUcPeriod"/>
            </a:pPr>
            <a:endParaRPr lang="en-US" sz="2800" b="1" dirty="0" smtClean="0"/>
          </a:p>
          <a:p>
            <a:pPr marL="514350" indent="-514350">
              <a:buFont typeface="+mj-lt"/>
              <a:buAutoNum type="romanUcPeriod"/>
            </a:pPr>
            <a:endParaRPr lang="en-US" sz="2800" b="1" dirty="0" smtClean="0"/>
          </a:p>
          <a:p>
            <a:pPr>
              <a:buNone/>
            </a:pPr>
            <a:endParaRPr lang="en-US" sz="2800" b="1" dirty="0" smtClean="0"/>
          </a:p>
          <a:p>
            <a:pPr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62136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RECOMMENDATIONS FROM PG COLLEGE  </a:t>
            </a:r>
            <a:r>
              <a:rPr lang="en-US" sz="2800" b="1" dirty="0" err="1" smtClean="0"/>
              <a:t>Cont</a:t>
            </a:r>
            <a:r>
              <a:rPr lang="en-US" sz="2800" b="1" dirty="0" smtClean="0"/>
              <a:t>…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8229600" cy="5791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(e) </a:t>
            </a:r>
            <a:r>
              <a:rPr lang="en-US" sz="3600" b="1" dirty="0" smtClean="0">
                <a:solidFill>
                  <a:srgbClr val="FF0000"/>
                </a:solidFill>
              </a:rPr>
              <a:t>Quality Assurance/Standard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b="1" dirty="0" smtClean="0"/>
              <a:t>Students must present at least two or three seminar papers before the completion of their </a:t>
            </a:r>
            <a:r>
              <a:rPr lang="en-US" sz="2400" b="1" dirty="0" err="1" smtClean="0"/>
              <a:t>programmes</a:t>
            </a:r>
            <a:r>
              <a:rPr lang="en-US" sz="2400" b="1" dirty="0" smtClean="0"/>
              <a:t>. 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b="1" smtClean="0"/>
              <a:t>Defense </a:t>
            </a:r>
            <a:r>
              <a:rPr lang="en-US" sz="2400" b="1" dirty="0" smtClean="0"/>
              <a:t>of research proposal and post field must be given wide publicity.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b="1" dirty="0" smtClean="0"/>
              <a:t>Workshops on how to apply for Research Grants should organized on annual basis.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b="1" dirty="0" smtClean="0"/>
              <a:t>Publication of at least, one paper from a PhD thesis in a reputable, non-predatory journal before the final </a:t>
            </a:r>
            <a:r>
              <a:rPr lang="en-US" sz="2400" b="1" dirty="0" err="1" smtClean="0"/>
              <a:t>defence</a:t>
            </a:r>
            <a:r>
              <a:rPr lang="en-US" sz="2400" b="1" dirty="0" smtClean="0"/>
              <a:t> may also be encouraged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b="1" dirty="0" smtClean="0"/>
              <a:t>Postgraduate students should be encouraged to attend academic conferences. </a:t>
            </a:r>
          </a:p>
          <a:p>
            <a:pPr marL="514350" indent="-514350">
              <a:buFont typeface="+mj-lt"/>
              <a:buAutoNum type="romanUcPeriod"/>
            </a:pPr>
            <a:endParaRPr lang="en-US" sz="2400" b="1" dirty="0"/>
          </a:p>
          <a:p>
            <a:pPr marL="514350" indent="-514350">
              <a:buFont typeface="+mj-lt"/>
              <a:buAutoNum type="romanUcPeriod"/>
            </a:pPr>
            <a:endParaRPr lang="en-US" sz="2400" b="1" dirty="0" smtClean="0"/>
          </a:p>
          <a:p>
            <a:pPr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8016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RECOMMENDATIONS FROM PG COLLEGE  </a:t>
            </a:r>
            <a:r>
              <a:rPr lang="en-US" sz="2800" b="1" dirty="0" err="1" smtClean="0"/>
              <a:t>Cont</a:t>
            </a:r>
            <a:r>
              <a:rPr lang="en-US" sz="2800" b="1" dirty="0" smtClean="0"/>
              <a:t>…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8229600" cy="5791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(e) </a:t>
            </a:r>
            <a:r>
              <a:rPr lang="en-US" sz="3600" b="1" dirty="0" smtClean="0">
                <a:solidFill>
                  <a:srgbClr val="FF0000"/>
                </a:solidFill>
              </a:rPr>
              <a:t>Quality Assurance/Standard </a:t>
            </a:r>
            <a:r>
              <a:rPr lang="en-US" sz="3600" b="1" dirty="0" err="1" smtClean="0">
                <a:solidFill>
                  <a:srgbClr val="FF0000"/>
                </a:solidFill>
              </a:rPr>
              <a:t>Contd</a:t>
            </a:r>
            <a:endParaRPr lang="en-US" sz="36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Commencement of Annual </a:t>
            </a:r>
            <a:r>
              <a:rPr lang="en-US" sz="2400" b="1" dirty="0" smtClean="0"/>
              <a:t>Awards for the best three theses that meet </a:t>
            </a:r>
            <a:r>
              <a:rPr lang="en-US" sz="2400" b="1" dirty="0" smtClean="0"/>
              <a:t>certain </a:t>
            </a:r>
            <a:r>
              <a:rPr lang="en-US" sz="2400" b="1" dirty="0" smtClean="0"/>
              <a:t>criteria on Faculty basis. This </a:t>
            </a:r>
            <a:r>
              <a:rPr lang="en-US" sz="2400" b="1" dirty="0" smtClean="0"/>
              <a:t>would </a:t>
            </a:r>
            <a:r>
              <a:rPr lang="en-US" sz="2400" b="1" dirty="0" smtClean="0"/>
              <a:t>motivate students </a:t>
            </a:r>
            <a:r>
              <a:rPr lang="en-US" sz="2400" b="1" dirty="0" smtClean="0"/>
              <a:t>to </a:t>
            </a:r>
            <a:r>
              <a:rPr lang="en-US" sz="2400" b="1" dirty="0" smtClean="0"/>
              <a:t>write good quality </a:t>
            </a:r>
            <a:r>
              <a:rPr lang="en-US" sz="2400" b="1" dirty="0" smtClean="0"/>
              <a:t>theses.</a:t>
            </a:r>
            <a:endParaRPr lang="en-US" sz="2400" b="1" dirty="0" smtClean="0"/>
          </a:p>
          <a:p>
            <a:pPr marL="514350" indent="-514350">
              <a:buFont typeface="+mj-lt"/>
              <a:buAutoNum type="romanUcPeriod"/>
            </a:pPr>
            <a:endParaRPr lang="en-US" sz="2400" b="1" dirty="0"/>
          </a:p>
          <a:p>
            <a:pPr marL="514350" indent="-514350">
              <a:buFont typeface="+mj-lt"/>
              <a:buAutoNum type="romanUcPeriod"/>
            </a:pPr>
            <a:endParaRPr lang="en-US" sz="2400" b="1" dirty="0" smtClean="0"/>
          </a:p>
          <a:p>
            <a:pPr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5362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RECOMMENDATIONS FROM PG COLLEGE  </a:t>
            </a:r>
            <a:r>
              <a:rPr lang="en-US" sz="2800" b="1" dirty="0" err="1" smtClean="0"/>
              <a:t>Cont</a:t>
            </a:r>
            <a:r>
              <a:rPr lang="en-US" sz="2800" b="1" dirty="0" smtClean="0"/>
              <a:t>…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5562600"/>
          </a:xfrm>
        </p:spPr>
        <p:txBody>
          <a:bodyPr>
            <a:noAutofit/>
          </a:bodyPr>
          <a:lstStyle/>
          <a:p>
            <a:pPr marL="457200" indent="-457200">
              <a:buAutoNum type="alphaLcParenBoth" startAt="6"/>
            </a:pPr>
            <a:r>
              <a:rPr lang="en-US" sz="3600" b="1" dirty="0" smtClean="0">
                <a:solidFill>
                  <a:srgbClr val="FF0000"/>
                </a:solidFill>
              </a:rPr>
              <a:t>Staffing</a:t>
            </a:r>
          </a:p>
          <a:p>
            <a:pPr marL="514350" indent="-514350">
              <a:buAutoNum type="romanUcPeriod"/>
            </a:pPr>
            <a:r>
              <a:rPr lang="en-US" sz="2400" b="1" dirty="0" smtClean="0"/>
              <a:t>Two new administrative divisions namely (a) Academic and Research Division, and (b) Admissions and Scholarship Division be </a:t>
            </a:r>
            <a:r>
              <a:rPr lang="en-US" sz="2400" b="1" dirty="0" smtClean="0"/>
              <a:t>created.</a:t>
            </a:r>
            <a:endParaRPr lang="en-US" sz="2400" b="1" dirty="0" smtClean="0"/>
          </a:p>
          <a:p>
            <a:pPr marL="514350" indent="-514350">
              <a:buAutoNum type="romanUcPeriod"/>
            </a:pPr>
            <a:r>
              <a:rPr lang="en-US" sz="2400" b="1" dirty="0" smtClean="0"/>
              <a:t>Sufficient staff to assist the College in its day to day activities should be deployed </a:t>
            </a:r>
            <a:r>
              <a:rPr lang="en-US" sz="2400" b="1" dirty="0" err="1" smtClean="0"/>
              <a:t>e.g</a:t>
            </a:r>
            <a:r>
              <a:rPr lang="en-US" sz="2400" b="1" dirty="0" smtClean="0"/>
              <a:t> a representative of the ICT unit is needed to facilitate the computerization of the activities of the College</a:t>
            </a:r>
          </a:p>
          <a:p>
            <a:pPr marL="514350" indent="-514350">
              <a:buFont typeface="Arial" pitchFamily="34" charset="0"/>
              <a:buAutoNum type="romanUcPeriod"/>
            </a:pPr>
            <a:r>
              <a:rPr lang="en-US" sz="2400" b="1" dirty="0" smtClean="0"/>
              <a:t>Lecturers of professional </a:t>
            </a:r>
            <a:r>
              <a:rPr lang="en-US" sz="2400" b="1" dirty="0" err="1" smtClean="0"/>
              <a:t>programmes</a:t>
            </a:r>
            <a:r>
              <a:rPr lang="en-US" sz="2400" b="1" dirty="0" smtClean="0"/>
              <a:t> should be adequately remunerated.</a:t>
            </a:r>
          </a:p>
          <a:p>
            <a:pPr marL="514350" indent="-514350">
              <a:buAutoNum type="romanUcPeriod"/>
            </a:pPr>
            <a:r>
              <a:rPr lang="en-US" sz="2400" b="1" dirty="0" smtClean="0"/>
              <a:t>Outstanding Honoraria of adjunct lecturers should be paid.</a:t>
            </a:r>
          </a:p>
          <a:p>
            <a:pPr marL="514350" lvl="0" indent="-514350">
              <a:buFont typeface="Arial" pitchFamily="34" charset="0"/>
              <a:buAutoNum type="romanUcPeriod"/>
            </a:pPr>
            <a:r>
              <a:rPr lang="en-US" sz="2400" b="1" dirty="0" smtClean="0"/>
              <a:t>The Minimum requirement of academic staff for each </a:t>
            </a:r>
            <a:r>
              <a:rPr lang="en-US" sz="2400" b="1" dirty="0" err="1" smtClean="0"/>
              <a:t>programme</a:t>
            </a:r>
            <a:r>
              <a:rPr lang="en-US" sz="2400" b="1" dirty="0" smtClean="0"/>
              <a:t> </a:t>
            </a:r>
            <a:r>
              <a:rPr lang="en-US" sz="2400" b="1" dirty="0" smtClean="0"/>
              <a:t>should be in </a:t>
            </a:r>
            <a:r>
              <a:rPr lang="en-US" sz="2400" b="1" dirty="0" smtClean="0"/>
              <a:t>line with </a:t>
            </a:r>
            <a:r>
              <a:rPr lang="en-US" sz="2400" b="1" dirty="0" smtClean="0"/>
              <a:t>the BMAS.</a:t>
            </a:r>
            <a:endParaRPr lang="en-US" sz="2400" b="1" dirty="0" smtClean="0"/>
          </a:p>
          <a:p>
            <a:pPr marL="514350" indent="-514350">
              <a:buAutoNum type="romanUcPeriod"/>
            </a:pPr>
            <a:endParaRPr lang="en-US" sz="2400" b="1" dirty="0" smtClean="0"/>
          </a:p>
          <a:p>
            <a:pPr marL="514350" indent="-514350">
              <a:buAutoNum type="romanUcPeriod"/>
            </a:pPr>
            <a:endParaRPr lang="en-US" sz="2400" b="1" dirty="0" smtClean="0"/>
          </a:p>
          <a:p>
            <a:pPr marL="514350" indent="-514350">
              <a:buNone/>
            </a:pPr>
            <a:r>
              <a:rPr lang="en-US" sz="2400" b="1" dirty="0" smtClean="0"/>
              <a:t> 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32990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29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727</Words>
  <Application>Microsoft Office PowerPoint</Application>
  <PresentationFormat>On-screen Show (4:3)</PresentationFormat>
  <Paragraphs>80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Recommendations on Research and Postgraduate Programmes</vt:lpstr>
      <vt:lpstr>1. RESEARCH</vt:lpstr>
      <vt:lpstr>Recommendations on Research.</vt:lpstr>
      <vt:lpstr>Recommendations on Research Contd.</vt:lpstr>
      <vt:lpstr>Recommendations on Research Contd.</vt:lpstr>
      <vt:lpstr>Recommendations on Research Contd.</vt:lpstr>
      <vt:lpstr>Recommendations on Improving output of Present ORD Contd.</vt:lpstr>
      <vt:lpstr>2. College of postgraduate studies</vt:lpstr>
      <vt:lpstr>PowerPoint Presentation</vt:lpstr>
      <vt:lpstr>RECOMMENDATIONS FROM PG COLLEGE  Cont…</vt:lpstr>
      <vt:lpstr>RECOMMENDATIONS FROM PG COLLEGE  Cont…</vt:lpstr>
      <vt:lpstr>RECOMMENDATIONS FROM PG COLLEGE  Cont…</vt:lpstr>
      <vt:lpstr>RECOMMENDATIONS FROM PG COLLEGE  Cont…</vt:lpstr>
      <vt:lpstr>RECOMMENDATIONS FROM PG COLLEGE  Cont…</vt:lpstr>
      <vt:lpstr>RECOMMENDATIONS FROM PG COLLEGE  Cont…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Recommendations on Research and Postgraduate Programmes</dc:title>
  <dc:creator>Test</dc:creator>
  <cp:lastModifiedBy>Test</cp:lastModifiedBy>
  <cp:revision>7</cp:revision>
  <dcterms:created xsi:type="dcterms:W3CDTF">2016-02-04T11:16:43Z</dcterms:created>
  <dcterms:modified xsi:type="dcterms:W3CDTF">2016-02-04T12:17:43Z</dcterms:modified>
</cp:coreProperties>
</file>