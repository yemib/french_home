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57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D58ECE5A-1A6A-4735-8556-F57BF40245A3}" type="datetimeFigureOut">
              <a:rPr lang="en-US" smtClean="0"/>
              <a:t>2/2/2016</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B962F3F2-735B-4F06-A239-330AC36FE1A8}"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transition spd="slow">
    <p:dissolv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D58ECE5A-1A6A-4735-8556-F57BF40245A3}" type="datetimeFigureOut">
              <a:rPr lang="en-US" smtClean="0"/>
              <a:t>2/2/2016</a:t>
            </a:fld>
            <a:endParaRPr lang="en-US"/>
          </a:p>
        </p:txBody>
      </p:sp>
      <p:sp>
        <p:nvSpPr>
          <p:cNvPr id="9" name="Slide Number Placeholder 8"/>
          <p:cNvSpPr>
            <a:spLocks noGrp="1"/>
          </p:cNvSpPr>
          <p:nvPr>
            <p:ph type="sldNum" sz="quarter" idx="15"/>
          </p:nvPr>
        </p:nvSpPr>
        <p:spPr/>
        <p:txBody>
          <a:bodyPr rtlCol="0"/>
          <a:lstStyle/>
          <a:p>
            <a:fld id="{B962F3F2-735B-4F06-A239-330AC36FE1A8}" type="slidenum">
              <a:rPr lang="en-US" smtClean="0"/>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transition spd="slow">
    <p:dissolv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D58ECE5A-1A6A-4735-8556-F57BF40245A3}" type="datetimeFigureOut">
              <a:rPr lang="en-US" smtClean="0"/>
              <a:t>2/2/2016</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B962F3F2-735B-4F06-A239-330AC36FE1A8}"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transition spd="slow">
    <p:dissolv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D58ECE5A-1A6A-4735-8556-F57BF40245A3}" type="datetimeFigureOut">
              <a:rPr lang="en-US" smtClean="0"/>
              <a:t>2/2/2016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62F3F2-735B-4F06-A239-330AC36FE1A8}" type="slidenum">
              <a:rPr lang="en-US" smtClean="0"/>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transition spd="slow">
    <p:dissolv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D58ECE5A-1A6A-4735-8556-F57BF40245A3}" type="datetimeFigureOut">
              <a:rPr lang="en-US" smtClean="0"/>
              <a:t>2/2/2016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62F3F2-735B-4F06-A239-330AC36FE1A8}" type="slidenum">
              <a:rPr lang="en-US" smtClean="0"/>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transition spd="slow">
    <p:dissolv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D58ECE5A-1A6A-4735-8556-F57BF40245A3}" type="datetimeFigureOut">
              <a:rPr lang="en-US" smtClean="0"/>
              <a:t>2/2/2016</a:t>
            </a:fld>
            <a:endParaRPr lang="en-US"/>
          </a:p>
        </p:txBody>
      </p:sp>
      <p:sp>
        <p:nvSpPr>
          <p:cNvPr id="7" name="Slide Number Placeholder 6"/>
          <p:cNvSpPr>
            <a:spLocks noGrp="1"/>
          </p:cNvSpPr>
          <p:nvPr>
            <p:ph type="sldNum" sz="quarter" idx="11"/>
          </p:nvPr>
        </p:nvSpPr>
        <p:spPr/>
        <p:txBody>
          <a:bodyPr rtlCol="0"/>
          <a:lstStyle/>
          <a:p>
            <a:fld id="{B962F3F2-735B-4F06-A239-330AC36FE1A8}" type="slidenum">
              <a:rPr lang="en-US" smtClean="0"/>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transition spd="slow">
    <p:dissolv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8ECE5A-1A6A-4735-8556-F57BF40245A3}" type="datetimeFigureOut">
              <a:rPr lang="en-US" smtClean="0"/>
              <a:t>2/2/2016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962F3F2-735B-4F06-A239-330AC36FE1A8}" type="slidenum">
              <a:rPr lang="en-US" smtClean="0"/>
              <a:t>‹#›</a:t>
            </a:fld>
            <a:endParaRPr lang="en-US"/>
          </a:p>
        </p:txBody>
      </p:sp>
    </p:spTree>
  </p:cSld>
  <p:clrMapOvr>
    <a:masterClrMapping/>
  </p:clrMapOvr>
  <p:transition spd="slow">
    <p:dissolv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D58ECE5A-1A6A-4735-8556-F57BF40245A3}" type="datetimeFigureOut">
              <a:rPr lang="en-US" smtClean="0"/>
              <a:t>2/2/2016</a:t>
            </a:fld>
            <a:endParaRPr lang="en-US"/>
          </a:p>
        </p:txBody>
      </p:sp>
      <p:sp>
        <p:nvSpPr>
          <p:cNvPr id="22" name="Slide Number Placeholder 21"/>
          <p:cNvSpPr>
            <a:spLocks noGrp="1"/>
          </p:cNvSpPr>
          <p:nvPr>
            <p:ph type="sldNum" sz="quarter" idx="15"/>
          </p:nvPr>
        </p:nvSpPr>
        <p:spPr/>
        <p:txBody>
          <a:bodyPr rtlCol="0"/>
          <a:lstStyle/>
          <a:p>
            <a:fld id="{B962F3F2-735B-4F06-A239-330AC36FE1A8}" type="slidenum">
              <a:rPr lang="en-US" smtClean="0"/>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transition spd="slow">
    <p:dissolv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D58ECE5A-1A6A-4735-8556-F57BF40245A3}" type="datetimeFigureOut">
              <a:rPr lang="en-US" smtClean="0"/>
              <a:t>2/2/2016</a:t>
            </a:fld>
            <a:endParaRPr lang="en-US"/>
          </a:p>
        </p:txBody>
      </p:sp>
      <p:sp>
        <p:nvSpPr>
          <p:cNvPr id="18" name="Slide Number Placeholder 17"/>
          <p:cNvSpPr>
            <a:spLocks noGrp="1"/>
          </p:cNvSpPr>
          <p:nvPr>
            <p:ph type="sldNum" sz="quarter" idx="11"/>
          </p:nvPr>
        </p:nvSpPr>
        <p:spPr/>
        <p:txBody>
          <a:bodyPr rtlCol="0"/>
          <a:lstStyle/>
          <a:p>
            <a:fld id="{B962F3F2-735B-4F06-A239-330AC36FE1A8}" type="slidenum">
              <a:rPr lang="en-US" smtClean="0"/>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transition spd="slow">
    <p:dissolv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58ECE5A-1A6A-4735-8556-F57BF40245A3}" type="datetimeFigureOut">
              <a:rPr lang="en-US" smtClean="0"/>
              <a:t>2/2/2016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62F3F2-735B-4F06-A239-330AC36FE1A8}" type="slidenum">
              <a:rPr lang="en-US" smtClean="0"/>
              <a:t>‹#›</a:t>
            </a:fld>
            <a:endParaRPr lang="en-US"/>
          </a:p>
        </p:txBody>
      </p:sp>
    </p:spTree>
  </p:cSld>
  <p:clrMapOvr>
    <a:masterClrMapping/>
  </p:clrMapOvr>
  <p:transition spd="slow">
    <p:dissolv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58ECE5A-1A6A-4735-8556-F57BF40245A3}" type="datetimeFigureOut">
              <a:rPr lang="en-US" smtClean="0"/>
              <a:t>2/2/2016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62F3F2-735B-4F06-A239-330AC36FE1A8}" type="slidenum">
              <a:rPr lang="en-US" smtClean="0"/>
              <a:t>‹#›</a:t>
            </a:fld>
            <a:endParaRPr lang="en-US"/>
          </a:p>
        </p:txBody>
      </p:sp>
    </p:spTree>
  </p:cSld>
  <p:clrMapOvr>
    <a:masterClrMapping/>
  </p:clrMapOvr>
  <p:transition spd="slow">
    <p:dissolv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D58ECE5A-1A6A-4735-8556-F57BF40245A3}" type="datetimeFigureOut">
              <a:rPr lang="en-US" smtClean="0"/>
              <a:t>2/2/2016</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B962F3F2-735B-4F06-A239-330AC36FE1A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slow">
    <p:dissolve/>
  </p:transition>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914400"/>
            <a:ext cx="7239000" cy="4267200"/>
          </a:xfrm>
        </p:spPr>
        <p:txBody>
          <a:bodyPr>
            <a:noAutofit/>
          </a:bodyPr>
          <a:lstStyle/>
          <a:p>
            <a:pPr algn="ctr"/>
            <a:r>
              <a:rPr lang="en-US" sz="3600" dirty="0" smtClean="0">
                <a:latin typeface="Georgia" pitchFamily="18" charset="0"/>
              </a:rPr>
              <a:t>POSITION OF THE FACULTY OF LAW ON ACADEMIC PROGRAMMES IN THE FACULTY AND WAY FORWARD TO PROPEL EKSU TO A WORLD CLASS UNIVERSITY</a:t>
            </a:r>
            <a:r>
              <a:rPr lang="en-US" sz="3600" dirty="0" smtClean="0"/>
              <a:t/>
            </a:r>
            <a:br>
              <a:rPr lang="en-US" sz="3600" dirty="0" smtClean="0"/>
            </a:br>
            <a:endParaRPr lang="en-US" sz="3600" dirty="0"/>
          </a:p>
        </p:txBody>
      </p:sp>
      <p:sp>
        <p:nvSpPr>
          <p:cNvPr id="3" name="Subtitle 2"/>
          <p:cNvSpPr>
            <a:spLocks noGrp="1"/>
          </p:cNvSpPr>
          <p:nvPr>
            <p:ph type="subTitle" idx="1"/>
          </p:nvPr>
        </p:nvSpPr>
        <p:spPr>
          <a:xfrm>
            <a:off x="2362200" y="5410200"/>
            <a:ext cx="6172200" cy="888522"/>
          </a:xfrm>
        </p:spPr>
        <p:txBody>
          <a:bodyPr/>
          <a:lstStyle/>
          <a:p>
            <a:pPr algn="r"/>
            <a:r>
              <a:rPr lang="en-US" dirty="0" smtClean="0">
                <a:latin typeface="Algerian" pitchFamily="82" charset="0"/>
              </a:rPr>
              <a:t>February, 2016</a:t>
            </a:r>
            <a:endParaRPr lang="en-US" dirty="0">
              <a:latin typeface="Algerian" pitchFamily="82" charset="0"/>
            </a:endParaRPr>
          </a:p>
        </p:txBody>
      </p:sp>
    </p:spTree>
  </p:cSld>
  <p:clrMapOvr>
    <a:masterClrMapping/>
  </p:clrMapOvr>
  <p:transition spd="slow">
    <p:dissolv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INTRODUCTION</a:t>
            </a:r>
            <a:r>
              <a:rPr lang="en-US" dirty="0" smtClean="0"/>
              <a:t/>
            </a:r>
            <a:br>
              <a:rPr lang="en-US" dirty="0" smtClean="0"/>
            </a:br>
            <a:endParaRPr lang="en-US" dirty="0"/>
          </a:p>
        </p:txBody>
      </p:sp>
      <p:sp>
        <p:nvSpPr>
          <p:cNvPr id="3" name="Content Placeholder 2"/>
          <p:cNvSpPr>
            <a:spLocks noGrp="1"/>
          </p:cNvSpPr>
          <p:nvPr>
            <p:ph sz="quarter" idx="1"/>
          </p:nvPr>
        </p:nvSpPr>
        <p:spPr/>
        <p:txBody>
          <a:bodyPr>
            <a:noAutofit/>
          </a:bodyPr>
          <a:lstStyle/>
          <a:p>
            <a:pPr algn="just"/>
            <a:r>
              <a:rPr lang="en-US" sz="3200" dirty="0" smtClean="0"/>
              <a:t>The Faculty of Law which was established during the 1991/92 academic session runs the following </a:t>
            </a:r>
            <a:r>
              <a:rPr lang="en-US" sz="3200" dirty="0" err="1" smtClean="0"/>
              <a:t>programmes</a:t>
            </a:r>
            <a:r>
              <a:rPr lang="en-US" sz="3200" dirty="0" smtClean="0"/>
              <a:t>:</a:t>
            </a:r>
          </a:p>
          <a:p>
            <a:r>
              <a:rPr lang="en-US" sz="3200" dirty="0" smtClean="0"/>
              <a:t>Diploma </a:t>
            </a:r>
            <a:r>
              <a:rPr lang="en-US" sz="3200" dirty="0" smtClean="0"/>
              <a:t>in Law Programme</a:t>
            </a:r>
          </a:p>
          <a:p>
            <a:r>
              <a:rPr lang="en-US" sz="3200" dirty="0" smtClean="0"/>
              <a:t>Bachelor </a:t>
            </a:r>
            <a:r>
              <a:rPr lang="en-US" sz="3200" dirty="0" smtClean="0"/>
              <a:t>of Law (LL.B) programme</a:t>
            </a:r>
          </a:p>
          <a:p>
            <a:r>
              <a:rPr lang="en-US" sz="3200" dirty="0" smtClean="0"/>
              <a:t>Postgraduate </a:t>
            </a:r>
            <a:r>
              <a:rPr lang="en-US" sz="3200" dirty="0" err="1" smtClean="0"/>
              <a:t>Programmes</a:t>
            </a:r>
            <a:r>
              <a:rPr lang="en-US" sz="3200" dirty="0" smtClean="0"/>
              <a:t> (LL.M, </a:t>
            </a:r>
            <a:r>
              <a:rPr lang="en-US" sz="3200" dirty="0" err="1" smtClean="0"/>
              <a:t>M.Phil</a:t>
            </a:r>
            <a:r>
              <a:rPr lang="en-US" sz="3200" dirty="0" smtClean="0"/>
              <a:t> &amp; </a:t>
            </a:r>
            <a:r>
              <a:rPr lang="en-US" sz="3200" dirty="0" err="1" smtClean="0"/>
              <a:t>Ph.D</a:t>
            </a:r>
            <a:r>
              <a:rPr lang="en-US" sz="3200" dirty="0" smtClean="0"/>
              <a:t>)</a:t>
            </a:r>
          </a:p>
          <a:p>
            <a:endParaRPr lang="en-US" sz="3200" dirty="0"/>
          </a:p>
        </p:txBody>
      </p:sp>
    </p:spTree>
  </p:cSld>
  <p:clrMapOvr>
    <a:masterClrMapping/>
  </p:clrMapOvr>
  <p:transition spd="slow">
    <p:dissolv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VIABILITY</a:t>
            </a:r>
            <a:r>
              <a:rPr lang="en-US" dirty="0" smtClean="0"/>
              <a:t/>
            </a:r>
            <a:br>
              <a:rPr lang="en-US" dirty="0" smtClean="0"/>
            </a:br>
            <a:endParaRPr lang="en-US" dirty="0"/>
          </a:p>
        </p:txBody>
      </p:sp>
      <p:sp>
        <p:nvSpPr>
          <p:cNvPr id="3" name="Content Placeholder 2"/>
          <p:cNvSpPr>
            <a:spLocks noGrp="1"/>
          </p:cNvSpPr>
          <p:nvPr>
            <p:ph sz="quarter" idx="1"/>
          </p:nvPr>
        </p:nvSpPr>
        <p:spPr/>
        <p:txBody>
          <a:bodyPr>
            <a:normAutofit lnSpcReduction="10000"/>
          </a:bodyPr>
          <a:lstStyle/>
          <a:p>
            <a:r>
              <a:rPr lang="en-US" dirty="0" smtClean="0"/>
              <a:t>All the </a:t>
            </a:r>
            <a:r>
              <a:rPr lang="en-US" dirty="0" err="1" smtClean="0"/>
              <a:t>Programmes</a:t>
            </a:r>
            <a:r>
              <a:rPr lang="en-US" dirty="0" smtClean="0"/>
              <a:t> are indeed viable despite some challenges </a:t>
            </a:r>
          </a:p>
          <a:p>
            <a:r>
              <a:rPr lang="en-US" dirty="0" smtClean="0"/>
              <a:t>The </a:t>
            </a:r>
            <a:r>
              <a:rPr lang="en-US" dirty="0" err="1" smtClean="0"/>
              <a:t>programmes</a:t>
            </a:r>
            <a:r>
              <a:rPr lang="en-US" dirty="0" smtClean="0"/>
              <a:t> have produced graduates who are contributing their quotas to the various sectors of the economy as judges, corporate Lawyers, State Counsel and private Legal practitioners</a:t>
            </a:r>
          </a:p>
          <a:p>
            <a:r>
              <a:rPr lang="en-US" dirty="0" smtClean="0"/>
              <a:t>To </a:t>
            </a:r>
            <a:r>
              <a:rPr lang="en-US" dirty="0" smtClean="0"/>
              <a:t>date, the Faculty has graduated five (5) </a:t>
            </a:r>
            <a:r>
              <a:rPr lang="en-US" dirty="0" err="1" smtClean="0"/>
              <a:t>Ph.D</a:t>
            </a:r>
            <a:r>
              <a:rPr lang="en-US" dirty="0" smtClean="0"/>
              <a:t> students and several Master of Laws (LL.M) Students</a:t>
            </a:r>
          </a:p>
          <a:p>
            <a:r>
              <a:rPr lang="en-US" dirty="0" smtClean="0"/>
              <a:t>In </a:t>
            </a:r>
            <a:r>
              <a:rPr lang="en-US" dirty="0" smtClean="0"/>
              <a:t>2013, the Faculty emerged the Faculty with the best result at the Nigerian Law School with final Bar Examinations a success rate of 96.6%.</a:t>
            </a:r>
          </a:p>
          <a:p>
            <a:endParaRPr lang="en-US" dirty="0"/>
          </a:p>
        </p:txBody>
      </p:sp>
    </p:spTree>
  </p:cSld>
  <p:clrMapOvr>
    <a:masterClrMapping/>
  </p:clrMapOvr>
  <p:transition spd="slow">
    <p:dissolv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ACCREDITATION</a:t>
            </a:r>
            <a:r>
              <a:rPr lang="en-US" dirty="0" smtClean="0"/>
              <a:t/>
            </a:r>
            <a:br>
              <a:rPr lang="en-US" dirty="0" smtClean="0"/>
            </a:br>
            <a:endParaRPr lang="en-US" dirty="0"/>
          </a:p>
        </p:txBody>
      </p:sp>
      <p:sp>
        <p:nvSpPr>
          <p:cNvPr id="3" name="Content Placeholder 2"/>
          <p:cNvSpPr>
            <a:spLocks noGrp="1"/>
          </p:cNvSpPr>
          <p:nvPr>
            <p:ph sz="quarter" idx="1"/>
          </p:nvPr>
        </p:nvSpPr>
        <p:spPr/>
        <p:txBody>
          <a:bodyPr/>
          <a:lstStyle/>
          <a:p>
            <a:r>
              <a:rPr lang="en-US" dirty="0" smtClean="0"/>
              <a:t>The Bachelor of Law (LL.B) programme enjoys full accreditation from both the Council of Legal Education and National Universities Commission.</a:t>
            </a:r>
          </a:p>
          <a:p>
            <a:r>
              <a:rPr lang="en-US" dirty="0" smtClean="0"/>
              <a:t>The </a:t>
            </a:r>
            <a:r>
              <a:rPr lang="en-US" dirty="0" smtClean="0"/>
              <a:t>Programme is however due for accreditation from both CLE and NUC and efforts are already being made to renovate the Faculty building as part of the preparation towards accreditation.</a:t>
            </a:r>
          </a:p>
          <a:p>
            <a:endParaRPr lang="en-US" dirty="0"/>
          </a:p>
        </p:txBody>
      </p:sp>
    </p:spTree>
  </p:cSld>
  <p:clrMapOvr>
    <a:masterClrMapping/>
  </p:clrMapOvr>
  <p:transition spd="slow">
    <p:dissolv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ACCOMMODATION</a:t>
            </a:r>
            <a:r>
              <a:rPr lang="en-US" dirty="0" smtClean="0"/>
              <a:t/>
            </a:r>
            <a:br>
              <a:rPr lang="en-US" dirty="0" smtClean="0"/>
            </a:br>
            <a:endParaRPr lang="en-US" dirty="0"/>
          </a:p>
        </p:txBody>
      </p:sp>
      <p:sp>
        <p:nvSpPr>
          <p:cNvPr id="3" name="Content Placeholder 2"/>
          <p:cNvSpPr>
            <a:spLocks noGrp="1"/>
          </p:cNvSpPr>
          <p:nvPr>
            <p:ph sz="quarter" idx="1"/>
          </p:nvPr>
        </p:nvSpPr>
        <p:spPr/>
        <p:txBody>
          <a:bodyPr>
            <a:normAutofit fontScale="92500" lnSpcReduction="20000"/>
          </a:bodyPr>
          <a:lstStyle/>
          <a:p>
            <a:r>
              <a:rPr lang="en-US" dirty="0" smtClean="0"/>
              <a:t>Office accommodation is a serious challenge to the Faculty.</a:t>
            </a:r>
          </a:p>
          <a:p>
            <a:r>
              <a:rPr lang="en-US" dirty="0" smtClean="0"/>
              <a:t>The </a:t>
            </a:r>
            <a:r>
              <a:rPr lang="en-US" dirty="0" smtClean="0"/>
              <a:t>Faculty building is becoming old and outdated especially in view of modern Faculty buildings that are coming up on the campus.</a:t>
            </a:r>
          </a:p>
          <a:p>
            <a:r>
              <a:rPr lang="en-US" dirty="0" smtClean="0"/>
              <a:t>The </a:t>
            </a:r>
            <a:r>
              <a:rPr lang="en-US" dirty="0" smtClean="0"/>
              <a:t>Faculty building and adjoining classrooms can no longer accommodate the </a:t>
            </a:r>
            <a:r>
              <a:rPr lang="en-US" dirty="0" err="1" smtClean="0"/>
              <a:t>programmes</a:t>
            </a:r>
            <a:endParaRPr lang="en-US" dirty="0" smtClean="0"/>
          </a:p>
          <a:p>
            <a:r>
              <a:rPr lang="en-US" dirty="0" smtClean="0"/>
              <a:t>The </a:t>
            </a:r>
            <a:r>
              <a:rPr lang="en-US" dirty="0" smtClean="0"/>
              <a:t>PG </a:t>
            </a:r>
            <a:r>
              <a:rPr lang="en-US" dirty="0" err="1" smtClean="0"/>
              <a:t>programmes</a:t>
            </a:r>
            <a:r>
              <a:rPr lang="en-US" dirty="0" smtClean="0"/>
              <a:t> do not have classrooms.  Thus, lectures are held in the Moot Court and Conference Room in the Faculty which do not have facilities for teaching.</a:t>
            </a:r>
          </a:p>
          <a:p>
            <a:r>
              <a:rPr lang="en-US" dirty="0" smtClean="0"/>
              <a:t>There </a:t>
            </a:r>
            <a:r>
              <a:rPr lang="en-US" dirty="0" smtClean="0"/>
              <a:t>is no space in the Faculty to accommodate the Law Clinic which is a very critical resource and requirement for training of Lawyers in Nigeria.</a:t>
            </a:r>
          </a:p>
          <a:p>
            <a:r>
              <a:rPr lang="en-US" dirty="0" smtClean="0"/>
              <a:t>No </a:t>
            </a:r>
            <a:r>
              <a:rPr lang="en-US" dirty="0" smtClean="0"/>
              <a:t>enough offices for Lecturers in the Faculty.</a:t>
            </a:r>
          </a:p>
          <a:p>
            <a:endParaRPr lang="en-US" dirty="0"/>
          </a:p>
        </p:txBody>
      </p:sp>
    </p:spTree>
  </p:cSld>
  <p:clrMapOvr>
    <a:masterClrMapping/>
  </p:clrMapOvr>
  <p:transition spd="slow">
    <p:dissolv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7467600" cy="1143000"/>
          </a:xfrm>
        </p:spPr>
        <p:txBody>
          <a:bodyPr>
            <a:normAutofit fontScale="90000"/>
          </a:bodyPr>
          <a:lstStyle/>
          <a:p>
            <a:r>
              <a:rPr lang="en-US" b="1" dirty="0" smtClean="0"/>
              <a:t>CLASSROOMS/</a:t>
            </a:r>
            <a:r>
              <a:rPr lang="en-US" b="1" dirty="0" smtClean="0"/>
              <a:t>EXAMINATION</a:t>
            </a:r>
            <a:r>
              <a:rPr lang="en-US" dirty="0" smtClean="0"/>
              <a:t/>
            </a:r>
            <a:br>
              <a:rPr lang="en-US" dirty="0" smtClean="0"/>
            </a:br>
            <a:r>
              <a:rPr lang="en-US" dirty="0" smtClean="0"/>
              <a:t/>
            </a:r>
            <a:br>
              <a:rPr lang="en-US" dirty="0" smtClean="0"/>
            </a:br>
            <a:endParaRPr lang="en-US" dirty="0"/>
          </a:p>
        </p:txBody>
      </p:sp>
      <p:sp>
        <p:nvSpPr>
          <p:cNvPr id="3" name="Content Placeholder 2"/>
          <p:cNvSpPr>
            <a:spLocks noGrp="1"/>
          </p:cNvSpPr>
          <p:nvPr>
            <p:ph sz="quarter" idx="1"/>
          </p:nvPr>
        </p:nvSpPr>
        <p:spPr>
          <a:xfrm>
            <a:off x="457200" y="1219200"/>
            <a:ext cx="7467600" cy="5254752"/>
          </a:xfrm>
        </p:spPr>
        <p:txBody>
          <a:bodyPr/>
          <a:lstStyle/>
          <a:p>
            <a:r>
              <a:rPr lang="en-US" sz="3200" dirty="0" smtClean="0"/>
              <a:t>Classrooms are inadequate in quantity and space.</a:t>
            </a:r>
          </a:p>
          <a:p>
            <a:r>
              <a:rPr lang="en-US" sz="3200" dirty="0" smtClean="0"/>
              <a:t>There </a:t>
            </a:r>
            <a:r>
              <a:rPr lang="en-US" sz="3200" dirty="0" smtClean="0"/>
              <a:t>are no tutorial classrooms for tutorial classes in the Faculty</a:t>
            </a:r>
            <a:r>
              <a:rPr lang="en-US" sz="3200" dirty="0" smtClean="0"/>
              <a:t>.</a:t>
            </a:r>
          </a:p>
          <a:p>
            <a:r>
              <a:rPr lang="en-US" sz="3200" dirty="0" smtClean="0"/>
              <a:t>Examination Periods are fixed by the University.</a:t>
            </a:r>
          </a:p>
          <a:p>
            <a:r>
              <a:rPr lang="en-US" sz="3200" dirty="0" smtClean="0"/>
              <a:t>Questions</a:t>
            </a:r>
            <a:r>
              <a:rPr lang="en-US" sz="3200" dirty="0" smtClean="0"/>
              <a:t>, Answer scripts and Long Essays for 500 Level Students are moderated by External Examiners to the Faculty</a:t>
            </a:r>
            <a:r>
              <a:rPr lang="en-US" dirty="0" smtClean="0"/>
              <a:t>.</a:t>
            </a:r>
          </a:p>
          <a:p>
            <a:endParaRPr lang="en-US" dirty="0"/>
          </a:p>
        </p:txBody>
      </p:sp>
    </p:spTree>
  </p:cSld>
  <p:clrMapOvr>
    <a:masterClrMapping/>
  </p:clrMapOvr>
  <p:transition spd="slow">
    <p:dissolv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RESULT PROCESSING</a:t>
            </a:r>
            <a:r>
              <a:rPr lang="en-US" dirty="0" smtClean="0"/>
              <a:t/>
            </a:r>
            <a:br>
              <a:rPr lang="en-US" dirty="0" smtClean="0"/>
            </a:br>
            <a:endParaRPr lang="en-US" dirty="0"/>
          </a:p>
        </p:txBody>
      </p:sp>
      <p:sp>
        <p:nvSpPr>
          <p:cNvPr id="3" name="Content Placeholder 2"/>
          <p:cNvSpPr>
            <a:spLocks noGrp="1"/>
          </p:cNvSpPr>
          <p:nvPr>
            <p:ph sz="quarter" idx="1"/>
          </p:nvPr>
        </p:nvSpPr>
        <p:spPr/>
        <p:txBody>
          <a:bodyPr/>
          <a:lstStyle/>
          <a:p>
            <a:r>
              <a:rPr lang="en-US" dirty="0" smtClean="0"/>
              <a:t>The Faculty processes result manually to date</a:t>
            </a:r>
          </a:p>
          <a:p>
            <a:r>
              <a:rPr lang="en-US" dirty="0" smtClean="0"/>
              <a:t>Manual </a:t>
            </a:r>
            <a:r>
              <a:rPr lang="en-US" dirty="0" smtClean="0"/>
              <a:t>processing leads to excessive delay </a:t>
            </a:r>
          </a:p>
          <a:p>
            <a:r>
              <a:rPr lang="en-US" dirty="0" smtClean="0"/>
              <a:t>It </a:t>
            </a:r>
            <a:r>
              <a:rPr lang="en-US" dirty="0" smtClean="0"/>
              <a:t>is also not the best for record-keeping as it is difficult at times to get record of results of past students for purposes of transcripts.</a:t>
            </a:r>
          </a:p>
          <a:p>
            <a:r>
              <a:rPr lang="en-US" dirty="0" smtClean="0"/>
              <a:t>All </a:t>
            </a:r>
            <a:r>
              <a:rPr lang="en-US" dirty="0" smtClean="0"/>
              <a:t>results are considered by the Faculty Board before processing to Business Committee of Senate.</a:t>
            </a:r>
          </a:p>
          <a:p>
            <a:endParaRPr lang="en-US" dirty="0"/>
          </a:p>
        </p:txBody>
      </p:sp>
    </p:spTree>
  </p:cSld>
  <p:clrMapOvr>
    <a:masterClrMapping/>
  </p:clrMapOvr>
  <p:transition spd="slow">
    <p:dissolv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PROPOSED NEW PROGRAMMES</a:t>
            </a:r>
            <a:r>
              <a:rPr lang="en-US" dirty="0" smtClean="0"/>
              <a:t/>
            </a:r>
            <a:br>
              <a:rPr lang="en-US" dirty="0" smtClean="0"/>
            </a:br>
            <a:endParaRPr lang="en-US" dirty="0"/>
          </a:p>
        </p:txBody>
      </p:sp>
      <p:sp>
        <p:nvSpPr>
          <p:cNvPr id="3" name="Content Placeholder 2"/>
          <p:cNvSpPr>
            <a:spLocks noGrp="1"/>
          </p:cNvSpPr>
          <p:nvPr>
            <p:ph sz="quarter" idx="1"/>
          </p:nvPr>
        </p:nvSpPr>
        <p:spPr/>
        <p:txBody>
          <a:bodyPr/>
          <a:lstStyle/>
          <a:p>
            <a:r>
              <a:rPr lang="en-US" dirty="0" smtClean="0"/>
              <a:t>The Faculty is proposing the introduction of the following new </a:t>
            </a:r>
            <a:r>
              <a:rPr lang="en-US" dirty="0" err="1" smtClean="0"/>
              <a:t>programmes</a:t>
            </a:r>
            <a:r>
              <a:rPr lang="en-US" dirty="0" smtClean="0"/>
              <a:t> immediately:</a:t>
            </a:r>
          </a:p>
          <a:p>
            <a:r>
              <a:rPr lang="en-US" dirty="0" smtClean="0"/>
              <a:t>Bachelor </a:t>
            </a:r>
            <a:r>
              <a:rPr lang="en-US" dirty="0" smtClean="0"/>
              <a:t>of International Law and Diplomacy (BILD)</a:t>
            </a:r>
          </a:p>
          <a:p>
            <a:r>
              <a:rPr lang="en-US" dirty="0" smtClean="0"/>
              <a:t>Bachelor </a:t>
            </a:r>
            <a:r>
              <a:rPr lang="en-US" dirty="0" smtClean="0"/>
              <a:t>of Criminal Justice Administration (BCJA)</a:t>
            </a:r>
          </a:p>
          <a:p>
            <a:r>
              <a:rPr lang="en-US" dirty="0" smtClean="0"/>
              <a:t>Post </a:t>
            </a:r>
            <a:r>
              <a:rPr lang="en-US" dirty="0" smtClean="0"/>
              <a:t>graduate Diploma in Law (PGD)</a:t>
            </a:r>
          </a:p>
          <a:p>
            <a:r>
              <a:rPr lang="en-US" dirty="0" smtClean="0"/>
              <a:t>Diploma/Certificate </a:t>
            </a:r>
            <a:r>
              <a:rPr lang="en-US" dirty="0" smtClean="0"/>
              <a:t>Courses in Criminal Justice Administration</a:t>
            </a:r>
          </a:p>
          <a:p>
            <a:r>
              <a:rPr lang="en-US" dirty="0" smtClean="0"/>
              <a:t>Diploma </a:t>
            </a:r>
            <a:r>
              <a:rPr lang="en-US" dirty="0" smtClean="0"/>
              <a:t>in Alternative Dispute Resolution (ADR) etc.</a:t>
            </a:r>
          </a:p>
          <a:p>
            <a:endParaRPr lang="en-US" dirty="0"/>
          </a:p>
        </p:txBody>
      </p:sp>
    </p:spTree>
  </p:cSld>
  <p:clrMapOvr>
    <a:masterClrMapping/>
  </p:clrMapOvr>
  <p:transition spd="slow">
    <p:dissolv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CHALLENGES</a:t>
            </a:r>
            <a:r>
              <a:rPr lang="en-US" dirty="0" smtClean="0"/>
              <a:t/>
            </a:r>
            <a:br>
              <a:rPr lang="en-US" dirty="0" smtClean="0"/>
            </a:br>
            <a:endParaRPr lang="en-US" dirty="0"/>
          </a:p>
        </p:txBody>
      </p:sp>
      <p:sp>
        <p:nvSpPr>
          <p:cNvPr id="3" name="Content Placeholder 2"/>
          <p:cNvSpPr>
            <a:spLocks noGrp="1"/>
          </p:cNvSpPr>
          <p:nvPr>
            <p:ph sz="quarter" idx="1"/>
          </p:nvPr>
        </p:nvSpPr>
        <p:spPr>
          <a:xfrm>
            <a:off x="457200" y="914400"/>
            <a:ext cx="7467600" cy="5559552"/>
          </a:xfrm>
        </p:spPr>
        <p:txBody>
          <a:bodyPr>
            <a:normAutofit/>
          </a:bodyPr>
          <a:lstStyle/>
          <a:p>
            <a:r>
              <a:rPr lang="en-US" b="1" dirty="0" smtClean="0"/>
              <a:t>Academic/Staffing</a:t>
            </a:r>
          </a:p>
          <a:p>
            <a:pPr>
              <a:buFont typeface="Wingdings" pitchFamily="2" charset="2"/>
              <a:buChar char="v"/>
            </a:pPr>
            <a:r>
              <a:rPr lang="en-US" dirty="0" smtClean="0"/>
              <a:t>Lecturers are not enough in the Faculty and the mix is also not correct.</a:t>
            </a:r>
          </a:p>
          <a:p>
            <a:pPr>
              <a:buFont typeface="Wingdings" pitchFamily="2" charset="2"/>
              <a:buChar char="v"/>
            </a:pPr>
            <a:r>
              <a:rPr lang="en-US" dirty="0" smtClean="0"/>
              <a:t>The </a:t>
            </a:r>
            <a:r>
              <a:rPr lang="en-US" dirty="0" smtClean="0"/>
              <a:t>Faculty operates with just two (2) Departments as against six (6) Departments approved at inception.</a:t>
            </a:r>
          </a:p>
          <a:p>
            <a:pPr>
              <a:buFont typeface="Wingdings" pitchFamily="2" charset="2"/>
              <a:buChar char="v"/>
            </a:pPr>
            <a:r>
              <a:rPr lang="en-US" dirty="0" smtClean="0"/>
              <a:t>Efforts </a:t>
            </a:r>
            <a:r>
              <a:rPr lang="en-US" dirty="0" smtClean="0"/>
              <a:t>are however in progress to increase the Departments to four (4) as the increase in the admission quota is also tied to it.</a:t>
            </a:r>
          </a:p>
          <a:p>
            <a:pPr>
              <a:buFont typeface="Wingdings" pitchFamily="2" charset="2"/>
              <a:buChar char="v"/>
            </a:pPr>
            <a:r>
              <a:rPr lang="en-US" dirty="0" smtClean="0"/>
              <a:t>Results </a:t>
            </a:r>
            <a:r>
              <a:rPr lang="en-US" dirty="0" smtClean="0"/>
              <a:t>are computed manually</a:t>
            </a:r>
            <a:r>
              <a:rPr lang="en-US" dirty="0" smtClean="0"/>
              <a:t>.</a:t>
            </a:r>
          </a:p>
          <a:p>
            <a:pPr>
              <a:buNone/>
            </a:pPr>
            <a:endParaRPr lang="en-US" dirty="0" smtClean="0"/>
          </a:p>
          <a:p>
            <a:pPr>
              <a:buFont typeface="Courier New" pitchFamily="49" charset="0"/>
              <a:buChar char="o"/>
            </a:pPr>
            <a:endParaRPr lang="en-US" dirty="0" smtClean="0"/>
          </a:p>
          <a:p>
            <a:pPr>
              <a:buNone/>
            </a:pPr>
            <a:endParaRPr lang="en-US" dirty="0"/>
          </a:p>
        </p:txBody>
      </p:sp>
    </p:spTree>
  </p:cSld>
  <p:clrMapOvr>
    <a:masterClrMapping/>
  </p:clrMapOvr>
  <p:transition spd="slow">
    <p:dissolv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Infrastructure</a:t>
            </a:r>
            <a:br>
              <a:rPr lang="en-US" b="1" dirty="0" smtClean="0"/>
            </a:br>
            <a:endParaRPr lang="en-US" dirty="0"/>
          </a:p>
        </p:txBody>
      </p:sp>
      <p:sp>
        <p:nvSpPr>
          <p:cNvPr id="3" name="Content Placeholder 2"/>
          <p:cNvSpPr>
            <a:spLocks noGrp="1"/>
          </p:cNvSpPr>
          <p:nvPr>
            <p:ph sz="quarter" idx="1"/>
          </p:nvPr>
        </p:nvSpPr>
        <p:spPr>
          <a:xfrm>
            <a:off x="457200" y="990600"/>
            <a:ext cx="7467600" cy="5867400"/>
          </a:xfrm>
        </p:spPr>
        <p:txBody>
          <a:bodyPr>
            <a:normAutofit fontScale="92500" lnSpcReduction="10000"/>
          </a:bodyPr>
          <a:lstStyle/>
          <a:p>
            <a:r>
              <a:rPr lang="en-US" dirty="0" smtClean="0"/>
              <a:t>There are no tutorial Classrooms </a:t>
            </a:r>
          </a:p>
          <a:p>
            <a:r>
              <a:rPr lang="en-US" dirty="0" smtClean="0"/>
              <a:t>Lecturers</a:t>
            </a:r>
            <a:r>
              <a:rPr lang="en-US" dirty="0" smtClean="0"/>
              <a:t>’ Offices are not enough.</a:t>
            </a:r>
          </a:p>
          <a:p>
            <a:r>
              <a:rPr lang="en-US" dirty="0" smtClean="0"/>
              <a:t>Departmental </a:t>
            </a:r>
            <a:r>
              <a:rPr lang="en-US" dirty="0" smtClean="0"/>
              <a:t>and Lecturers’ offices are not adequately furnished</a:t>
            </a:r>
            <a:r>
              <a:rPr lang="en-US" dirty="0" smtClean="0"/>
              <a:t>.</a:t>
            </a:r>
          </a:p>
          <a:p>
            <a:r>
              <a:rPr lang="en-US" dirty="0" smtClean="0"/>
              <a:t>Classrooms and lecture rooms/are not enough</a:t>
            </a:r>
          </a:p>
          <a:p>
            <a:r>
              <a:rPr lang="en-US" dirty="0" smtClean="0"/>
              <a:t>The Moot Court in the Faculty is small.  The sitting capacity of the Moot Court is one of the determinants of the quota of the Faculty.</a:t>
            </a:r>
          </a:p>
          <a:p>
            <a:r>
              <a:rPr lang="en-US" dirty="0" smtClean="0"/>
              <a:t>The </a:t>
            </a:r>
            <a:r>
              <a:rPr lang="en-US" dirty="0" smtClean="0"/>
              <a:t>Law Library is small and sitting capacity inadequate.  The sitting capacity in the Library also is one of the determinants of the Faculty quota.</a:t>
            </a:r>
          </a:p>
          <a:p>
            <a:r>
              <a:rPr lang="en-US" dirty="0" smtClean="0"/>
              <a:t>Classrooms </a:t>
            </a:r>
            <a:r>
              <a:rPr lang="en-US" dirty="0" smtClean="0"/>
              <a:t>are not enough in quantity.  The available classrooms are also not adequately furnished with modern teaching faculties.</a:t>
            </a:r>
          </a:p>
          <a:p>
            <a:r>
              <a:rPr lang="en-US" dirty="0" smtClean="0"/>
              <a:t>There </a:t>
            </a:r>
            <a:r>
              <a:rPr lang="en-US" dirty="0" smtClean="0"/>
              <a:t>are no Lecture Rooms for Postgraduate students.</a:t>
            </a:r>
          </a:p>
          <a:p>
            <a:endParaRPr lang="en-US" dirty="0" smtClean="0"/>
          </a:p>
          <a:p>
            <a:endParaRPr lang="en-US" dirty="0" smtClean="0"/>
          </a:p>
          <a:p>
            <a:endParaRPr lang="en-US" dirty="0"/>
          </a:p>
        </p:txBody>
      </p:sp>
    </p:spTree>
  </p:cSld>
  <p:clrMapOvr>
    <a:masterClrMapping/>
  </p:clrMapOvr>
  <p:transition spd="slow">
    <p:dissolv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Infrastructure cont’d</a:t>
            </a:r>
            <a:r>
              <a:rPr lang="en-US" b="1" dirty="0" smtClean="0"/>
              <a:t/>
            </a:r>
            <a:br>
              <a:rPr lang="en-US" b="1" dirty="0" smtClean="0"/>
            </a:br>
            <a:endParaRPr lang="en-US" dirty="0"/>
          </a:p>
        </p:txBody>
      </p:sp>
      <p:sp>
        <p:nvSpPr>
          <p:cNvPr id="3" name="Content Placeholder 2"/>
          <p:cNvSpPr>
            <a:spLocks noGrp="1"/>
          </p:cNvSpPr>
          <p:nvPr>
            <p:ph sz="quarter" idx="1"/>
          </p:nvPr>
        </p:nvSpPr>
        <p:spPr>
          <a:xfrm>
            <a:off x="457200" y="914400"/>
            <a:ext cx="7467600" cy="5559552"/>
          </a:xfrm>
        </p:spPr>
        <p:txBody>
          <a:bodyPr>
            <a:normAutofit fontScale="85000" lnSpcReduction="10000"/>
          </a:bodyPr>
          <a:lstStyle/>
          <a:p>
            <a:endParaRPr lang="en-US" dirty="0" smtClean="0"/>
          </a:p>
          <a:p>
            <a:pPr algn="just">
              <a:buFont typeface="Courier New" pitchFamily="49" charset="0"/>
              <a:buChar char="o"/>
            </a:pPr>
            <a:r>
              <a:rPr lang="en-US" dirty="0" smtClean="0"/>
              <a:t>Electricity </a:t>
            </a:r>
            <a:r>
              <a:rPr lang="en-US" dirty="0" smtClean="0"/>
              <a:t>is a major challenge in the Faculty.  Most times, the Faculty is not connected to the University generator.  The Faculty taps from the Generator in the Faculty of Management Sciences which will soon relocate from its present building</a:t>
            </a:r>
          </a:p>
          <a:p>
            <a:pPr algn="just"/>
            <a:r>
              <a:rPr lang="en-US" dirty="0" smtClean="0"/>
              <a:t>There is no water supply to the faculty.  The toilets are presently maintained by a cleaner engaged and paid monthly by the Faculty from her very meager resources.</a:t>
            </a:r>
          </a:p>
          <a:p>
            <a:pPr algn="just"/>
            <a:r>
              <a:rPr lang="en-US" dirty="0" smtClean="0"/>
              <a:t>The Faculty does not have a Law Clinic which is very crucial to the training of the students and accreditation.  It is also the platform for community </a:t>
            </a:r>
            <a:r>
              <a:rPr lang="en-US" dirty="0" err="1" smtClean="0"/>
              <a:t>Lawyering</a:t>
            </a:r>
            <a:r>
              <a:rPr lang="en-US" dirty="0" smtClean="0"/>
              <a:t> and generation of IGR for the faculty</a:t>
            </a:r>
            <a:r>
              <a:rPr lang="en-US" dirty="0" smtClean="0"/>
              <a:t>.</a:t>
            </a:r>
          </a:p>
          <a:p>
            <a:pPr algn="just"/>
            <a:r>
              <a:rPr lang="en-US" dirty="0" smtClean="0"/>
              <a:t>There is no staff common room in the Faculty for relaxation of Lecturers.</a:t>
            </a:r>
          </a:p>
          <a:p>
            <a:pPr algn="just"/>
            <a:r>
              <a:rPr lang="en-US" dirty="0" smtClean="0"/>
              <a:t>There is also no staff Library in the Faculty where Lecturers can make quick references to aid teaching and research activities</a:t>
            </a:r>
          </a:p>
          <a:p>
            <a:endParaRPr lang="en-US" dirty="0"/>
          </a:p>
        </p:txBody>
      </p:sp>
    </p:spTree>
  </p:cSld>
  <p:clrMapOvr>
    <a:masterClrMapping/>
  </p:clrMapOvr>
  <p:transition spd="slow">
    <p:dissolv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General</a:t>
            </a:r>
            <a:r>
              <a:rPr lang="en-US" dirty="0" smtClean="0"/>
              <a:t/>
            </a:r>
            <a:br>
              <a:rPr lang="en-US" dirty="0" smtClean="0"/>
            </a:br>
            <a:endParaRPr lang="en-US" dirty="0"/>
          </a:p>
        </p:txBody>
      </p:sp>
      <p:sp>
        <p:nvSpPr>
          <p:cNvPr id="3" name="Content Placeholder 2"/>
          <p:cNvSpPr>
            <a:spLocks noGrp="1"/>
          </p:cNvSpPr>
          <p:nvPr>
            <p:ph sz="quarter" idx="1"/>
          </p:nvPr>
        </p:nvSpPr>
        <p:spPr>
          <a:xfrm>
            <a:off x="457200" y="990600"/>
            <a:ext cx="7467600" cy="5483352"/>
          </a:xfrm>
        </p:spPr>
        <p:txBody>
          <a:bodyPr>
            <a:normAutofit fontScale="85000" lnSpcReduction="20000"/>
          </a:bodyPr>
          <a:lstStyle/>
          <a:p>
            <a:r>
              <a:rPr lang="en-US" dirty="0" smtClean="0"/>
              <a:t>The IGR base of the Faculty is low as a result of the number of students.  This affects the running of the Faculty from time-to-time.</a:t>
            </a:r>
          </a:p>
          <a:p>
            <a:r>
              <a:rPr lang="en-US" dirty="0" smtClean="0"/>
              <a:t>Staff </a:t>
            </a:r>
            <a:r>
              <a:rPr lang="en-US" dirty="0" smtClean="0"/>
              <a:t>promotion is almost stagnated.  Recommendations made for promotion are not processed </a:t>
            </a:r>
            <a:r>
              <a:rPr lang="en-US" dirty="0" err="1" smtClean="0"/>
              <a:t>timeously</a:t>
            </a:r>
            <a:r>
              <a:rPr lang="en-US" dirty="0" smtClean="0"/>
              <a:t>.  </a:t>
            </a:r>
          </a:p>
          <a:p>
            <a:r>
              <a:rPr lang="en-US" dirty="0" smtClean="0"/>
              <a:t>The </a:t>
            </a:r>
            <a:r>
              <a:rPr lang="en-US" dirty="0" smtClean="0"/>
              <a:t>management and operation of the Law Library</a:t>
            </a:r>
          </a:p>
          <a:p>
            <a:r>
              <a:rPr lang="en-US" dirty="0" smtClean="0"/>
              <a:t>The </a:t>
            </a:r>
            <a:r>
              <a:rPr lang="en-US" dirty="0" smtClean="0"/>
              <a:t>Library is not run in accordance with the guidelines of Council Legal Education on Law Libraries in Nigeria.</a:t>
            </a:r>
          </a:p>
          <a:p>
            <a:r>
              <a:rPr lang="en-US" dirty="0" smtClean="0"/>
              <a:t>The </a:t>
            </a:r>
            <a:r>
              <a:rPr lang="en-US" dirty="0" smtClean="0"/>
              <a:t>Library is centrally run and controlled by the University Librarian without any input from the Faculty in terms of collections and E-resources.</a:t>
            </a:r>
          </a:p>
          <a:p>
            <a:r>
              <a:rPr lang="en-US" dirty="0" smtClean="0"/>
              <a:t>The </a:t>
            </a:r>
            <a:r>
              <a:rPr lang="en-US" dirty="0" smtClean="0"/>
              <a:t>Law Librarians who by the guidelines should be dedicated Librarians are general Librarians who are posted out to other Faculties.  This is clearly an aberration. </a:t>
            </a:r>
          </a:p>
          <a:p>
            <a:r>
              <a:rPr lang="en-US" dirty="0" smtClean="0"/>
              <a:t>The </a:t>
            </a:r>
            <a:r>
              <a:rPr lang="en-US" dirty="0" smtClean="0"/>
              <a:t>Library opens from 8.am to 4.pm during which Law students take their classes.  Thus, the Law Library is not serving the academic interest of the students and this affects their performances during examinations.</a:t>
            </a:r>
          </a:p>
          <a:p>
            <a:endParaRPr lang="en-US" dirty="0"/>
          </a:p>
        </p:txBody>
      </p:sp>
    </p:spTree>
  </p:cSld>
  <p:clrMapOvr>
    <a:masterClrMapping/>
  </p:clrMapOvr>
  <p:transition spd="slow">
    <p:dissolv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WAY FORWARD</a:t>
            </a:r>
            <a:r>
              <a:rPr lang="en-US" dirty="0" smtClean="0"/>
              <a:t/>
            </a:r>
            <a:br>
              <a:rPr lang="en-US" dirty="0" smtClean="0"/>
            </a:br>
            <a:endParaRPr lang="en-US" dirty="0"/>
          </a:p>
        </p:txBody>
      </p:sp>
      <p:sp>
        <p:nvSpPr>
          <p:cNvPr id="3" name="Content Placeholder 2"/>
          <p:cNvSpPr>
            <a:spLocks noGrp="1"/>
          </p:cNvSpPr>
          <p:nvPr>
            <p:ph sz="quarter" idx="1"/>
          </p:nvPr>
        </p:nvSpPr>
        <p:spPr>
          <a:xfrm>
            <a:off x="457200" y="1066800"/>
            <a:ext cx="7467600" cy="5407152"/>
          </a:xfrm>
        </p:spPr>
        <p:txBody>
          <a:bodyPr>
            <a:normAutofit fontScale="77500" lnSpcReduction="20000"/>
          </a:bodyPr>
          <a:lstStyle/>
          <a:p>
            <a:r>
              <a:rPr lang="en-US" dirty="0" smtClean="0"/>
              <a:t>To tackle the identified challenges and propel EKSU to a world class University, the following recommendations/suggestions are made:</a:t>
            </a:r>
          </a:p>
          <a:p>
            <a:r>
              <a:rPr lang="en-US" dirty="0" smtClean="0"/>
              <a:t>The </a:t>
            </a:r>
            <a:r>
              <a:rPr lang="en-US" dirty="0" smtClean="0"/>
              <a:t>Law Library must be expanded extended and refurbished with functional ICT facilities, so that staff and students will benefit maximally especially, for academic and research purposes. The Law Library should be opened for longer hours to enable both staff and students make use of it.</a:t>
            </a:r>
          </a:p>
          <a:p>
            <a:r>
              <a:rPr lang="en-US" dirty="0" smtClean="0"/>
              <a:t>The </a:t>
            </a:r>
            <a:r>
              <a:rPr lang="en-US" dirty="0" smtClean="0"/>
              <a:t>Faculty needs to be ICT compliant.  Electronic Boards should be installed and more classrooms built. The available classrooms must be refurbished to meet today’s standards, as a world-class University.</a:t>
            </a:r>
          </a:p>
          <a:p>
            <a:r>
              <a:rPr lang="en-US" dirty="0" smtClean="0"/>
              <a:t>Promotion </a:t>
            </a:r>
            <a:r>
              <a:rPr lang="en-US" dirty="0" smtClean="0"/>
              <a:t>of stagnated staff in the Faculty should be given priority as soon as they earn their </a:t>
            </a:r>
            <a:r>
              <a:rPr lang="en-US" dirty="0" err="1" smtClean="0"/>
              <a:t>Ph.D</a:t>
            </a:r>
            <a:r>
              <a:rPr lang="en-US" dirty="0" smtClean="0"/>
              <a:t> degree.</a:t>
            </a:r>
          </a:p>
          <a:p>
            <a:r>
              <a:rPr lang="en-US" dirty="0" smtClean="0"/>
              <a:t>A </a:t>
            </a:r>
            <a:r>
              <a:rPr lang="en-US" dirty="0" smtClean="0"/>
              <a:t>functional Legal Clinic must be established in the Faculty as a matter of urgency.  The funds meant for same in the coffers of the University must be released.  This is highly essential for purposes of accreditation and for training of our students in practical skills which will ultimately benefit both the University and the extended community in general.</a:t>
            </a:r>
          </a:p>
          <a:p>
            <a:endParaRPr lang="en-US" dirty="0"/>
          </a:p>
        </p:txBody>
      </p:sp>
    </p:spTree>
  </p:cSld>
  <p:clrMapOvr>
    <a:masterClrMapping/>
  </p:clrMapOvr>
  <p:transition spd="slow">
    <p:dissolv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92162"/>
          </a:xfrm>
        </p:spPr>
        <p:txBody>
          <a:bodyPr/>
          <a:lstStyle/>
          <a:p>
            <a:r>
              <a:rPr lang="en-US" b="1" dirty="0" smtClean="0"/>
              <a:t>THE WAY </a:t>
            </a:r>
            <a:r>
              <a:rPr lang="en-US" b="1" dirty="0" smtClean="0"/>
              <a:t>FORWARD cont’d</a:t>
            </a:r>
            <a:endParaRPr lang="en-US" dirty="0"/>
          </a:p>
        </p:txBody>
      </p:sp>
      <p:sp>
        <p:nvSpPr>
          <p:cNvPr id="3" name="Content Placeholder 2"/>
          <p:cNvSpPr>
            <a:spLocks noGrp="1"/>
          </p:cNvSpPr>
          <p:nvPr>
            <p:ph sz="quarter" idx="1"/>
          </p:nvPr>
        </p:nvSpPr>
        <p:spPr/>
        <p:txBody>
          <a:bodyPr>
            <a:normAutofit fontScale="85000" lnSpcReduction="20000"/>
          </a:bodyPr>
          <a:lstStyle/>
          <a:p>
            <a:r>
              <a:rPr lang="en-US" dirty="0" smtClean="0"/>
              <a:t>It is urgent to employ more staff with </a:t>
            </a:r>
            <a:r>
              <a:rPr lang="en-US" dirty="0" err="1" smtClean="0"/>
              <a:t>Ph.Ds</a:t>
            </a:r>
            <a:r>
              <a:rPr lang="en-US" dirty="0" smtClean="0"/>
              <a:t> to fill academic positions within the Faculty especially at professional and training positions.</a:t>
            </a:r>
          </a:p>
          <a:p>
            <a:r>
              <a:rPr lang="en-US" dirty="0" smtClean="0"/>
              <a:t>Non-academic </a:t>
            </a:r>
            <a:r>
              <a:rPr lang="en-US" dirty="0" smtClean="0"/>
              <a:t>vacancies in the Faculty should be filled urgently especially Typists and Cleaners.</a:t>
            </a:r>
          </a:p>
          <a:p>
            <a:r>
              <a:rPr lang="en-US" dirty="0" smtClean="0"/>
              <a:t>The </a:t>
            </a:r>
            <a:r>
              <a:rPr lang="en-US" dirty="0" smtClean="0"/>
              <a:t>Faculty should exercise greater control on the Law Library with minimal supervision from the Central Library in accordance with the CLE guidelines.</a:t>
            </a:r>
          </a:p>
          <a:p>
            <a:r>
              <a:rPr lang="en-US" dirty="0" smtClean="0"/>
              <a:t>The </a:t>
            </a:r>
            <a:r>
              <a:rPr lang="en-US" dirty="0" smtClean="0"/>
              <a:t>Faculty needs two additional Departments which should be created urgently.  The Faculty’s request is already before the Development Committee.</a:t>
            </a:r>
          </a:p>
          <a:p>
            <a:r>
              <a:rPr lang="en-US" dirty="0" smtClean="0"/>
              <a:t>The </a:t>
            </a:r>
            <a:r>
              <a:rPr lang="en-US" dirty="0" smtClean="0"/>
              <a:t>Faculty needs a dedicated giant Generator to minimize the problems associated with electricity.</a:t>
            </a:r>
          </a:p>
          <a:p>
            <a:r>
              <a:rPr lang="en-US" dirty="0" smtClean="0"/>
              <a:t>Lastly </a:t>
            </a:r>
            <a:r>
              <a:rPr lang="en-US" dirty="0" smtClean="0"/>
              <a:t>and most importantly, the Faculty needs a new Faculty building with classrooms, Seminar rooms, Conference rooms and good and well-furnished Lecturers’ Offices.</a:t>
            </a:r>
          </a:p>
          <a:p>
            <a:endParaRPr lang="en-US" dirty="0"/>
          </a:p>
        </p:txBody>
      </p:sp>
    </p:spTree>
  </p:cSld>
  <p:clrMapOvr>
    <a:masterClrMapping/>
  </p:clrMapOvr>
  <p:transition spd="slow">
    <p:dissolv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CONCLUSION</a:t>
            </a:r>
            <a:r>
              <a:rPr lang="en-US" dirty="0" smtClean="0"/>
              <a:t/>
            </a:r>
            <a:br>
              <a:rPr lang="en-US" dirty="0" smtClean="0"/>
            </a:br>
            <a:endParaRPr lang="en-US" dirty="0"/>
          </a:p>
        </p:txBody>
      </p:sp>
      <p:sp>
        <p:nvSpPr>
          <p:cNvPr id="3" name="Content Placeholder 2"/>
          <p:cNvSpPr>
            <a:spLocks noGrp="1"/>
          </p:cNvSpPr>
          <p:nvPr>
            <p:ph sz="quarter" idx="1"/>
          </p:nvPr>
        </p:nvSpPr>
        <p:spPr>
          <a:xfrm>
            <a:off x="457200" y="1219200"/>
            <a:ext cx="7467600" cy="5254752"/>
          </a:xfrm>
        </p:spPr>
        <p:txBody>
          <a:bodyPr>
            <a:normAutofit lnSpcReduction="10000"/>
          </a:bodyPr>
          <a:lstStyle/>
          <a:p>
            <a:r>
              <a:rPr lang="en-US" dirty="0" smtClean="0"/>
              <a:t>The Law programme of the University is, no doubt, one of the most sought after by applicants in the South-West.  No effort is too much to strengthen this Faculty and reposition it for the challenges of Legal Education and training in the 21</a:t>
            </a:r>
            <a:r>
              <a:rPr lang="en-US" baseline="30000" dirty="0" smtClean="0"/>
              <a:t>st</a:t>
            </a:r>
            <a:r>
              <a:rPr lang="en-US" dirty="0" smtClean="0"/>
              <a:t> Century.</a:t>
            </a:r>
          </a:p>
          <a:p>
            <a:r>
              <a:rPr lang="en-US" dirty="0" smtClean="0"/>
              <a:t>The </a:t>
            </a:r>
            <a:r>
              <a:rPr lang="en-US" dirty="0" smtClean="0"/>
              <a:t>measures suggested above, will, go a long way in achieving this noble vision.</a:t>
            </a:r>
          </a:p>
          <a:p>
            <a:pPr>
              <a:buNone/>
            </a:pPr>
            <a:r>
              <a:rPr lang="en-US" dirty="0" smtClean="0"/>
              <a:t>	</a:t>
            </a:r>
          </a:p>
          <a:p>
            <a:pPr>
              <a:buNone/>
            </a:pPr>
            <a:r>
              <a:rPr lang="en-US" dirty="0" smtClean="0"/>
              <a:t>	</a:t>
            </a:r>
            <a:r>
              <a:rPr lang="en-US" dirty="0" smtClean="0"/>
              <a:t>	</a:t>
            </a:r>
          </a:p>
          <a:p>
            <a:pPr>
              <a:buNone/>
            </a:pPr>
            <a:r>
              <a:rPr lang="en-US" dirty="0" smtClean="0"/>
              <a:t>	</a:t>
            </a:r>
            <a:r>
              <a:rPr lang="en-US" dirty="0" smtClean="0"/>
              <a:t>	Thanks </a:t>
            </a:r>
            <a:r>
              <a:rPr lang="en-US" dirty="0" smtClean="0"/>
              <a:t>for listening</a:t>
            </a:r>
            <a:r>
              <a:rPr lang="en-US" dirty="0" smtClean="0"/>
              <a:t>.</a:t>
            </a:r>
          </a:p>
          <a:p>
            <a:pPr>
              <a:buNone/>
            </a:pPr>
            <a:endParaRPr lang="en-US" dirty="0" smtClean="0"/>
          </a:p>
          <a:p>
            <a:pPr>
              <a:buNone/>
            </a:pPr>
            <a:r>
              <a:rPr lang="en-US" b="1" dirty="0" smtClean="0"/>
              <a:t>		Prof</a:t>
            </a:r>
            <a:r>
              <a:rPr lang="en-US" b="1" dirty="0" smtClean="0"/>
              <a:t>. </a:t>
            </a:r>
            <a:r>
              <a:rPr lang="en-US" b="1" dirty="0" err="1" smtClean="0"/>
              <a:t>Ifedayo</a:t>
            </a:r>
            <a:r>
              <a:rPr lang="en-US" b="1" dirty="0" smtClean="0"/>
              <a:t> Timothy </a:t>
            </a:r>
            <a:r>
              <a:rPr lang="en-US" b="1" dirty="0" err="1" smtClean="0"/>
              <a:t>Akomolede</a:t>
            </a:r>
            <a:endParaRPr lang="en-US" dirty="0" smtClean="0"/>
          </a:p>
          <a:p>
            <a:pPr>
              <a:buNone/>
            </a:pPr>
            <a:r>
              <a:rPr lang="en-US" dirty="0" smtClean="0"/>
              <a:t>		Dean </a:t>
            </a:r>
            <a:r>
              <a:rPr lang="en-US" dirty="0" smtClean="0"/>
              <a:t>of Law</a:t>
            </a:r>
          </a:p>
          <a:p>
            <a:pPr>
              <a:buNone/>
            </a:pPr>
            <a:endParaRPr lang="en-US" dirty="0" smtClean="0"/>
          </a:p>
          <a:p>
            <a:endParaRPr lang="en-US" dirty="0"/>
          </a:p>
        </p:txBody>
      </p:sp>
    </p:spTree>
  </p:cSld>
  <p:clrMapOvr>
    <a:masterClrMapping/>
  </p:clrMapOvr>
  <p:transition spd="slow">
    <p:dissolve/>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24</TotalTime>
  <Words>1358</Words>
  <Application>Microsoft Office PowerPoint</Application>
  <PresentationFormat>On-screen Show (4:3)</PresentationFormat>
  <Paragraphs>93</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Oriel</vt:lpstr>
      <vt:lpstr>POSITION OF THE FACULTY OF LAW ON ACADEMIC PROGRAMMES IN THE FACULTY AND WAY FORWARD TO PROPEL EKSU TO A WORLD CLASS UNIVERSITY </vt:lpstr>
      <vt:lpstr>INTRODUCTION </vt:lpstr>
      <vt:lpstr>VIABILITY </vt:lpstr>
      <vt:lpstr>ACCREDITATION </vt:lpstr>
      <vt:lpstr>ACCOMMODATION </vt:lpstr>
      <vt:lpstr>CLASSROOMS/EXAMINATION  </vt:lpstr>
      <vt:lpstr>RESULT PROCESSING </vt:lpstr>
      <vt:lpstr>PROPOSED NEW PROGRAMMES </vt:lpstr>
      <vt:lpstr>CHALLENGES </vt:lpstr>
      <vt:lpstr>Infrastructure </vt:lpstr>
      <vt:lpstr>Infrastructure cont’d </vt:lpstr>
      <vt:lpstr>General </vt:lpstr>
      <vt:lpstr>THE WAY FORWARD </vt:lpstr>
      <vt:lpstr>THE WAY FORWARD cont’d</vt:lpstr>
      <vt:lpstr>CONCLUSION </vt:lpstr>
    </vt:vector>
  </TitlesOfParts>
  <Company>Grizli777</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POSITION OF THE FACULTY OF LAW ON ACADEMIC PROGRAMMES IN THE FACULTY AND WAY FORWARD TO PROPEL EKSU TO A WORLD CLASS UNIVERSITY</dc:title>
  <dc:creator>faculty of Law EKSU</dc:creator>
  <cp:lastModifiedBy>faculty of Law EKSU</cp:lastModifiedBy>
  <cp:revision>3</cp:revision>
  <dcterms:created xsi:type="dcterms:W3CDTF">2016-02-02T17:35:50Z</dcterms:created>
  <dcterms:modified xsi:type="dcterms:W3CDTF">2016-02-02T18:00:29Z</dcterms:modified>
</cp:coreProperties>
</file>